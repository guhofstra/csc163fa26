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 id="297" r:id="rId42"/>
    <p:sldId id="298" r:id="rId43"/>
    <p:sldId id="299" r:id="rId44"/>
    <p:sldId id="300" r:id="rId45"/>
    <p:sldId id="301" r:id="rId46"/>
    <p:sldId id="302" r:id="rId47"/>
    <p:sldId id="303" r:id="rId48"/>
    <p:sldId id="312" r:id="rId49"/>
    <p:sldId id="313" r:id="rId50"/>
    <p:sldId id="314" r:id="rId51"/>
    <p:sldId id="315" r:id="rId52"/>
    <p:sldId id="316" r:id="rId53"/>
    <p:sldId id="323" r:id="rId54"/>
    <p:sldId id="324" r:id="rId55"/>
    <p:sldId id="325" r:id="rId56"/>
    <p:sldId id="326" r:id="rId57"/>
    <p:sldId id="327" r:id="rId58"/>
    <p:sldId id="328" r:id="rId59"/>
    <p:sldId id="329" r:id="rId60"/>
    <p:sldId id="330" r:id="rId61"/>
    <p:sldId id="331" r:id="rId62"/>
    <p:sldId id="332" r:id="rId63"/>
    <p:sldId id="333" r:id="rId64"/>
    <p:sldId id="334" r:id="rId65"/>
    <p:sldId id="336" r:id="rId66"/>
    <p:sldId id="337" r:id="rId67"/>
    <p:sldId id="338" r:id="rId68"/>
  </p:sldIdLst>
  <p:sldSz cx="9144000" cy="5143500" type="screen16x9"/>
  <p:notesSz cx="6858000" cy="9144000"/>
  <p:embeddedFontLst>
    <p:embeddedFont>
      <p:font typeface="Nunito" pitchFamily="2" charset="0"/>
      <p:regular r:id="rId70"/>
      <p:bold r:id="rId71"/>
      <p:italic r:id="rId72"/>
    </p:embeddedFont>
    <p:embeddedFont>
      <p:font typeface="Nunito Light" pitchFamily="2" charset="0"/>
      <p:regular r:id="rId73"/>
    </p:embeddedFont>
    <p:embeddedFont>
      <p:font typeface="Port Lligat Sans" panose="020B0604020202020204" charset="0"/>
      <p:regular r:id="rId74"/>
    </p:embeddedFont>
    <p:embeddedFont>
      <p:font typeface="Roboto" panose="02000000000000000000" pitchFamily="2" charset="0"/>
      <p:regular r:id="rId75"/>
    </p:embeddedFont>
    <p:embeddedFont>
      <p:font typeface="Telex" panose="020B0604020202020204" charset="0"/>
      <p:regular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31EC0D-D4BC-45B7-BEFD-C31C30F8696B}">
  <a:tblStyle styleId="{BF31EC0D-D4BC-45B7-BEFD-C31C30F8696B}"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6" y="14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5.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a7cd6a0ee2_0_10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2a7cd6a0ee2_0_10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a7cd6a0ee2_0_10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a7cd6a0ee2_0_10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a7cd6a0ee2_0_10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2a7cd6a0ee2_0_10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a7cd6a0ee2_0_10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2a7cd6a0ee2_0_10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a7cd6a0ee2_0_10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2a7cd6a0ee2_0_10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7cd6a0ee2_0_10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2a7cd6a0ee2_0_10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050">
                <a:solidFill>
                  <a:srgbClr val="444746"/>
                </a:solidFill>
                <a:highlight>
                  <a:srgbClr val="FFFFFF"/>
                </a:highlight>
                <a:latin typeface="Roboto"/>
                <a:ea typeface="Roboto"/>
                <a:cs typeface="Roboto"/>
                <a:sym typeface="Roboto"/>
              </a:rPr>
              <a:t>\text{Risk} = \sum_{\text{hazard}} P(\text{hazard}) \times \text{severity}(\text{hazard})</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a7cd6a0ee2_0_10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2a7cd6a0ee2_0_10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Probability tells us how likely it is that a hazard will lead to an accident.</a:t>
            </a:r>
            <a:r>
              <a:rPr lang="en">
                <a:solidFill>
                  <a:schemeClr val="dk1"/>
                </a:solidFill>
              </a:rPr>
              <a:t> The more slippery the floor is, the more likely it is that someone will slip and fall on it.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Exposure is a measure of how much we are exposed to a hazard.</a:t>
            </a:r>
            <a:r>
              <a:rPr lang="en">
                <a:solidFill>
                  <a:schemeClr val="dk1"/>
                </a:solidFill>
              </a:rPr>
              <a:t> It will be more likely that someone will slip on a wet floor if there are more people walking across it and the longer that it remains slippery. We can say that this is because the exposure to the possibility of someone slipping is higher. In general, exposure affects the probability of an accident occurring, captured by the second icon in the timeline.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Severity indicates how intrinsically harmful a hazard is.</a:t>
            </a:r>
            <a:r>
              <a:rPr lang="en">
                <a:solidFill>
                  <a:schemeClr val="dk1"/>
                </a:solidFill>
              </a:rPr>
              <a:t> The severity of a slippery floor would be how hard it is. This term therefore represents the extent of damage an accident would inflict, captured by the fourth icon in the timeline.</a:t>
            </a:r>
            <a:endParaRPr b="1">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Vulnerability measures how susceptible we are to harm from a hazard.</a:t>
            </a:r>
            <a:r>
              <a:rPr lang="en">
                <a:solidFill>
                  <a:schemeClr val="dk1"/>
                </a:solidFill>
              </a:rPr>
              <a:t> If someone does slip on a floor, the harm caused is likely to depend partly on how susceptible they are to bone fracture, for example. We can refer to this as vulnerability, which affects the severity of an accident, and is represented by the fifth icon in the timeline.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Ability to cope indicates how well we would be able to recover from an accident.</a:t>
            </a:r>
            <a:r>
              <a:rPr lang="en">
                <a:solidFill>
                  <a:schemeClr val="dk1"/>
                </a:solidFill>
              </a:rPr>
              <a:t> After slipping on the floor, we might take less time to recover if we have access to better medical technology. In general, another factor that might influence our evaluation of a risk is to what extent we would be able to recover from the damage it caused. We refer to the capacity to recover as our </a:t>
            </a:r>
            <a:r>
              <a:rPr lang="en" b="1">
                <a:solidFill>
                  <a:schemeClr val="dk1"/>
                </a:solidFill>
              </a:rPr>
              <a:t>ability to cope</a:t>
            </a:r>
            <a:r>
              <a:rPr lang="en">
                <a:solidFill>
                  <a:schemeClr val="dk1"/>
                </a:solidFill>
              </a:rPr>
              <a:t>. We can add this term to the accident timeline as shown in figure x, where ability to cope is represented by the sixth icon.</a:t>
            </a: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a7cd6a0ee2_0_1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2a7cd6a0ee2_0_1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7cd6a0ee2_0_1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2a7cd6a0ee2_0_1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a7cd6a0ee2_0_1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2a7cd6a0ee2_0_11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We can relate system reliability to the amount of time that a system is likely to function before failing. We will now introduce a new measure of reliability that conveys the expected time before failure more intuitively.</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a7cd6a0ee2_0_1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2a7cd6a0ee2_0_11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Imagine that we have several autonomous vehicles with different levels of reliability, as shown in the table. Reliability is the probability that the vehicle will get any given decision correct. The second column shows the complementary probability that the AV will get any given decision wrong. The fourth column shows the number of decisions within which the AV is expected to make one mistake. This can be thought of as the AV’s expected time before failure.</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a7cd6a0ee2_0_1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2a7cd6a0ee2_0_1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Increasing the reliability from 50% to 75%, for example, doubles the expected time before failure. However, increasing the reliability from 90% to 99% causes a ten-fold increase in the expected time before failure, as does an increase from 99% to 99.9%. The closer we get to 100% reliability, the more valuable any given increment of improvement will be. However, as we get closer to 100% reliability, we can generally expect that an increment of improvement will become increasingly difficult to obtain. This is usually true because it is hard to perfectly eliminate the possibility of any adverse event. Additionally, there may be risks that we have not considered. These are called unknown unknowns and will be discussed extensively later in this chapter.</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7cd6a0ee2_0_1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2a7cd6a0ee2_0_12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As we get close to 100% reliability, it gets inconvenient to use long decimals to express how reliable a system is. The third column in the table gives us information about a different metric: the </a:t>
            </a:r>
            <a:r>
              <a:rPr lang="en" b="1">
                <a:solidFill>
                  <a:schemeClr val="dk1"/>
                </a:solidFill>
              </a:rPr>
              <a:t>nines of reliability</a:t>
            </a:r>
            <a:r>
              <a:rPr lang="en">
                <a:solidFill>
                  <a:schemeClr val="dk1"/>
                </a:solidFill>
              </a:rPr>
              <a:t>. Informally, a system has nines of reliability equal to the number of nines at the beginning of its decimal or percentage reliability. One nine of reliability means a reliability of 90% in percentage terms or 0.9 in decimal terms. Two nines of reliability mean 99%, or 0.99.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a7cd6a0ee2_0_1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2a7cd6a0ee2_0_12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\[k = -\log_{10}(1-p)\]</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a7cd6a0ee2_0_12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2a7cd6a0ee2_0_12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This means that the relationship between system reliability and expected time before failure is not linear. However, the relationship between nines of reliability and the logarithm of expected time before failure is.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a7cd6a0ee2_0_1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2a7cd6a0ee2_0_12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a7cd6a0ee2_0_1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2a7cd6a0ee2_0_12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a7cd6a0ee2_0_1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2a7cd6a0ee2_0_12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We can reduce both the probability and severity of a system failure by following certain </a:t>
            </a:r>
            <a:r>
              <a:rPr lang="en" b="1">
                <a:solidFill>
                  <a:schemeClr val="dk1"/>
                </a:solidFill>
              </a:rPr>
              <a:t>safe design principles</a:t>
            </a:r>
            <a:r>
              <a:rPr lang="en">
                <a:solidFill>
                  <a:schemeClr val="dk1"/>
                </a:solidFill>
              </a:rPr>
              <a:t> when designing it. These general principles have been identified by safety engineering and offer practical ways of reducing the risk associated with all kinds of systems. They should be incorporated from the outset, rather than being retrofitted later. </a:t>
            </a:r>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a7cd6a0ee2_0_1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2a7cd6a0ee2_0_1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Example: vehicles generally contain multiple braking systems. If one system fails, others can be used to avoid an accident.</a:t>
            </a: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a7cd6a0ee2_0_13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g2a7cd6a0ee2_0_1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2a7cd6a0ee2_0_13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g2a7cd6a0ee2_0_1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a7cd6a0ee2_0_1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2a7cd6a0ee2_0_13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a7cd6a0ee2_0_13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g2a7cd6a0ee2_0_13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This is exemplified by an approach to AI development called “comprehensive AI services.” This views AI agents as a class of service-providing products, essentially as a means to an end, rather than as end goals themselves. Adopting this mindset might mean tailoring AI systems to perform highly specific tasks, rather than speculatively trying to improve general and flexible capabilities in a single agent.</a:t>
            </a:r>
            <a:endParaRPr sz="12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a7cd6a0ee2_0_1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9" name="Google Shape;359;g2a7cd6a0ee2_0_13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a7cd6a0ee2_0_13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g2a7cd6a0ee2_0_13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In the Single Agent Control chapter, we considered how AIs might be power-seeking; by ensuring AIs have only the minimum required amount of power they need to accomplish the goals we assign them, we can reduce AIs’ ability to gain power.</a:t>
            </a:r>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2a7cd6a0ee2_0_13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g2a7cd6a0ee2_0_13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a7cd6a0ee2_0_1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g2a7cd6a0ee2_0_13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a7cd6a0ee2_0_13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g2a7cd6a0ee2_0_13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a7cd6a0ee2_0_14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g2a7cd6a0ee2_0_14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a7cd6a0ee2_0_14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g2a7cd6a0ee2_0_14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a7cd6a0ee2_0_14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g2a7cd6a0ee2_0_14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2a7cd6a0ee2_0_14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8" name="Google Shape;468;g2a7cd6a0ee2_0_14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a7cd6a0ee2_0_14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3" name="Google Shape;483;g2a7cd6a0ee2_0_14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2a7cd6a0ee2_0_1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2" name="Google Shape;492;g2a7cd6a0ee2_0_14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a7cd6a0ee2_0_15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8" name="Google Shape;508;g2a7cd6a0ee2_0_15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2a7cd6a0ee2_0_15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4" name="Google Shape;524;g2a7cd6a0ee2_0_1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2a7cd6a0ee2_0_15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6" name="Google Shape;566;g2a7cd6a0ee2_0_15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2a7cd6a0ee2_0_15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6" name="Google Shape;576;g2a7cd6a0ee2_0_1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http://psas.scripts.mit.edu/home/wp-content/uploads/2020/07/STAMP-Tutorial.pdf</a:t>
            </a:r>
            <a:endParaRPr sz="1200">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2a7cd6a0ee2_0_15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1" name="Google Shape;601;g2a7cd6a0ee2_0_15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2ab708a9c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0" name="Google Shape;610;g2ab708a9c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From James Reason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https://pubmed.ncbi.nlm.nih.gov/10151618/</a:t>
            </a:r>
            <a:endParaRPr sz="1200">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ab708a9c67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9" name="Google Shape;619;g2ab708a9c67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From James Reason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https://pubmed.ncbi.nlm.nih.gov/10151618/</a:t>
            </a:r>
            <a:endParaRPr sz="120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2ab708a9c67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8" name="Google Shape;628;g2ab708a9c67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From James Reason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https://pubmed.ncbi.nlm.nih.gov/10151618/</a:t>
            </a:r>
            <a:endParaRPr sz="1200">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2ab708a9c67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7" name="Google Shape;637;g2ab708a9c67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From James Reason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https://pubmed.ncbi.nlm.nih.gov/10151618/</a:t>
            </a:r>
            <a:endParaRPr sz="1200">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2ab708a9c67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7" name="Google Shape;647;g2ab708a9c67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ab708a9c67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7" name="Google Shape;657;g2ab708a9c67_0_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2ab708a9c6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7" name="Google Shape;667;g2ab708a9c67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Comment on relation to ongoing harms, catastrophic, and existential risks</a:t>
            </a:r>
            <a:endParaRPr sz="1200">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ab708a9c67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7" name="Google Shape;677;g2ab708a9c67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Comment on relation to ongoing harms, catastrophic, and existential risks</a:t>
            </a:r>
            <a:endParaRPr sz="1200">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a7cd6a0ee2_0_1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2" name="Google Shape;782;g2a7cd6a0ee2_0_16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a7cd6a0ee2_0_16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1" name="Google Shape;791;g2a7cd6a0ee2_0_16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a7cd6a0ee2_0_17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6" name="Google Shape;806;g2a7cd6a0ee2_0_17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a7cd6a0ee2_0_1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4" name="Google Shape;814;g2a7cd6a0ee2_0_17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a7cd6a0ee2_0_1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5" name="Google Shape;825;g2a7cd6a0ee2_0_17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a7cd6a0ee2_0_18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5" name="Google Shape;905;g2a7cd6a0ee2_0_18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a7cd6a0ee2_0_18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6" name="Google Shape;916;g2a7cd6a0ee2_0_18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a7cd6a0ee2_0_18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5" name="Google Shape;925;g2a7cd6a0ee2_0_18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a7cd6a0ee2_0_18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8" name="Google Shape;938;g2a7cd6a0ee2_0_18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rPr>
              <a:t>Only some tail events are black swans.</a:t>
            </a:r>
            <a:r>
              <a:rPr lang="en">
                <a:solidFill>
                  <a:schemeClr val="dk1"/>
                </a:solidFill>
              </a:rPr>
              <a:t> As touched on earlier, it is important to note that black swans are a subset of tail events, and not all tail events are black swans. For example, it is well known that earthquakes happen in California and that a high-magnitude one, often called “the big one,” will likely happen at some point. It is just not known exactly when—whether it will be the next earthquake or in several decades’ time. It might not be possible to prevent all damage from the next “big one,” but there is an awareness of the need to prepare for it. This represents a tail event, but not a black swan.</a:t>
            </a:r>
            <a:endParaRPr sz="1200">
              <a:solidFill>
                <a:schemeClr val="dk1"/>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a7cd6a0ee2_0_1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9" name="Google Shape;949;g2a7cd6a0ee2_0_18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This story illustrates that we might have a model or worldview that does a good job of explaining all our evidence to date, but then a black swan can turn up and show us that our model was incorrect. The turkey’s worldview of benign humans explained all the evidence up until the trip to the slaughterhouse. This event indicated that there was a broader context that the turkey was unaware of.</a:t>
            </a:r>
            <a:endParaRPr sz="1200">
              <a:solidFill>
                <a:schemeClr val="dk1"/>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a7cd6a0ee2_0_1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4" name="Google Shape;964;g2a7cd6a0ee2_0_18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a7cd6a0ee2_0_18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3" name="Google Shape;973;g2a7cd6a0ee2_0_18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a7cd6a0ee2_0_19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2" name="Google Shape;982;g2a7cd6a0ee2_0_19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I</a:t>
            </a:r>
            <a:r>
              <a:rPr lang="en">
                <a:solidFill>
                  <a:schemeClr val="dk1"/>
                </a:solidFill>
              </a:rPr>
              <a:t>magine that we are trying to perform a cost-benefit analysis for a lottery where we have a high probability of winning a small amount and a low probability of losing a large amount. If we have a 99.9% chance of winning $15 and a 0.1% chance of losing $10,000, then our expected outcome is: 4.985</a:t>
            </a:r>
            <a:endParaRPr>
              <a:solidFill>
                <a:schemeClr val="dk1"/>
              </a:solidFill>
            </a:endParaRPr>
          </a:p>
          <a:p>
            <a:pPr marL="0" lvl="0" indent="0" algn="l" rtl="0">
              <a:lnSpc>
                <a:spcPct val="115000"/>
              </a:lnSpc>
              <a:spcBef>
                <a:spcPts val="0"/>
              </a:spcBef>
              <a:spcAft>
                <a:spcPts val="0"/>
              </a:spcAft>
              <a:buClr>
                <a:srgbClr val="000000"/>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Since this number is positive, we might believe it is a good idea to bet on the lottery. However, if the probabilities are only slightly different, at 99.7% and 0.3%, then our expected outcome is: -15.045</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This illustrates that just a small change in probabilities sometimes makes a significant difference in whether we expect a positive or a negative outcome. In situations like this, where the expected outcome is highly sensitive to probabilities, using an estimate of probability that is only slightly different from the true value can completely change the calculations. For this reason, it does not make sense to rely on this type of cost-benefit analysis if we cannot be sure that we have accurate estimates of the probabilities in question.</a:t>
            </a:r>
            <a:endParaRPr>
              <a:solidFill>
                <a:schemeClr val="dk1"/>
              </a:solidFill>
            </a:endParaRPr>
          </a:p>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a7cd6a0ee2_0_1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3" name="Google Shape;993;g2a7cd6a0ee2_0_19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a7cd6a0ee2_0_19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5" name="Google Shape;1005;g2a7cd6a0ee2_0_19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rPr>
              <a:t>With regard to AI technologies, we should be proactively investing in safety now. </a:t>
            </a:r>
            <a:r>
              <a:rPr lang="en">
                <a:solidFill>
                  <a:schemeClr val="dk1"/>
                </a:solidFill>
              </a:rPr>
              <a:t>Since the development and rollout of AI technologies could represent a long-tailed scenario, entailing a risk of tail events and black swans, it would not make sense to delay action with the excuse that we do not have enough information. Instead we should be proactive about safety, for example by investing in the three key research fields discussed earlier: robustness, monitoring, and control. If we wait until we are certain that an AI could pose an existential risk before working on AI safety, then we might be waiting until it is too late.</a:t>
            </a:r>
            <a:endParaRPr sz="1200">
              <a:solidFill>
                <a:schemeClr val="dk1"/>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a7cd6a0ee2_0_1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7" name="Google Shape;1017;g2a7cd6a0ee2_0_19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The past is a flawed guide to the future.</a:t>
            </a:r>
            <a:endParaRPr sz="1200">
              <a:solidFill>
                <a:schemeClr val="dk1"/>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a7cd6a0ee2_0_19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6" name="Google Shape;1026;g2a7cd6a0ee2_0_19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a7cd6a0ee2_0_19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 name="Google Shape;1048;g2a7cd6a0ee2_0_19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a7cd6a0ee2_0_19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7" name="Google Shape;1057;g2a7cd6a0ee2_0_19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ca96542a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6" name="Google Shape;1066;g2ca96542a0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Font typeface="Nunito"/>
              <a:buNone/>
              <a:defRPr sz="3600">
                <a:latin typeface="Nunito"/>
                <a:ea typeface="Nunito"/>
                <a:cs typeface="Nunito"/>
                <a:sym typeface="Nuni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8" name="Google Shape;18;p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1pPr>
            <a:lvl2pPr marR="0" lvl="1"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2pPr>
            <a:lvl3pPr marR="0" lvl="2"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3pPr>
            <a:lvl4pPr marR="0" lvl="3"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4pPr>
            <a:lvl5pPr marR="0" lvl="4"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5pPr>
            <a:lvl6pPr marR="0" lvl="5"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6pPr>
            <a:lvl7pPr marR="0" lvl="6"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7pPr>
            <a:lvl8pPr marR="0" lvl="7"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8pPr>
            <a:lvl9pPr marR="0" lvl="8"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Telex"/>
              <a:buChar char="●"/>
              <a:defRPr sz="1800" b="0" i="0" u="none" strike="noStrike" cap="none">
                <a:solidFill>
                  <a:schemeClr val="dk2"/>
                </a:solidFill>
                <a:latin typeface="Telex"/>
                <a:ea typeface="Telex"/>
                <a:cs typeface="Telex"/>
                <a:sym typeface="Telex"/>
              </a:defRPr>
            </a:lvl1pPr>
            <a:lvl2pPr marL="914400" marR="0" lvl="1"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2pPr>
            <a:lvl3pPr marL="1371600" marR="0" lvl="2"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3pPr>
            <a:lvl4pPr marL="1828800" marR="0" lvl="3"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4pPr>
            <a:lvl5pPr marL="2286000" marR="0" lvl="4"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5pPr>
            <a:lvl6pPr marL="2743200" marR="0" lvl="5"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6pPr>
            <a:lvl7pPr marL="3200400" marR="0" lvl="6"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7pPr>
            <a:lvl8pPr marL="3657600" marR="0" lvl="7"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8pPr>
            <a:lvl9pPr marL="4114800" marR="0" lvl="8" indent="-317500" algn="l" rtl="0">
              <a:lnSpc>
                <a:spcPct val="115000"/>
              </a:lnSpc>
              <a:spcBef>
                <a:spcPts val="1600"/>
              </a:spcBef>
              <a:spcAft>
                <a:spcPts val="1600"/>
              </a:spcAft>
              <a:buClr>
                <a:schemeClr val="dk2"/>
              </a:buClr>
              <a:buSzPts val="1400"/>
              <a:buFont typeface="Telex"/>
              <a:buChar char="■"/>
              <a:defRPr sz="1400" b="0" i="0" u="none" strike="noStrike" cap="none">
                <a:solidFill>
                  <a:schemeClr val="dk2"/>
                </a:solidFill>
                <a:latin typeface="Telex"/>
                <a:ea typeface="Telex"/>
                <a:cs typeface="Telex"/>
                <a:sym typeface="Telex"/>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0" y="937695"/>
            <a:ext cx="9144000" cy="2222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 sz="4000" b="0" i="0" u="none" strike="noStrike" cap="none">
                <a:solidFill>
                  <a:srgbClr val="000000"/>
                </a:solidFill>
                <a:latin typeface="Nunito Light"/>
                <a:ea typeface="Nunito Light"/>
                <a:cs typeface="Nunito Light"/>
                <a:sym typeface="Nunito Light"/>
              </a:rPr>
              <a:t>Introduction to</a:t>
            </a: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4000"/>
              <a:buFont typeface="Arial"/>
              <a:buNone/>
            </a:pPr>
            <a:r>
              <a:rPr lang="en" sz="4000" b="0" i="0" u="none" strike="noStrike" cap="none">
                <a:solidFill>
                  <a:srgbClr val="000000"/>
                </a:solidFill>
                <a:latin typeface="Nunito Light"/>
                <a:ea typeface="Nunito Light"/>
                <a:cs typeface="Nunito Light"/>
                <a:sym typeface="Nunito Light"/>
              </a:rPr>
              <a:t>AI Safety, Ethics, and Society</a:t>
            </a: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Nunito Light"/>
                <a:ea typeface="Nunito Light"/>
                <a:cs typeface="Nunito Light"/>
                <a:sym typeface="Nunito Light"/>
              </a:rPr>
              <a:t>Safety Engineering</a:t>
            </a:r>
            <a:endParaRPr sz="3000" b="0" i="0" u="none" strike="noStrike" cap="none">
              <a:solidFill>
                <a:srgbClr val="000000"/>
              </a:solidFill>
              <a:latin typeface="Nunito Light"/>
              <a:ea typeface="Nunito Light"/>
              <a:cs typeface="Nunito Light"/>
              <a:sym typeface="Nunito Light"/>
            </a:endParaRPr>
          </a:p>
        </p:txBody>
      </p:sp>
      <p:sp>
        <p:nvSpPr>
          <p:cNvPr id="55" name="Google Shape;55;p1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6" name="Google Shape;56;p1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a:t>
            </a:fld>
            <a:endParaRPr sz="1300" b="0" i="0" u="none" strike="noStrike" cap="none">
              <a:solidFill>
                <a:srgbClr val="FFFFFF"/>
              </a:solidFill>
              <a:latin typeface="Nunito"/>
              <a:ea typeface="Nunito"/>
              <a:cs typeface="Nunito"/>
              <a:sym typeface="Nunito"/>
            </a:endParaRPr>
          </a:p>
        </p:txBody>
      </p:sp>
      <p:sp>
        <p:nvSpPr>
          <p:cNvPr id="57" name="Google Shape;57;p1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Introduction</a:t>
            </a:r>
            <a:endParaRPr sz="3600">
              <a:latin typeface="Nunito"/>
              <a:ea typeface="Nunito"/>
              <a:cs typeface="Nunito"/>
              <a:sym typeface="Nunito"/>
            </a:endParaRPr>
          </a:p>
        </p:txBody>
      </p:sp>
      <p:sp>
        <p:nvSpPr>
          <p:cNvPr id="63" name="Google Shape;63;p14"/>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Safety engineering is a broad discipline that studies </a:t>
            </a:r>
            <a:r>
              <a:rPr lang="en" sz="2000">
                <a:solidFill>
                  <a:schemeClr val="dk1"/>
                </a:solidFill>
                <a:latin typeface="Nunito"/>
                <a:ea typeface="Nunito"/>
                <a:cs typeface="Nunito"/>
                <a:sym typeface="Nunito"/>
              </a:rPr>
              <a:t>many</a:t>
            </a:r>
            <a:r>
              <a:rPr lang="en" sz="2000" b="0" i="0" u="none" strike="noStrike" cap="none">
                <a:solidFill>
                  <a:schemeClr val="dk1"/>
                </a:solidFill>
                <a:latin typeface="Nunito"/>
                <a:ea typeface="Nunito"/>
                <a:cs typeface="Nunito"/>
                <a:sym typeface="Nunito"/>
              </a:rPr>
              <a:t> types of systems and provides a paradigm for avoiding </a:t>
            </a:r>
            <a:r>
              <a:rPr lang="en" sz="2000">
                <a:solidFill>
                  <a:schemeClr val="dk1"/>
                </a:solidFill>
                <a:latin typeface="Nunito"/>
                <a:ea typeface="Nunito"/>
                <a:cs typeface="Nunito"/>
                <a:sym typeface="Nunito"/>
              </a:rPr>
              <a:t>loss events</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64" name="Google Shape;64;p1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5" name="Google Shape;65;p1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a:t>
            </a:fld>
            <a:endParaRPr sz="1300" b="0" i="0" u="none" strike="noStrike" cap="none">
              <a:solidFill>
                <a:srgbClr val="FFFFFF"/>
              </a:solidFill>
              <a:latin typeface="Nunito"/>
              <a:ea typeface="Nunito"/>
              <a:cs typeface="Nunito"/>
              <a:sym typeface="Nunito"/>
            </a:endParaRPr>
          </a:p>
        </p:txBody>
      </p:sp>
      <p:sp>
        <p:nvSpPr>
          <p:cNvPr id="66" name="Google Shape;66;p1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7" name="Google Shape;67;p14"/>
          <p:cNvSpPr txBox="1"/>
          <p:nvPr/>
        </p:nvSpPr>
        <p:spPr>
          <a:xfrm>
            <a:off x="423400" y="208005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can view AI safety as a special case of safety engineering concerned with avoiding AI-related catastrophes.</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3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3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423400" y="-12175"/>
            <a:ext cx="8297100" cy="672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3" name="Google Shape;73;p15"/>
          <p:cNvSpPr txBox="1"/>
          <p:nvPr/>
        </p:nvSpPr>
        <p:spPr>
          <a:xfrm>
            <a:off x="36745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1. Risk decomposition and measuring reliability</a:t>
            </a:r>
            <a:endParaRPr sz="2000" b="0" i="1" u="none" strike="noStrike" cap="none">
              <a:solidFill>
                <a:schemeClr val="dk1"/>
              </a:solidFill>
              <a:latin typeface="Nunito"/>
              <a:ea typeface="Nunito"/>
              <a:cs typeface="Nunito"/>
              <a:sym typeface="Nunito"/>
            </a:endParaRPr>
          </a:p>
        </p:txBody>
      </p:sp>
      <p:sp>
        <p:nvSpPr>
          <p:cNvPr id="74" name="Google Shape;74;p1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5" name="Google Shape;75;p1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a:t>
            </a:fld>
            <a:endParaRPr sz="1300" b="0" i="0" u="none" strike="noStrike" cap="none">
              <a:solidFill>
                <a:srgbClr val="FFFFFF"/>
              </a:solidFill>
              <a:latin typeface="Nunito"/>
              <a:ea typeface="Nunito"/>
              <a:cs typeface="Nunito"/>
              <a:sym typeface="Nunito"/>
            </a:endParaRPr>
          </a:p>
        </p:txBody>
      </p:sp>
      <p:sp>
        <p:nvSpPr>
          <p:cNvPr id="76" name="Google Shape;76;p1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7" name="Google Shape;77;p15"/>
          <p:cNvSpPr txBox="1"/>
          <p:nvPr/>
        </p:nvSpPr>
        <p:spPr>
          <a:xfrm>
            <a:off x="367450" y="146632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Safe design principles </a:t>
            </a:r>
            <a:endParaRPr sz="2000" b="0" i="0" u="none" strike="noStrike" cap="none">
              <a:solidFill>
                <a:schemeClr val="dk1"/>
              </a:solidFill>
              <a:latin typeface="Nunito"/>
              <a:ea typeface="Nunito"/>
              <a:cs typeface="Nunito"/>
              <a:sym typeface="Nunito"/>
            </a:endParaRPr>
          </a:p>
        </p:txBody>
      </p:sp>
      <p:sp>
        <p:nvSpPr>
          <p:cNvPr id="78" name="Google Shape;78;p15"/>
          <p:cNvSpPr txBox="1"/>
          <p:nvPr/>
        </p:nvSpPr>
        <p:spPr>
          <a:xfrm>
            <a:off x="367450" y="276455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Systemic accident models</a:t>
            </a:r>
            <a:endParaRPr sz="2000" b="0" i="1" u="none" strike="noStrike" cap="none">
              <a:solidFill>
                <a:schemeClr val="dk1"/>
              </a:solidFill>
              <a:latin typeface="Nunito"/>
              <a:ea typeface="Nunito"/>
              <a:cs typeface="Nunito"/>
              <a:sym typeface="Nunito"/>
            </a:endParaRPr>
          </a:p>
        </p:txBody>
      </p:sp>
      <p:sp>
        <p:nvSpPr>
          <p:cNvPr id="79" name="Google Shape;79;p15"/>
          <p:cNvSpPr txBox="1"/>
          <p:nvPr/>
        </p:nvSpPr>
        <p:spPr>
          <a:xfrm>
            <a:off x="367450" y="341367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Tail events </a:t>
            </a:r>
            <a:endParaRPr sz="2000" b="0" i="0" u="none" strike="noStrike" cap="none">
              <a:solidFill>
                <a:schemeClr val="dk1"/>
              </a:solidFill>
              <a:latin typeface="Nunito"/>
              <a:ea typeface="Nunito"/>
              <a:cs typeface="Nunito"/>
              <a:sym typeface="Nunito"/>
            </a:endParaRPr>
          </a:p>
        </p:txBody>
      </p:sp>
      <p:sp>
        <p:nvSpPr>
          <p:cNvPr id="80" name="Google Shape;80;p15"/>
          <p:cNvSpPr txBox="1"/>
          <p:nvPr/>
        </p:nvSpPr>
        <p:spPr>
          <a:xfrm>
            <a:off x="367450" y="211543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Component failure accident models</a:t>
            </a:r>
            <a:endParaRPr sz="2000" b="0" i="0" u="none" strike="noStrike" cap="none">
              <a:solidFill>
                <a:schemeClr val="dk1"/>
              </a:solidFill>
              <a:latin typeface="Nunito"/>
              <a:ea typeface="Nunito"/>
              <a:cs typeface="Nunito"/>
              <a:sym typeface="Nunito"/>
            </a:endParaRPr>
          </a:p>
        </p:txBody>
      </p:sp>
      <p:sp>
        <p:nvSpPr>
          <p:cNvPr id="81" name="Google Shape;81;p15"/>
          <p:cNvSpPr txBox="1"/>
          <p:nvPr/>
        </p:nvSpPr>
        <p:spPr>
          <a:xfrm>
            <a:off x="367450" y="406279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Black swans</a:t>
            </a:r>
            <a:endParaRPr sz="2000" b="0" i="0" u="none" strike="noStrike" cap="none">
              <a:solidFill>
                <a:schemeClr val="dk1"/>
              </a:solidFill>
              <a:latin typeface="Nunito"/>
              <a:ea typeface="Nunito"/>
              <a:cs typeface="Nunito"/>
              <a:sym typeface="Nunito"/>
            </a:endParaRPr>
          </a:p>
        </p:txBody>
      </p:sp>
      <p:sp>
        <p:nvSpPr>
          <p:cNvPr id="82" name="Google Shape;82;p15"/>
          <p:cNvSpPr/>
          <p:nvPr/>
        </p:nvSpPr>
        <p:spPr>
          <a:xfrm>
            <a:off x="364325" y="795350"/>
            <a:ext cx="8279700" cy="6051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10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fade">
                                      <p:cBhvr>
                                        <p:cTn id="12" dur="3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fade">
                                      <p:cBhvr>
                                        <p:cTn id="17" dur="300"/>
                                        <p:tgtEl>
                                          <p:spTgt spid="8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300"/>
                                        <p:tgtEl>
                                          <p:spTgt spid="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fade">
                                      <p:cBhvr>
                                        <p:cTn id="27" dur="300"/>
                                        <p:tgtEl>
                                          <p:spTgt spid="7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fade">
                                      <p:cBhvr>
                                        <p:cTn id="32" dur="300"/>
                                        <p:tgtEl>
                                          <p:spTgt spid="8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2"/>
                                        </p:tgtEl>
                                        <p:attrNameLst>
                                          <p:attrName>style.visibility</p:attrName>
                                        </p:attrNameLst>
                                      </p:cBhvr>
                                      <p:to>
                                        <p:strVal val="visible"/>
                                      </p:to>
                                    </p:set>
                                    <p:animEffect transition="in" filter="fade">
                                      <p:cBhvr>
                                        <p:cTn id="37" dur="1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0" y="1513875"/>
            <a:ext cx="9144000" cy="1266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Risk Decomposition and </a:t>
            </a:r>
            <a:endParaRPr/>
          </a:p>
          <a:p>
            <a:pPr marL="0" lvl="0" indent="0" algn="ctr" rtl="0">
              <a:lnSpc>
                <a:spcPct val="100000"/>
              </a:lnSpc>
              <a:spcBef>
                <a:spcPts val="0"/>
              </a:spcBef>
              <a:spcAft>
                <a:spcPts val="0"/>
              </a:spcAft>
              <a:buSzPts val="3600"/>
              <a:buNone/>
            </a:pPr>
            <a:r>
              <a:rPr lang="en"/>
              <a:t>Measuring Reliability</a:t>
            </a:r>
            <a:endParaRPr sz="3600">
              <a:latin typeface="Nunito"/>
              <a:ea typeface="Nunito"/>
              <a:cs typeface="Nunito"/>
              <a:sym typeface="Nunito"/>
            </a:endParaRPr>
          </a:p>
        </p:txBody>
      </p:sp>
      <p:sp>
        <p:nvSpPr>
          <p:cNvPr id="88" name="Google Shape;88;p1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9" name="Google Shape;89;p1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a:t>
            </a:fld>
            <a:endParaRPr sz="1300" b="0" i="0" u="none" strike="noStrike" cap="none">
              <a:solidFill>
                <a:srgbClr val="FFFFFF"/>
              </a:solidFill>
              <a:latin typeface="Nunito"/>
              <a:ea typeface="Nunito"/>
              <a:cs typeface="Nunito"/>
              <a:sym typeface="Nunito"/>
            </a:endParaRPr>
          </a:p>
        </p:txBody>
      </p:sp>
      <p:sp>
        <p:nvSpPr>
          <p:cNvPr id="90" name="Google Shape;90;p1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1" name="Google Shape;91;p16"/>
          <p:cNvSpPr txBox="1"/>
          <p:nvPr/>
        </p:nvSpPr>
        <p:spPr>
          <a:xfrm>
            <a:off x="367675" y="29300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1" u="none" strike="noStrike" cap="none">
                <a:solidFill>
                  <a:schemeClr val="dk1"/>
                </a:solidFill>
                <a:latin typeface="Nunito"/>
                <a:ea typeface="Nunito"/>
                <a:cs typeface="Nunito"/>
                <a:sym typeface="Nunito"/>
              </a:rPr>
              <a:t>How to assess and compare risks quantitatively</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3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Failure Modes, Hazards, and Threats</a:t>
            </a:r>
            <a:endParaRPr/>
          </a:p>
          <a:p>
            <a:pPr marL="0" lvl="0" indent="0" algn="ctr" rtl="0">
              <a:lnSpc>
                <a:spcPct val="100000"/>
              </a:lnSpc>
              <a:spcBef>
                <a:spcPts val="0"/>
              </a:spcBef>
              <a:spcAft>
                <a:spcPts val="0"/>
              </a:spcAft>
              <a:buSzPts val="3600"/>
              <a:buNone/>
            </a:pPr>
            <a:endParaRPr/>
          </a:p>
        </p:txBody>
      </p:sp>
      <p:sp>
        <p:nvSpPr>
          <p:cNvPr id="97" name="Google Shape;97;p17"/>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Failure mode</a:t>
            </a:r>
            <a:r>
              <a:rPr lang="en" sz="2000" b="0" i="0" u="none" strike="noStrike" cap="none">
                <a:solidFill>
                  <a:schemeClr val="dk1"/>
                </a:solidFill>
                <a:latin typeface="Nunito"/>
                <a:ea typeface="Nunito"/>
                <a:cs typeface="Nunito"/>
                <a:sym typeface="Nunito"/>
              </a:rPr>
              <a:t>: a specific way a system could fail.</a:t>
            </a:r>
            <a:endParaRPr sz="2000" b="0" i="0" u="none" strike="noStrike" cap="none">
              <a:solidFill>
                <a:schemeClr val="dk1"/>
              </a:solidFill>
              <a:latin typeface="Nunito"/>
              <a:ea typeface="Nunito"/>
              <a:cs typeface="Nunito"/>
              <a:sym typeface="Nunito"/>
            </a:endParaRPr>
          </a:p>
        </p:txBody>
      </p:sp>
      <p:sp>
        <p:nvSpPr>
          <p:cNvPr id="98" name="Google Shape;98;p1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9" name="Google Shape;99;p1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a:t>
            </a:fld>
            <a:endParaRPr sz="1300" b="0" i="0" u="none" strike="noStrike" cap="none">
              <a:solidFill>
                <a:srgbClr val="FFFFFF"/>
              </a:solidFill>
              <a:latin typeface="Nunito"/>
              <a:ea typeface="Nunito"/>
              <a:cs typeface="Nunito"/>
              <a:sym typeface="Nunito"/>
            </a:endParaRPr>
          </a:p>
        </p:txBody>
      </p:sp>
      <p:sp>
        <p:nvSpPr>
          <p:cNvPr id="100" name="Google Shape;100;p1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1" name="Google Shape;101;p17"/>
          <p:cNvSpPr txBox="1"/>
          <p:nvPr/>
        </p:nvSpPr>
        <p:spPr>
          <a:xfrm>
            <a:off x="423400" y="13089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Hazard</a:t>
            </a:r>
            <a:r>
              <a:rPr lang="en" sz="2000" b="0" i="0" u="none" strike="noStrike" cap="none">
                <a:solidFill>
                  <a:schemeClr val="dk1"/>
                </a:solidFill>
                <a:latin typeface="Nunito"/>
                <a:ea typeface="Nunito"/>
                <a:cs typeface="Nunito"/>
                <a:sym typeface="Nunito"/>
              </a:rPr>
              <a:t>: a source of danger that could cause harm.</a:t>
            </a:r>
            <a:endParaRPr sz="2000" b="0" i="0" u="none" strike="noStrike" cap="none">
              <a:solidFill>
                <a:schemeClr val="dk1"/>
              </a:solidFill>
              <a:latin typeface="Nunito"/>
              <a:ea typeface="Nunito"/>
              <a:cs typeface="Nunito"/>
              <a:sym typeface="Nunito"/>
            </a:endParaRPr>
          </a:p>
        </p:txBody>
      </p:sp>
      <p:sp>
        <p:nvSpPr>
          <p:cNvPr id="102" name="Google Shape;102;p17"/>
          <p:cNvSpPr txBox="1"/>
          <p:nvPr/>
        </p:nvSpPr>
        <p:spPr>
          <a:xfrm>
            <a:off x="423400" y="18006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Threat</a:t>
            </a:r>
            <a:r>
              <a:rPr lang="en" sz="2000" b="0" i="0" u="none" strike="noStrike" cap="none">
                <a:solidFill>
                  <a:schemeClr val="dk1"/>
                </a:solidFill>
                <a:latin typeface="Nunito"/>
                <a:ea typeface="Nunito"/>
                <a:cs typeface="Nunito"/>
                <a:sym typeface="Nunito"/>
              </a:rPr>
              <a:t>: a hazard with malicious or adversarial intent.</a:t>
            </a:r>
            <a:endParaRPr sz="2000" b="0" i="0" u="none" strike="noStrike" cap="none">
              <a:solidFill>
                <a:schemeClr val="dk1"/>
              </a:solidFill>
              <a:latin typeface="Nunito"/>
              <a:ea typeface="Nunito"/>
              <a:cs typeface="Nunito"/>
              <a:sym typeface="Nunito"/>
            </a:endParaRPr>
          </a:p>
        </p:txBody>
      </p:sp>
      <p:grpSp>
        <p:nvGrpSpPr>
          <p:cNvPr id="103" name="Google Shape;103;p17"/>
          <p:cNvGrpSpPr/>
          <p:nvPr/>
        </p:nvGrpSpPr>
        <p:grpSpPr>
          <a:xfrm>
            <a:off x="507600" y="2734252"/>
            <a:ext cx="2195525" cy="2104448"/>
            <a:chOff x="507600" y="2734252"/>
            <a:chExt cx="2195525" cy="2104448"/>
          </a:xfrm>
        </p:grpSpPr>
        <p:pic>
          <p:nvPicPr>
            <p:cNvPr id="104" name="Google Shape;104;p17"/>
            <p:cNvPicPr preferRelativeResize="0"/>
            <p:nvPr/>
          </p:nvPicPr>
          <p:blipFill rotWithShape="1">
            <a:blip r:embed="rId3">
              <a:alphaModFix/>
            </a:blip>
            <a:srcRect/>
            <a:stretch/>
          </p:blipFill>
          <p:spPr>
            <a:xfrm>
              <a:off x="653150" y="2734252"/>
              <a:ext cx="2049975" cy="1726521"/>
            </a:xfrm>
            <a:prstGeom prst="rect">
              <a:avLst/>
            </a:prstGeom>
            <a:noFill/>
            <a:ln>
              <a:noFill/>
            </a:ln>
          </p:spPr>
        </p:pic>
        <p:sp>
          <p:nvSpPr>
            <p:cNvPr id="105" name="Google Shape;105;p17"/>
            <p:cNvSpPr txBox="1"/>
            <p:nvPr/>
          </p:nvSpPr>
          <p:spPr>
            <a:xfrm>
              <a:off x="507600" y="4347000"/>
              <a:ext cx="20499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Failure mode</a:t>
              </a:r>
              <a:endParaRPr sz="2000" b="0" i="0" u="none" strike="noStrike" cap="none">
                <a:solidFill>
                  <a:schemeClr val="dk1"/>
                </a:solidFill>
                <a:latin typeface="Nunito"/>
                <a:ea typeface="Nunito"/>
                <a:cs typeface="Nunito"/>
                <a:sym typeface="Nunito"/>
              </a:endParaRPr>
            </a:p>
          </p:txBody>
        </p:sp>
      </p:grpSp>
      <p:grpSp>
        <p:nvGrpSpPr>
          <p:cNvPr id="106" name="Google Shape;106;p17"/>
          <p:cNvGrpSpPr/>
          <p:nvPr/>
        </p:nvGrpSpPr>
        <p:grpSpPr>
          <a:xfrm>
            <a:off x="3346918" y="2734253"/>
            <a:ext cx="2162837" cy="2104447"/>
            <a:chOff x="3346918" y="2734253"/>
            <a:chExt cx="2162837" cy="2104447"/>
          </a:xfrm>
        </p:grpSpPr>
        <p:pic>
          <p:nvPicPr>
            <p:cNvPr id="107" name="Google Shape;107;p17"/>
            <p:cNvPicPr preferRelativeResize="0"/>
            <p:nvPr/>
          </p:nvPicPr>
          <p:blipFill rotWithShape="1">
            <a:blip r:embed="rId4">
              <a:alphaModFix/>
            </a:blip>
            <a:srcRect/>
            <a:stretch/>
          </p:blipFill>
          <p:spPr>
            <a:xfrm>
              <a:off x="3346918" y="2734253"/>
              <a:ext cx="2162837" cy="1726519"/>
            </a:xfrm>
            <a:prstGeom prst="rect">
              <a:avLst/>
            </a:prstGeom>
            <a:noFill/>
            <a:ln>
              <a:noFill/>
            </a:ln>
          </p:spPr>
        </p:pic>
        <p:sp>
          <p:nvSpPr>
            <p:cNvPr id="108" name="Google Shape;108;p17"/>
            <p:cNvSpPr txBox="1"/>
            <p:nvPr/>
          </p:nvSpPr>
          <p:spPr>
            <a:xfrm>
              <a:off x="3574088" y="4347000"/>
              <a:ext cx="17259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Hazard</a:t>
              </a:r>
              <a:endParaRPr sz="2000" b="0" i="0" u="none" strike="noStrike" cap="none">
                <a:solidFill>
                  <a:schemeClr val="dk1"/>
                </a:solidFill>
                <a:latin typeface="Nunito"/>
                <a:ea typeface="Nunito"/>
                <a:cs typeface="Nunito"/>
                <a:sym typeface="Nunito"/>
              </a:endParaRPr>
            </a:p>
          </p:txBody>
        </p:sp>
      </p:grpSp>
      <p:grpSp>
        <p:nvGrpSpPr>
          <p:cNvPr id="109" name="Google Shape;109;p17"/>
          <p:cNvGrpSpPr/>
          <p:nvPr/>
        </p:nvGrpSpPr>
        <p:grpSpPr>
          <a:xfrm>
            <a:off x="6610748" y="2734252"/>
            <a:ext cx="1785576" cy="2104448"/>
            <a:chOff x="6610748" y="2734252"/>
            <a:chExt cx="1785576" cy="2104448"/>
          </a:xfrm>
        </p:grpSpPr>
        <p:pic>
          <p:nvPicPr>
            <p:cNvPr id="110" name="Google Shape;110;p17"/>
            <p:cNvPicPr preferRelativeResize="0"/>
            <p:nvPr/>
          </p:nvPicPr>
          <p:blipFill rotWithShape="1">
            <a:blip r:embed="rId5">
              <a:alphaModFix/>
            </a:blip>
            <a:srcRect/>
            <a:stretch/>
          </p:blipFill>
          <p:spPr>
            <a:xfrm>
              <a:off x="6610748" y="2734252"/>
              <a:ext cx="1785576" cy="1726521"/>
            </a:xfrm>
            <a:prstGeom prst="rect">
              <a:avLst/>
            </a:prstGeom>
            <a:noFill/>
            <a:ln>
              <a:noFill/>
            </a:ln>
          </p:spPr>
        </p:pic>
        <p:sp>
          <p:nvSpPr>
            <p:cNvPr id="111" name="Google Shape;111;p17"/>
            <p:cNvSpPr txBox="1"/>
            <p:nvPr/>
          </p:nvSpPr>
          <p:spPr>
            <a:xfrm>
              <a:off x="6640575" y="4347000"/>
              <a:ext cx="17259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Threat</a:t>
              </a:r>
              <a:endParaRPr sz="2000" b="0" i="0" u="none" strike="noStrike" cap="none">
                <a:solidFill>
                  <a:schemeClr val="dk1"/>
                </a:solidFill>
                <a:latin typeface="Nunito"/>
                <a:ea typeface="Nunito"/>
                <a:cs typeface="Nunito"/>
                <a:sym typeface="Nuni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300"/>
                                        <p:tgtEl>
                                          <p:spTgt spid="97"/>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300"/>
                                        <p:tgtEl>
                                          <p:spTgt spid="10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fade">
                                      <p:cBhvr>
                                        <p:cTn id="16" dur="300"/>
                                        <p:tgtEl>
                                          <p:spTgt spid="101"/>
                                        </p:tgtEl>
                                      </p:cBhvr>
                                    </p:animEffect>
                                  </p:childTnLst>
                                </p:cTn>
                              </p:par>
                            </p:childTnLst>
                          </p:cTn>
                        </p:par>
                        <p:par>
                          <p:cTn id="17" fill="hold">
                            <p:stCondLst>
                              <p:cond delay="300"/>
                            </p:stCondLst>
                            <p:childTnLst>
                              <p:par>
                                <p:cTn id="18" presetID="10" presetClass="entr" presetSubtype="0" fill="hold" nodeType="afterEffect">
                                  <p:stCondLst>
                                    <p:cond delay="0"/>
                                  </p:stCondLst>
                                  <p:childTnLst>
                                    <p:set>
                                      <p:cBhvr>
                                        <p:cTn id="19" dur="1" fill="hold">
                                          <p:stCondLst>
                                            <p:cond delay="0"/>
                                          </p:stCondLst>
                                        </p:cTn>
                                        <p:tgtEl>
                                          <p:spTgt spid="106"/>
                                        </p:tgtEl>
                                        <p:attrNameLst>
                                          <p:attrName>style.visibility</p:attrName>
                                        </p:attrNameLst>
                                      </p:cBhvr>
                                      <p:to>
                                        <p:strVal val="visible"/>
                                      </p:to>
                                    </p:set>
                                    <p:animEffect transition="in" filter="fade">
                                      <p:cBhvr>
                                        <p:cTn id="20" dur="300"/>
                                        <p:tgtEl>
                                          <p:spTgt spid="10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2"/>
                                        </p:tgtEl>
                                        <p:attrNameLst>
                                          <p:attrName>style.visibility</p:attrName>
                                        </p:attrNameLst>
                                      </p:cBhvr>
                                      <p:to>
                                        <p:strVal val="visible"/>
                                      </p:to>
                                    </p:set>
                                    <p:animEffect transition="in" filter="fade">
                                      <p:cBhvr>
                                        <p:cTn id="25" dur="300"/>
                                        <p:tgtEl>
                                          <p:spTgt spid="102"/>
                                        </p:tgtEl>
                                      </p:cBhvr>
                                    </p:animEffect>
                                  </p:childTnLst>
                                </p:cTn>
                              </p:par>
                            </p:childTnLst>
                          </p:cTn>
                        </p:par>
                        <p:par>
                          <p:cTn id="26" fill="hold">
                            <p:stCondLst>
                              <p:cond delay="300"/>
                            </p:stCondLst>
                            <p:childTnLst>
                              <p:par>
                                <p:cTn id="27" presetID="10" presetClass="entr" presetSubtype="0" fill="hold" nodeType="afterEffect">
                                  <p:stCondLst>
                                    <p:cond delay="0"/>
                                  </p:stCondLst>
                                  <p:childTnLst>
                                    <p:set>
                                      <p:cBhvr>
                                        <p:cTn id="28" dur="1" fill="hold">
                                          <p:stCondLst>
                                            <p:cond delay="0"/>
                                          </p:stCondLst>
                                        </p:cTn>
                                        <p:tgtEl>
                                          <p:spTgt spid="109"/>
                                        </p:tgtEl>
                                        <p:attrNameLst>
                                          <p:attrName>style.visibility</p:attrName>
                                        </p:attrNameLst>
                                      </p:cBhvr>
                                      <p:to>
                                        <p:strVal val="visible"/>
                                      </p:to>
                                    </p:set>
                                    <p:animEffect transition="in" filter="fade">
                                      <p:cBhvr>
                                        <p:cTn id="29" dur="3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The Two-Factor Risk Equation</a:t>
            </a:r>
            <a:endParaRPr/>
          </a:p>
          <a:p>
            <a:pPr marL="0" lvl="0" indent="0" algn="ctr" rtl="0">
              <a:lnSpc>
                <a:spcPct val="100000"/>
              </a:lnSpc>
              <a:spcBef>
                <a:spcPts val="0"/>
              </a:spcBef>
              <a:spcAft>
                <a:spcPts val="0"/>
              </a:spcAft>
              <a:buSzPts val="3600"/>
              <a:buNone/>
            </a:pPr>
            <a:endParaRPr/>
          </a:p>
        </p:txBody>
      </p:sp>
      <p:sp>
        <p:nvSpPr>
          <p:cNvPr id="117" name="Google Shape;117;p18"/>
          <p:cNvSpPr txBox="1"/>
          <p:nvPr/>
        </p:nvSpPr>
        <p:spPr>
          <a:xfrm>
            <a:off x="423400" y="2110550"/>
            <a:ext cx="42624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should frame our goal as risk </a:t>
            </a:r>
            <a:r>
              <a:rPr lang="en" sz="2000" b="0" i="1" u="none" strike="noStrike" cap="none">
                <a:solidFill>
                  <a:schemeClr val="dk1"/>
                </a:solidFill>
                <a:latin typeface="Nunito"/>
                <a:ea typeface="Nunito"/>
                <a:cs typeface="Nunito"/>
                <a:sym typeface="Nunito"/>
              </a:rPr>
              <a:t>reduction</a:t>
            </a:r>
            <a:r>
              <a:rPr lang="en" sz="2000" b="0" i="0" u="none" strike="noStrike" cap="none">
                <a:solidFill>
                  <a:schemeClr val="dk1"/>
                </a:solidFill>
                <a:latin typeface="Nunito"/>
                <a:ea typeface="Nunito"/>
                <a:cs typeface="Nunito"/>
                <a:sym typeface="Nunito"/>
              </a:rPr>
              <a:t>, not eradication. </a:t>
            </a:r>
            <a:endParaRPr sz="2000" b="0" i="0" u="none" strike="noStrike" cap="none">
              <a:solidFill>
                <a:schemeClr val="dk1"/>
              </a:solidFill>
              <a:latin typeface="Nunito"/>
              <a:ea typeface="Nunito"/>
              <a:cs typeface="Nunito"/>
              <a:sym typeface="Nunito"/>
            </a:endParaRPr>
          </a:p>
        </p:txBody>
      </p:sp>
      <p:sp>
        <p:nvSpPr>
          <p:cNvPr id="118" name="Google Shape;118;p18"/>
          <p:cNvSpPr txBox="1"/>
          <p:nvPr/>
        </p:nvSpPr>
        <p:spPr>
          <a:xfrm>
            <a:off x="423400" y="2834750"/>
            <a:ext cx="42624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“Solving the intelligence problem” </a:t>
            </a:r>
            <a:r>
              <a:rPr lang="en" sz="2000">
                <a:solidFill>
                  <a:schemeClr val="dk1"/>
                </a:solidFill>
                <a:latin typeface="Nunito"/>
                <a:ea typeface="Nunito"/>
                <a:cs typeface="Nunito"/>
                <a:sym typeface="Nunito"/>
              </a:rPr>
              <a:t>→</a:t>
            </a:r>
            <a:r>
              <a:rPr lang="en" sz="2000" b="0" i="0" u="none" strike="noStrike" cap="none">
                <a:solidFill>
                  <a:schemeClr val="dk1"/>
                </a:solidFill>
                <a:latin typeface="Nunito"/>
                <a:ea typeface="Nunito"/>
                <a:cs typeface="Nunito"/>
                <a:sym typeface="Nunito"/>
              </a:rPr>
              <a:t> “Improving capabilities”</a:t>
            </a:r>
            <a:endParaRPr sz="2000" b="0" i="0" u="none" strike="noStrike" cap="none">
              <a:solidFill>
                <a:schemeClr val="dk1"/>
              </a:solidFill>
              <a:latin typeface="Nunito"/>
              <a:ea typeface="Nunito"/>
              <a:cs typeface="Nunito"/>
              <a:sym typeface="Nunito"/>
            </a:endParaRPr>
          </a:p>
        </p:txBody>
      </p:sp>
      <p:sp>
        <p:nvSpPr>
          <p:cNvPr id="119" name="Google Shape;119;p18"/>
          <p:cNvSpPr txBox="1"/>
          <p:nvPr/>
        </p:nvSpPr>
        <p:spPr>
          <a:xfrm>
            <a:off x="423400" y="3948825"/>
            <a:ext cx="42624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“Solving the alignment problem” </a:t>
            </a:r>
            <a:r>
              <a:rPr lang="en" sz="2000">
                <a:solidFill>
                  <a:schemeClr val="dk1"/>
                </a:solidFill>
                <a:latin typeface="Nunito"/>
                <a:ea typeface="Nunito"/>
                <a:cs typeface="Nunito"/>
                <a:sym typeface="Nunito"/>
              </a:rPr>
              <a:t>→</a:t>
            </a:r>
            <a:r>
              <a:rPr lang="en" sz="2000" b="0" i="0" u="none" strike="noStrike" cap="none">
                <a:solidFill>
                  <a:schemeClr val="dk1"/>
                </a:solidFill>
                <a:latin typeface="Nunito"/>
                <a:ea typeface="Nunito"/>
                <a:cs typeface="Nunito"/>
                <a:sym typeface="Nunito"/>
              </a:rPr>
              <a:t> “Making AI safer”</a:t>
            </a:r>
            <a:endParaRPr sz="2000" b="0" i="0" u="none" strike="noStrike" cap="none">
              <a:solidFill>
                <a:schemeClr val="dk1"/>
              </a:solidFill>
              <a:latin typeface="Nunito"/>
              <a:ea typeface="Nunito"/>
              <a:cs typeface="Nunito"/>
              <a:sym typeface="Nunito"/>
            </a:endParaRPr>
          </a:p>
        </p:txBody>
      </p:sp>
      <p:pic>
        <p:nvPicPr>
          <p:cNvPr id="120" name="Google Shape;120;p18"/>
          <p:cNvPicPr preferRelativeResize="0"/>
          <p:nvPr/>
        </p:nvPicPr>
        <p:blipFill rotWithShape="1">
          <a:blip r:embed="rId3">
            <a:alphaModFix/>
          </a:blip>
          <a:srcRect/>
          <a:stretch/>
        </p:blipFill>
        <p:spPr>
          <a:xfrm>
            <a:off x="506475" y="802413"/>
            <a:ext cx="6992423" cy="818025"/>
          </a:xfrm>
          <a:prstGeom prst="rect">
            <a:avLst/>
          </a:prstGeom>
          <a:noFill/>
          <a:ln>
            <a:noFill/>
          </a:ln>
        </p:spPr>
      </p:pic>
      <p:sp>
        <p:nvSpPr>
          <p:cNvPr id="121" name="Google Shape;121;p18"/>
          <p:cNvSpPr txBox="1"/>
          <p:nvPr/>
        </p:nvSpPr>
        <p:spPr>
          <a:xfrm>
            <a:off x="423400" y="169247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Risk from volcano = probability of eruption x severity of impact</a:t>
            </a:r>
            <a:endParaRPr sz="2000" b="0" i="0" u="none" strike="noStrike" cap="none">
              <a:solidFill>
                <a:schemeClr val="dk1"/>
              </a:solidFill>
              <a:latin typeface="Nunito"/>
              <a:ea typeface="Nunito"/>
              <a:cs typeface="Nunito"/>
              <a:sym typeface="Nunito"/>
            </a:endParaRPr>
          </a:p>
        </p:txBody>
      </p:sp>
      <p:sp>
        <p:nvSpPr>
          <p:cNvPr id="122" name="Google Shape;122;p18"/>
          <p:cNvSpPr/>
          <p:nvPr/>
        </p:nvSpPr>
        <p:spPr>
          <a:xfrm>
            <a:off x="3694000" y="1567000"/>
            <a:ext cx="5193000" cy="714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8"/>
          <p:cNvSpPr/>
          <p:nvPr/>
        </p:nvSpPr>
        <p:spPr>
          <a:xfrm>
            <a:off x="6544625" y="1692475"/>
            <a:ext cx="5193000" cy="714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Google Shape;124;p18"/>
          <p:cNvPicPr preferRelativeResize="0"/>
          <p:nvPr/>
        </p:nvPicPr>
        <p:blipFill rotWithShape="1">
          <a:blip r:embed="rId4">
            <a:alphaModFix/>
          </a:blip>
          <a:srcRect/>
          <a:stretch/>
        </p:blipFill>
        <p:spPr>
          <a:xfrm>
            <a:off x="5292882" y="2723886"/>
            <a:ext cx="3427612" cy="1931651"/>
          </a:xfrm>
          <a:prstGeom prst="rect">
            <a:avLst/>
          </a:prstGeom>
          <a:noFill/>
          <a:ln>
            <a:noFill/>
          </a:ln>
        </p:spPr>
      </p:pic>
      <p:sp>
        <p:nvSpPr>
          <p:cNvPr id="125" name="Google Shape;125;p1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26" name="Google Shape;126;p1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a:t>
            </a:fld>
            <a:endParaRPr sz="1300" b="0" i="0" u="none" strike="noStrike" cap="none">
              <a:solidFill>
                <a:srgbClr val="FFFFFF"/>
              </a:solidFill>
              <a:latin typeface="Nunito"/>
              <a:ea typeface="Nunito"/>
              <a:cs typeface="Nunito"/>
              <a:sym typeface="Nunito"/>
            </a:endParaRPr>
          </a:p>
        </p:txBody>
      </p:sp>
      <p:sp>
        <p:nvSpPr>
          <p:cNvPr id="127" name="Google Shape;127;p1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3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300"/>
                                        <p:tgtEl>
                                          <p:spTgt spid="12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2" fill="hold" nodeType="clickEffect">
                                  <p:stCondLst>
                                    <p:cond delay="0"/>
                                  </p:stCondLst>
                                  <p:childTnLst>
                                    <p:anim calcmode="lin" valueType="num">
                                      <p:cBhvr additive="base">
                                        <p:cTn id="16" dur="300"/>
                                        <p:tgtEl>
                                          <p:spTgt spid="122"/>
                                        </p:tgtEl>
                                        <p:attrNameLst>
                                          <p:attrName>ppt_x</p:attrName>
                                        </p:attrNameLst>
                                      </p:cBhvr>
                                      <p:tavLst>
                                        <p:tav tm="0">
                                          <p:val>
                                            <p:strVal val="#ppt_x"/>
                                          </p:val>
                                        </p:tav>
                                        <p:tav tm="100000">
                                          <p:val>
                                            <p:strVal val="#ppt_x+1"/>
                                          </p:val>
                                        </p:tav>
                                      </p:tavLst>
                                    </p:anim>
                                    <p:set>
                                      <p:cBhvr>
                                        <p:cTn id="17" dur="1" fill="hold">
                                          <p:stCondLst>
                                            <p:cond delay="300"/>
                                          </p:stCondLst>
                                        </p:cTn>
                                        <p:tgtEl>
                                          <p:spTgt spid="12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2" fill="hold" nodeType="clickEffect">
                                  <p:stCondLst>
                                    <p:cond delay="0"/>
                                  </p:stCondLst>
                                  <p:childTnLst>
                                    <p:anim calcmode="lin" valueType="num">
                                      <p:cBhvr additive="base">
                                        <p:cTn id="21" dur="300"/>
                                        <p:tgtEl>
                                          <p:spTgt spid="123"/>
                                        </p:tgtEl>
                                        <p:attrNameLst>
                                          <p:attrName>ppt_x</p:attrName>
                                        </p:attrNameLst>
                                      </p:cBhvr>
                                      <p:tavLst>
                                        <p:tav tm="0">
                                          <p:val>
                                            <p:strVal val="#ppt_x"/>
                                          </p:val>
                                        </p:tav>
                                        <p:tav tm="100000">
                                          <p:val>
                                            <p:strVal val="#ppt_x+1"/>
                                          </p:val>
                                        </p:tav>
                                      </p:tavLst>
                                    </p:anim>
                                    <p:set>
                                      <p:cBhvr>
                                        <p:cTn id="22" dur="1" fill="hold">
                                          <p:stCondLst>
                                            <p:cond delay="300"/>
                                          </p:stCondLst>
                                        </p:cTn>
                                        <p:tgtEl>
                                          <p:spTgt spid="123"/>
                                        </p:tgtEl>
                                        <p:attrNameLst>
                                          <p:attrName>style.visibility</p:attrName>
                                        </p:attrNameLst>
                                      </p:cBhvr>
                                      <p:to>
                                        <p:strVal val="hidden"/>
                                      </p:to>
                                    </p:set>
                                  </p:childTnLst>
                                </p:cTn>
                              </p:par>
                            </p:childTnLst>
                          </p:cTn>
                        </p:par>
                        <p:par>
                          <p:cTn id="23" fill="hold">
                            <p:stCondLst>
                              <p:cond delay="300"/>
                            </p:stCondLst>
                            <p:childTnLst>
                              <p:par>
                                <p:cTn id="24" presetID="10" presetClass="entr" presetSubtype="0" fill="hold" nodeType="afterEffect">
                                  <p:stCondLst>
                                    <p:cond delay="0"/>
                                  </p:stCondLst>
                                  <p:childTnLst>
                                    <p:set>
                                      <p:cBhvr>
                                        <p:cTn id="25" dur="1" fill="hold">
                                          <p:stCondLst>
                                            <p:cond delay="0"/>
                                          </p:stCondLst>
                                        </p:cTn>
                                        <p:tgtEl>
                                          <p:spTgt spid="124"/>
                                        </p:tgtEl>
                                        <p:attrNameLst>
                                          <p:attrName>style.visibility</p:attrName>
                                        </p:attrNameLst>
                                      </p:cBhvr>
                                      <p:to>
                                        <p:strVal val="visible"/>
                                      </p:to>
                                    </p:set>
                                    <p:animEffect transition="in" filter="fade">
                                      <p:cBhvr>
                                        <p:cTn id="26" dur="300"/>
                                        <p:tgtEl>
                                          <p:spTgt spid="1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7">
                                            <p:txEl>
                                              <p:pRg st="0" end="0"/>
                                            </p:txEl>
                                          </p:spTgt>
                                        </p:tgtEl>
                                        <p:attrNameLst>
                                          <p:attrName>style.visibility</p:attrName>
                                        </p:attrNameLst>
                                      </p:cBhvr>
                                      <p:to>
                                        <p:strVal val="visible"/>
                                      </p:to>
                                    </p:set>
                                    <p:animEffect transition="in" filter="fade">
                                      <p:cBhvr>
                                        <p:cTn id="31" dur="300"/>
                                        <p:tgtEl>
                                          <p:spTgt spid="117">
                                            <p:txEl>
                                              <p:pRg st="0" end="0"/>
                                            </p:txEl>
                                          </p:spTgt>
                                        </p:tgtEl>
                                      </p:cBhvr>
                                    </p:animEffect>
                                  </p:childTnLst>
                                </p:cTn>
                              </p:par>
                              <p:par>
                                <p:cTn id="32" presetID="10" presetClass="exit" presetSubtype="0" fill="hold" nodeType="withEffect">
                                  <p:stCondLst>
                                    <p:cond delay="0"/>
                                  </p:stCondLst>
                                  <p:childTnLst>
                                    <p:animEffect transition="out" filter="fade">
                                      <p:cBhvr>
                                        <p:cTn id="33" dur="300"/>
                                        <p:tgtEl>
                                          <p:spTgt spid="124"/>
                                        </p:tgtEl>
                                      </p:cBhvr>
                                    </p:animEffect>
                                    <p:set>
                                      <p:cBhvr>
                                        <p:cTn id="34" dur="1" fill="hold">
                                          <p:stCondLst>
                                            <p:cond delay="300"/>
                                          </p:stCondLst>
                                        </p:cTn>
                                        <p:tgtEl>
                                          <p:spTgt spid="12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8"/>
                                        </p:tgtEl>
                                        <p:attrNameLst>
                                          <p:attrName>style.visibility</p:attrName>
                                        </p:attrNameLst>
                                      </p:cBhvr>
                                      <p:to>
                                        <p:strVal val="visible"/>
                                      </p:to>
                                    </p:set>
                                    <p:animEffect transition="in" filter="fade">
                                      <p:cBhvr>
                                        <p:cTn id="39" dur="300"/>
                                        <p:tgtEl>
                                          <p:spTgt spid="1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19"/>
                                        </p:tgtEl>
                                        <p:attrNameLst>
                                          <p:attrName>style.visibility</p:attrName>
                                        </p:attrNameLst>
                                      </p:cBhvr>
                                      <p:to>
                                        <p:strVal val="visible"/>
                                      </p:to>
                                    </p:set>
                                    <p:animEffect transition="in" filter="fade">
                                      <p:cBhvr>
                                        <p:cTn id="44" dur="3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Detailed Disaster Risk Equation</a:t>
            </a:r>
            <a:endParaRPr/>
          </a:p>
          <a:p>
            <a:pPr marL="0" lvl="0" indent="0" algn="ctr" rtl="0">
              <a:lnSpc>
                <a:spcPct val="100000"/>
              </a:lnSpc>
              <a:spcBef>
                <a:spcPts val="0"/>
              </a:spcBef>
              <a:spcAft>
                <a:spcPts val="0"/>
              </a:spcAft>
              <a:buSzPts val="3600"/>
              <a:buNone/>
            </a:pPr>
            <a:endParaRPr/>
          </a:p>
        </p:txBody>
      </p:sp>
      <p:sp>
        <p:nvSpPr>
          <p:cNvPr id="133" name="Google Shape;133;p19"/>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Let’s expand this risk equation into four factors:</a:t>
            </a:r>
            <a:endParaRPr sz="2000" b="0" i="0" u="none" strike="noStrike" cap="none">
              <a:solidFill>
                <a:schemeClr val="dk1"/>
              </a:solidFill>
              <a:latin typeface="Nunito"/>
              <a:ea typeface="Nunito"/>
              <a:cs typeface="Nunito"/>
              <a:sym typeface="Nunito"/>
            </a:endParaRPr>
          </a:p>
        </p:txBody>
      </p:sp>
      <p:sp>
        <p:nvSpPr>
          <p:cNvPr id="134" name="Google Shape;134;p1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35" name="Google Shape;135;p1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7</a:t>
            </a:fld>
            <a:endParaRPr sz="1300" b="0" i="0" u="none" strike="noStrike" cap="none">
              <a:solidFill>
                <a:srgbClr val="FFFFFF"/>
              </a:solidFill>
              <a:latin typeface="Nunito"/>
              <a:ea typeface="Nunito"/>
              <a:cs typeface="Nunito"/>
              <a:sym typeface="Nunito"/>
            </a:endParaRPr>
          </a:p>
        </p:txBody>
      </p:sp>
      <p:sp>
        <p:nvSpPr>
          <p:cNvPr id="136" name="Google Shape;136;p1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37" name="Google Shape;137;p19"/>
          <p:cNvSpPr/>
          <p:nvPr/>
        </p:nvSpPr>
        <p:spPr>
          <a:xfrm>
            <a:off x="2291200" y="1281000"/>
            <a:ext cx="198000" cy="624900"/>
          </a:xfrm>
          <a:prstGeom prst="rightBrace">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8" name="Google Shape;138;p19"/>
          <p:cNvGrpSpPr/>
          <p:nvPr/>
        </p:nvGrpSpPr>
        <p:grpSpPr>
          <a:xfrm>
            <a:off x="499600" y="1281000"/>
            <a:ext cx="1992250" cy="624900"/>
            <a:chOff x="496950" y="1281000"/>
            <a:chExt cx="1992250" cy="624900"/>
          </a:xfrm>
        </p:grpSpPr>
        <p:sp>
          <p:nvSpPr>
            <p:cNvPr id="139" name="Google Shape;139;p19"/>
            <p:cNvSpPr/>
            <p:nvPr/>
          </p:nvSpPr>
          <p:spPr>
            <a:xfrm>
              <a:off x="2291200" y="1281000"/>
              <a:ext cx="198000" cy="624900"/>
            </a:xfrm>
            <a:prstGeom prst="rightBrace">
              <a:avLst>
                <a:gd name="adj1" fmla="val 50000"/>
                <a:gd name="adj2" fmla="val 50000"/>
              </a:avLst>
            </a:prstGeom>
            <a:solidFill>
              <a:srgbClr val="FFAE00">
                <a:alpha val="2705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9"/>
            <p:cNvSpPr/>
            <p:nvPr/>
          </p:nvSpPr>
          <p:spPr>
            <a:xfrm>
              <a:off x="496950" y="1281000"/>
              <a:ext cx="1794300" cy="624900"/>
            </a:xfrm>
            <a:prstGeom prst="rect">
              <a:avLst/>
            </a:prstGeom>
            <a:solidFill>
              <a:srgbClr val="FFAE00">
                <a:alpha val="2705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1" name="Google Shape;141;p19"/>
          <p:cNvSpPr txBox="1"/>
          <p:nvPr/>
        </p:nvSpPr>
        <p:spPr>
          <a:xfrm>
            <a:off x="423400" y="1155950"/>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Probability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Severity</a:t>
            </a:r>
            <a:endParaRPr sz="2000" b="0" i="0" u="none" strike="noStrike" cap="none">
              <a:solidFill>
                <a:schemeClr val="dk1"/>
              </a:solidFill>
              <a:latin typeface="Nunito"/>
              <a:ea typeface="Nunito"/>
              <a:cs typeface="Nunito"/>
              <a:sym typeface="Nunito"/>
            </a:endParaRPr>
          </a:p>
        </p:txBody>
      </p:sp>
      <p:sp>
        <p:nvSpPr>
          <p:cNvPr id="142" name="Google Shape;142;p19"/>
          <p:cNvSpPr txBox="1"/>
          <p:nvPr/>
        </p:nvSpPr>
        <p:spPr>
          <a:xfrm>
            <a:off x="438900" y="183952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a:t>
            </a:r>
            <a:r>
              <a:rPr lang="en" sz="900" b="0" i="0" u="none" strike="noStrike" cap="none">
                <a:solidFill>
                  <a:schemeClr val="dk1"/>
                </a:solidFill>
                <a:latin typeface="Nunito"/>
                <a:ea typeface="Nunito"/>
                <a:cs typeface="Nunito"/>
                <a:sym typeface="Nunito"/>
              </a:rPr>
              <a:t> </a:t>
            </a:r>
            <a:r>
              <a:rPr lang="en" sz="2000" b="0" i="0" u="none" strike="noStrike" cap="none">
                <a:solidFill>
                  <a:schemeClr val="dk1"/>
                </a:solidFill>
                <a:latin typeface="Nunito"/>
                <a:ea typeface="Nunito"/>
                <a:cs typeface="Nunito"/>
                <a:sym typeface="Nunito"/>
              </a:rPr>
              <a:t>Exposure</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a:t>
            </a:r>
            <a:r>
              <a:rPr lang="en" sz="900" b="0" i="0" u="none" strike="noStrike" cap="none">
                <a:solidFill>
                  <a:schemeClr val="dk1"/>
                </a:solidFill>
                <a:latin typeface="Nunito"/>
                <a:ea typeface="Nunito"/>
                <a:cs typeface="Nunito"/>
                <a:sym typeface="Nunito"/>
              </a:rPr>
              <a:t> </a:t>
            </a:r>
            <a:r>
              <a:rPr lang="en" sz="2000" b="0" i="0" u="none" strike="noStrike" cap="none">
                <a:solidFill>
                  <a:schemeClr val="dk1"/>
                </a:solidFill>
                <a:latin typeface="Nunito"/>
                <a:ea typeface="Nunito"/>
                <a:cs typeface="Nunito"/>
                <a:sym typeface="Nunito"/>
              </a:rPr>
              <a:t>Vulnerability</a:t>
            </a:r>
            <a:endParaRPr sz="2000" b="0" i="0" u="none" strike="noStrike" cap="none">
              <a:solidFill>
                <a:schemeClr val="dk1"/>
              </a:solidFill>
              <a:latin typeface="Nunito"/>
              <a:ea typeface="Nunito"/>
              <a:cs typeface="Nunito"/>
              <a:sym typeface="Nunito"/>
            </a:endParaRPr>
          </a:p>
        </p:txBody>
      </p:sp>
      <p:grpSp>
        <p:nvGrpSpPr>
          <p:cNvPr id="143" name="Google Shape;143;p19"/>
          <p:cNvGrpSpPr/>
          <p:nvPr/>
        </p:nvGrpSpPr>
        <p:grpSpPr>
          <a:xfrm>
            <a:off x="499600" y="1281000"/>
            <a:ext cx="1992250" cy="624900"/>
            <a:chOff x="496950" y="1281000"/>
            <a:chExt cx="1992250" cy="624900"/>
          </a:xfrm>
        </p:grpSpPr>
        <p:sp>
          <p:nvSpPr>
            <p:cNvPr id="144" name="Google Shape;144;p19"/>
            <p:cNvSpPr/>
            <p:nvPr/>
          </p:nvSpPr>
          <p:spPr>
            <a:xfrm>
              <a:off x="2291200" y="1281000"/>
              <a:ext cx="198000" cy="624900"/>
            </a:xfrm>
            <a:prstGeom prst="rightBrace">
              <a:avLst>
                <a:gd name="adj1" fmla="val 50000"/>
                <a:gd name="adj2" fmla="val 5000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19"/>
            <p:cNvSpPr/>
            <p:nvPr/>
          </p:nvSpPr>
          <p:spPr>
            <a:xfrm>
              <a:off x="496950" y="1281000"/>
              <a:ext cx="1794300" cy="624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6" name="Google Shape;146;p19"/>
          <p:cNvSpPr txBox="1"/>
          <p:nvPr/>
        </p:nvSpPr>
        <p:spPr>
          <a:xfrm>
            <a:off x="423400" y="1155950"/>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Probability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Severity</a:t>
            </a:r>
            <a:endParaRPr sz="2000" b="0" i="0" u="none" strike="noStrike" cap="none">
              <a:solidFill>
                <a:schemeClr val="dk1"/>
              </a:solidFill>
              <a:latin typeface="Nunito"/>
              <a:ea typeface="Nunito"/>
              <a:cs typeface="Nunito"/>
              <a:sym typeface="Nunito"/>
            </a:endParaRPr>
          </a:p>
        </p:txBody>
      </p:sp>
      <p:sp>
        <p:nvSpPr>
          <p:cNvPr id="147" name="Google Shape;147;p19"/>
          <p:cNvSpPr txBox="1"/>
          <p:nvPr/>
        </p:nvSpPr>
        <p:spPr>
          <a:xfrm>
            <a:off x="2491850" y="1347600"/>
            <a:ext cx="28098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Intrinsic hazard level</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animEffect transition="in" filter="fade">
                                      <p:cBhvr>
                                        <p:cTn id="7" dur="300"/>
                                        <p:tgtEl>
                                          <p:spTgt spid="1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xEl>
                                              <p:pRg st="0" end="0"/>
                                            </p:txEl>
                                          </p:spTgt>
                                        </p:tgtEl>
                                        <p:attrNameLst>
                                          <p:attrName>style.visibility</p:attrName>
                                        </p:attrNameLst>
                                      </p:cBhvr>
                                      <p:to>
                                        <p:strVal val="visible"/>
                                      </p:to>
                                    </p:set>
                                    <p:animEffect transition="in" filter="fade">
                                      <p:cBhvr>
                                        <p:cTn id="12" dur="300"/>
                                        <p:tgtEl>
                                          <p:spTgt spid="1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6">
                                            <p:txEl>
                                              <p:pRg st="1" end="1"/>
                                            </p:txEl>
                                          </p:spTgt>
                                        </p:tgtEl>
                                        <p:attrNameLst>
                                          <p:attrName>style.visibility</p:attrName>
                                        </p:attrNameLst>
                                      </p:cBhvr>
                                      <p:to>
                                        <p:strVal val="visible"/>
                                      </p:to>
                                    </p:set>
                                    <p:animEffect transition="in" filter="fade">
                                      <p:cBhvr>
                                        <p:cTn id="17" dur="300"/>
                                        <p:tgtEl>
                                          <p:spTgt spid="14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
                                            <p:txEl>
                                              <p:pRg st="0" end="0"/>
                                            </p:txEl>
                                          </p:spTgt>
                                        </p:tgtEl>
                                        <p:attrNameLst>
                                          <p:attrName>style.visibility</p:attrName>
                                        </p:attrNameLst>
                                      </p:cBhvr>
                                      <p:to>
                                        <p:strVal val="visible"/>
                                      </p:to>
                                    </p:set>
                                    <p:animEffect transition="in" filter="fade">
                                      <p:cBhvr>
                                        <p:cTn id="22" dur="300"/>
                                        <p:tgtEl>
                                          <p:spTgt spid="14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2">
                                            <p:txEl>
                                              <p:pRg st="1" end="1"/>
                                            </p:txEl>
                                          </p:spTgt>
                                        </p:tgtEl>
                                        <p:attrNameLst>
                                          <p:attrName>style.visibility</p:attrName>
                                        </p:attrNameLst>
                                      </p:cBhvr>
                                      <p:to>
                                        <p:strVal val="visible"/>
                                      </p:to>
                                    </p:set>
                                    <p:animEffect transition="in" filter="fade">
                                      <p:cBhvr>
                                        <p:cTn id="27" dur="300"/>
                                        <p:tgtEl>
                                          <p:spTgt spid="142">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7"/>
                                        </p:tgtEl>
                                        <p:attrNameLst>
                                          <p:attrName>style.visibility</p:attrName>
                                        </p:attrNameLst>
                                      </p:cBhvr>
                                      <p:to>
                                        <p:strVal val="visible"/>
                                      </p:to>
                                    </p:set>
                                    <p:animEffect transition="in" filter="fade">
                                      <p:cBhvr>
                                        <p:cTn id="32" dur="300"/>
                                        <p:tgtEl>
                                          <p:spTgt spid="137"/>
                                        </p:tgtEl>
                                      </p:cBhvr>
                                    </p:animEffect>
                                  </p:childTnLst>
                                </p:cTn>
                              </p:par>
                            </p:childTnLst>
                          </p:cTn>
                        </p:par>
                        <p:par>
                          <p:cTn id="33" fill="hold">
                            <p:stCondLst>
                              <p:cond delay="300"/>
                            </p:stCondLst>
                            <p:childTnLst>
                              <p:par>
                                <p:cTn id="34" presetID="2" presetClass="exit" presetSubtype="8" fill="hold" nodeType="afterEffect">
                                  <p:stCondLst>
                                    <p:cond delay="0"/>
                                  </p:stCondLst>
                                  <p:childTnLst>
                                    <p:anim calcmode="lin" valueType="num">
                                      <p:cBhvr additive="base">
                                        <p:cTn id="35" dur="1500"/>
                                        <p:tgtEl>
                                          <p:spTgt spid="143"/>
                                        </p:tgtEl>
                                        <p:attrNameLst>
                                          <p:attrName>ppt_x</p:attrName>
                                        </p:attrNameLst>
                                      </p:cBhvr>
                                      <p:tavLst>
                                        <p:tav tm="0">
                                          <p:val>
                                            <p:strVal val="#ppt_x"/>
                                          </p:val>
                                        </p:tav>
                                        <p:tav tm="100000">
                                          <p:val>
                                            <p:strVal val="#ppt_x-1"/>
                                          </p:val>
                                        </p:tav>
                                      </p:tavLst>
                                    </p:anim>
                                    <p:set>
                                      <p:cBhvr>
                                        <p:cTn id="36" dur="1" fill="hold">
                                          <p:stCondLst>
                                            <p:cond delay="1500"/>
                                          </p:stCondLst>
                                        </p:cTn>
                                        <p:tgtEl>
                                          <p:spTgt spid="143"/>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147"/>
                                        </p:tgtEl>
                                        <p:attrNameLst>
                                          <p:attrName>style.visibility</p:attrName>
                                        </p:attrNameLst>
                                      </p:cBhvr>
                                      <p:to>
                                        <p:strVal val="visible"/>
                                      </p:to>
                                    </p:set>
                                    <p:animEffect transition="in" filter="fade">
                                      <p:cBhvr>
                                        <p:cTn id="39" dur="3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Detailed Disaster Risk Equation</a:t>
            </a:r>
            <a:endParaRPr/>
          </a:p>
          <a:p>
            <a:pPr marL="0" lvl="0" indent="0" algn="ctr" rtl="0">
              <a:lnSpc>
                <a:spcPct val="100000"/>
              </a:lnSpc>
              <a:spcBef>
                <a:spcPts val="0"/>
              </a:spcBef>
              <a:spcAft>
                <a:spcPts val="0"/>
              </a:spcAft>
              <a:buSzPts val="3600"/>
              <a:buNone/>
            </a:pPr>
            <a:endParaRPr/>
          </a:p>
        </p:txBody>
      </p:sp>
      <p:sp>
        <p:nvSpPr>
          <p:cNvPr id="153" name="Google Shape;153;p2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54" name="Google Shape;154;p2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8</a:t>
            </a:fld>
            <a:endParaRPr sz="1300" b="0" i="0" u="none" strike="noStrike" cap="none">
              <a:solidFill>
                <a:srgbClr val="FFFFFF"/>
              </a:solidFill>
              <a:latin typeface="Nunito"/>
              <a:ea typeface="Nunito"/>
              <a:cs typeface="Nunito"/>
              <a:sym typeface="Nunito"/>
            </a:endParaRPr>
          </a:p>
        </p:txBody>
      </p:sp>
      <p:sp>
        <p:nvSpPr>
          <p:cNvPr id="155" name="Google Shape;155;p2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56" name="Google Shape;156;p20"/>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viral infection.</a:t>
            </a:r>
            <a:endParaRPr sz="2000" b="0" i="0" u="none" strike="noStrike" cap="none">
              <a:solidFill>
                <a:schemeClr val="dk1"/>
              </a:solidFill>
              <a:latin typeface="Nunito"/>
              <a:ea typeface="Nunito"/>
              <a:cs typeface="Nunito"/>
              <a:sym typeface="Nunito"/>
            </a:endParaRPr>
          </a:p>
        </p:txBody>
      </p:sp>
      <p:grpSp>
        <p:nvGrpSpPr>
          <p:cNvPr id="157" name="Google Shape;157;p20"/>
          <p:cNvGrpSpPr/>
          <p:nvPr/>
        </p:nvGrpSpPr>
        <p:grpSpPr>
          <a:xfrm>
            <a:off x="483100" y="951800"/>
            <a:ext cx="8237325" cy="3351975"/>
            <a:chOff x="483100" y="951800"/>
            <a:chExt cx="8237325" cy="3351975"/>
          </a:xfrm>
        </p:grpSpPr>
        <p:sp>
          <p:nvSpPr>
            <p:cNvPr id="158" name="Google Shape;158;p20"/>
            <p:cNvSpPr txBox="1"/>
            <p:nvPr/>
          </p:nvSpPr>
          <p:spPr>
            <a:xfrm>
              <a:off x="3801050" y="3812075"/>
              <a:ext cx="12867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Virulence</a:t>
              </a:r>
              <a:endParaRPr sz="2000" b="0" i="0" u="none" strike="noStrike" cap="none">
                <a:solidFill>
                  <a:schemeClr val="dk1"/>
                </a:solidFill>
                <a:latin typeface="Nunito"/>
                <a:ea typeface="Nunito"/>
                <a:cs typeface="Nunito"/>
                <a:sym typeface="Nunito"/>
              </a:endParaRPr>
            </a:p>
          </p:txBody>
        </p:sp>
        <p:sp>
          <p:nvSpPr>
            <p:cNvPr id="159" name="Google Shape;159;p20"/>
            <p:cNvSpPr txBox="1"/>
            <p:nvPr/>
          </p:nvSpPr>
          <p:spPr>
            <a:xfrm>
              <a:off x="483100" y="3812075"/>
              <a:ext cx="18516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Infectiousness</a:t>
              </a:r>
              <a:endParaRPr sz="2000" b="0" i="0" u="none" strike="noStrike" cap="none">
                <a:solidFill>
                  <a:schemeClr val="dk1"/>
                </a:solidFill>
                <a:latin typeface="Nunito"/>
                <a:ea typeface="Nunito"/>
                <a:cs typeface="Nunito"/>
                <a:sym typeface="Nunito"/>
              </a:endParaRPr>
            </a:p>
          </p:txBody>
        </p:sp>
        <p:sp>
          <p:nvSpPr>
            <p:cNvPr id="160" name="Google Shape;160;p20"/>
            <p:cNvSpPr txBox="1"/>
            <p:nvPr/>
          </p:nvSpPr>
          <p:spPr>
            <a:xfrm>
              <a:off x="4086075" y="951800"/>
              <a:ext cx="22911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Contact frequency</a:t>
              </a:r>
              <a:endParaRPr sz="2000" b="0" i="0" u="none" strike="noStrike" cap="none">
                <a:solidFill>
                  <a:schemeClr val="dk1"/>
                </a:solidFill>
                <a:latin typeface="Nunito"/>
                <a:ea typeface="Nunito"/>
                <a:cs typeface="Nunito"/>
                <a:sym typeface="Nunito"/>
              </a:endParaRPr>
            </a:p>
          </p:txBody>
        </p:sp>
        <p:sp>
          <p:nvSpPr>
            <p:cNvPr id="161" name="Google Shape;161;p20"/>
            <p:cNvSpPr txBox="1"/>
            <p:nvPr/>
          </p:nvSpPr>
          <p:spPr>
            <a:xfrm>
              <a:off x="6780025" y="1007900"/>
              <a:ext cx="19404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Immunity level</a:t>
              </a:r>
              <a:endParaRPr sz="2000" b="0" i="0" u="none" strike="noStrike" cap="none">
                <a:solidFill>
                  <a:schemeClr val="dk1"/>
                </a:solidFill>
                <a:latin typeface="Nunito"/>
                <a:ea typeface="Nunito"/>
                <a:cs typeface="Nunito"/>
                <a:sym typeface="Nunito"/>
              </a:endParaRPr>
            </a:p>
          </p:txBody>
        </p:sp>
        <p:cxnSp>
          <p:nvCxnSpPr>
            <p:cNvPr id="162" name="Google Shape;162;p20"/>
            <p:cNvCxnSpPr/>
            <p:nvPr/>
          </p:nvCxnSpPr>
          <p:spPr>
            <a:xfrm rot="10800000">
              <a:off x="3629950" y="2522675"/>
              <a:ext cx="728700" cy="1289400"/>
            </a:xfrm>
            <a:prstGeom prst="straightConnector1">
              <a:avLst/>
            </a:prstGeom>
            <a:noFill/>
            <a:ln w="9525" cap="flat" cmpd="sng">
              <a:solidFill>
                <a:schemeClr val="dk2"/>
              </a:solidFill>
              <a:prstDash val="solid"/>
              <a:round/>
              <a:headEnd type="none" w="sm" len="sm"/>
              <a:tailEnd type="triangle" w="med" len="med"/>
            </a:ln>
          </p:spPr>
        </p:cxnSp>
        <p:cxnSp>
          <p:nvCxnSpPr>
            <p:cNvPr id="163" name="Google Shape;163;p20"/>
            <p:cNvCxnSpPr/>
            <p:nvPr/>
          </p:nvCxnSpPr>
          <p:spPr>
            <a:xfrm rot="10800000" flipH="1">
              <a:off x="1597700" y="2522675"/>
              <a:ext cx="979500" cy="1289400"/>
            </a:xfrm>
            <a:prstGeom prst="straightConnector1">
              <a:avLst/>
            </a:prstGeom>
            <a:noFill/>
            <a:ln w="9525" cap="flat" cmpd="sng">
              <a:solidFill>
                <a:schemeClr val="dk2"/>
              </a:solidFill>
              <a:prstDash val="solid"/>
              <a:round/>
              <a:headEnd type="none" w="sm" len="sm"/>
              <a:tailEnd type="triangle" w="med" len="med"/>
            </a:ln>
          </p:spPr>
        </p:cxnSp>
        <p:cxnSp>
          <p:nvCxnSpPr>
            <p:cNvPr id="164" name="Google Shape;164;p20"/>
            <p:cNvCxnSpPr/>
            <p:nvPr/>
          </p:nvCxnSpPr>
          <p:spPr>
            <a:xfrm flipH="1">
              <a:off x="5504600" y="1443550"/>
              <a:ext cx="199500" cy="658500"/>
            </a:xfrm>
            <a:prstGeom prst="straightConnector1">
              <a:avLst/>
            </a:prstGeom>
            <a:noFill/>
            <a:ln w="9525" cap="flat" cmpd="sng">
              <a:solidFill>
                <a:schemeClr val="dk2"/>
              </a:solidFill>
              <a:prstDash val="solid"/>
              <a:round/>
              <a:headEnd type="none" w="sm" len="sm"/>
              <a:tailEnd type="triangle" w="med" len="med"/>
            </a:ln>
          </p:spPr>
        </p:cxnSp>
        <p:cxnSp>
          <p:nvCxnSpPr>
            <p:cNvPr id="165" name="Google Shape;165;p20"/>
            <p:cNvCxnSpPr/>
            <p:nvPr/>
          </p:nvCxnSpPr>
          <p:spPr>
            <a:xfrm flipH="1">
              <a:off x="7646925" y="1499600"/>
              <a:ext cx="131400" cy="544200"/>
            </a:xfrm>
            <a:prstGeom prst="straightConnector1">
              <a:avLst/>
            </a:prstGeom>
            <a:noFill/>
            <a:ln w="9525" cap="flat" cmpd="sng">
              <a:solidFill>
                <a:schemeClr val="dk2"/>
              </a:solidFill>
              <a:prstDash val="solid"/>
              <a:round/>
              <a:headEnd type="none" w="sm" len="sm"/>
              <a:tailEnd type="triangle" w="med" len="med"/>
            </a:ln>
          </p:spPr>
        </p:cxnSp>
      </p:grpSp>
      <p:pic>
        <p:nvPicPr>
          <p:cNvPr id="166" name="Google Shape;166;p20"/>
          <p:cNvPicPr preferRelativeResize="0"/>
          <p:nvPr/>
        </p:nvPicPr>
        <p:blipFill rotWithShape="1">
          <a:blip r:embed="rId3">
            <a:alphaModFix/>
          </a:blip>
          <a:srcRect/>
          <a:stretch/>
        </p:blipFill>
        <p:spPr>
          <a:xfrm>
            <a:off x="174838" y="2036675"/>
            <a:ext cx="8906122" cy="842085"/>
          </a:xfrm>
          <a:prstGeom prst="rect">
            <a:avLst/>
          </a:prstGeom>
          <a:noFill/>
          <a:ln>
            <a:noFill/>
          </a:ln>
        </p:spPr>
      </p:pic>
      <p:sp>
        <p:nvSpPr>
          <p:cNvPr id="2" name="TextBox 1">
            <a:extLst>
              <a:ext uri="{FF2B5EF4-FFF2-40B4-BE49-F238E27FC236}">
                <a16:creationId xmlns:a16="http://schemas.microsoft.com/office/drawing/2014/main" id="{162C7028-67A3-80F6-AB21-ECC1640F3C2A}"/>
              </a:ext>
            </a:extLst>
          </p:cNvPr>
          <p:cNvSpPr txBox="1"/>
          <p:nvPr/>
        </p:nvSpPr>
        <p:spPr>
          <a:xfrm>
            <a:off x="237915" y="4486665"/>
            <a:ext cx="8779968" cy="307777"/>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altLang="zh-CN" dirty="0"/>
              <a:t>Here </a:t>
            </a:r>
            <a:r>
              <a:rPr lang="en-US" altLang="zh-CN" dirty="0">
                <a:solidFill>
                  <a:schemeClr val="tx1"/>
                </a:solidFill>
              </a:rPr>
              <a:t>severity</a:t>
            </a:r>
            <a:r>
              <a:rPr lang="en-US" altLang="zh-CN" dirty="0"/>
              <a:t> refers to </a:t>
            </a:r>
            <a:r>
              <a:rPr lang="en-US" altLang="zh-CN" i="1" dirty="0">
                <a:solidFill>
                  <a:srgbClr val="FF0000"/>
                </a:solidFill>
              </a:rPr>
              <a:t>intrinsic severity</a:t>
            </a:r>
            <a:r>
              <a:rPr lang="en-US" altLang="zh-CN" dirty="0"/>
              <a:t>, and combined with </a:t>
            </a:r>
            <a:r>
              <a:rPr lang="en-US" altLang="zh-CN" dirty="0">
                <a:solidFill>
                  <a:srgbClr val="FF0000"/>
                </a:solidFill>
              </a:rPr>
              <a:t>exposure</a:t>
            </a:r>
            <a:r>
              <a:rPr lang="en-US" altLang="zh-CN" dirty="0"/>
              <a:t> and </a:t>
            </a:r>
            <a:r>
              <a:rPr lang="en-US" altLang="zh-CN" dirty="0" err="1">
                <a:solidFill>
                  <a:srgbClr val="FF0000"/>
                </a:solidFill>
              </a:rPr>
              <a:t>vulnevability</a:t>
            </a:r>
            <a:r>
              <a:rPr lang="en-US" altLang="zh-CN" dirty="0"/>
              <a:t>, returns </a:t>
            </a:r>
            <a:r>
              <a:rPr lang="en-US" altLang="zh-CN" dirty="0">
                <a:solidFill>
                  <a:srgbClr val="FF0000"/>
                </a:solidFill>
              </a:rPr>
              <a:t>total severity</a:t>
            </a:r>
            <a:r>
              <a:rPr lang="en-US" altLang="zh-CN"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300"/>
                                        <p:tgtEl>
                                          <p:spTgt spid="1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6"/>
                                        </p:tgtEl>
                                        <p:attrNameLst>
                                          <p:attrName>style.visibility</p:attrName>
                                        </p:attrNameLst>
                                      </p:cBhvr>
                                      <p:to>
                                        <p:strVal val="visible"/>
                                      </p:to>
                                    </p:set>
                                    <p:animEffect transition="in" filter="fade">
                                      <p:cBhvr>
                                        <p:cTn id="12" dur="300"/>
                                        <p:tgtEl>
                                          <p:spTgt spid="1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7"/>
                                        </p:tgtEl>
                                        <p:attrNameLst>
                                          <p:attrName>style.visibility</p:attrName>
                                        </p:attrNameLst>
                                      </p:cBhvr>
                                      <p:to>
                                        <p:strVal val="visible"/>
                                      </p:to>
                                    </p:set>
                                    <p:animEffect transition="in" filter="fade">
                                      <p:cBhvr>
                                        <p:cTn id="17" dur="3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1"/>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Detailed Disaster Risk Equation</a:t>
            </a:r>
            <a:endParaRPr/>
          </a:p>
          <a:p>
            <a:pPr marL="0" lvl="0" indent="0" algn="ctr" rtl="0">
              <a:lnSpc>
                <a:spcPct val="100000"/>
              </a:lnSpc>
              <a:spcBef>
                <a:spcPts val="0"/>
              </a:spcBef>
              <a:spcAft>
                <a:spcPts val="0"/>
              </a:spcAft>
              <a:buSzPts val="3600"/>
              <a:buNone/>
            </a:pPr>
            <a:endParaRPr/>
          </a:p>
        </p:txBody>
      </p:sp>
      <p:sp>
        <p:nvSpPr>
          <p:cNvPr id="172" name="Google Shape;172;p2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73" name="Google Shape;173;p2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9</a:t>
            </a:fld>
            <a:endParaRPr sz="1300" b="0" i="0" u="none" strike="noStrike" cap="none">
              <a:solidFill>
                <a:srgbClr val="FFFFFF"/>
              </a:solidFill>
              <a:latin typeface="Nunito"/>
              <a:ea typeface="Nunito"/>
              <a:cs typeface="Nunito"/>
              <a:sym typeface="Nunito"/>
            </a:endParaRPr>
          </a:p>
        </p:txBody>
      </p:sp>
      <p:sp>
        <p:nvSpPr>
          <p:cNvPr id="174" name="Google Shape;174;p2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75" name="Google Shape;175;p21"/>
          <p:cNvSpPr txBox="1"/>
          <p:nvPr/>
        </p:nvSpPr>
        <p:spPr>
          <a:xfrm>
            <a:off x="423400" y="79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AI safety approaches.</a:t>
            </a:r>
            <a:endParaRPr sz="2000" b="0" i="0" u="none" strike="noStrike" cap="none">
              <a:solidFill>
                <a:schemeClr val="dk1"/>
              </a:solidFill>
              <a:latin typeface="Nunito"/>
              <a:ea typeface="Nunito"/>
              <a:cs typeface="Nunito"/>
              <a:sym typeface="Nunito"/>
            </a:endParaRPr>
          </a:p>
        </p:txBody>
      </p:sp>
      <p:grpSp>
        <p:nvGrpSpPr>
          <p:cNvPr id="176" name="Google Shape;176;p21"/>
          <p:cNvGrpSpPr/>
          <p:nvPr/>
        </p:nvGrpSpPr>
        <p:grpSpPr>
          <a:xfrm>
            <a:off x="2558850" y="957625"/>
            <a:ext cx="5781325" cy="3134575"/>
            <a:chOff x="2558850" y="957625"/>
            <a:chExt cx="5781325" cy="3134575"/>
          </a:xfrm>
        </p:grpSpPr>
        <p:sp>
          <p:nvSpPr>
            <p:cNvPr id="177" name="Google Shape;177;p21"/>
            <p:cNvSpPr txBox="1"/>
            <p:nvPr/>
          </p:nvSpPr>
          <p:spPr>
            <a:xfrm>
              <a:off x="2766600" y="3600500"/>
              <a:ext cx="10665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Control</a:t>
              </a:r>
              <a:endParaRPr sz="2000" b="0" i="0" u="none" strike="noStrike" cap="none">
                <a:solidFill>
                  <a:schemeClr val="dk1"/>
                </a:solidFill>
                <a:latin typeface="Nunito"/>
                <a:ea typeface="Nunito"/>
                <a:cs typeface="Nunito"/>
                <a:sym typeface="Nunito"/>
              </a:endParaRPr>
            </a:p>
          </p:txBody>
        </p:sp>
        <p:sp>
          <p:nvSpPr>
            <p:cNvPr id="178" name="Google Shape;178;p21"/>
            <p:cNvSpPr txBox="1"/>
            <p:nvPr/>
          </p:nvSpPr>
          <p:spPr>
            <a:xfrm>
              <a:off x="4832125" y="1085475"/>
              <a:ext cx="14403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Monitoring</a:t>
              </a:r>
              <a:endParaRPr sz="2000" b="0" i="0" u="none" strike="noStrike" cap="none">
                <a:solidFill>
                  <a:schemeClr val="dk1"/>
                </a:solidFill>
                <a:latin typeface="Nunito"/>
                <a:ea typeface="Nunito"/>
                <a:cs typeface="Nunito"/>
                <a:sym typeface="Nunito"/>
              </a:endParaRPr>
            </a:p>
          </p:txBody>
        </p:sp>
        <p:sp>
          <p:nvSpPr>
            <p:cNvPr id="179" name="Google Shape;179;p21"/>
            <p:cNvSpPr txBox="1"/>
            <p:nvPr/>
          </p:nvSpPr>
          <p:spPr>
            <a:xfrm>
              <a:off x="6797275" y="957625"/>
              <a:ext cx="15429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Robustness</a:t>
              </a:r>
              <a:endParaRPr sz="2000" b="0" i="0" u="none" strike="noStrike" cap="none">
                <a:solidFill>
                  <a:schemeClr val="dk1"/>
                </a:solidFill>
                <a:latin typeface="Nunito"/>
                <a:ea typeface="Nunito"/>
                <a:cs typeface="Nunito"/>
                <a:sym typeface="Nunito"/>
              </a:endParaRPr>
            </a:p>
          </p:txBody>
        </p:sp>
        <p:cxnSp>
          <p:nvCxnSpPr>
            <p:cNvPr id="180" name="Google Shape;180;p21"/>
            <p:cNvCxnSpPr>
              <a:stCxn id="177" idx="0"/>
            </p:cNvCxnSpPr>
            <p:nvPr/>
          </p:nvCxnSpPr>
          <p:spPr>
            <a:xfrm rot="10800000" flipH="1">
              <a:off x="3299850" y="2522600"/>
              <a:ext cx="311700" cy="1077900"/>
            </a:xfrm>
            <a:prstGeom prst="straightConnector1">
              <a:avLst/>
            </a:prstGeom>
            <a:noFill/>
            <a:ln w="9525" cap="flat" cmpd="sng">
              <a:solidFill>
                <a:schemeClr val="dk2"/>
              </a:solidFill>
              <a:prstDash val="solid"/>
              <a:round/>
              <a:headEnd type="none" w="sm" len="sm"/>
              <a:tailEnd type="triangle" w="med" len="med"/>
            </a:ln>
          </p:spPr>
        </p:cxnSp>
        <p:cxnSp>
          <p:nvCxnSpPr>
            <p:cNvPr id="181" name="Google Shape;181;p21"/>
            <p:cNvCxnSpPr>
              <a:stCxn id="177" idx="0"/>
            </p:cNvCxnSpPr>
            <p:nvPr/>
          </p:nvCxnSpPr>
          <p:spPr>
            <a:xfrm rot="10800000">
              <a:off x="2558850" y="2522600"/>
              <a:ext cx="741000" cy="1077900"/>
            </a:xfrm>
            <a:prstGeom prst="straightConnector1">
              <a:avLst/>
            </a:prstGeom>
            <a:noFill/>
            <a:ln w="9525" cap="flat" cmpd="sng">
              <a:solidFill>
                <a:schemeClr val="dk2"/>
              </a:solidFill>
              <a:prstDash val="solid"/>
              <a:round/>
              <a:headEnd type="none" w="sm" len="sm"/>
              <a:tailEnd type="triangle" w="med" len="med"/>
            </a:ln>
          </p:spPr>
        </p:cxnSp>
        <p:cxnSp>
          <p:nvCxnSpPr>
            <p:cNvPr id="182" name="Google Shape;182;p21"/>
            <p:cNvCxnSpPr>
              <a:stCxn id="178" idx="2"/>
            </p:cNvCxnSpPr>
            <p:nvPr/>
          </p:nvCxnSpPr>
          <p:spPr>
            <a:xfrm>
              <a:off x="5552275" y="1577175"/>
              <a:ext cx="113100" cy="461700"/>
            </a:xfrm>
            <a:prstGeom prst="straightConnector1">
              <a:avLst/>
            </a:prstGeom>
            <a:noFill/>
            <a:ln w="9525" cap="flat" cmpd="sng">
              <a:solidFill>
                <a:schemeClr val="dk2"/>
              </a:solidFill>
              <a:prstDash val="solid"/>
              <a:round/>
              <a:headEnd type="none" w="sm" len="sm"/>
              <a:tailEnd type="triangle" w="med" len="med"/>
            </a:ln>
          </p:spPr>
        </p:cxnSp>
        <p:cxnSp>
          <p:nvCxnSpPr>
            <p:cNvPr id="183" name="Google Shape;183;p21"/>
            <p:cNvCxnSpPr>
              <a:stCxn id="179" idx="2"/>
            </p:cNvCxnSpPr>
            <p:nvPr/>
          </p:nvCxnSpPr>
          <p:spPr>
            <a:xfrm>
              <a:off x="7568725" y="1449325"/>
              <a:ext cx="86100" cy="602400"/>
            </a:xfrm>
            <a:prstGeom prst="straightConnector1">
              <a:avLst/>
            </a:prstGeom>
            <a:noFill/>
            <a:ln w="9525" cap="flat" cmpd="sng">
              <a:solidFill>
                <a:schemeClr val="dk2"/>
              </a:solidFill>
              <a:prstDash val="solid"/>
              <a:round/>
              <a:headEnd type="none" w="sm" len="sm"/>
              <a:tailEnd type="triangle" w="med" len="med"/>
            </a:ln>
          </p:spPr>
        </p:cxnSp>
      </p:grpSp>
      <p:pic>
        <p:nvPicPr>
          <p:cNvPr id="184" name="Google Shape;184;p21"/>
          <p:cNvPicPr preferRelativeResize="0"/>
          <p:nvPr/>
        </p:nvPicPr>
        <p:blipFill rotWithShape="1">
          <a:blip r:embed="rId3">
            <a:alphaModFix/>
          </a:blip>
          <a:srcRect/>
          <a:stretch/>
        </p:blipFill>
        <p:spPr>
          <a:xfrm>
            <a:off x="174838" y="2036675"/>
            <a:ext cx="8906122" cy="8420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300"/>
                                        <p:tgtEl>
                                          <p:spTgt spid="1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fade">
                                      <p:cBhvr>
                                        <p:cTn id="12" dur="3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2"/>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190" name="Google Shape;190;p22"/>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Reliability </a:t>
            </a:r>
            <a:r>
              <a:rPr lang="en" sz="2000" b="0" i="0" u="none" strike="noStrike" cap="none">
                <a:solidFill>
                  <a:schemeClr val="dk1"/>
                </a:solidFill>
                <a:latin typeface="Nunito"/>
                <a:ea typeface="Nunito"/>
                <a:cs typeface="Nunito"/>
                <a:sym typeface="Nunito"/>
              </a:rPr>
              <a:t>(of a system): the probability that an adverse event will not happen in a given amount of time.</a:t>
            </a:r>
            <a:endParaRPr sz="2000" b="0" i="0" u="none" strike="noStrike" cap="none">
              <a:solidFill>
                <a:schemeClr val="dk1"/>
              </a:solidFill>
              <a:latin typeface="Nunito"/>
              <a:ea typeface="Nunito"/>
              <a:cs typeface="Nunito"/>
              <a:sym typeface="Nunito"/>
            </a:endParaRPr>
          </a:p>
        </p:txBody>
      </p:sp>
      <p:sp>
        <p:nvSpPr>
          <p:cNvPr id="191" name="Google Shape;191;p2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92" name="Google Shape;192;p2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10</a:t>
            </a:fld>
            <a:endParaRPr sz="1300" b="0" i="0" u="none" strike="noStrike" cap="none">
              <a:solidFill>
                <a:srgbClr val="FFFFFF"/>
              </a:solidFill>
              <a:latin typeface="Nunito"/>
              <a:ea typeface="Nunito"/>
              <a:cs typeface="Nunito"/>
              <a:sym typeface="Nunito"/>
            </a:endParaRPr>
          </a:p>
        </p:txBody>
      </p:sp>
      <p:sp>
        <p:nvSpPr>
          <p:cNvPr id="193" name="Google Shape;193;p2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94" name="Google Shape;194;p22"/>
          <p:cNvSpPr txBox="1"/>
          <p:nvPr/>
        </p:nvSpPr>
        <p:spPr>
          <a:xfrm>
            <a:off x="423400" y="183457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 system’s reliability also depends on how often it is used. The more often we use a system, the more likely we are to encounter failure (recall that increasing “exposure” increases the overall risk).</a:t>
            </a:r>
            <a:endParaRPr sz="2000" b="0" i="0" u="none" strike="noStrike" cap="none">
              <a:solidFill>
                <a:schemeClr val="dk1"/>
              </a:solidFill>
              <a:latin typeface="Nunito"/>
              <a:ea typeface="Nunito"/>
              <a:cs typeface="Nunito"/>
              <a:sym typeface="Nunito"/>
            </a:endParaRPr>
          </a:p>
        </p:txBody>
      </p:sp>
      <p:sp>
        <p:nvSpPr>
          <p:cNvPr id="195" name="Google Shape;195;p22"/>
          <p:cNvSpPr txBox="1"/>
          <p:nvPr/>
        </p:nvSpPr>
        <p:spPr>
          <a:xfrm>
            <a:off x="423400" y="3314513"/>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An autonomous vehicle is more likely to make a mistake during a journey where it has to make 1000 decisions, than a journey with only 10.</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p:cTn id="7" dur="300"/>
                                        <p:tgtEl>
                                          <p:spTgt spid="1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
                                        </p:tgtEl>
                                        <p:attrNameLst>
                                          <p:attrName>style.visibility</p:attrName>
                                        </p:attrNameLst>
                                      </p:cBhvr>
                                      <p:to>
                                        <p:strVal val="visible"/>
                                      </p:to>
                                    </p:set>
                                    <p:animEffect transition="in" filter="fade">
                                      <p:cBhvr>
                                        <p:cTn id="12" dur="300"/>
                                        <p:tgtEl>
                                          <p:spTgt spid="19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fade">
                                      <p:cBhvr>
                                        <p:cTn id="17" dur="3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01" name="Google Shape;201;p23"/>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For a given level of reliability, we can calculate an </a:t>
            </a:r>
            <a:r>
              <a:rPr lang="en" sz="2000" b="1" i="0" u="none" strike="noStrike" cap="none">
                <a:solidFill>
                  <a:schemeClr val="dk1"/>
                </a:solidFill>
                <a:latin typeface="Nunito"/>
                <a:ea typeface="Nunito"/>
                <a:cs typeface="Nunito"/>
                <a:sym typeface="Nunito"/>
              </a:rPr>
              <a:t>expected time before failure</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p:txBody>
      </p:sp>
      <p:sp>
        <p:nvSpPr>
          <p:cNvPr id="202" name="Google Shape;202;p2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03" name="Google Shape;203;p2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11</a:t>
            </a:fld>
            <a:endParaRPr sz="1300" b="0" i="0" u="none" strike="noStrike" cap="none">
              <a:solidFill>
                <a:srgbClr val="FFFFFF"/>
              </a:solidFill>
              <a:latin typeface="Nunito"/>
              <a:ea typeface="Nunito"/>
              <a:cs typeface="Nunito"/>
              <a:sym typeface="Nunito"/>
            </a:endParaRPr>
          </a:p>
        </p:txBody>
      </p:sp>
      <p:sp>
        <p:nvSpPr>
          <p:cNvPr id="204" name="Google Shape;204;p2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graphicFrame>
        <p:nvGraphicFramePr>
          <p:cNvPr id="205" name="Google Shape;205;p23"/>
          <p:cNvGraphicFramePr/>
          <p:nvPr/>
        </p:nvGraphicFramePr>
        <p:xfrm>
          <a:off x="2434075" y="1723300"/>
          <a:ext cx="4600575" cy="2700975"/>
        </p:xfrm>
        <a:graphic>
          <a:graphicData uri="http://schemas.openxmlformats.org/drawingml/2006/table">
            <a:tbl>
              <a:tblPr>
                <a:noFill/>
                <a:tableStyleId>{BF31EC0D-D4BC-45B7-BEFD-C31C30F8696B}</a:tableStyleId>
              </a:tblPr>
              <a:tblGrid>
                <a:gridCol w="131445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2028825">
                  <a:extLst>
                    <a:ext uri="{9D8B030D-6E8A-4147-A177-3AD203B41FA5}">
                      <a16:colId xmlns:a16="http://schemas.microsoft.com/office/drawing/2014/main" val="20002"/>
                    </a:ext>
                  </a:extLst>
                </a:gridCol>
              </a:tblGrid>
              <a:tr h="49597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 reliability of AV</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 risk of mistake</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 mistake is likely to occur by decision number…</a:t>
                      </a:r>
                      <a:endParaRPr sz="1100" u="none" strike="noStrike" cap="none"/>
                    </a:p>
                  </a:txBody>
                  <a:tcPr marL="63500" marR="63500" marT="63500" marB="63500"/>
                </a:tc>
                <a:extLst>
                  <a:ext uri="{0D108BD9-81ED-4DB2-BD59-A6C34878D82A}">
                    <a16:rowId xmlns:a16="http://schemas.microsoft.com/office/drawing/2014/main" val="10000"/>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tc>
                <a:extLst>
                  <a:ext uri="{0D108BD9-81ED-4DB2-BD59-A6C34878D82A}">
                    <a16:rowId xmlns:a16="http://schemas.microsoft.com/office/drawing/2014/main" val="10001"/>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50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50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a:t>
                      </a:r>
                      <a:endParaRPr sz="1100" u="none" strike="noStrike" cap="none"/>
                    </a:p>
                  </a:txBody>
                  <a:tcPr marL="63500" marR="63500" marT="63500" marB="63500"/>
                </a:tc>
                <a:extLst>
                  <a:ext uri="{0D108BD9-81ED-4DB2-BD59-A6C34878D82A}">
                    <a16:rowId xmlns:a16="http://schemas.microsoft.com/office/drawing/2014/main" val="10002"/>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75</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25</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4</a:t>
                      </a:r>
                      <a:endParaRPr sz="1100" u="none" strike="noStrike" cap="none"/>
                    </a:p>
                  </a:txBody>
                  <a:tcPr marL="63500" marR="63500" marT="63500" marB="63500"/>
                </a:tc>
                <a:extLst>
                  <a:ext uri="{0D108BD9-81ED-4DB2-BD59-A6C34878D82A}">
                    <a16:rowId xmlns:a16="http://schemas.microsoft.com/office/drawing/2014/main" val="10003"/>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a:t>
                      </a:r>
                      <a:endParaRPr sz="1100" u="none" strike="noStrike" cap="none"/>
                    </a:p>
                  </a:txBody>
                  <a:tcPr marL="63500" marR="63500" marT="63500" marB="63500"/>
                </a:tc>
                <a:extLst>
                  <a:ext uri="{0D108BD9-81ED-4DB2-BD59-A6C34878D82A}">
                    <a16:rowId xmlns:a16="http://schemas.microsoft.com/office/drawing/2014/main" val="10004"/>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a:t>
                      </a:r>
                      <a:endParaRPr sz="1100" u="none" strike="noStrike" cap="none"/>
                    </a:p>
                  </a:txBody>
                  <a:tcPr marL="63500" marR="63500" marT="63500" marB="63500"/>
                </a:tc>
                <a:extLst>
                  <a:ext uri="{0D108BD9-81ED-4DB2-BD59-A6C34878D82A}">
                    <a16:rowId xmlns:a16="http://schemas.microsoft.com/office/drawing/2014/main" val="10005"/>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1000</a:t>
                      </a:r>
                      <a:endParaRPr sz="1100" u="none" strike="noStrike" cap="none"/>
                    </a:p>
                  </a:txBody>
                  <a:tcPr marL="63500" marR="63500" marT="63500" marB="63500"/>
                </a:tc>
                <a:extLst>
                  <a:ext uri="{0D108BD9-81ED-4DB2-BD59-A6C34878D82A}">
                    <a16:rowId xmlns:a16="http://schemas.microsoft.com/office/drawing/2014/main" val="10006"/>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0.01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10,000</a:t>
                      </a:r>
                      <a:endParaRPr sz="1100" u="none" strike="noStrike" cap="none"/>
                    </a:p>
                  </a:txBody>
                  <a:tcPr marL="63500" marR="63500" marT="63500" marB="63500"/>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300"/>
                                        <p:tgtEl>
                                          <p:spTgt spid="2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3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11" name="Google Shape;211;p24"/>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The relationship between system reliability and expected time before failure is </a:t>
            </a:r>
            <a:r>
              <a:rPr lang="en" sz="2000" b="1" i="0" u="none" strike="noStrike" cap="none">
                <a:solidFill>
                  <a:schemeClr val="dk1"/>
                </a:solidFill>
                <a:latin typeface="Nunito"/>
                <a:ea typeface="Nunito"/>
                <a:cs typeface="Nunito"/>
                <a:sym typeface="Nunito"/>
              </a:rPr>
              <a:t>not linear</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p:txBody>
      </p:sp>
      <p:sp>
        <p:nvSpPr>
          <p:cNvPr id="212" name="Google Shape;212;p2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13" name="Google Shape;213;p2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12</a:t>
            </a:fld>
            <a:endParaRPr sz="1300" b="0" i="0" u="none" strike="noStrike" cap="none">
              <a:solidFill>
                <a:srgbClr val="FFFFFF"/>
              </a:solidFill>
              <a:latin typeface="Nunito"/>
              <a:ea typeface="Nunito"/>
              <a:cs typeface="Nunito"/>
              <a:sym typeface="Nunito"/>
            </a:endParaRPr>
          </a:p>
        </p:txBody>
      </p:sp>
      <p:sp>
        <p:nvSpPr>
          <p:cNvPr id="214" name="Google Shape;214;p2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215" name="Google Shape;215;p24"/>
          <p:cNvPicPr preferRelativeResize="0"/>
          <p:nvPr/>
        </p:nvPicPr>
        <p:blipFill rotWithShape="1">
          <a:blip r:embed="rId3">
            <a:alphaModFix/>
          </a:blip>
          <a:srcRect/>
          <a:stretch/>
        </p:blipFill>
        <p:spPr>
          <a:xfrm>
            <a:off x="2116505" y="1565575"/>
            <a:ext cx="4910884" cy="327312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300"/>
                                        <p:tgtEl>
                                          <p:spTgt spid="2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5"/>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21" name="Google Shape;221;p25"/>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Nines of reliability</a:t>
            </a:r>
            <a:r>
              <a:rPr lang="en" sz="2000" b="0" i="0" u="none" strike="noStrike" cap="none">
                <a:solidFill>
                  <a:schemeClr val="dk1"/>
                </a:solidFill>
                <a:latin typeface="Nunito"/>
                <a:ea typeface="Nunito"/>
                <a:cs typeface="Nunito"/>
                <a:sym typeface="Nunito"/>
              </a:rPr>
              <a:t>: the number of consecutive nines at the start of a system’s reliability (expressed as a decimal or percentage).</a:t>
            </a:r>
            <a:endParaRPr sz="2000" b="0" i="0" u="none" strike="noStrike" cap="none">
              <a:solidFill>
                <a:schemeClr val="dk1"/>
              </a:solidFill>
              <a:latin typeface="Nunito"/>
              <a:ea typeface="Nunito"/>
              <a:cs typeface="Nunito"/>
              <a:sym typeface="Nunito"/>
            </a:endParaRPr>
          </a:p>
        </p:txBody>
      </p:sp>
      <p:sp>
        <p:nvSpPr>
          <p:cNvPr id="222" name="Google Shape;222;p2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23" name="Google Shape;223;p2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13</a:t>
            </a:fld>
            <a:endParaRPr sz="1300" b="0" i="0" u="none" strike="noStrike" cap="none">
              <a:solidFill>
                <a:srgbClr val="FFFFFF"/>
              </a:solidFill>
              <a:latin typeface="Nunito"/>
              <a:ea typeface="Nunito"/>
              <a:cs typeface="Nunito"/>
              <a:sym typeface="Nunito"/>
            </a:endParaRPr>
          </a:p>
        </p:txBody>
      </p:sp>
      <p:sp>
        <p:nvSpPr>
          <p:cNvPr id="224" name="Google Shape;224;p2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graphicFrame>
        <p:nvGraphicFramePr>
          <p:cNvPr id="225" name="Google Shape;225;p25"/>
          <p:cNvGraphicFramePr/>
          <p:nvPr/>
        </p:nvGraphicFramePr>
        <p:xfrm>
          <a:off x="1700513" y="2044213"/>
          <a:ext cx="6001300" cy="2524760"/>
        </p:xfrm>
        <a:graphic>
          <a:graphicData uri="http://schemas.openxmlformats.org/drawingml/2006/table">
            <a:tbl>
              <a:tblPr>
                <a:noFill/>
                <a:tableStyleId>{BF31EC0D-D4BC-45B7-BEFD-C31C30F8696B}</a:tableStyleId>
              </a:tblPr>
              <a:tblGrid>
                <a:gridCol w="1325075">
                  <a:extLst>
                    <a:ext uri="{9D8B030D-6E8A-4147-A177-3AD203B41FA5}">
                      <a16:colId xmlns:a16="http://schemas.microsoft.com/office/drawing/2014/main" val="20000"/>
                    </a:ext>
                  </a:extLst>
                </a:gridCol>
                <a:gridCol w="1267475">
                  <a:extLst>
                    <a:ext uri="{9D8B030D-6E8A-4147-A177-3AD203B41FA5}">
                      <a16:colId xmlns:a16="http://schemas.microsoft.com/office/drawing/2014/main" val="20001"/>
                    </a:ext>
                  </a:extLst>
                </a:gridCol>
                <a:gridCol w="1363500">
                  <a:extLst>
                    <a:ext uri="{9D8B030D-6E8A-4147-A177-3AD203B41FA5}">
                      <a16:colId xmlns:a16="http://schemas.microsoft.com/office/drawing/2014/main" val="20002"/>
                    </a:ext>
                  </a:extLst>
                </a:gridCol>
                <a:gridCol w="2045250">
                  <a:extLst>
                    <a:ext uri="{9D8B030D-6E8A-4147-A177-3AD203B41FA5}">
                      <a16:colId xmlns:a16="http://schemas.microsoft.com/office/drawing/2014/main" val="20003"/>
                    </a:ext>
                  </a:extLst>
                </a:gridCol>
              </a:tblGrid>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 reliability of AV</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 risk of mistake</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Nines of Reliability</a:t>
                      </a:r>
                      <a:endParaRPr sz="1100" u="none" strike="noStrike" cap="none"/>
                    </a:p>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 mistake is likely to occur by decision number…</a:t>
                      </a:r>
                      <a:endParaRPr sz="1100" u="none" strike="noStrike" cap="none"/>
                    </a:p>
                  </a:txBody>
                  <a:tcPr marL="63500" marR="63500" marT="63500" marB="63500"/>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50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50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0.3</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a:t>
                      </a:r>
                      <a:endParaRPr sz="1100" u="none" strike="noStrike" cap="none"/>
                    </a:p>
                  </a:txBody>
                  <a:tcPr marL="63500" marR="63500" marT="63500" marB="63500"/>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75</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25</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0.6</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4</a:t>
                      </a:r>
                      <a:endParaRPr sz="1100" u="none" strike="noStrike" cap="none"/>
                    </a:p>
                  </a:txBody>
                  <a:tcPr marL="63500" marR="63500" marT="63500" marB="63500"/>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a:t>
                      </a:r>
                      <a:endParaRPr sz="1100" u="none" strike="noStrike" cap="none"/>
                    </a:p>
                  </a:txBody>
                  <a:tcPr marL="63500" marR="63500" marT="63500" marB="63500"/>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a:t>
                      </a:r>
                      <a:endParaRPr sz="1100" u="none" strike="noStrike" cap="none"/>
                    </a:p>
                  </a:txBody>
                  <a:tcPr marL="63500" marR="63500" marT="63500" marB="63500"/>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3</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1000</a:t>
                      </a:r>
                      <a:endParaRPr sz="1100" u="none" strike="noStrike" cap="none"/>
                    </a:p>
                  </a:txBody>
                  <a:tcPr marL="63500" marR="63500" marT="63500" marB="63500"/>
                </a:tc>
                <a:extLst>
                  <a:ext uri="{0D108BD9-81ED-4DB2-BD59-A6C34878D82A}">
                    <a16:rowId xmlns:a16="http://schemas.microsoft.com/office/drawing/2014/main" val="10006"/>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0.01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4</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10,000</a:t>
                      </a:r>
                      <a:endParaRPr sz="1100" u="none" strike="noStrike" cap="none"/>
                    </a:p>
                  </a:txBody>
                  <a:tcPr marL="63500" marR="63500" marT="63500" marB="63500"/>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3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6"/>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31" name="Google Shape;231;p26"/>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can denote a system’s nines of reliability with the letter “</a:t>
            </a:r>
            <a:r>
              <a:rPr lang="en" sz="2000" b="1" i="0" u="none" strike="noStrike" cap="none">
                <a:solidFill>
                  <a:schemeClr val="dk1"/>
                </a:solidFill>
                <a:latin typeface="Nunito"/>
                <a:ea typeface="Nunito"/>
                <a:cs typeface="Nunito"/>
                <a:sym typeface="Nunito"/>
              </a:rPr>
              <a:t>k</a:t>
            </a:r>
            <a:r>
              <a:rPr lang="en" sz="2000" b="0" i="0" u="none" strike="noStrike" cap="none">
                <a:solidFill>
                  <a:schemeClr val="dk1"/>
                </a:solidFill>
                <a:latin typeface="Nunito"/>
                <a:ea typeface="Nunito"/>
                <a:cs typeface="Nunito"/>
                <a:sym typeface="Nunito"/>
              </a:rPr>
              <a:t>”:</a:t>
            </a:r>
            <a:endParaRPr sz="2000" b="1" i="0" u="none" strike="noStrike" cap="none">
              <a:solidFill>
                <a:schemeClr val="dk1"/>
              </a:solidFill>
              <a:latin typeface="Nunito"/>
              <a:ea typeface="Nunito"/>
              <a:cs typeface="Nunito"/>
              <a:sym typeface="Nunito"/>
            </a:endParaRPr>
          </a:p>
        </p:txBody>
      </p:sp>
      <p:sp>
        <p:nvSpPr>
          <p:cNvPr id="232" name="Google Shape;232;p2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33" name="Google Shape;233;p2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14</a:t>
            </a:fld>
            <a:endParaRPr sz="1300" b="0" i="0" u="none" strike="noStrike" cap="none">
              <a:solidFill>
                <a:srgbClr val="FFFFFF"/>
              </a:solidFill>
              <a:latin typeface="Nunito"/>
              <a:ea typeface="Nunito"/>
              <a:cs typeface="Nunito"/>
              <a:sym typeface="Nunito"/>
            </a:endParaRPr>
          </a:p>
        </p:txBody>
      </p:sp>
      <p:sp>
        <p:nvSpPr>
          <p:cNvPr id="234" name="Google Shape;234;p2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235" name="Google Shape;235;p26"/>
          <p:cNvSpPr txBox="1"/>
          <p:nvPr/>
        </p:nvSpPr>
        <p:spPr>
          <a:xfrm>
            <a:off x="423400" y="216407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dirty="0">
                <a:solidFill>
                  <a:schemeClr val="dk1"/>
                </a:solidFill>
                <a:latin typeface="Nunito"/>
                <a:ea typeface="Nunito"/>
                <a:cs typeface="Nunito"/>
                <a:sym typeface="Nunito"/>
              </a:rPr>
              <a:t>The system’s reliability “</a:t>
            </a:r>
            <a:r>
              <a:rPr lang="en" sz="2000" b="1" i="0" u="none" strike="noStrike" cap="none" dirty="0">
                <a:solidFill>
                  <a:schemeClr val="dk1"/>
                </a:solidFill>
                <a:latin typeface="Nunito"/>
                <a:ea typeface="Nunito"/>
                <a:cs typeface="Nunito"/>
                <a:sym typeface="Nunito"/>
              </a:rPr>
              <a:t>p</a:t>
            </a:r>
            <a:r>
              <a:rPr lang="en" sz="2000" b="0" i="0" u="none" strike="noStrike" cap="none" dirty="0">
                <a:solidFill>
                  <a:schemeClr val="dk1"/>
                </a:solidFill>
                <a:latin typeface="Nunito"/>
                <a:ea typeface="Nunito"/>
                <a:cs typeface="Nunito"/>
                <a:sym typeface="Nunito"/>
              </a:rPr>
              <a:t>” relates to </a:t>
            </a:r>
            <a:r>
              <a:rPr lang="en" sz="2000" b="1" i="0" u="none" strike="noStrike" cap="none" dirty="0">
                <a:solidFill>
                  <a:schemeClr val="dk1"/>
                </a:solidFill>
                <a:latin typeface="Nunito"/>
                <a:ea typeface="Nunito"/>
                <a:cs typeface="Nunito"/>
                <a:sym typeface="Nunito"/>
              </a:rPr>
              <a:t>k</a:t>
            </a:r>
            <a:r>
              <a:rPr lang="en" sz="2000" i="0" u="none" strike="noStrike" cap="none" dirty="0">
                <a:solidFill>
                  <a:schemeClr val="dk1"/>
                </a:solidFill>
                <a:latin typeface="Nunito"/>
                <a:ea typeface="Nunito"/>
                <a:cs typeface="Nunito"/>
                <a:sym typeface="Nunito"/>
              </a:rPr>
              <a:t> </a:t>
            </a:r>
            <a:r>
              <a:rPr lang="en-US" sz="2000" i="0" u="none" strike="noStrike" cap="none" dirty="0">
                <a:solidFill>
                  <a:schemeClr val="dk1"/>
                </a:solidFill>
                <a:latin typeface="Nunito"/>
                <a:ea typeface="Nunito"/>
                <a:cs typeface="Nunito"/>
                <a:sym typeface="Nunito"/>
              </a:rPr>
              <a:t>(number of nines)</a:t>
            </a:r>
            <a:r>
              <a:rPr lang="en" sz="2000" b="0" i="0" u="none" strike="noStrike" cap="none" dirty="0">
                <a:solidFill>
                  <a:schemeClr val="dk1"/>
                </a:solidFill>
                <a:latin typeface="Nunito"/>
                <a:ea typeface="Nunito"/>
                <a:cs typeface="Nunito"/>
                <a:sym typeface="Nunito"/>
              </a:rPr>
              <a:t>:</a:t>
            </a:r>
            <a:endParaRPr sz="2000" b="0" i="0" u="none" strike="noStrike" cap="none" dirty="0">
              <a:solidFill>
                <a:schemeClr val="dk1"/>
              </a:solidFill>
              <a:latin typeface="Nunito"/>
              <a:ea typeface="Nunito"/>
              <a:cs typeface="Nunito"/>
              <a:sym typeface="Nunito"/>
            </a:endParaRPr>
          </a:p>
        </p:txBody>
      </p:sp>
      <p:sp>
        <p:nvSpPr>
          <p:cNvPr id="236" name="Google Shape;236;p26"/>
          <p:cNvSpPr txBox="1"/>
          <p:nvPr/>
        </p:nvSpPr>
        <p:spPr>
          <a:xfrm>
            <a:off x="423400" y="3501388"/>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(Where </a:t>
            </a:r>
            <a:r>
              <a:rPr lang="en" sz="2000" b="1" i="0" u="none" strike="noStrike" cap="none">
                <a:solidFill>
                  <a:schemeClr val="dk1"/>
                </a:solidFill>
                <a:latin typeface="Nunito"/>
                <a:ea typeface="Nunito"/>
                <a:cs typeface="Nunito"/>
                <a:sym typeface="Nunito"/>
              </a:rPr>
              <a:t>p</a:t>
            </a:r>
            <a:r>
              <a:rPr lang="en" sz="2000" b="0" i="0" u="none" strike="noStrike" cap="none">
                <a:solidFill>
                  <a:schemeClr val="dk1"/>
                </a:solidFill>
                <a:latin typeface="Nunito"/>
                <a:ea typeface="Nunito"/>
                <a:cs typeface="Nunito"/>
                <a:sym typeface="Nunito"/>
              </a:rPr>
              <a:t> = the reliability of the system expressed as a decimal).</a:t>
            </a:r>
            <a:endParaRPr sz="2000" b="0" i="0" u="none" strike="noStrike" cap="none">
              <a:solidFill>
                <a:schemeClr val="dk1"/>
              </a:solidFill>
              <a:latin typeface="Nunito"/>
              <a:ea typeface="Nunito"/>
              <a:cs typeface="Nunito"/>
              <a:sym typeface="Nunito"/>
            </a:endParaRPr>
          </a:p>
        </p:txBody>
      </p:sp>
      <p:sp>
        <p:nvSpPr>
          <p:cNvPr id="237" name="Google Shape;237;p26"/>
          <p:cNvSpPr txBox="1"/>
          <p:nvPr/>
        </p:nvSpPr>
        <p:spPr>
          <a:xfrm>
            <a:off x="423400" y="1573650"/>
            <a:ext cx="8720700" cy="491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Reliability is 99% → two nines of reliability → k = 2</a:t>
            </a:r>
            <a:endParaRPr sz="2000">
              <a:solidFill>
                <a:schemeClr val="dk1"/>
              </a:solidFill>
              <a:latin typeface="Nunito"/>
              <a:ea typeface="Nunito"/>
              <a:cs typeface="Nunito"/>
              <a:sym typeface="Nunito"/>
            </a:endParaRPr>
          </a:p>
        </p:txBody>
      </p:sp>
      <p:sp>
        <p:nvSpPr>
          <p:cNvPr id="238" name="Google Shape;238;p26"/>
          <p:cNvSpPr txBox="1"/>
          <p:nvPr/>
        </p:nvSpPr>
        <p:spPr>
          <a:xfrm>
            <a:off x="423400" y="1150950"/>
            <a:ext cx="8720700" cy="491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Reliability is 90% → one nine of reliability → k = 1</a:t>
            </a:r>
            <a:endParaRPr sz="2000" b="1" i="0" u="none" strike="noStrike" cap="none">
              <a:solidFill>
                <a:schemeClr val="dk1"/>
              </a:solidFill>
              <a:latin typeface="Nunito"/>
              <a:ea typeface="Nunito"/>
              <a:cs typeface="Nunito"/>
              <a:sym typeface="Nunito"/>
            </a:endParaRPr>
          </a:p>
        </p:txBody>
      </p:sp>
      <p:sp>
        <p:nvSpPr>
          <p:cNvPr id="239" name="Google Shape;239;p26"/>
          <p:cNvSpPr/>
          <p:nvPr/>
        </p:nvSpPr>
        <p:spPr>
          <a:xfrm>
            <a:off x="5722450" y="1236150"/>
            <a:ext cx="1226700" cy="321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26"/>
          <p:cNvSpPr/>
          <p:nvPr/>
        </p:nvSpPr>
        <p:spPr>
          <a:xfrm>
            <a:off x="2998050" y="1236150"/>
            <a:ext cx="3706200" cy="321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26"/>
          <p:cNvSpPr/>
          <p:nvPr/>
        </p:nvSpPr>
        <p:spPr>
          <a:xfrm>
            <a:off x="3008750" y="1626250"/>
            <a:ext cx="3636600" cy="38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26"/>
          <p:cNvSpPr/>
          <p:nvPr/>
        </p:nvSpPr>
        <p:spPr>
          <a:xfrm>
            <a:off x="5856700" y="1668300"/>
            <a:ext cx="1165500" cy="38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3" name="Google Shape;243;p26"/>
          <p:cNvPicPr preferRelativeResize="0"/>
          <p:nvPr/>
        </p:nvPicPr>
        <p:blipFill rotWithShape="1">
          <a:blip r:embed="rId3">
            <a:alphaModFix/>
          </a:blip>
          <a:srcRect/>
          <a:stretch/>
        </p:blipFill>
        <p:spPr>
          <a:xfrm>
            <a:off x="2634175" y="2759095"/>
            <a:ext cx="3876000" cy="638985"/>
          </a:xfrm>
          <a:prstGeom prst="rect">
            <a:avLst/>
          </a:prstGeom>
          <a:noFill/>
          <a:ln>
            <a:noFill/>
          </a:ln>
        </p:spPr>
      </p:pic>
      <p:grpSp>
        <p:nvGrpSpPr>
          <p:cNvPr id="244" name="Google Shape;244;p26"/>
          <p:cNvGrpSpPr/>
          <p:nvPr/>
        </p:nvGrpSpPr>
        <p:grpSpPr>
          <a:xfrm>
            <a:off x="3008700" y="1818800"/>
            <a:ext cx="4534500" cy="2607300"/>
            <a:chOff x="4485450" y="-207450"/>
            <a:chExt cx="4534500" cy="2607300"/>
          </a:xfrm>
        </p:grpSpPr>
        <p:sp>
          <p:nvSpPr>
            <p:cNvPr id="245" name="Google Shape;245;p26"/>
            <p:cNvSpPr txBox="1"/>
            <p:nvPr/>
          </p:nvSpPr>
          <p:spPr>
            <a:xfrm>
              <a:off x="5143950" y="1236150"/>
              <a:ext cx="3876000" cy="1163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Possible remaining issues:</a:t>
              </a:r>
              <a:endParaRPr sz="2000">
                <a:solidFill>
                  <a:schemeClr val="dk1"/>
                </a:solidFill>
                <a:latin typeface="Nunito"/>
                <a:ea typeface="Nunito"/>
                <a:cs typeface="Nunito"/>
                <a:sym typeface="Nunito"/>
              </a:endParaRPr>
            </a:p>
            <a:p>
              <a:pPr marL="0" marR="0" lvl="0" indent="0" algn="ctr" rtl="0">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Adversarial examples, trojans, misunderstandings, etc.</a:t>
              </a:r>
              <a:endParaRPr sz="2000">
                <a:solidFill>
                  <a:schemeClr val="dk1"/>
                </a:solidFill>
                <a:latin typeface="Nunito"/>
                <a:ea typeface="Nunito"/>
                <a:cs typeface="Nunito"/>
                <a:sym typeface="Nunito"/>
              </a:endParaRPr>
            </a:p>
          </p:txBody>
        </p:sp>
        <p:cxnSp>
          <p:nvCxnSpPr>
            <p:cNvPr id="246" name="Google Shape;246;p26"/>
            <p:cNvCxnSpPr>
              <a:stCxn id="245" idx="0"/>
              <a:endCxn id="241" idx="1"/>
            </p:cNvCxnSpPr>
            <p:nvPr/>
          </p:nvCxnSpPr>
          <p:spPr>
            <a:xfrm rot="10800000">
              <a:off x="4485450" y="-207450"/>
              <a:ext cx="2596500" cy="1443600"/>
            </a:xfrm>
            <a:prstGeom prst="straightConnector1">
              <a:avLst/>
            </a:prstGeom>
            <a:noFill/>
            <a:ln w="9525" cap="flat" cmpd="sng">
              <a:solidFill>
                <a:schemeClr val="dk2"/>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xEl>
                                              <p:pRg st="0" end="0"/>
                                            </p:txEl>
                                          </p:spTgt>
                                        </p:tgtEl>
                                        <p:attrNameLst>
                                          <p:attrName>style.visibility</p:attrName>
                                        </p:attrNameLst>
                                      </p:cBhvr>
                                      <p:to>
                                        <p:strVal val="visible"/>
                                      </p:to>
                                    </p:set>
                                    <p:animEffect transition="in" filter="fade">
                                      <p:cBhvr>
                                        <p:cTn id="7" dur="300"/>
                                        <p:tgtEl>
                                          <p:spTgt spid="2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8"/>
                                        </p:tgtEl>
                                        <p:attrNameLst>
                                          <p:attrName>style.visibility</p:attrName>
                                        </p:attrNameLst>
                                      </p:cBhvr>
                                      <p:to>
                                        <p:strVal val="visible"/>
                                      </p:to>
                                    </p:set>
                                    <p:animEffect transition="in" filter="fade">
                                      <p:cBhvr>
                                        <p:cTn id="12" dur="300"/>
                                        <p:tgtEl>
                                          <p:spTgt spid="23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2" fill="hold" nodeType="clickEffect">
                                  <p:stCondLst>
                                    <p:cond delay="0"/>
                                  </p:stCondLst>
                                  <p:childTnLst>
                                    <p:anim calcmode="lin" valueType="num">
                                      <p:cBhvr additive="base">
                                        <p:cTn id="16" dur="1000"/>
                                        <p:tgtEl>
                                          <p:spTgt spid="240"/>
                                        </p:tgtEl>
                                        <p:attrNameLst>
                                          <p:attrName>ppt_x</p:attrName>
                                        </p:attrNameLst>
                                      </p:cBhvr>
                                      <p:tavLst>
                                        <p:tav tm="0">
                                          <p:val>
                                            <p:strVal val="#ppt_x"/>
                                          </p:val>
                                        </p:tav>
                                        <p:tav tm="100000">
                                          <p:val>
                                            <p:strVal val="#ppt_x+1"/>
                                          </p:val>
                                        </p:tav>
                                      </p:tavLst>
                                    </p:anim>
                                    <p:set>
                                      <p:cBhvr>
                                        <p:cTn id="17" dur="1" fill="hold">
                                          <p:stCondLst>
                                            <p:cond delay="1000"/>
                                          </p:stCondLst>
                                        </p:cTn>
                                        <p:tgtEl>
                                          <p:spTgt spid="24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2" fill="hold" nodeType="clickEffect">
                                  <p:stCondLst>
                                    <p:cond delay="0"/>
                                  </p:stCondLst>
                                  <p:childTnLst>
                                    <p:anim calcmode="lin" valueType="num">
                                      <p:cBhvr additive="base">
                                        <p:cTn id="21" dur="1000"/>
                                        <p:tgtEl>
                                          <p:spTgt spid="239"/>
                                        </p:tgtEl>
                                        <p:attrNameLst>
                                          <p:attrName>ppt_x</p:attrName>
                                        </p:attrNameLst>
                                      </p:cBhvr>
                                      <p:tavLst>
                                        <p:tav tm="0">
                                          <p:val>
                                            <p:strVal val="#ppt_x"/>
                                          </p:val>
                                        </p:tav>
                                        <p:tav tm="100000">
                                          <p:val>
                                            <p:strVal val="#ppt_x+1"/>
                                          </p:val>
                                        </p:tav>
                                      </p:tavLst>
                                    </p:anim>
                                    <p:set>
                                      <p:cBhvr>
                                        <p:cTn id="22" dur="1" fill="hold">
                                          <p:stCondLst>
                                            <p:cond delay="1000"/>
                                          </p:stCondLst>
                                        </p:cTn>
                                        <p:tgtEl>
                                          <p:spTgt spid="23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7"/>
                                        </p:tgtEl>
                                        <p:attrNameLst>
                                          <p:attrName>style.visibility</p:attrName>
                                        </p:attrNameLst>
                                      </p:cBhvr>
                                      <p:to>
                                        <p:strVal val="visible"/>
                                      </p:to>
                                    </p:set>
                                    <p:animEffect transition="in" filter="fade">
                                      <p:cBhvr>
                                        <p:cTn id="27" dur="300"/>
                                        <p:tgtEl>
                                          <p:spTgt spid="23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2" fill="hold" nodeType="clickEffect">
                                  <p:stCondLst>
                                    <p:cond delay="0"/>
                                  </p:stCondLst>
                                  <p:childTnLst>
                                    <p:anim calcmode="lin" valueType="num">
                                      <p:cBhvr additive="base">
                                        <p:cTn id="31" dur="1000"/>
                                        <p:tgtEl>
                                          <p:spTgt spid="241"/>
                                        </p:tgtEl>
                                        <p:attrNameLst>
                                          <p:attrName>ppt_x</p:attrName>
                                        </p:attrNameLst>
                                      </p:cBhvr>
                                      <p:tavLst>
                                        <p:tav tm="0">
                                          <p:val>
                                            <p:strVal val="#ppt_x"/>
                                          </p:val>
                                        </p:tav>
                                        <p:tav tm="100000">
                                          <p:val>
                                            <p:strVal val="#ppt_x+1"/>
                                          </p:val>
                                        </p:tav>
                                      </p:tavLst>
                                    </p:anim>
                                    <p:set>
                                      <p:cBhvr>
                                        <p:cTn id="32" dur="1" fill="hold">
                                          <p:stCondLst>
                                            <p:cond delay="1000"/>
                                          </p:stCondLst>
                                        </p:cTn>
                                        <p:tgtEl>
                                          <p:spTgt spid="24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2" fill="hold" nodeType="clickEffect">
                                  <p:stCondLst>
                                    <p:cond delay="0"/>
                                  </p:stCondLst>
                                  <p:childTnLst>
                                    <p:anim calcmode="lin" valueType="num">
                                      <p:cBhvr additive="base">
                                        <p:cTn id="36" dur="1000"/>
                                        <p:tgtEl>
                                          <p:spTgt spid="242"/>
                                        </p:tgtEl>
                                        <p:attrNameLst>
                                          <p:attrName>ppt_x</p:attrName>
                                        </p:attrNameLst>
                                      </p:cBhvr>
                                      <p:tavLst>
                                        <p:tav tm="0">
                                          <p:val>
                                            <p:strVal val="#ppt_x"/>
                                          </p:val>
                                        </p:tav>
                                        <p:tav tm="100000">
                                          <p:val>
                                            <p:strVal val="#ppt_x+1"/>
                                          </p:val>
                                        </p:tav>
                                      </p:tavLst>
                                    </p:anim>
                                    <p:set>
                                      <p:cBhvr>
                                        <p:cTn id="37" dur="1" fill="hold">
                                          <p:stCondLst>
                                            <p:cond delay="1000"/>
                                          </p:stCondLst>
                                        </p:cTn>
                                        <p:tgtEl>
                                          <p:spTgt spid="24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4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1000"/>
                                        <p:tgtEl>
                                          <p:spTgt spid="244"/>
                                        </p:tgtEl>
                                      </p:cBhvr>
                                    </p:animEffect>
                                    <p:set>
                                      <p:cBhvr>
                                        <p:cTn id="46" dur="1" fill="hold">
                                          <p:stCondLst>
                                            <p:cond delay="1000"/>
                                          </p:stCondLst>
                                        </p:cTn>
                                        <p:tgtEl>
                                          <p:spTgt spid="244"/>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5"/>
                                        </p:tgtEl>
                                        <p:attrNameLst>
                                          <p:attrName>style.visibility</p:attrName>
                                        </p:attrNameLst>
                                      </p:cBhvr>
                                      <p:to>
                                        <p:strVal val="visible"/>
                                      </p:to>
                                    </p:set>
                                    <p:animEffect transition="in" filter="fade">
                                      <p:cBhvr>
                                        <p:cTn id="51" dur="300"/>
                                        <p:tgtEl>
                                          <p:spTgt spid="23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43"/>
                                        </p:tgtEl>
                                        <p:attrNameLst>
                                          <p:attrName>style.visibility</p:attrName>
                                        </p:attrNameLst>
                                      </p:cBhvr>
                                      <p:to>
                                        <p:strVal val="visible"/>
                                      </p:to>
                                    </p:set>
                                    <p:animEffect transition="in" filter="fade">
                                      <p:cBhvr>
                                        <p:cTn id="56" dur="300"/>
                                        <p:tgtEl>
                                          <p:spTgt spid="243"/>
                                        </p:tgtEl>
                                      </p:cBhvr>
                                    </p:animEffect>
                                  </p:childTnLst>
                                </p:cTn>
                              </p:par>
                            </p:childTnLst>
                          </p:cTn>
                        </p:par>
                        <p:par>
                          <p:cTn id="57" fill="hold">
                            <p:stCondLst>
                              <p:cond delay="300"/>
                            </p:stCondLst>
                            <p:childTnLst>
                              <p:par>
                                <p:cTn id="58" presetID="10" presetClass="entr" presetSubtype="0" fill="hold" nodeType="afterEffect">
                                  <p:stCondLst>
                                    <p:cond delay="0"/>
                                  </p:stCondLst>
                                  <p:childTnLst>
                                    <p:set>
                                      <p:cBhvr>
                                        <p:cTn id="59" dur="1" fill="hold">
                                          <p:stCondLst>
                                            <p:cond delay="0"/>
                                          </p:stCondLst>
                                        </p:cTn>
                                        <p:tgtEl>
                                          <p:spTgt spid="236"/>
                                        </p:tgtEl>
                                        <p:attrNameLst>
                                          <p:attrName>style.visibility</p:attrName>
                                        </p:attrNameLst>
                                      </p:cBhvr>
                                      <p:to>
                                        <p:strVal val="visible"/>
                                      </p:to>
                                    </p:set>
                                    <p:animEffect transition="in" filter="fade">
                                      <p:cBhvr>
                                        <p:cTn id="60" dur="1000"/>
                                        <p:tgtEl>
                                          <p:spTgt spid="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7"/>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52" name="Google Shape;252;p27"/>
          <p:cNvSpPr txBox="1"/>
          <p:nvPr/>
        </p:nvSpPr>
        <p:spPr>
          <a:xfrm>
            <a:off x="152050" y="654238"/>
            <a:ext cx="8839800" cy="817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Adding a single “nine” to reliability gives a </a:t>
            </a:r>
            <a:r>
              <a:rPr lang="en" sz="2000" b="1" i="0" u="none" strike="noStrike" cap="none">
                <a:solidFill>
                  <a:schemeClr val="dk1"/>
                </a:solidFill>
                <a:latin typeface="Nunito"/>
                <a:ea typeface="Nunito"/>
                <a:cs typeface="Nunito"/>
                <a:sym typeface="Nunito"/>
              </a:rPr>
              <a:t>tenfold</a:t>
            </a:r>
            <a:r>
              <a:rPr lang="en" sz="2000" b="0" i="0" u="none" strike="noStrike" cap="none">
                <a:solidFill>
                  <a:schemeClr val="dk1"/>
                </a:solidFill>
                <a:latin typeface="Nunito"/>
                <a:ea typeface="Nunito"/>
                <a:cs typeface="Nunito"/>
                <a:sym typeface="Nunito"/>
              </a:rPr>
              <a:t> increase in expected time before failure.</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253" name="Google Shape;253;p2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54" name="Google Shape;254;p2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15</a:t>
            </a:fld>
            <a:endParaRPr sz="1300" b="0" i="0" u="none" strike="noStrike" cap="none">
              <a:solidFill>
                <a:srgbClr val="FFFFFF"/>
              </a:solidFill>
              <a:latin typeface="Nunito"/>
              <a:ea typeface="Nunito"/>
              <a:cs typeface="Nunito"/>
              <a:sym typeface="Nunito"/>
            </a:endParaRPr>
          </a:p>
        </p:txBody>
      </p:sp>
      <p:sp>
        <p:nvSpPr>
          <p:cNvPr id="255" name="Google Shape;255;p2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256" name="Google Shape;256;p27"/>
          <p:cNvSpPr/>
          <p:nvPr/>
        </p:nvSpPr>
        <p:spPr>
          <a:xfrm rot="-2198487">
            <a:off x="2954587" y="2945833"/>
            <a:ext cx="4439135" cy="13914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27"/>
          <p:cNvSpPr/>
          <p:nvPr/>
        </p:nvSpPr>
        <p:spPr>
          <a:xfrm rot="-2198315">
            <a:off x="3654602" y="2709406"/>
            <a:ext cx="3878912" cy="13914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27"/>
          <p:cNvSpPr/>
          <p:nvPr/>
        </p:nvSpPr>
        <p:spPr>
          <a:xfrm rot="-2198157">
            <a:off x="4278814" y="2619728"/>
            <a:ext cx="2703743" cy="13914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27"/>
          <p:cNvSpPr/>
          <p:nvPr/>
        </p:nvSpPr>
        <p:spPr>
          <a:xfrm rot="-2198207">
            <a:off x="4866831" y="2370828"/>
            <a:ext cx="2256259" cy="13914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27"/>
          <p:cNvSpPr txBox="1"/>
          <p:nvPr/>
        </p:nvSpPr>
        <p:spPr>
          <a:xfrm>
            <a:off x="125600" y="2264600"/>
            <a:ext cx="4262100" cy="2147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Using the nines of reliability, we can see that improving reliability from 0.4 to 0.8 is far less meaningful than improving it from 0.99 to 0.999.</a:t>
            </a:r>
            <a:endParaRPr sz="2000" b="1" i="0" u="none" strike="noStrike" cap="none">
              <a:solidFill>
                <a:schemeClr val="dk1"/>
              </a:solidFill>
              <a:latin typeface="Nunito"/>
              <a:ea typeface="Nunito"/>
              <a:cs typeface="Nunito"/>
              <a:sym typeface="Nunito"/>
            </a:endParaRPr>
          </a:p>
        </p:txBody>
      </p:sp>
      <p:pic>
        <p:nvPicPr>
          <p:cNvPr id="261" name="Google Shape;261;p27"/>
          <p:cNvPicPr preferRelativeResize="0"/>
          <p:nvPr/>
        </p:nvPicPr>
        <p:blipFill rotWithShape="1">
          <a:blip r:embed="rId3">
            <a:alphaModFix/>
          </a:blip>
          <a:srcRect/>
          <a:stretch/>
        </p:blipFill>
        <p:spPr>
          <a:xfrm>
            <a:off x="4925125" y="2309075"/>
            <a:ext cx="3795374" cy="2529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
                                            <p:txEl>
                                              <p:pRg st="0" end="0"/>
                                            </p:txEl>
                                          </p:spTgt>
                                        </p:tgtEl>
                                        <p:attrNameLst>
                                          <p:attrName>style.visibility</p:attrName>
                                        </p:attrNameLst>
                                      </p:cBhvr>
                                      <p:to>
                                        <p:strVal val="visible"/>
                                      </p:to>
                                    </p:set>
                                    <p:animEffect transition="in" filter="fade">
                                      <p:cBhvr>
                                        <p:cTn id="7" dur="300"/>
                                        <p:tgtEl>
                                          <p:spTgt spid="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2">
                                            <p:txEl>
                                              <p:pRg st="1" end="1"/>
                                            </p:txEl>
                                          </p:spTgt>
                                        </p:tgtEl>
                                        <p:attrNameLst>
                                          <p:attrName>style.visibility</p:attrName>
                                        </p:attrNameLst>
                                      </p:cBhvr>
                                      <p:to>
                                        <p:strVal val="visible"/>
                                      </p:to>
                                    </p:set>
                                    <p:animEffect transition="in" filter="fade">
                                      <p:cBhvr>
                                        <p:cTn id="12" dur="300"/>
                                        <p:tgtEl>
                                          <p:spTgt spid="2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2">
                                            <p:txEl>
                                              <p:pRg st="2" end="2"/>
                                            </p:txEl>
                                          </p:spTgt>
                                        </p:tgtEl>
                                        <p:attrNameLst>
                                          <p:attrName>style.visibility</p:attrName>
                                        </p:attrNameLst>
                                      </p:cBhvr>
                                      <p:to>
                                        <p:strVal val="visible"/>
                                      </p:to>
                                    </p:set>
                                    <p:animEffect transition="in" filter="fade">
                                      <p:cBhvr>
                                        <p:cTn id="17" dur="300"/>
                                        <p:tgtEl>
                                          <p:spTgt spid="2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0">
                                            <p:txEl>
                                              <p:pRg st="0" end="0"/>
                                            </p:txEl>
                                          </p:spTgt>
                                        </p:tgtEl>
                                        <p:attrNameLst>
                                          <p:attrName>style.visibility</p:attrName>
                                        </p:attrNameLst>
                                      </p:cBhvr>
                                      <p:to>
                                        <p:strVal val="visible"/>
                                      </p:to>
                                    </p:set>
                                    <p:animEffect transition="in" filter="fade">
                                      <p:cBhvr>
                                        <p:cTn id="22" dur="1000"/>
                                        <p:tgtEl>
                                          <p:spTgt spid="260">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61"/>
                                        </p:tgtEl>
                                        <p:attrNameLst>
                                          <p:attrName>style.visibility</p:attrName>
                                        </p:attrNameLst>
                                      </p:cBhvr>
                                      <p:to>
                                        <p:strVal val="visible"/>
                                      </p:to>
                                    </p:set>
                                    <p:animEffect transition="in" filter="fade">
                                      <p:cBhvr>
                                        <p:cTn id="25" dur="1000"/>
                                        <p:tgtEl>
                                          <p:spTgt spid="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8"/>
          <p:cNvSpPr txBox="1">
            <a:spLocks noGrp="1"/>
          </p:cNvSpPr>
          <p:nvPr>
            <p:ph type="title"/>
          </p:nvPr>
        </p:nvSpPr>
        <p:spPr>
          <a:xfrm>
            <a:off x="398825" y="1330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Recap</a:t>
            </a:r>
            <a:endParaRPr/>
          </a:p>
          <a:p>
            <a:pPr marL="0" lvl="0" indent="0" algn="ctr" rtl="0">
              <a:lnSpc>
                <a:spcPct val="100000"/>
              </a:lnSpc>
              <a:spcBef>
                <a:spcPts val="0"/>
              </a:spcBef>
              <a:spcAft>
                <a:spcPts val="0"/>
              </a:spcAft>
              <a:buSzPts val="3600"/>
              <a:buNone/>
            </a:pPr>
            <a:endParaRPr/>
          </a:p>
        </p:txBody>
      </p:sp>
      <p:sp>
        <p:nvSpPr>
          <p:cNvPr id="267" name="Google Shape;267;p28"/>
          <p:cNvSpPr txBox="1"/>
          <p:nvPr/>
        </p:nvSpPr>
        <p:spPr>
          <a:xfrm>
            <a:off x="423400" y="741000"/>
            <a:ext cx="8409000" cy="3607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Risks can be</a:t>
            </a:r>
            <a:r>
              <a:rPr lang="en" sz="2000">
                <a:solidFill>
                  <a:schemeClr val="dk1"/>
                </a:solidFill>
                <a:latin typeface="Nunito"/>
                <a:ea typeface="Nunito"/>
                <a:cs typeface="Nunito"/>
                <a:sym typeface="Nunito"/>
              </a:rPr>
              <a:t> mathematically characterized</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The classic risk equation is the expected severity of hazards</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Adding exposure and vulnerability, we create a “detailed risk equation.”</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System reliability can be better measured in “nines of reliability.”</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268" name="Google Shape;268;p2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69" name="Google Shape;269;p2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16</a:t>
            </a:fld>
            <a:endParaRPr sz="1300" b="0" i="0" u="none" strike="noStrike" cap="none">
              <a:solidFill>
                <a:srgbClr val="FFFFFF"/>
              </a:solidFill>
              <a:latin typeface="Nunito"/>
              <a:ea typeface="Nunito"/>
              <a:cs typeface="Nunito"/>
              <a:sym typeface="Nunito"/>
            </a:endParaRPr>
          </a:p>
        </p:txBody>
      </p:sp>
      <p:sp>
        <p:nvSpPr>
          <p:cNvPr id="270" name="Google Shape;270;p2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10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9"/>
          <p:cNvSpPr txBox="1">
            <a:spLocks noGrp="1"/>
          </p:cNvSpPr>
          <p:nvPr>
            <p:ph type="title"/>
          </p:nvPr>
        </p:nvSpPr>
        <p:spPr>
          <a:xfrm>
            <a:off x="423400" y="-12175"/>
            <a:ext cx="8297100" cy="733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276" name="Google Shape;276;p29"/>
          <p:cNvSpPr txBox="1"/>
          <p:nvPr/>
        </p:nvSpPr>
        <p:spPr>
          <a:xfrm>
            <a:off x="36745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1. Risk decomposition and measuring reliability</a:t>
            </a:r>
            <a:endParaRPr sz="2000" b="0" i="1" u="none" strike="noStrike" cap="none">
              <a:solidFill>
                <a:schemeClr val="dk1"/>
              </a:solidFill>
              <a:latin typeface="Nunito"/>
              <a:ea typeface="Nunito"/>
              <a:cs typeface="Nunito"/>
              <a:sym typeface="Nunito"/>
            </a:endParaRPr>
          </a:p>
        </p:txBody>
      </p:sp>
      <p:sp>
        <p:nvSpPr>
          <p:cNvPr id="277" name="Google Shape;277;p2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78" name="Google Shape;278;p2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17</a:t>
            </a:fld>
            <a:endParaRPr sz="1300" b="0" i="0" u="none" strike="noStrike" cap="none">
              <a:solidFill>
                <a:srgbClr val="FFFFFF"/>
              </a:solidFill>
              <a:latin typeface="Nunito"/>
              <a:ea typeface="Nunito"/>
              <a:cs typeface="Nunito"/>
              <a:sym typeface="Nunito"/>
            </a:endParaRPr>
          </a:p>
        </p:txBody>
      </p:sp>
      <p:sp>
        <p:nvSpPr>
          <p:cNvPr id="279" name="Google Shape;279;p2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280" name="Google Shape;280;p29"/>
          <p:cNvSpPr txBox="1"/>
          <p:nvPr/>
        </p:nvSpPr>
        <p:spPr>
          <a:xfrm>
            <a:off x="367450" y="146632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Safe design principles </a:t>
            </a:r>
            <a:endParaRPr sz="2000" b="0" i="0" u="none" strike="noStrike" cap="none">
              <a:solidFill>
                <a:schemeClr val="dk1"/>
              </a:solidFill>
              <a:latin typeface="Nunito"/>
              <a:ea typeface="Nunito"/>
              <a:cs typeface="Nunito"/>
              <a:sym typeface="Nunito"/>
            </a:endParaRPr>
          </a:p>
        </p:txBody>
      </p:sp>
      <p:sp>
        <p:nvSpPr>
          <p:cNvPr id="281" name="Google Shape;281;p29"/>
          <p:cNvSpPr txBox="1"/>
          <p:nvPr/>
        </p:nvSpPr>
        <p:spPr>
          <a:xfrm>
            <a:off x="367450" y="276455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Systemic accident models</a:t>
            </a:r>
            <a:endParaRPr sz="2000" b="0" i="1" u="none" strike="noStrike" cap="none">
              <a:solidFill>
                <a:schemeClr val="dk1"/>
              </a:solidFill>
              <a:latin typeface="Nunito"/>
              <a:ea typeface="Nunito"/>
              <a:cs typeface="Nunito"/>
              <a:sym typeface="Nunito"/>
            </a:endParaRPr>
          </a:p>
        </p:txBody>
      </p:sp>
      <p:sp>
        <p:nvSpPr>
          <p:cNvPr id="282" name="Google Shape;282;p29"/>
          <p:cNvSpPr txBox="1"/>
          <p:nvPr/>
        </p:nvSpPr>
        <p:spPr>
          <a:xfrm>
            <a:off x="367450" y="341367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Tail events </a:t>
            </a:r>
            <a:endParaRPr sz="2000" b="0" i="0" u="none" strike="noStrike" cap="none">
              <a:solidFill>
                <a:schemeClr val="dk1"/>
              </a:solidFill>
              <a:latin typeface="Nunito"/>
              <a:ea typeface="Nunito"/>
              <a:cs typeface="Nunito"/>
              <a:sym typeface="Nunito"/>
            </a:endParaRPr>
          </a:p>
        </p:txBody>
      </p:sp>
      <p:sp>
        <p:nvSpPr>
          <p:cNvPr id="283" name="Google Shape;283;p29"/>
          <p:cNvSpPr txBox="1"/>
          <p:nvPr/>
        </p:nvSpPr>
        <p:spPr>
          <a:xfrm>
            <a:off x="367450" y="211543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Component failure accident models</a:t>
            </a:r>
            <a:endParaRPr sz="2000" b="0" i="0" u="none" strike="noStrike" cap="none">
              <a:solidFill>
                <a:schemeClr val="dk1"/>
              </a:solidFill>
              <a:latin typeface="Nunito"/>
              <a:ea typeface="Nunito"/>
              <a:cs typeface="Nunito"/>
              <a:sym typeface="Nunito"/>
            </a:endParaRPr>
          </a:p>
        </p:txBody>
      </p:sp>
      <p:sp>
        <p:nvSpPr>
          <p:cNvPr id="284" name="Google Shape;284;p29"/>
          <p:cNvSpPr txBox="1"/>
          <p:nvPr/>
        </p:nvSpPr>
        <p:spPr>
          <a:xfrm>
            <a:off x="367450" y="406279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Black swans</a:t>
            </a:r>
            <a:endParaRPr sz="2000" b="0" i="0" u="none" strike="noStrike" cap="none">
              <a:solidFill>
                <a:schemeClr val="dk1"/>
              </a:solidFill>
              <a:latin typeface="Nunito"/>
              <a:ea typeface="Nunito"/>
              <a:cs typeface="Nunito"/>
              <a:sym typeface="Nunito"/>
            </a:endParaRPr>
          </a:p>
        </p:txBody>
      </p:sp>
      <p:sp>
        <p:nvSpPr>
          <p:cNvPr id="285" name="Google Shape;285;p29"/>
          <p:cNvSpPr/>
          <p:nvPr/>
        </p:nvSpPr>
        <p:spPr>
          <a:xfrm>
            <a:off x="364325" y="1404950"/>
            <a:ext cx="8279700" cy="6051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fade">
                                      <p:cBhvr>
                                        <p:cTn id="7" dur="10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Safe Design Principles</a:t>
            </a:r>
            <a:endParaRPr/>
          </a:p>
          <a:p>
            <a:pPr marL="0" lvl="0" indent="0" algn="ctr" rtl="0">
              <a:lnSpc>
                <a:spcPct val="100000"/>
              </a:lnSpc>
              <a:spcBef>
                <a:spcPts val="0"/>
              </a:spcBef>
              <a:spcAft>
                <a:spcPts val="0"/>
              </a:spcAft>
              <a:buSzPts val="3600"/>
              <a:buNone/>
            </a:pPr>
            <a:endParaRPr/>
          </a:p>
        </p:txBody>
      </p:sp>
      <p:sp>
        <p:nvSpPr>
          <p:cNvPr id="291" name="Google Shape;291;p30"/>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000" b="0" i="0" u="none" strike="noStrike" cap="none">
                <a:solidFill>
                  <a:schemeClr val="dk1"/>
                </a:solidFill>
                <a:latin typeface="Nunito"/>
                <a:ea typeface="Nunito"/>
                <a:cs typeface="Nunito"/>
                <a:sym typeface="Nunito"/>
              </a:rPr>
              <a:t>1. Redundancy</a:t>
            </a:r>
            <a:endParaRPr sz="2000" b="0" i="1" u="none" strike="noStrike" cap="none">
              <a:solidFill>
                <a:schemeClr val="dk1"/>
              </a:solidFill>
              <a:latin typeface="Nunito"/>
              <a:ea typeface="Nunito"/>
              <a:cs typeface="Nunito"/>
              <a:sym typeface="Nunito"/>
            </a:endParaRPr>
          </a:p>
        </p:txBody>
      </p:sp>
      <p:sp>
        <p:nvSpPr>
          <p:cNvPr id="292" name="Google Shape;292;p3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93" name="Google Shape;293;p3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18</a:t>
            </a:fld>
            <a:endParaRPr sz="1300" b="0" i="0" u="none" strike="noStrike" cap="none">
              <a:solidFill>
                <a:srgbClr val="FFFFFF"/>
              </a:solidFill>
              <a:latin typeface="Nunito"/>
              <a:ea typeface="Nunito"/>
              <a:cs typeface="Nunito"/>
              <a:sym typeface="Nunito"/>
            </a:endParaRPr>
          </a:p>
        </p:txBody>
      </p:sp>
      <p:sp>
        <p:nvSpPr>
          <p:cNvPr id="294" name="Google Shape;294;p3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295" name="Google Shape;295;p30"/>
          <p:cNvSpPr txBox="1"/>
          <p:nvPr/>
        </p:nvSpPr>
        <p:spPr>
          <a:xfrm>
            <a:off x="423400" y="1682347"/>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Principle of least privilege </a:t>
            </a:r>
            <a:endParaRPr sz="2000" b="0" i="1"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296" name="Google Shape;296;p30"/>
          <p:cNvSpPr txBox="1"/>
          <p:nvPr/>
        </p:nvSpPr>
        <p:spPr>
          <a:xfrm>
            <a:off x="423400" y="2090294"/>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Fail-safes</a:t>
            </a:r>
            <a:endParaRPr sz="2000" b="0" i="1" u="none" strike="noStrike" cap="none">
              <a:solidFill>
                <a:schemeClr val="dk1"/>
              </a:solidFill>
              <a:latin typeface="Nunito"/>
              <a:ea typeface="Nunito"/>
              <a:cs typeface="Nunito"/>
              <a:sym typeface="Nunito"/>
            </a:endParaRPr>
          </a:p>
        </p:txBody>
      </p:sp>
      <p:sp>
        <p:nvSpPr>
          <p:cNvPr id="297" name="Google Shape;297;p30"/>
          <p:cNvSpPr txBox="1"/>
          <p:nvPr/>
        </p:nvSpPr>
        <p:spPr>
          <a:xfrm>
            <a:off x="423400" y="2955441"/>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Negative feedback mechanisms </a:t>
            </a:r>
            <a:endParaRPr sz="2000" b="0" i="0" u="none" strike="noStrike" cap="none">
              <a:solidFill>
                <a:schemeClr val="dk1"/>
              </a:solidFill>
              <a:latin typeface="Nunito"/>
              <a:ea typeface="Nunito"/>
              <a:cs typeface="Nunito"/>
              <a:sym typeface="Nunito"/>
            </a:endParaRPr>
          </a:p>
        </p:txBody>
      </p:sp>
      <p:sp>
        <p:nvSpPr>
          <p:cNvPr id="298" name="Google Shape;298;p30"/>
          <p:cNvSpPr txBox="1"/>
          <p:nvPr/>
        </p:nvSpPr>
        <p:spPr>
          <a:xfrm>
            <a:off x="423400" y="382058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8. Defense in depth</a:t>
            </a:r>
            <a:endParaRPr sz="2000" b="0" i="0" u="none" strike="noStrike" cap="none">
              <a:solidFill>
                <a:schemeClr val="dk1"/>
              </a:solidFill>
              <a:latin typeface="Nunito"/>
              <a:ea typeface="Nunito"/>
              <a:cs typeface="Nunito"/>
              <a:sym typeface="Nunito"/>
            </a:endParaRPr>
          </a:p>
        </p:txBody>
      </p:sp>
      <p:sp>
        <p:nvSpPr>
          <p:cNvPr id="299" name="Google Shape;299;p30"/>
          <p:cNvSpPr txBox="1"/>
          <p:nvPr/>
        </p:nvSpPr>
        <p:spPr>
          <a:xfrm>
            <a:off x="423400" y="1249773"/>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Separation of duties</a:t>
            </a:r>
            <a:endParaRPr sz="2000" b="0" i="1" u="none" strike="noStrike" cap="none">
              <a:solidFill>
                <a:schemeClr val="dk1"/>
              </a:solidFill>
              <a:latin typeface="Nunito"/>
              <a:ea typeface="Nunito"/>
              <a:cs typeface="Nunito"/>
              <a:sym typeface="Nunito"/>
            </a:endParaRPr>
          </a:p>
        </p:txBody>
      </p:sp>
      <p:sp>
        <p:nvSpPr>
          <p:cNvPr id="300" name="Google Shape;300;p30"/>
          <p:cNvSpPr txBox="1"/>
          <p:nvPr/>
        </p:nvSpPr>
        <p:spPr>
          <a:xfrm>
            <a:off x="423400" y="2522867"/>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Antifragility</a:t>
            </a:r>
            <a:endParaRPr sz="2000" b="0" i="1" u="none" strike="noStrike" cap="none">
              <a:solidFill>
                <a:schemeClr val="dk1"/>
              </a:solidFill>
              <a:latin typeface="Nunito"/>
              <a:ea typeface="Nunito"/>
              <a:cs typeface="Nunito"/>
              <a:sym typeface="Nunito"/>
            </a:endParaRPr>
          </a:p>
        </p:txBody>
      </p:sp>
      <p:sp>
        <p:nvSpPr>
          <p:cNvPr id="301" name="Google Shape;301;p30"/>
          <p:cNvSpPr txBox="1"/>
          <p:nvPr/>
        </p:nvSpPr>
        <p:spPr>
          <a:xfrm>
            <a:off x="423400" y="3388014"/>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7. Transparency</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1"/>
                                        </p:tgtEl>
                                        <p:attrNameLst>
                                          <p:attrName>style.visibility</p:attrName>
                                        </p:attrNameLst>
                                      </p:cBhvr>
                                      <p:to>
                                        <p:strVal val="visible"/>
                                      </p:to>
                                    </p:set>
                                    <p:animEffect transition="in" filter="fade">
                                      <p:cBhvr>
                                        <p:cTn id="7" dur="300"/>
                                        <p:tgtEl>
                                          <p:spTgt spid="2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9"/>
                                        </p:tgtEl>
                                        <p:attrNameLst>
                                          <p:attrName>style.visibility</p:attrName>
                                        </p:attrNameLst>
                                      </p:cBhvr>
                                      <p:to>
                                        <p:strVal val="visible"/>
                                      </p:to>
                                    </p:set>
                                    <p:animEffect transition="in" filter="fade">
                                      <p:cBhvr>
                                        <p:cTn id="12" dur="300"/>
                                        <p:tgtEl>
                                          <p:spTgt spid="2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5"/>
                                        </p:tgtEl>
                                        <p:attrNameLst>
                                          <p:attrName>style.visibility</p:attrName>
                                        </p:attrNameLst>
                                      </p:cBhvr>
                                      <p:to>
                                        <p:strVal val="visible"/>
                                      </p:to>
                                    </p:set>
                                    <p:animEffect transition="in" filter="fade">
                                      <p:cBhvr>
                                        <p:cTn id="17" dur="300"/>
                                        <p:tgtEl>
                                          <p:spTgt spid="29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6"/>
                                        </p:tgtEl>
                                        <p:attrNameLst>
                                          <p:attrName>style.visibility</p:attrName>
                                        </p:attrNameLst>
                                      </p:cBhvr>
                                      <p:to>
                                        <p:strVal val="visible"/>
                                      </p:to>
                                    </p:set>
                                    <p:animEffect transition="in" filter="fade">
                                      <p:cBhvr>
                                        <p:cTn id="22" dur="300"/>
                                        <p:tgtEl>
                                          <p:spTgt spid="29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0"/>
                                        </p:tgtEl>
                                        <p:attrNameLst>
                                          <p:attrName>style.visibility</p:attrName>
                                        </p:attrNameLst>
                                      </p:cBhvr>
                                      <p:to>
                                        <p:strVal val="visible"/>
                                      </p:to>
                                    </p:set>
                                    <p:animEffect transition="in" filter="fade">
                                      <p:cBhvr>
                                        <p:cTn id="27" dur="300"/>
                                        <p:tgtEl>
                                          <p:spTgt spid="30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7"/>
                                        </p:tgtEl>
                                        <p:attrNameLst>
                                          <p:attrName>style.visibility</p:attrName>
                                        </p:attrNameLst>
                                      </p:cBhvr>
                                      <p:to>
                                        <p:strVal val="visible"/>
                                      </p:to>
                                    </p:set>
                                    <p:animEffect transition="in" filter="fade">
                                      <p:cBhvr>
                                        <p:cTn id="32" dur="300"/>
                                        <p:tgtEl>
                                          <p:spTgt spid="29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1"/>
                                        </p:tgtEl>
                                        <p:attrNameLst>
                                          <p:attrName>style.visibility</p:attrName>
                                        </p:attrNameLst>
                                      </p:cBhvr>
                                      <p:to>
                                        <p:strVal val="visible"/>
                                      </p:to>
                                    </p:set>
                                    <p:animEffect transition="in" filter="fade">
                                      <p:cBhvr>
                                        <p:cTn id="37" dur="300"/>
                                        <p:tgtEl>
                                          <p:spTgt spid="30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8"/>
                                        </p:tgtEl>
                                        <p:attrNameLst>
                                          <p:attrName>style.visibility</p:attrName>
                                        </p:attrNameLst>
                                      </p:cBhvr>
                                      <p:to>
                                        <p:strVal val="visible"/>
                                      </p:to>
                                    </p:set>
                                    <p:animEffect transition="in" filter="fade">
                                      <p:cBhvr>
                                        <p:cTn id="42" dur="30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1"/>
          <p:cNvSpPr txBox="1"/>
          <p:nvPr/>
        </p:nvSpPr>
        <p:spPr>
          <a:xfrm>
            <a:off x="423400" y="9696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Redundancy</a:t>
            </a:r>
            <a:r>
              <a:rPr lang="en" sz="2000" b="0" i="0" u="none" strike="noStrike" cap="none">
                <a:solidFill>
                  <a:schemeClr val="dk1"/>
                </a:solidFill>
                <a:latin typeface="Nunito"/>
                <a:ea typeface="Nunito"/>
                <a:cs typeface="Nunito"/>
                <a:sym typeface="Nunito"/>
              </a:rPr>
              <a:t>: a system has multiple “backup” components performing the same </a:t>
            </a:r>
            <a:r>
              <a:rPr lang="en" sz="2000">
                <a:solidFill>
                  <a:schemeClr val="dk1"/>
                </a:solidFill>
                <a:latin typeface="Nunito"/>
                <a:ea typeface="Nunito"/>
                <a:cs typeface="Nunito"/>
                <a:sym typeface="Nunito"/>
              </a:rPr>
              <a:t>crucial</a:t>
            </a:r>
            <a:r>
              <a:rPr lang="en" sz="2000" b="0" i="0" u="none" strike="noStrike" cap="none">
                <a:solidFill>
                  <a:schemeClr val="dk1"/>
                </a:solidFill>
                <a:latin typeface="Nunito"/>
                <a:ea typeface="Nunito"/>
                <a:cs typeface="Nunito"/>
                <a:sym typeface="Nunito"/>
              </a:rPr>
              <a:t> function:</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Multiple braking</a:t>
            </a:r>
            <a:r>
              <a:rPr lang="en" sz="2000" b="0" i="0" u="none" strike="noStrike" cap="non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components</a:t>
            </a:r>
            <a:r>
              <a:rPr lang="en" sz="2000" b="0" i="0" u="none" strike="noStrike" cap="none">
                <a:solidFill>
                  <a:schemeClr val="dk1"/>
                </a:solidFill>
                <a:latin typeface="Nunito"/>
                <a:ea typeface="Nunito"/>
                <a:cs typeface="Nunito"/>
                <a:sym typeface="Nunito"/>
              </a:rPr>
              <a:t> in vehicles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Saving important data on multiple hard drives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Seeking the opinions of multiple medical experts</a:t>
            </a:r>
            <a:endParaRPr sz="2000" b="0" i="0" u="none" strike="noStrike" cap="none">
              <a:solidFill>
                <a:schemeClr val="dk1"/>
              </a:solidFill>
              <a:latin typeface="Nunito"/>
              <a:ea typeface="Nunito"/>
              <a:cs typeface="Nunito"/>
              <a:sym typeface="Nunito"/>
            </a:endParaRPr>
          </a:p>
        </p:txBody>
      </p:sp>
      <p:sp>
        <p:nvSpPr>
          <p:cNvPr id="307" name="Google Shape;307;p3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08" name="Google Shape;308;p3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19</a:t>
            </a:fld>
            <a:endParaRPr sz="1300" b="0" i="0" u="none" strike="noStrike" cap="none">
              <a:solidFill>
                <a:srgbClr val="FFFFFF"/>
              </a:solidFill>
              <a:latin typeface="Nunito"/>
              <a:ea typeface="Nunito"/>
              <a:cs typeface="Nunito"/>
              <a:sym typeface="Nunito"/>
            </a:endParaRPr>
          </a:p>
        </p:txBody>
      </p:sp>
      <p:sp>
        <p:nvSpPr>
          <p:cNvPr id="309" name="Google Shape;309;p3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10" name="Google Shape;310;p31"/>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1:</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Redundancy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6">
                                            <p:txEl>
                                              <p:pRg st="0" end="0"/>
                                            </p:txEl>
                                          </p:spTgt>
                                        </p:tgtEl>
                                        <p:attrNameLst>
                                          <p:attrName>style.visibility</p:attrName>
                                        </p:attrNameLst>
                                      </p:cBhvr>
                                      <p:to>
                                        <p:strVal val="visible"/>
                                      </p:to>
                                    </p:set>
                                    <p:animEffect transition="in" filter="fade">
                                      <p:cBhvr>
                                        <p:cTn id="7" dur="300"/>
                                        <p:tgtEl>
                                          <p:spTgt spid="3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6">
                                            <p:txEl>
                                              <p:pRg st="1" end="1"/>
                                            </p:txEl>
                                          </p:spTgt>
                                        </p:tgtEl>
                                        <p:attrNameLst>
                                          <p:attrName>style.visibility</p:attrName>
                                        </p:attrNameLst>
                                      </p:cBhvr>
                                      <p:to>
                                        <p:strVal val="visible"/>
                                      </p:to>
                                    </p:set>
                                    <p:animEffect transition="in" filter="fade">
                                      <p:cBhvr>
                                        <p:cTn id="12" dur="300"/>
                                        <p:tgtEl>
                                          <p:spTgt spid="3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6">
                                            <p:txEl>
                                              <p:pRg st="2" end="2"/>
                                            </p:txEl>
                                          </p:spTgt>
                                        </p:tgtEl>
                                        <p:attrNameLst>
                                          <p:attrName>style.visibility</p:attrName>
                                        </p:attrNameLst>
                                      </p:cBhvr>
                                      <p:to>
                                        <p:strVal val="visible"/>
                                      </p:to>
                                    </p:set>
                                    <p:animEffect transition="in" filter="fade">
                                      <p:cBhvr>
                                        <p:cTn id="17" dur="300"/>
                                        <p:tgtEl>
                                          <p:spTgt spid="30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6">
                                            <p:txEl>
                                              <p:pRg st="3" end="3"/>
                                            </p:txEl>
                                          </p:spTgt>
                                        </p:tgtEl>
                                        <p:attrNameLst>
                                          <p:attrName>style.visibility</p:attrName>
                                        </p:attrNameLst>
                                      </p:cBhvr>
                                      <p:to>
                                        <p:strVal val="visible"/>
                                      </p:to>
                                    </p:set>
                                    <p:animEffect transition="in" filter="fade">
                                      <p:cBhvr>
                                        <p:cTn id="22" dur="300"/>
                                        <p:tgtEl>
                                          <p:spTgt spid="3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2"/>
          <p:cNvSpPr txBox="1"/>
          <p:nvPr/>
        </p:nvSpPr>
        <p:spPr>
          <a:xfrm>
            <a:off x="423400" y="9696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One possible use of redundancy in AI would be a “moral parliament.”</a:t>
            </a:r>
            <a:endParaRPr sz="2000" b="0" i="0" u="none" strike="noStrike" cap="none">
              <a:solidFill>
                <a:schemeClr val="dk1"/>
              </a:solidFill>
              <a:latin typeface="Nunito"/>
              <a:ea typeface="Nunito"/>
              <a:cs typeface="Nunito"/>
              <a:sym typeface="Nunito"/>
            </a:endParaRPr>
          </a:p>
        </p:txBody>
      </p:sp>
      <p:sp>
        <p:nvSpPr>
          <p:cNvPr id="316" name="Google Shape;316;p3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17" name="Google Shape;317;p3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20</a:t>
            </a:fld>
            <a:endParaRPr sz="1300" b="0" i="0" u="none" strike="noStrike" cap="none">
              <a:solidFill>
                <a:srgbClr val="FFFFFF"/>
              </a:solidFill>
              <a:latin typeface="Nunito"/>
              <a:ea typeface="Nunito"/>
              <a:cs typeface="Nunito"/>
              <a:sym typeface="Nunito"/>
            </a:endParaRPr>
          </a:p>
        </p:txBody>
      </p:sp>
      <p:sp>
        <p:nvSpPr>
          <p:cNvPr id="318" name="Google Shape;318;p3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19" name="Google Shape;319;p32"/>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1:</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Redundancy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20" name="Google Shape;320;p32"/>
          <p:cNvSpPr txBox="1"/>
          <p:nvPr/>
        </p:nvSpPr>
        <p:spPr>
          <a:xfrm>
            <a:off x="423400" y="164177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If we are uncertain how we want an AI to approach making decisions with moral implications, we can use a parliament approach to make use of multiple moral theories. </a:t>
            </a:r>
            <a:endParaRPr sz="2000" b="0" i="0" u="none" strike="noStrike" cap="none">
              <a:solidFill>
                <a:schemeClr val="dk1"/>
              </a:solidFill>
              <a:latin typeface="Nunito"/>
              <a:ea typeface="Nunito"/>
              <a:cs typeface="Nunito"/>
              <a:sym typeface="Nunito"/>
            </a:endParaRPr>
          </a:p>
        </p:txBody>
      </p:sp>
      <p:sp>
        <p:nvSpPr>
          <p:cNvPr id="321" name="Google Shape;321;p32"/>
          <p:cNvSpPr txBox="1"/>
          <p:nvPr/>
        </p:nvSpPr>
        <p:spPr>
          <a:xfrm>
            <a:off x="423400" y="3052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can see these different moral theories as redundant components, reducing the probability of the AI making a harmful decision: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Each theory would typically recommend plausible actions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But none would be able to dictate what happens in extreme cases </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gtEl>
                                        <p:attrNameLst>
                                          <p:attrName>style.visibility</p:attrName>
                                        </p:attrNameLst>
                                      </p:cBhvr>
                                      <p:to>
                                        <p:strVal val="visible"/>
                                      </p:to>
                                    </p:set>
                                    <p:animEffect transition="in" filter="fade">
                                      <p:cBhvr>
                                        <p:cTn id="7" dur="300"/>
                                        <p:tgtEl>
                                          <p:spTgt spid="3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0"/>
                                        </p:tgtEl>
                                        <p:attrNameLst>
                                          <p:attrName>style.visibility</p:attrName>
                                        </p:attrNameLst>
                                      </p:cBhvr>
                                      <p:to>
                                        <p:strVal val="visible"/>
                                      </p:to>
                                    </p:set>
                                    <p:animEffect transition="in" filter="fade">
                                      <p:cBhvr>
                                        <p:cTn id="12" dur="300"/>
                                        <p:tgtEl>
                                          <p:spTgt spid="3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1">
                                            <p:txEl>
                                              <p:pRg st="0" end="0"/>
                                            </p:txEl>
                                          </p:spTgt>
                                        </p:tgtEl>
                                        <p:attrNameLst>
                                          <p:attrName>style.visibility</p:attrName>
                                        </p:attrNameLst>
                                      </p:cBhvr>
                                      <p:to>
                                        <p:strVal val="visible"/>
                                      </p:to>
                                    </p:set>
                                    <p:animEffect transition="in" filter="fade">
                                      <p:cBhvr>
                                        <p:cTn id="17" dur="300"/>
                                        <p:tgtEl>
                                          <p:spTgt spid="32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1">
                                            <p:txEl>
                                              <p:pRg st="1" end="1"/>
                                            </p:txEl>
                                          </p:spTgt>
                                        </p:tgtEl>
                                        <p:attrNameLst>
                                          <p:attrName>style.visibility</p:attrName>
                                        </p:attrNameLst>
                                      </p:cBhvr>
                                      <p:to>
                                        <p:strVal val="visible"/>
                                      </p:to>
                                    </p:set>
                                    <p:animEffect transition="in" filter="fade">
                                      <p:cBhvr>
                                        <p:cTn id="22" dur="300"/>
                                        <p:tgtEl>
                                          <p:spTgt spid="32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1">
                                            <p:txEl>
                                              <p:pRg st="2" end="2"/>
                                            </p:txEl>
                                          </p:spTgt>
                                        </p:tgtEl>
                                        <p:attrNameLst>
                                          <p:attrName>style.visibility</p:attrName>
                                        </p:attrNameLst>
                                      </p:cBhvr>
                                      <p:to>
                                        <p:strVal val="visible"/>
                                      </p:to>
                                    </p:set>
                                    <p:animEffect transition="in" filter="fade">
                                      <p:cBhvr>
                                        <p:cTn id="27" dur="300"/>
                                        <p:tgtEl>
                                          <p:spTgt spid="3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3"/>
          <p:cNvSpPr txBox="1"/>
          <p:nvPr/>
        </p:nvSpPr>
        <p:spPr>
          <a:xfrm>
            <a:off x="423400" y="10458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Separation of duties</a:t>
            </a:r>
            <a:r>
              <a:rPr lang="en" sz="2000" b="0" i="0" u="none" strike="noStrike" cap="none">
                <a:solidFill>
                  <a:schemeClr val="dk1"/>
                </a:solidFill>
                <a:latin typeface="Nunito"/>
                <a:ea typeface="Nunito"/>
                <a:cs typeface="Nunito"/>
                <a:sym typeface="Nunito"/>
              </a:rPr>
              <a:t>: Multiple agents work together to carry out complex processes. Each agent is specialized to a different task, so none controls the system by themself.</a:t>
            </a:r>
            <a:endParaRPr sz="2000" b="0" i="0" u="none" strike="noStrike" cap="none">
              <a:solidFill>
                <a:schemeClr val="dk1"/>
              </a:solidFill>
              <a:latin typeface="Nunito"/>
              <a:ea typeface="Nunito"/>
              <a:cs typeface="Nunito"/>
              <a:sym typeface="Nunito"/>
            </a:endParaRPr>
          </a:p>
        </p:txBody>
      </p:sp>
      <p:sp>
        <p:nvSpPr>
          <p:cNvPr id="327" name="Google Shape;327;p3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28" name="Google Shape;328;p3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21</a:t>
            </a:fld>
            <a:endParaRPr sz="1300" b="0" i="0" u="none" strike="noStrike" cap="none">
              <a:solidFill>
                <a:srgbClr val="FFFFFF"/>
              </a:solidFill>
              <a:latin typeface="Nunito"/>
              <a:ea typeface="Nunito"/>
              <a:cs typeface="Nunito"/>
              <a:sym typeface="Nunito"/>
            </a:endParaRPr>
          </a:p>
        </p:txBody>
      </p:sp>
      <p:sp>
        <p:nvSpPr>
          <p:cNvPr id="329" name="Google Shape;329;p3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30" name="Google Shape;330;p33"/>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2:</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Separation of Duties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31" name="Google Shape;331;p33"/>
          <p:cNvSpPr txBox="1"/>
          <p:nvPr/>
        </p:nvSpPr>
        <p:spPr>
          <a:xfrm>
            <a:off x="423400" y="262947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With multiple system operators, the capacity of each to harm is reduced.</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300"/>
                                        <p:tgtEl>
                                          <p:spTgt spid="3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1"/>
                                        </p:tgtEl>
                                        <p:attrNameLst>
                                          <p:attrName>style.visibility</p:attrName>
                                        </p:attrNameLst>
                                      </p:cBhvr>
                                      <p:to>
                                        <p:strVal val="visible"/>
                                      </p:to>
                                    </p:set>
                                    <p:animEffect transition="in" filter="fade">
                                      <p:cBhvr>
                                        <p:cTn id="12" dur="3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37" name="Google Shape;337;p3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22</a:t>
            </a:fld>
            <a:endParaRPr sz="1300" b="0" i="0" u="none" strike="noStrike" cap="none">
              <a:solidFill>
                <a:srgbClr val="FFFFFF"/>
              </a:solidFill>
              <a:latin typeface="Nunito"/>
              <a:ea typeface="Nunito"/>
              <a:cs typeface="Nunito"/>
              <a:sym typeface="Nunito"/>
            </a:endParaRPr>
          </a:p>
        </p:txBody>
      </p:sp>
      <p:sp>
        <p:nvSpPr>
          <p:cNvPr id="338" name="Google Shape;338;p3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39" name="Google Shape;339;p34"/>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2:</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Separation of Duties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40" name="Google Shape;340;p34"/>
          <p:cNvSpPr txBox="1"/>
          <p:nvPr/>
        </p:nvSpPr>
        <p:spPr>
          <a:xfrm>
            <a:off x="423400" y="987925"/>
            <a:ext cx="8844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 lab contains three chemicals which, if combined, explode:</a:t>
            </a:r>
            <a:endParaRPr sz="2000" b="0" i="0" u="none" strike="noStrike" cap="none">
              <a:solidFill>
                <a:schemeClr val="dk1"/>
              </a:solidFill>
              <a:latin typeface="Nunito"/>
              <a:ea typeface="Nunito"/>
              <a:cs typeface="Nunito"/>
              <a:sym typeface="Nunito"/>
            </a:endParaRPr>
          </a:p>
        </p:txBody>
      </p:sp>
      <p:pic>
        <p:nvPicPr>
          <p:cNvPr id="341" name="Google Shape;341;p34"/>
          <p:cNvPicPr preferRelativeResize="0"/>
          <p:nvPr/>
        </p:nvPicPr>
        <p:blipFill rotWithShape="1">
          <a:blip r:embed="rId3">
            <a:alphaModFix/>
          </a:blip>
          <a:srcRect/>
          <a:stretch/>
        </p:blipFill>
        <p:spPr>
          <a:xfrm>
            <a:off x="2293850" y="2342375"/>
            <a:ext cx="4248275" cy="2399975"/>
          </a:xfrm>
          <a:prstGeom prst="rect">
            <a:avLst/>
          </a:prstGeom>
          <a:noFill/>
          <a:ln>
            <a:noFill/>
          </a:ln>
        </p:spPr>
      </p:pic>
      <p:sp>
        <p:nvSpPr>
          <p:cNvPr id="342" name="Google Shape;342;p34"/>
          <p:cNvSpPr txBox="1"/>
          <p:nvPr/>
        </p:nvSpPr>
        <p:spPr>
          <a:xfrm>
            <a:off x="423400" y="1354475"/>
            <a:ext cx="88446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One technician in charge of all three poses a large risk</a:t>
            </a:r>
            <a:endParaRPr sz="2000" b="0" i="0" u="none" strike="noStrike" cap="none">
              <a:solidFill>
                <a:schemeClr val="dk1"/>
              </a:solidFill>
              <a:latin typeface="Nunito"/>
              <a:ea typeface="Nunito"/>
              <a:cs typeface="Nunito"/>
              <a:sym typeface="Nunito"/>
            </a:endParaRPr>
          </a:p>
        </p:txBody>
      </p:sp>
      <p:sp>
        <p:nvSpPr>
          <p:cNvPr id="343" name="Google Shape;343;p34"/>
          <p:cNvSpPr txBox="1"/>
          <p:nvPr/>
        </p:nvSpPr>
        <p:spPr>
          <a:xfrm>
            <a:off x="423400" y="1693775"/>
            <a:ext cx="82971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With three technicians, each in charge of one chemical, the risk is lower</a:t>
            </a:r>
            <a:endParaRPr sz="2000" b="0" i="0" u="none" strike="noStrike" cap="none">
              <a:solidFill>
                <a:schemeClr val="dk1"/>
              </a:solidFill>
              <a:latin typeface="Nunito"/>
              <a:ea typeface="Nunito"/>
              <a:cs typeface="Nunito"/>
              <a:sym typeface="Nunito"/>
            </a:endParaRPr>
          </a:p>
        </p:txBody>
      </p:sp>
      <p:pic>
        <p:nvPicPr>
          <p:cNvPr id="344" name="Google Shape;344;p34"/>
          <p:cNvPicPr preferRelativeResize="0"/>
          <p:nvPr/>
        </p:nvPicPr>
        <p:blipFill rotWithShape="1">
          <a:blip r:embed="rId4">
            <a:alphaModFix/>
          </a:blip>
          <a:srcRect/>
          <a:stretch/>
        </p:blipFill>
        <p:spPr>
          <a:xfrm>
            <a:off x="3610825" y="2318038"/>
            <a:ext cx="1774883" cy="2348426"/>
          </a:xfrm>
          <a:prstGeom prst="rect">
            <a:avLst/>
          </a:prstGeom>
          <a:noFill/>
          <a:ln>
            <a:noFill/>
          </a:ln>
        </p:spPr>
      </p:pic>
      <p:pic>
        <p:nvPicPr>
          <p:cNvPr id="345" name="Google Shape;345;p34"/>
          <p:cNvPicPr preferRelativeResize="0"/>
          <p:nvPr/>
        </p:nvPicPr>
        <p:blipFill rotWithShape="1">
          <a:blip r:embed="rId5">
            <a:alphaModFix/>
          </a:blip>
          <a:srcRect/>
          <a:stretch/>
        </p:blipFill>
        <p:spPr>
          <a:xfrm>
            <a:off x="1817275" y="2318025"/>
            <a:ext cx="6510131" cy="2399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0">
                                            <p:txEl>
                                              <p:pRg st="0" end="0"/>
                                            </p:txEl>
                                          </p:spTgt>
                                        </p:tgtEl>
                                        <p:attrNameLst>
                                          <p:attrName>style.visibility</p:attrName>
                                        </p:attrNameLst>
                                      </p:cBhvr>
                                      <p:to>
                                        <p:strVal val="visible"/>
                                      </p:to>
                                    </p:set>
                                    <p:animEffect transition="in" filter="fade">
                                      <p:cBhvr>
                                        <p:cTn id="7" dur="300"/>
                                        <p:tgtEl>
                                          <p:spTgt spid="340">
                                            <p:txEl>
                                              <p:pRg st="0" end="0"/>
                                            </p:txEl>
                                          </p:spTgt>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341"/>
                                        </p:tgtEl>
                                        <p:attrNameLst>
                                          <p:attrName>style.visibility</p:attrName>
                                        </p:attrNameLst>
                                      </p:cBhvr>
                                      <p:to>
                                        <p:strVal val="visible"/>
                                      </p:to>
                                    </p:set>
                                    <p:animEffect transition="in" filter="fade">
                                      <p:cBhvr>
                                        <p:cTn id="11" dur="300"/>
                                        <p:tgtEl>
                                          <p:spTgt spid="34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42"/>
                                        </p:tgtEl>
                                        <p:attrNameLst>
                                          <p:attrName>style.visibility</p:attrName>
                                        </p:attrNameLst>
                                      </p:cBhvr>
                                      <p:to>
                                        <p:strVal val="visible"/>
                                      </p:to>
                                    </p:set>
                                    <p:animEffect transition="in" filter="fade">
                                      <p:cBhvr>
                                        <p:cTn id="16" dur="300"/>
                                        <p:tgtEl>
                                          <p:spTgt spid="342"/>
                                        </p:tgtEl>
                                      </p:cBhvr>
                                    </p:animEffect>
                                  </p:childTnLst>
                                </p:cTn>
                              </p:par>
                              <p:par>
                                <p:cTn id="17" presetID="10" presetClass="exit" presetSubtype="0" fill="hold" nodeType="withEffect">
                                  <p:stCondLst>
                                    <p:cond delay="0"/>
                                  </p:stCondLst>
                                  <p:childTnLst>
                                    <p:animEffect transition="out" filter="fade">
                                      <p:cBhvr>
                                        <p:cTn id="18" dur="300"/>
                                        <p:tgtEl>
                                          <p:spTgt spid="341"/>
                                        </p:tgtEl>
                                      </p:cBhvr>
                                    </p:animEffect>
                                    <p:set>
                                      <p:cBhvr>
                                        <p:cTn id="19" dur="1" fill="hold">
                                          <p:stCondLst>
                                            <p:cond delay="300"/>
                                          </p:stCondLst>
                                        </p:cTn>
                                        <p:tgtEl>
                                          <p:spTgt spid="341"/>
                                        </p:tgtEl>
                                        <p:attrNameLst>
                                          <p:attrName>style.visibility</p:attrName>
                                        </p:attrNameLst>
                                      </p:cBhvr>
                                      <p:to>
                                        <p:strVal val="hidden"/>
                                      </p:to>
                                    </p:set>
                                  </p:childTnLst>
                                </p:cTn>
                              </p:par>
                            </p:childTnLst>
                          </p:cTn>
                        </p:par>
                        <p:par>
                          <p:cTn id="20" fill="hold">
                            <p:stCondLst>
                              <p:cond delay="300"/>
                            </p:stCondLst>
                            <p:childTnLst>
                              <p:par>
                                <p:cTn id="21" presetID="10" presetClass="entr" presetSubtype="0" fill="hold" nodeType="afterEffect">
                                  <p:stCondLst>
                                    <p:cond delay="0"/>
                                  </p:stCondLst>
                                  <p:childTnLst>
                                    <p:set>
                                      <p:cBhvr>
                                        <p:cTn id="22" dur="1" fill="hold">
                                          <p:stCondLst>
                                            <p:cond delay="0"/>
                                          </p:stCondLst>
                                        </p:cTn>
                                        <p:tgtEl>
                                          <p:spTgt spid="344"/>
                                        </p:tgtEl>
                                        <p:attrNameLst>
                                          <p:attrName>style.visibility</p:attrName>
                                        </p:attrNameLst>
                                      </p:cBhvr>
                                      <p:to>
                                        <p:strVal val="visible"/>
                                      </p:to>
                                    </p:set>
                                    <p:animEffect transition="in" filter="fade">
                                      <p:cBhvr>
                                        <p:cTn id="23" dur="300"/>
                                        <p:tgtEl>
                                          <p:spTgt spid="34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3"/>
                                        </p:tgtEl>
                                        <p:attrNameLst>
                                          <p:attrName>style.visibility</p:attrName>
                                        </p:attrNameLst>
                                      </p:cBhvr>
                                      <p:to>
                                        <p:strVal val="visible"/>
                                      </p:to>
                                    </p:set>
                                    <p:animEffect transition="in" filter="fade">
                                      <p:cBhvr>
                                        <p:cTn id="28" dur="300"/>
                                        <p:tgtEl>
                                          <p:spTgt spid="343"/>
                                        </p:tgtEl>
                                      </p:cBhvr>
                                    </p:animEffect>
                                  </p:childTnLst>
                                </p:cTn>
                              </p:par>
                              <p:par>
                                <p:cTn id="29" presetID="10" presetClass="exit" presetSubtype="0" fill="hold" nodeType="withEffect">
                                  <p:stCondLst>
                                    <p:cond delay="0"/>
                                  </p:stCondLst>
                                  <p:childTnLst>
                                    <p:animEffect transition="out" filter="fade">
                                      <p:cBhvr>
                                        <p:cTn id="30" dur="300"/>
                                        <p:tgtEl>
                                          <p:spTgt spid="344"/>
                                        </p:tgtEl>
                                      </p:cBhvr>
                                    </p:animEffect>
                                    <p:set>
                                      <p:cBhvr>
                                        <p:cTn id="31" dur="1" fill="hold">
                                          <p:stCondLst>
                                            <p:cond delay="300"/>
                                          </p:stCondLst>
                                        </p:cTn>
                                        <p:tgtEl>
                                          <p:spTgt spid="344"/>
                                        </p:tgtEl>
                                        <p:attrNameLst>
                                          <p:attrName>style.visibility</p:attrName>
                                        </p:attrNameLst>
                                      </p:cBhvr>
                                      <p:to>
                                        <p:strVal val="hidden"/>
                                      </p:to>
                                    </p:set>
                                  </p:childTnLst>
                                </p:cTn>
                              </p:par>
                            </p:childTnLst>
                          </p:cTn>
                        </p:par>
                        <p:par>
                          <p:cTn id="32" fill="hold">
                            <p:stCondLst>
                              <p:cond delay="300"/>
                            </p:stCondLst>
                            <p:childTnLst>
                              <p:par>
                                <p:cTn id="33" presetID="10" presetClass="entr" presetSubtype="0" fill="hold" nodeType="afterEffect">
                                  <p:stCondLst>
                                    <p:cond delay="0"/>
                                  </p:stCondLst>
                                  <p:childTnLst>
                                    <p:set>
                                      <p:cBhvr>
                                        <p:cTn id="34" dur="1" fill="hold">
                                          <p:stCondLst>
                                            <p:cond delay="0"/>
                                          </p:stCondLst>
                                        </p:cTn>
                                        <p:tgtEl>
                                          <p:spTgt spid="345"/>
                                        </p:tgtEl>
                                        <p:attrNameLst>
                                          <p:attrName>style.visibility</p:attrName>
                                        </p:attrNameLst>
                                      </p:cBhvr>
                                      <p:to>
                                        <p:strVal val="visible"/>
                                      </p:to>
                                    </p:set>
                                    <p:animEffect transition="in" filter="fade">
                                      <p:cBhvr>
                                        <p:cTn id="35" dur="3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5"/>
          <p:cNvSpPr txBox="1"/>
          <p:nvPr/>
        </p:nvSpPr>
        <p:spPr>
          <a:xfrm>
            <a:off x="423400" y="10458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could focus on multiple narrow AIs, instead of a single general one.</a:t>
            </a:r>
            <a:endParaRPr sz="2000" b="0" i="0" u="none" strike="noStrike" cap="none">
              <a:solidFill>
                <a:schemeClr val="dk1"/>
              </a:solidFill>
              <a:latin typeface="Nunito"/>
              <a:ea typeface="Nunito"/>
              <a:cs typeface="Nunito"/>
              <a:sym typeface="Nunito"/>
            </a:endParaRPr>
          </a:p>
        </p:txBody>
      </p:sp>
      <p:sp>
        <p:nvSpPr>
          <p:cNvPr id="351" name="Google Shape;351;p3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52" name="Google Shape;352;p3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23</a:t>
            </a:fld>
            <a:endParaRPr sz="1300" b="0" i="0" u="none" strike="noStrike" cap="none">
              <a:solidFill>
                <a:srgbClr val="FFFFFF"/>
              </a:solidFill>
              <a:latin typeface="Nunito"/>
              <a:ea typeface="Nunito"/>
              <a:cs typeface="Nunito"/>
              <a:sym typeface="Nunito"/>
            </a:endParaRPr>
          </a:p>
        </p:txBody>
      </p:sp>
      <p:sp>
        <p:nvSpPr>
          <p:cNvPr id="353" name="Google Shape;353;p3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54" name="Google Shape;354;p35"/>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2:</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Separation of Duties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55" name="Google Shape;355;p35"/>
          <p:cNvSpPr txBox="1"/>
          <p:nvPr/>
        </p:nvSpPr>
        <p:spPr>
          <a:xfrm>
            <a:off x="423400" y="166642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Just as with the lab, having multiple agents, each specialized to a different task, reduces the risk posed by each.</a:t>
            </a:r>
            <a:endParaRPr sz="2000" b="0" i="0" u="none" strike="noStrike" cap="none">
              <a:solidFill>
                <a:schemeClr val="dk1"/>
              </a:solidFill>
              <a:latin typeface="Nunito"/>
              <a:ea typeface="Nunito"/>
              <a:cs typeface="Nunito"/>
              <a:sym typeface="Nunito"/>
            </a:endParaRPr>
          </a:p>
        </p:txBody>
      </p:sp>
      <p:sp>
        <p:nvSpPr>
          <p:cNvPr id="356" name="Google Shape;356;p35"/>
          <p:cNvSpPr txBox="1"/>
          <p:nvPr/>
        </p:nvSpPr>
        <p:spPr>
          <a:xfrm>
            <a:off x="423400" y="264795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“Comprehensive AI Services” is an approach that views AI agents as service-providing products, each tailored to a highly-specific task.</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0"/>
                                        </p:tgtEl>
                                        <p:attrNameLst>
                                          <p:attrName>style.visibility</p:attrName>
                                        </p:attrNameLst>
                                      </p:cBhvr>
                                      <p:to>
                                        <p:strVal val="visible"/>
                                      </p:to>
                                    </p:set>
                                    <p:animEffect transition="in" filter="fade">
                                      <p:cBhvr>
                                        <p:cTn id="7" dur="300"/>
                                        <p:tgtEl>
                                          <p:spTgt spid="3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5"/>
                                        </p:tgtEl>
                                        <p:attrNameLst>
                                          <p:attrName>style.visibility</p:attrName>
                                        </p:attrNameLst>
                                      </p:cBhvr>
                                      <p:to>
                                        <p:strVal val="visible"/>
                                      </p:to>
                                    </p:set>
                                    <p:animEffect transition="in" filter="fade">
                                      <p:cBhvr>
                                        <p:cTn id="12" dur="300"/>
                                        <p:tgtEl>
                                          <p:spTgt spid="3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6"/>
                                        </p:tgtEl>
                                        <p:attrNameLst>
                                          <p:attrName>style.visibility</p:attrName>
                                        </p:attrNameLst>
                                      </p:cBhvr>
                                      <p:to>
                                        <p:strVal val="visible"/>
                                      </p:to>
                                    </p:set>
                                    <p:animEffect transition="in" filter="fade">
                                      <p:cBhvr>
                                        <p:cTn id="17" dur="3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6"/>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Principle of least privilege</a:t>
            </a:r>
            <a:r>
              <a:rPr lang="en" sz="2000" b="0" i="0" u="none" strike="noStrike" cap="none">
                <a:solidFill>
                  <a:schemeClr val="dk1"/>
                </a:solidFill>
                <a:latin typeface="Nunito"/>
                <a:ea typeface="Nunito"/>
                <a:cs typeface="Nunito"/>
                <a:sym typeface="Nunito"/>
              </a:rPr>
              <a:t>: Each agent should have only the minimum power needed to complete their tasks.</a:t>
            </a:r>
            <a:endParaRPr sz="2000" b="0" i="0" u="none" strike="noStrike" cap="none">
              <a:solidFill>
                <a:schemeClr val="dk1"/>
              </a:solidFill>
              <a:latin typeface="Nunito"/>
              <a:ea typeface="Nunito"/>
              <a:cs typeface="Nunito"/>
              <a:sym typeface="Nunito"/>
            </a:endParaRPr>
          </a:p>
        </p:txBody>
      </p:sp>
      <p:sp>
        <p:nvSpPr>
          <p:cNvPr id="362" name="Google Shape;362;p3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63" name="Google Shape;363;p3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24</a:t>
            </a:fld>
            <a:endParaRPr sz="1300" b="0" i="0" u="none" strike="noStrike" cap="none">
              <a:solidFill>
                <a:srgbClr val="FFFFFF"/>
              </a:solidFill>
              <a:latin typeface="Nunito"/>
              <a:ea typeface="Nunito"/>
              <a:cs typeface="Nunito"/>
              <a:sym typeface="Nunito"/>
            </a:endParaRPr>
          </a:p>
        </p:txBody>
      </p:sp>
      <p:sp>
        <p:nvSpPr>
          <p:cNvPr id="364" name="Google Shape;364;p3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65" name="Google Shape;365;p36"/>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3:</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Principle of Least Privilege </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66" name="Google Shape;366;p36"/>
          <p:cNvSpPr txBox="1"/>
          <p:nvPr/>
        </p:nvSpPr>
        <p:spPr>
          <a:xfrm>
            <a:off x="423400" y="195392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Separating duties might only work if we also ensure that agents cannot access parts of the system irrelevant to their tasks. In our lab example, having three technicians only reduces the risk if each can only access their chemical.</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animEffect transition="in" filter="fade">
                                      <p:cBhvr>
                                        <p:cTn id="7" dur="300"/>
                                        <p:tgtEl>
                                          <p:spTgt spid="3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6"/>
                                        </p:tgtEl>
                                        <p:attrNameLst>
                                          <p:attrName>style.visibility</p:attrName>
                                        </p:attrNameLst>
                                      </p:cBhvr>
                                      <p:to>
                                        <p:strVal val="visible"/>
                                      </p:to>
                                    </p:set>
                                    <p:animEffect transition="in" filter="fade">
                                      <p:cBhvr>
                                        <p:cTn id="12" dur="300"/>
                                        <p:tgtEl>
                                          <p:spTgt spid="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72" name="Google Shape;372;p3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25</a:t>
            </a:fld>
            <a:endParaRPr sz="1300" b="0" i="0" u="none" strike="noStrike" cap="none">
              <a:solidFill>
                <a:srgbClr val="FFFFFF"/>
              </a:solidFill>
              <a:latin typeface="Nunito"/>
              <a:ea typeface="Nunito"/>
              <a:cs typeface="Nunito"/>
              <a:sym typeface="Nunito"/>
            </a:endParaRPr>
          </a:p>
        </p:txBody>
      </p:sp>
      <p:sp>
        <p:nvSpPr>
          <p:cNvPr id="373" name="Google Shape;373;p3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74" name="Google Shape;374;p37"/>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3:</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Principle of Least Privilege </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75" name="Google Shape;375;p37"/>
          <p:cNvSpPr txBox="1"/>
          <p:nvPr/>
        </p:nvSpPr>
        <p:spPr>
          <a:xfrm>
            <a:off x="423400" y="109047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Similarly, we should ensure that each AI agent only has access to the information and power necessary for it to perform its tasks reliably. </a:t>
            </a:r>
            <a:endParaRPr sz="2000" b="0" i="0" u="none" strike="noStrike" cap="none">
              <a:solidFill>
                <a:schemeClr val="dk1"/>
              </a:solidFill>
              <a:latin typeface="Nunito"/>
              <a:ea typeface="Nunito"/>
              <a:cs typeface="Nunito"/>
              <a:sym typeface="Nunito"/>
            </a:endParaRPr>
          </a:p>
        </p:txBody>
      </p:sp>
      <p:sp>
        <p:nvSpPr>
          <p:cNvPr id="376" name="Google Shape;376;p37"/>
          <p:cNvSpPr txBox="1"/>
          <p:nvPr/>
        </p:nvSpPr>
        <p:spPr>
          <a:xfrm>
            <a:off x="423400" y="211212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We should avoid unnecessarily plugging AIs into the internet or giving them high-level admin access to confidential information.</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fade">
                                      <p:cBhvr>
                                        <p:cTn id="7" dur="3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6"/>
                                        </p:tgtEl>
                                        <p:attrNameLst>
                                          <p:attrName>style.visibility</p:attrName>
                                        </p:attrNameLst>
                                      </p:cBhvr>
                                      <p:to>
                                        <p:strVal val="visible"/>
                                      </p:to>
                                    </p:set>
                                    <p:animEffect transition="in" filter="fade">
                                      <p:cBhvr>
                                        <p:cTn id="12" dur="300"/>
                                        <p:tgtEl>
                                          <p:spTgt spid="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8"/>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Fail-safes</a:t>
            </a:r>
            <a:r>
              <a:rPr lang="en" sz="2000" b="0" i="0" u="none" strike="noStrike" cap="none">
                <a:solidFill>
                  <a:schemeClr val="dk1"/>
                </a:solidFill>
                <a:latin typeface="Nunito"/>
                <a:ea typeface="Nunito"/>
                <a:cs typeface="Nunito"/>
                <a:sym typeface="Nunito"/>
              </a:rPr>
              <a:t>: features that ensure a system will be safe even if it fails.</a:t>
            </a:r>
            <a:endParaRPr sz="2000" b="0" i="0" u="none" strike="noStrike" cap="none">
              <a:solidFill>
                <a:schemeClr val="dk1"/>
              </a:solidFill>
              <a:latin typeface="Nunito"/>
              <a:ea typeface="Nunito"/>
              <a:cs typeface="Nunito"/>
              <a:sym typeface="Nunito"/>
            </a:endParaRPr>
          </a:p>
        </p:txBody>
      </p:sp>
      <p:sp>
        <p:nvSpPr>
          <p:cNvPr id="382" name="Google Shape;382;p3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83" name="Google Shape;383;p3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26</a:t>
            </a:fld>
            <a:endParaRPr sz="1300" b="0" i="0" u="none" strike="noStrike" cap="none">
              <a:solidFill>
                <a:srgbClr val="FFFFFF"/>
              </a:solidFill>
              <a:latin typeface="Nunito"/>
              <a:ea typeface="Nunito"/>
              <a:cs typeface="Nunito"/>
              <a:sym typeface="Nunito"/>
            </a:endParaRPr>
          </a:p>
        </p:txBody>
      </p:sp>
      <p:sp>
        <p:nvSpPr>
          <p:cNvPr id="384" name="Google Shape;384;p3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85" name="Google Shape;385;p38"/>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4:</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Fail-Safes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86" name="Google Shape;386;p38"/>
          <p:cNvSpPr txBox="1"/>
          <p:nvPr/>
        </p:nvSpPr>
        <p:spPr>
          <a:xfrm>
            <a:off x="423400" y="179417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elevator brakes.</a:t>
            </a:r>
            <a:endParaRPr sz="2000" b="0" i="0" u="none" strike="noStrike" cap="none">
              <a:solidFill>
                <a:schemeClr val="dk1"/>
              </a:solidFill>
              <a:latin typeface="Nunito"/>
              <a:ea typeface="Nunito"/>
              <a:cs typeface="Nunito"/>
              <a:sym typeface="Nunito"/>
            </a:endParaRPr>
          </a:p>
        </p:txBody>
      </p:sp>
      <p:sp>
        <p:nvSpPr>
          <p:cNvPr id="387" name="Google Shape;387;p38"/>
          <p:cNvSpPr txBox="1"/>
          <p:nvPr/>
        </p:nvSpPr>
        <p:spPr>
          <a:xfrm>
            <a:off x="423400" y="266023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 “confidence </a:t>
            </a:r>
            <a:r>
              <a:rPr lang="en" sz="2000">
                <a:solidFill>
                  <a:schemeClr val="dk1"/>
                </a:solidFill>
                <a:latin typeface="Nunito"/>
                <a:ea typeface="Nunito"/>
                <a:cs typeface="Nunito"/>
                <a:sym typeface="Nunito"/>
              </a:rPr>
              <a:t>estimate</a:t>
            </a:r>
            <a:r>
              <a:rPr lang="en" sz="2000" b="0" i="0" u="none" strike="noStrike" cap="none">
                <a:solidFill>
                  <a:schemeClr val="dk1"/>
                </a:solidFill>
                <a:latin typeface="Nunito"/>
                <a:ea typeface="Nunito"/>
                <a:cs typeface="Nunito"/>
                <a:sym typeface="Nunito"/>
              </a:rPr>
              <a:t>” might work as an AI fail-safe:</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Tracks level of confidence the AI agent has in its decisions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Prevents enacting decision below </a:t>
            </a:r>
            <a:r>
              <a:rPr lang="en" sz="2000">
                <a:solidFill>
                  <a:schemeClr val="dk1"/>
                </a:solidFill>
                <a:latin typeface="Nunito"/>
                <a:ea typeface="Nunito"/>
                <a:cs typeface="Nunito"/>
                <a:sym typeface="Nunito"/>
              </a:rPr>
              <a:t>specific</a:t>
            </a:r>
            <a:r>
              <a:rPr lang="en" sz="2000" b="0" i="0" u="none" strike="noStrike" cap="none">
                <a:solidFill>
                  <a:schemeClr val="dk1"/>
                </a:solidFill>
                <a:latin typeface="Nunito"/>
                <a:ea typeface="Nunito"/>
                <a:cs typeface="Nunito"/>
                <a:sym typeface="Nunito"/>
              </a:rPr>
              <a:t> confidence threshold</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fade">
                                      <p:cBhvr>
                                        <p:cTn id="7" dur="3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6"/>
                                        </p:tgtEl>
                                        <p:attrNameLst>
                                          <p:attrName>style.visibility</p:attrName>
                                        </p:attrNameLst>
                                      </p:cBhvr>
                                      <p:to>
                                        <p:strVal val="visible"/>
                                      </p:to>
                                    </p:set>
                                    <p:animEffect transition="in" filter="fade">
                                      <p:cBhvr>
                                        <p:cTn id="12" dur="300"/>
                                        <p:tgtEl>
                                          <p:spTgt spid="3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7">
                                            <p:txEl>
                                              <p:pRg st="0" end="0"/>
                                            </p:txEl>
                                          </p:spTgt>
                                        </p:tgtEl>
                                        <p:attrNameLst>
                                          <p:attrName>style.visibility</p:attrName>
                                        </p:attrNameLst>
                                      </p:cBhvr>
                                      <p:to>
                                        <p:strVal val="visible"/>
                                      </p:to>
                                    </p:set>
                                    <p:animEffect transition="in" filter="fade">
                                      <p:cBhvr>
                                        <p:cTn id="17" dur="300"/>
                                        <p:tgtEl>
                                          <p:spTgt spid="38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7">
                                            <p:txEl>
                                              <p:pRg st="1" end="1"/>
                                            </p:txEl>
                                          </p:spTgt>
                                        </p:tgtEl>
                                        <p:attrNameLst>
                                          <p:attrName>style.visibility</p:attrName>
                                        </p:attrNameLst>
                                      </p:cBhvr>
                                      <p:to>
                                        <p:strVal val="visible"/>
                                      </p:to>
                                    </p:set>
                                    <p:animEffect transition="in" filter="fade">
                                      <p:cBhvr>
                                        <p:cTn id="22" dur="300"/>
                                        <p:tgtEl>
                                          <p:spTgt spid="38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7">
                                            <p:txEl>
                                              <p:pRg st="2" end="2"/>
                                            </p:txEl>
                                          </p:spTgt>
                                        </p:tgtEl>
                                        <p:attrNameLst>
                                          <p:attrName>style.visibility</p:attrName>
                                        </p:attrNameLst>
                                      </p:cBhvr>
                                      <p:to>
                                        <p:strVal val="visible"/>
                                      </p:to>
                                    </p:set>
                                    <p:animEffect transition="in" filter="fade">
                                      <p:cBhvr>
                                        <p:cTn id="27" dur="300"/>
                                        <p:tgtEl>
                                          <p:spTgt spid="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9"/>
          <p:cNvSpPr txBox="1"/>
          <p:nvPr/>
        </p:nvSpPr>
        <p:spPr>
          <a:xfrm>
            <a:off x="423400" y="1045800"/>
            <a:ext cx="8750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Antifragility</a:t>
            </a:r>
            <a:r>
              <a:rPr lang="en" sz="2000" b="0" i="0" u="none" strike="noStrike" cap="none">
                <a:solidFill>
                  <a:schemeClr val="dk1"/>
                </a:solidFill>
                <a:latin typeface="Nunito"/>
                <a:ea typeface="Nunito"/>
                <a:cs typeface="Nunito"/>
                <a:sym typeface="Nunito"/>
              </a:rPr>
              <a:t>: the capacity to become stronger from encountering adversity.</a:t>
            </a:r>
            <a:endParaRPr sz="2000" b="0" i="0" u="none" strike="noStrike" cap="none">
              <a:solidFill>
                <a:schemeClr val="dk1"/>
              </a:solidFill>
              <a:latin typeface="Nunito"/>
              <a:ea typeface="Nunito"/>
              <a:cs typeface="Nunito"/>
              <a:sym typeface="Nunito"/>
            </a:endParaRPr>
          </a:p>
        </p:txBody>
      </p:sp>
      <p:sp>
        <p:nvSpPr>
          <p:cNvPr id="393" name="Google Shape;393;p3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94" name="Google Shape;394;p3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27</a:t>
            </a:fld>
            <a:endParaRPr sz="1300" b="0" i="0" u="none" strike="noStrike" cap="none">
              <a:solidFill>
                <a:srgbClr val="FFFFFF"/>
              </a:solidFill>
              <a:latin typeface="Nunito"/>
              <a:ea typeface="Nunito"/>
              <a:cs typeface="Nunito"/>
              <a:sym typeface="Nunito"/>
            </a:endParaRPr>
          </a:p>
        </p:txBody>
      </p:sp>
      <p:sp>
        <p:nvSpPr>
          <p:cNvPr id="395" name="Google Shape;395;p3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96" name="Google Shape;396;p39"/>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5:</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Antifragility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97" name="Google Shape;397;p39"/>
          <p:cNvSpPr txBox="1"/>
          <p:nvPr/>
        </p:nvSpPr>
        <p:spPr>
          <a:xfrm>
            <a:off x="423400" y="1760750"/>
            <a:ext cx="8750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lifting weights strains muscles, so muscles grow stronger.</a:t>
            </a:r>
            <a:endParaRPr sz="2000" b="0" i="0" u="none" strike="noStrike" cap="none">
              <a:solidFill>
                <a:schemeClr val="dk1"/>
              </a:solidFill>
              <a:latin typeface="Nunito"/>
              <a:ea typeface="Nunito"/>
              <a:cs typeface="Nunito"/>
              <a:sym typeface="Nunito"/>
            </a:endParaRPr>
          </a:p>
        </p:txBody>
      </p:sp>
      <p:pic>
        <p:nvPicPr>
          <p:cNvPr id="398" name="Google Shape;398;p39"/>
          <p:cNvPicPr preferRelativeResize="0"/>
          <p:nvPr/>
        </p:nvPicPr>
        <p:blipFill rotWithShape="1">
          <a:blip r:embed="rId3">
            <a:alphaModFix/>
          </a:blip>
          <a:srcRect/>
          <a:stretch/>
        </p:blipFill>
        <p:spPr>
          <a:xfrm>
            <a:off x="487875" y="2679800"/>
            <a:ext cx="8049777" cy="1691875"/>
          </a:xfrm>
          <a:prstGeom prst="rect">
            <a:avLst/>
          </a:prstGeom>
          <a:noFill/>
          <a:ln>
            <a:noFill/>
          </a:ln>
        </p:spPr>
      </p:pic>
      <p:pic>
        <p:nvPicPr>
          <p:cNvPr id="399" name="Google Shape;399;p39"/>
          <p:cNvPicPr preferRelativeResize="0"/>
          <p:nvPr/>
        </p:nvPicPr>
        <p:blipFill rotWithShape="1">
          <a:blip r:embed="rId4">
            <a:alphaModFix/>
          </a:blip>
          <a:srcRect r="55335"/>
          <a:stretch/>
        </p:blipFill>
        <p:spPr>
          <a:xfrm>
            <a:off x="720175" y="2353850"/>
            <a:ext cx="3821276" cy="2438175"/>
          </a:xfrm>
          <a:prstGeom prst="rect">
            <a:avLst/>
          </a:prstGeom>
          <a:noFill/>
          <a:ln>
            <a:noFill/>
          </a:ln>
        </p:spPr>
      </p:pic>
      <p:pic>
        <p:nvPicPr>
          <p:cNvPr id="400" name="Google Shape;400;p39"/>
          <p:cNvPicPr preferRelativeResize="0"/>
          <p:nvPr/>
        </p:nvPicPr>
        <p:blipFill rotWithShape="1">
          <a:blip r:embed="rId4">
            <a:alphaModFix/>
          </a:blip>
          <a:srcRect l="46062"/>
          <a:stretch/>
        </p:blipFill>
        <p:spPr>
          <a:xfrm>
            <a:off x="4541450" y="2571750"/>
            <a:ext cx="3761510" cy="2220275"/>
          </a:xfrm>
          <a:prstGeom prst="rect">
            <a:avLst/>
          </a:prstGeom>
          <a:noFill/>
          <a:ln>
            <a:noFill/>
          </a:ln>
        </p:spPr>
      </p:pic>
      <p:sp>
        <p:nvSpPr>
          <p:cNvPr id="401" name="Google Shape;401;p39"/>
          <p:cNvSpPr txBox="1"/>
          <p:nvPr/>
        </p:nvSpPr>
        <p:spPr>
          <a:xfrm>
            <a:off x="423400" y="2171138"/>
            <a:ext cx="8750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infection by a pathogen results in immune protection.</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2"/>
                                        </p:tgtEl>
                                        <p:attrNameLst>
                                          <p:attrName>style.visibility</p:attrName>
                                        </p:attrNameLst>
                                      </p:cBhvr>
                                      <p:to>
                                        <p:strVal val="visible"/>
                                      </p:to>
                                    </p:set>
                                    <p:animEffect transition="in" filter="fade">
                                      <p:cBhvr>
                                        <p:cTn id="7" dur="300"/>
                                        <p:tgtEl>
                                          <p:spTgt spid="3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7"/>
                                        </p:tgtEl>
                                        <p:attrNameLst>
                                          <p:attrName>style.visibility</p:attrName>
                                        </p:attrNameLst>
                                      </p:cBhvr>
                                      <p:to>
                                        <p:strVal val="visible"/>
                                      </p:to>
                                    </p:set>
                                    <p:animEffect transition="in" filter="fade">
                                      <p:cBhvr>
                                        <p:cTn id="12" dur="300"/>
                                        <p:tgtEl>
                                          <p:spTgt spid="397"/>
                                        </p:tgtEl>
                                      </p:cBhvr>
                                    </p:animEffect>
                                  </p:childTnLst>
                                </p:cTn>
                              </p:par>
                            </p:childTnLst>
                          </p:cTn>
                        </p:par>
                        <p:par>
                          <p:cTn id="13" fill="hold">
                            <p:stCondLst>
                              <p:cond delay="300"/>
                            </p:stCondLst>
                            <p:childTnLst>
                              <p:par>
                                <p:cTn id="14" presetID="2" presetClass="entr" presetSubtype="2" fill="hold" nodeType="afterEffect">
                                  <p:stCondLst>
                                    <p:cond delay="0"/>
                                  </p:stCondLst>
                                  <p:childTnLst>
                                    <p:set>
                                      <p:cBhvr>
                                        <p:cTn id="15" dur="1" fill="hold">
                                          <p:stCondLst>
                                            <p:cond delay="0"/>
                                          </p:stCondLst>
                                        </p:cTn>
                                        <p:tgtEl>
                                          <p:spTgt spid="398"/>
                                        </p:tgtEl>
                                        <p:attrNameLst>
                                          <p:attrName>style.visibility</p:attrName>
                                        </p:attrNameLst>
                                      </p:cBhvr>
                                      <p:to>
                                        <p:strVal val="visible"/>
                                      </p:to>
                                    </p:set>
                                    <p:anim calcmode="lin" valueType="num">
                                      <p:cBhvr additive="base">
                                        <p:cTn id="16" dur="300"/>
                                        <p:tgtEl>
                                          <p:spTgt spid="398"/>
                                        </p:tgtEl>
                                        <p:attrNameLst>
                                          <p:attrName>ppt_x</p:attrName>
                                        </p:attrNameLst>
                                      </p:cBhvr>
                                      <p:tavLst>
                                        <p:tav tm="0">
                                          <p:val>
                                            <p:strVal val="#ppt_x+1"/>
                                          </p:val>
                                        </p:tav>
                                        <p:tav tm="100000">
                                          <p:val>
                                            <p:strVal val="#ppt_x"/>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300"/>
                                        <p:tgtEl>
                                          <p:spTgt spid="397"/>
                                        </p:tgtEl>
                                      </p:cBhvr>
                                    </p:animEffect>
                                    <p:set>
                                      <p:cBhvr>
                                        <p:cTn id="21" dur="1" fill="hold">
                                          <p:stCondLst>
                                            <p:cond delay="300"/>
                                          </p:stCondLst>
                                        </p:cTn>
                                        <p:tgtEl>
                                          <p:spTgt spid="397"/>
                                        </p:tgtEl>
                                        <p:attrNameLst>
                                          <p:attrName>style.visibility</p:attrName>
                                        </p:attrNameLst>
                                      </p:cBhvr>
                                      <p:to>
                                        <p:strVal val="hidden"/>
                                      </p:to>
                                    </p:set>
                                  </p:childTnLst>
                                </p:cTn>
                              </p:par>
                            </p:childTnLst>
                          </p:cTn>
                        </p:par>
                        <p:par>
                          <p:cTn id="22" fill="hold">
                            <p:stCondLst>
                              <p:cond delay="300"/>
                            </p:stCondLst>
                            <p:childTnLst>
                              <p:par>
                                <p:cTn id="23" presetID="10" presetClass="exit" presetSubtype="0" fill="hold" nodeType="afterEffect">
                                  <p:stCondLst>
                                    <p:cond delay="0"/>
                                  </p:stCondLst>
                                  <p:childTnLst>
                                    <p:animEffect transition="out" filter="fade">
                                      <p:cBhvr>
                                        <p:cTn id="24" dur="300"/>
                                        <p:tgtEl>
                                          <p:spTgt spid="398"/>
                                        </p:tgtEl>
                                      </p:cBhvr>
                                    </p:animEffect>
                                    <p:set>
                                      <p:cBhvr>
                                        <p:cTn id="25" dur="1" fill="hold">
                                          <p:stCondLst>
                                            <p:cond delay="300"/>
                                          </p:stCondLst>
                                        </p:cTn>
                                        <p:tgtEl>
                                          <p:spTgt spid="398"/>
                                        </p:tgtEl>
                                        <p:attrNameLst>
                                          <p:attrName>style.visibility</p:attrName>
                                        </p:attrNameLst>
                                      </p:cBhvr>
                                      <p:to>
                                        <p:strVal val="hidden"/>
                                      </p:to>
                                    </p:set>
                                  </p:childTnLst>
                                </p:cTn>
                              </p:par>
                            </p:childTnLst>
                          </p:cTn>
                        </p:par>
                        <p:par>
                          <p:cTn id="26" fill="hold">
                            <p:stCondLst>
                              <p:cond delay="600"/>
                            </p:stCondLst>
                            <p:childTnLst>
                              <p:par>
                                <p:cTn id="27" presetID="10" presetClass="entr" presetSubtype="0" fill="hold" nodeType="afterEffect">
                                  <p:stCondLst>
                                    <p:cond delay="0"/>
                                  </p:stCondLst>
                                  <p:childTnLst>
                                    <p:set>
                                      <p:cBhvr>
                                        <p:cTn id="28" dur="1" fill="hold">
                                          <p:stCondLst>
                                            <p:cond delay="0"/>
                                          </p:stCondLst>
                                        </p:cTn>
                                        <p:tgtEl>
                                          <p:spTgt spid="401"/>
                                        </p:tgtEl>
                                        <p:attrNameLst>
                                          <p:attrName>style.visibility</p:attrName>
                                        </p:attrNameLst>
                                      </p:cBhvr>
                                      <p:to>
                                        <p:strVal val="visible"/>
                                      </p:to>
                                    </p:set>
                                    <p:animEffect transition="in" filter="fade">
                                      <p:cBhvr>
                                        <p:cTn id="29" dur="300"/>
                                        <p:tgtEl>
                                          <p:spTgt spid="401"/>
                                        </p:tgtEl>
                                      </p:cBhvr>
                                    </p:animEffect>
                                  </p:childTnLst>
                                </p:cTn>
                              </p:par>
                            </p:childTnLst>
                          </p:cTn>
                        </p:par>
                        <p:par>
                          <p:cTn id="30" fill="hold">
                            <p:stCondLst>
                              <p:cond delay="900"/>
                            </p:stCondLst>
                            <p:childTnLst>
                              <p:par>
                                <p:cTn id="31" presetID="10" presetClass="entr" presetSubtype="0" fill="hold" nodeType="afterEffect">
                                  <p:stCondLst>
                                    <p:cond delay="0"/>
                                  </p:stCondLst>
                                  <p:childTnLst>
                                    <p:set>
                                      <p:cBhvr>
                                        <p:cTn id="32" dur="1" fill="hold">
                                          <p:stCondLst>
                                            <p:cond delay="0"/>
                                          </p:stCondLst>
                                        </p:cTn>
                                        <p:tgtEl>
                                          <p:spTgt spid="399"/>
                                        </p:tgtEl>
                                        <p:attrNameLst>
                                          <p:attrName>style.visibility</p:attrName>
                                        </p:attrNameLst>
                                      </p:cBhvr>
                                      <p:to>
                                        <p:strVal val="visible"/>
                                      </p:to>
                                    </p:set>
                                    <p:animEffect transition="in" filter="fade">
                                      <p:cBhvr>
                                        <p:cTn id="33" dur="1000"/>
                                        <p:tgtEl>
                                          <p:spTgt spid="39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400"/>
                                        </p:tgtEl>
                                        <p:attrNameLst>
                                          <p:attrName>style.visibility</p:attrName>
                                        </p:attrNameLst>
                                      </p:cBhvr>
                                      <p:to>
                                        <p:strVal val="visible"/>
                                      </p:to>
                                    </p:set>
                                    <p:anim calcmode="lin" valueType="num">
                                      <p:cBhvr additive="base">
                                        <p:cTn id="38" dur="1000"/>
                                        <p:tgtEl>
                                          <p:spTgt spid="40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0"/>
          <p:cNvSpPr txBox="1"/>
          <p:nvPr/>
        </p:nvSpPr>
        <p:spPr>
          <a:xfrm>
            <a:off x="423400" y="1045800"/>
            <a:ext cx="8828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Negative feedback</a:t>
            </a:r>
            <a:r>
              <a:rPr lang="en" sz="2000" b="0" i="0" u="none" strike="noStrike" cap="none">
                <a:solidFill>
                  <a:schemeClr val="dk1"/>
                </a:solidFill>
                <a:latin typeface="Nunito"/>
                <a:ea typeface="Nunito"/>
                <a:cs typeface="Nunito"/>
                <a:sym typeface="Nunito"/>
              </a:rPr>
              <a:t>: processes that down-regulate initial change. </a:t>
            </a:r>
            <a:endParaRPr sz="2000" b="0" i="0" u="none" strike="noStrike" cap="none">
              <a:solidFill>
                <a:schemeClr val="dk1"/>
              </a:solidFill>
              <a:latin typeface="Nunito"/>
              <a:ea typeface="Nunito"/>
              <a:cs typeface="Nunito"/>
              <a:sym typeface="Nunito"/>
            </a:endParaRPr>
          </a:p>
        </p:txBody>
      </p:sp>
      <p:sp>
        <p:nvSpPr>
          <p:cNvPr id="407" name="Google Shape;407;p4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08" name="Google Shape;408;p4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28</a:t>
            </a:fld>
            <a:endParaRPr sz="1300" b="0" i="0" u="none" strike="noStrike" cap="none">
              <a:solidFill>
                <a:srgbClr val="FFFFFF"/>
              </a:solidFill>
              <a:latin typeface="Nunito"/>
              <a:ea typeface="Nunito"/>
              <a:cs typeface="Nunito"/>
              <a:sym typeface="Nunito"/>
            </a:endParaRPr>
          </a:p>
        </p:txBody>
      </p:sp>
      <p:sp>
        <p:nvSpPr>
          <p:cNvPr id="409" name="Google Shape;409;p4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10" name="Google Shape;410;p40"/>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6:</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Negative Feedback Mechanisms </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411" name="Google Shape;411;p40"/>
          <p:cNvSpPr txBox="1"/>
          <p:nvPr/>
        </p:nvSpPr>
        <p:spPr>
          <a:xfrm>
            <a:off x="423400" y="1712200"/>
            <a:ext cx="8828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body temperature.</a:t>
            </a:r>
            <a:endParaRPr sz="2000" b="0" i="0" u="none" strike="noStrike" cap="none">
              <a:solidFill>
                <a:schemeClr val="dk1"/>
              </a:solidFill>
              <a:latin typeface="Nunito"/>
              <a:ea typeface="Nunito"/>
              <a:cs typeface="Nunito"/>
              <a:sym typeface="Nunito"/>
            </a:endParaRPr>
          </a:p>
        </p:txBody>
      </p:sp>
      <p:pic>
        <p:nvPicPr>
          <p:cNvPr id="412" name="Google Shape;412;p40"/>
          <p:cNvPicPr preferRelativeResize="0"/>
          <p:nvPr/>
        </p:nvPicPr>
        <p:blipFill rotWithShape="1">
          <a:blip r:embed="rId3">
            <a:alphaModFix/>
          </a:blip>
          <a:srcRect/>
          <a:stretch/>
        </p:blipFill>
        <p:spPr>
          <a:xfrm>
            <a:off x="5613100" y="1637812"/>
            <a:ext cx="789850" cy="752813"/>
          </a:xfrm>
          <a:prstGeom prst="rect">
            <a:avLst/>
          </a:prstGeom>
          <a:noFill/>
          <a:ln>
            <a:noFill/>
          </a:ln>
        </p:spPr>
      </p:pic>
      <p:grpSp>
        <p:nvGrpSpPr>
          <p:cNvPr id="413" name="Google Shape;413;p40"/>
          <p:cNvGrpSpPr/>
          <p:nvPr/>
        </p:nvGrpSpPr>
        <p:grpSpPr>
          <a:xfrm>
            <a:off x="3930925" y="2181319"/>
            <a:ext cx="1721775" cy="1261806"/>
            <a:chOff x="3930925" y="2181319"/>
            <a:chExt cx="1721775" cy="1261806"/>
          </a:xfrm>
        </p:grpSpPr>
        <p:grpSp>
          <p:nvGrpSpPr>
            <p:cNvPr id="414" name="Google Shape;414;p40"/>
            <p:cNvGrpSpPr/>
            <p:nvPr/>
          </p:nvGrpSpPr>
          <p:grpSpPr>
            <a:xfrm>
              <a:off x="4866314" y="2181319"/>
              <a:ext cx="786386" cy="1261806"/>
              <a:chOff x="4866314" y="2181319"/>
              <a:chExt cx="786386" cy="1261806"/>
            </a:xfrm>
          </p:grpSpPr>
          <p:sp>
            <p:nvSpPr>
              <p:cNvPr id="415" name="Google Shape;415;p40"/>
              <p:cNvSpPr/>
              <p:nvPr/>
            </p:nvSpPr>
            <p:spPr>
              <a:xfrm>
                <a:off x="4866314" y="2526925"/>
                <a:ext cx="305175" cy="916200"/>
              </a:xfrm>
              <a:custGeom>
                <a:avLst/>
                <a:gdLst/>
                <a:ahLst/>
                <a:cxnLst/>
                <a:rect l="l" t="t" r="r" b="b"/>
                <a:pathLst>
                  <a:path w="12207" h="36648" extrusionOk="0">
                    <a:moveTo>
                      <a:pt x="5298" y="36648"/>
                    </a:moveTo>
                    <a:cubicBezTo>
                      <a:pt x="4442" y="32437"/>
                      <a:pt x="-992" y="17487"/>
                      <a:pt x="159" y="11379"/>
                    </a:cubicBezTo>
                    <a:cubicBezTo>
                      <a:pt x="1311" y="5271"/>
                      <a:pt x="10199" y="1897"/>
                      <a:pt x="12207" y="0"/>
                    </a:cubicBezTo>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6" name="Google Shape;416;p40"/>
              <p:cNvCxnSpPr/>
              <p:nvPr/>
            </p:nvCxnSpPr>
            <p:spPr>
              <a:xfrm rot="10800000" flipH="1">
                <a:off x="5171500" y="2181319"/>
                <a:ext cx="481200" cy="345600"/>
              </a:xfrm>
              <a:prstGeom prst="straightConnector1">
                <a:avLst/>
              </a:prstGeom>
              <a:noFill/>
              <a:ln w="9525" cap="flat" cmpd="sng">
                <a:solidFill>
                  <a:srgbClr val="FF0000"/>
                </a:solidFill>
                <a:prstDash val="solid"/>
                <a:round/>
                <a:headEnd type="none" w="sm" len="sm"/>
                <a:tailEnd type="triangle" w="med" len="med"/>
              </a:ln>
            </p:spPr>
          </p:cxnSp>
        </p:grpSp>
        <p:sp>
          <p:nvSpPr>
            <p:cNvPr id="417" name="Google Shape;417;p40"/>
            <p:cNvSpPr txBox="1"/>
            <p:nvPr/>
          </p:nvSpPr>
          <p:spPr>
            <a:xfrm>
              <a:off x="3930925" y="2608875"/>
              <a:ext cx="12825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FF0000"/>
                  </a:solidFill>
                  <a:latin typeface="Nunito"/>
                  <a:ea typeface="Nunito"/>
                  <a:cs typeface="Nunito"/>
                  <a:sym typeface="Nunito"/>
                </a:rPr>
                <a:t>Shivering</a:t>
              </a:r>
              <a:endParaRPr sz="1500" b="0" i="0" u="none" strike="noStrike" cap="none">
                <a:solidFill>
                  <a:srgbClr val="FF0000"/>
                </a:solidFill>
                <a:latin typeface="Nunito"/>
                <a:ea typeface="Nunito"/>
                <a:cs typeface="Nunito"/>
                <a:sym typeface="Nunito"/>
              </a:endParaRPr>
            </a:p>
          </p:txBody>
        </p:sp>
      </p:grpSp>
      <p:grpSp>
        <p:nvGrpSpPr>
          <p:cNvPr id="418" name="Google Shape;418;p40"/>
          <p:cNvGrpSpPr/>
          <p:nvPr/>
        </p:nvGrpSpPr>
        <p:grpSpPr>
          <a:xfrm>
            <a:off x="6402951" y="2181323"/>
            <a:ext cx="2012924" cy="1261806"/>
            <a:chOff x="6402951" y="2181323"/>
            <a:chExt cx="2012924" cy="1261806"/>
          </a:xfrm>
        </p:grpSpPr>
        <p:grpSp>
          <p:nvGrpSpPr>
            <p:cNvPr id="419" name="Google Shape;419;p40"/>
            <p:cNvGrpSpPr/>
            <p:nvPr/>
          </p:nvGrpSpPr>
          <p:grpSpPr>
            <a:xfrm flipH="1">
              <a:off x="6402951" y="2181323"/>
              <a:ext cx="789846" cy="1261806"/>
              <a:chOff x="4866314" y="2181319"/>
              <a:chExt cx="786386" cy="1261806"/>
            </a:xfrm>
          </p:grpSpPr>
          <p:sp>
            <p:nvSpPr>
              <p:cNvPr id="420" name="Google Shape;420;p40"/>
              <p:cNvSpPr/>
              <p:nvPr/>
            </p:nvSpPr>
            <p:spPr>
              <a:xfrm>
                <a:off x="4866314" y="2526925"/>
                <a:ext cx="305175" cy="916200"/>
              </a:xfrm>
              <a:custGeom>
                <a:avLst/>
                <a:gdLst/>
                <a:ahLst/>
                <a:cxnLst/>
                <a:rect l="l" t="t" r="r" b="b"/>
                <a:pathLst>
                  <a:path w="12207" h="36648" extrusionOk="0">
                    <a:moveTo>
                      <a:pt x="5298" y="36648"/>
                    </a:moveTo>
                    <a:cubicBezTo>
                      <a:pt x="4442" y="32437"/>
                      <a:pt x="-992" y="17487"/>
                      <a:pt x="159" y="11379"/>
                    </a:cubicBezTo>
                    <a:cubicBezTo>
                      <a:pt x="1311" y="5271"/>
                      <a:pt x="10199" y="1897"/>
                      <a:pt x="12207" y="0"/>
                    </a:cubicBezTo>
                  </a:path>
                </a:pathLst>
              </a:custGeom>
              <a:noFill/>
              <a:ln w="9525" cap="flat" cmpd="sng">
                <a:solidFill>
                  <a:srgbClr val="06B0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21" name="Google Shape;421;p40"/>
              <p:cNvCxnSpPr/>
              <p:nvPr/>
            </p:nvCxnSpPr>
            <p:spPr>
              <a:xfrm rot="10800000" flipH="1">
                <a:off x="5171500" y="2181319"/>
                <a:ext cx="481200" cy="345600"/>
              </a:xfrm>
              <a:prstGeom prst="straightConnector1">
                <a:avLst/>
              </a:prstGeom>
              <a:noFill/>
              <a:ln w="9525" cap="flat" cmpd="sng">
                <a:solidFill>
                  <a:srgbClr val="06B0F0"/>
                </a:solidFill>
                <a:prstDash val="solid"/>
                <a:round/>
                <a:headEnd type="none" w="sm" len="sm"/>
                <a:tailEnd type="triangle" w="med" len="med"/>
              </a:ln>
            </p:spPr>
          </p:cxnSp>
        </p:grpSp>
        <p:sp>
          <p:nvSpPr>
            <p:cNvPr id="422" name="Google Shape;422;p40"/>
            <p:cNvSpPr txBox="1"/>
            <p:nvPr/>
          </p:nvSpPr>
          <p:spPr>
            <a:xfrm>
              <a:off x="7133375" y="2608875"/>
              <a:ext cx="12825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06B0F0"/>
                  </a:solidFill>
                  <a:latin typeface="Nunito"/>
                  <a:ea typeface="Nunito"/>
                  <a:cs typeface="Nunito"/>
                  <a:sym typeface="Nunito"/>
                </a:rPr>
                <a:t>Sweating</a:t>
              </a:r>
              <a:endParaRPr sz="1500" b="0" i="0" u="none" strike="noStrike" cap="none">
                <a:solidFill>
                  <a:srgbClr val="06B0F0"/>
                </a:solidFill>
                <a:latin typeface="Nunito"/>
                <a:ea typeface="Nunito"/>
                <a:cs typeface="Nunito"/>
                <a:sym typeface="Nunito"/>
              </a:endParaRPr>
            </a:p>
          </p:txBody>
        </p:sp>
      </p:grpSp>
      <p:grpSp>
        <p:nvGrpSpPr>
          <p:cNvPr id="423" name="Google Shape;423;p40"/>
          <p:cNvGrpSpPr/>
          <p:nvPr/>
        </p:nvGrpSpPr>
        <p:grpSpPr>
          <a:xfrm>
            <a:off x="4661703" y="3355575"/>
            <a:ext cx="1487122" cy="1438875"/>
            <a:chOff x="4661703" y="3355575"/>
            <a:chExt cx="1487122" cy="1438875"/>
          </a:xfrm>
        </p:grpSpPr>
        <p:pic>
          <p:nvPicPr>
            <p:cNvPr id="424" name="Google Shape;424;p40"/>
            <p:cNvPicPr preferRelativeResize="0"/>
            <p:nvPr/>
          </p:nvPicPr>
          <p:blipFill rotWithShape="1">
            <a:blip r:embed="rId4">
              <a:alphaModFix/>
            </a:blip>
            <a:srcRect r="66857" b="54995"/>
            <a:stretch/>
          </p:blipFill>
          <p:spPr>
            <a:xfrm>
              <a:off x="4661703" y="3355575"/>
              <a:ext cx="1045248" cy="1048600"/>
            </a:xfrm>
            <a:prstGeom prst="rect">
              <a:avLst/>
            </a:prstGeom>
            <a:noFill/>
            <a:ln>
              <a:noFill/>
            </a:ln>
          </p:spPr>
        </p:pic>
        <p:sp>
          <p:nvSpPr>
            <p:cNvPr id="425" name="Google Shape;425;p40"/>
            <p:cNvSpPr txBox="1"/>
            <p:nvPr/>
          </p:nvSpPr>
          <p:spPr>
            <a:xfrm>
              <a:off x="4866325" y="4302750"/>
              <a:ext cx="12825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06B0F0"/>
                  </a:solidFill>
                  <a:latin typeface="Nunito"/>
                  <a:ea typeface="Nunito"/>
                  <a:cs typeface="Nunito"/>
                  <a:sym typeface="Nunito"/>
                </a:rPr>
                <a:t>Too cold</a:t>
              </a:r>
              <a:endParaRPr sz="1500" b="0" i="0" u="none" strike="noStrike" cap="none">
                <a:solidFill>
                  <a:srgbClr val="06B0F0"/>
                </a:solidFill>
                <a:latin typeface="Nunito"/>
                <a:ea typeface="Nunito"/>
                <a:cs typeface="Nunito"/>
                <a:sym typeface="Nunito"/>
              </a:endParaRPr>
            </a:p>
          </p:txBody>
        </p:sp>
      </p:grpSp>
      <p:grpSp>
        <p:nvGrpSpPr>
          <p:cNvPr id="426" name="Google Shape;426;p40"/>
          <p:cNvGrpSpPr/>
          <p:nvPr/>
        </p:nvGrpSpPr>
        <p:grpSpPr>
          <a:xfrm>
            <a:off x="6402950" y="3355575"/>
            <a:ext cx="1282500" cy="1438875"/>
            <a:chOff x="6402950" y="3355575"/>
            <a:chExt cx="1282500" cy="1438875"/>
          </a:xfrm>
        </p:grpSpPr>
        <p:pic>
          <p:nvPicPr>
            <p:cNvPr id="427" name="Google Shape;427;p40"/>
            <p:cNvPicPr preferRelativeResize="0"/>
            <p:nvPr/>
          </p:nvPicPr>
          <p:blipFill rotWithShape="1">
            <a:blip r:embed="rId4">
              <a:alphaModFix/>
            </a:blip>
            <a:srcRect l="64614" t="54995"/>
            <a:stretch/>
          </p:blipFill>
          <p:spPr>
            <a:xfrm>
              <a:off x="6402950" y="3355575"/>
              <a:ext cx="1116052" cy="1048600"/>
            </a:xfrm>
            <a:prstGeom prst="rect">
              <a:avLst/>
            </a:prstGeom>
            <a:noFill/>
            <a:ln>
              <a:noFill/>
            </a:ln>
          </p:spPr>
        </p:pic>
        <p:sp>
          <p:nvSpPr>
            <p:cNvPr id="428" name="Google Shape;428;p40"/>
            <p:cNvSpPr txBox="1"/>
            <p:nvPr/>
          </p:nvSpPr>
          <p:spPr>
            <a:xfrm>
              <a:off x="6402950" y="4302750"/>
              <a:ext cx="12825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FF0000"/>
                  </a:solidFill>
                  <a:latin typeface="Nunito"/>
                  <a:ea typeface="Nunito"/>
                  <a:cs typeface="Nunito"/>
                  <a:sym typeface="Nunito"/>
                </a:rPr>
                <a:t>Too hot</a:t>
              </a:r>
              <a:endParaRPr sz="1500" b="0" i="0" u="none" strike="noStrike" cap="none">
                <a:solidFill>
                  <a:srgbClr val="FF0000"/>
                </a:solidFill>
                <a:latin typeface="Nunito"/>
                <a:ea typeface="Nunito"/>
                <a:cs typeface="Nunito"/>
                <a:sym typeface="Nunito"/>
              </a:endParaRPr>
            </a:p>
          </p:txBody>
        </p:sp>
      </p:grpSp>
      <p:cxnSp>
        <p:nvCxnSpPr>
          <p:cNvPr id="429" name="Google Shape;429;p40"/>
          <p:cNvCxnSpPr>
            <a:stCxn id="412" idx="2"/>
          </p:cNvCxnSpPr>
          <p:nvPr/>
        </p:nvCxnSpPr>
        <p:spPr>
          <a:xfrm flipH="1">
            <a:off x="5457525" y="2390625"/>
            <a:ext cx="550500" cy="1250700"/>
          </a:xfrm>
          <a:prstGeom prst="straightConnector1">
            <a:avLst/>
          </a:prstGeom>
          <a:noFill/>
          <a:ln w="9525" cap="flat" cmpd="sng">
            <a:solidFill>
              <a:srgbClr val="06B0F0"/>
            </a:solidFill>
            <a:prstDash val="solid"/>
            <a:round/>
            <a:headEnd type="none" w="sm" len="sm"/>
            <a:tailEnd type="triangle" w="med" len="med"/>
          </a:ln>
        </p:spPr>
      </p:cxnSp>
      <p:cxnSp>
        <p:nvCxnSpPr>
          <p:cNvPr id="430" name="Google Shape;430;p40"/>
          <p:cNvCxnSpPr/>
          <p:nvPr/>
        </p:nvCxnSpPr>
        <p:spPr>
          <a:xfrm>
            <a:off x="6008025" y="2390626"/>
            <a:ext cx="501900" cy="1310100"/>
          </a:xfrm>
          <a:prstGeom prst="straightConnector1">
            <a:avLst/>
          </a:prstGeom>
          <a:noFill/>
          <a:ln w="9525" cap="flat" cmpd="sng">
            <a:solidFill>
              <a:srgbClr val="FF0000"/>
            </a:solidFill>
            <a:prstDash val="solid"/>
            <a:round/>
            <a:headEnd type="none" w="sm" len="sm"/>
            <a:tailEnd type="triangle" w="med" len="med"/>
          </a:ln>
        </p:spPr>
      </p:cxnSp>
      <p:sp>
        <p:nvSpPr>
          <p:cNvPr id="431" name="Google Shape;431;p40"/>
          <p:cNvSpPr txBox="1"/>
          <p:nvPr/>
        </p:nvSpPr>
        <p:spPr>
          <a:xfrm>
            <a:off x="423400" y="2431638"/>
            <a:ext cx="8828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Negative feedback in AI:</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Monitoring</a:t>
            </a:r>
            <a:endParaRPr sz="2000" b="0" i="0" u="none" strike="noStrike" cap="none">
              <a:solidFill>
                <a:schemeClr val="dk1"/>
              </a:solidFill>
              <a:latin typeface="Nunito"/>
              <a:ea typeface="Nunito"/>
              <a:cs typeface="Nunito"/>
              <a:sym typeface="Nunito"/>
            </a:endParaRPr>
          </a:p>
          <a:p>
            <a:pPr marL="457200" lvl="0" indent="-355600" algn="l" rtl="0">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Reputation reduction</a:t>
            </a: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Resetting</a:t>
            </a:r>
            <a:endParaRPr sz="2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300"/>
                                        <p:tgtEl>
                                          <p:spTgt spid="4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1"/>
                                        </p:tgtEl>
                                        <p:attrNameLst>
                                          <p:attrName>style.visibility</p:attrName>
                                        </p:attrNameLst>
                                      </p:cBhvr>
                                      <p:to>
                                        <p:strVal val="visible"/>
                                      </p:to>
                                    </p:set>
                                    <p:animEffect transition="in" filter="fade">
                                      <p:cBhvr>
                                        <p:cTn id="12" dur="300"/>
                                        <p:tgtEl>
                                          <p:spTgt spid="411"/>
                                        </p:tgtEl>
                                      </p:cBhvr>
                                    </p:animEffect>
                                  </p:childTnLst>
                                </p:cTn>
                              </p:par>
                            </p:childTnLst>
                          </p:cTn>
                        </p:par>
                        <p:par>
                          <p:cTn id="13" fill="hold">
                            <p:stCondLst>
                              <p:cond delay="300"/>
                            </p:stCondLst>
                            <p:childTnLst>
                              <p:par>
                                <p:cTn id="14" presetID="10" presetClass="entr" presetSubtype="0" fill="hold" nodeType="afterEffect">
                                  <p:stCondLst>
                                    <p:cond delay="0"/>
                                  </p:stCondLst>
                                  <p:childTnLst>
                                    <p:set>
                                      <p:cBhvr>
                                        <p:cTn id="15" dur="1" fill="hold">
                                          <p:stCondLst>
                                            <p:cond delay="0"/>
                                          </p:stCondLst>
                                        </p:cTn>
                                        <p:tgtEl>
                                          <p:spTgt spid="412"/>
                                        </p:tgtEl>
                                        <p:attrNameLst>
                                          <p:attrName>style.visibility</p:attrName>
                                        </p:attrNameLst>
                                      </p:cBhvr>
                                      <p:to>
                                        <p:strVal val="visible"/>
                                      </p:to>
                                    </p:set>
                                    <p:animEffect transition="in" filter="fade">
                                      <p:cBhvr>
                                        <p:cTn id="16" dur="300"/>
                                        <p:tgtEl>
                                          <p:spTgt spid="4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29"/>
                                        </p:tgtEl>
                                        <p:attrNameLst>
                                          <p:attrName>style.visibility</p:attrName>
                                        </p:attrNameLst>
                                      </p:cBhvr>
                                      <p:to>
                                        <p:strVal val="visible"/>
                                      </p:to>
                                    </p:set>
                                    <p:animEffect transition="in" filter="fade">
                                      <p:cBhvr>
                                        <p:cTn id="21" dur="300"/>
                                        <p:tgtEl>
                                          <p:spTgt spid="429"/>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423"/>
                                        </p:tgtEl>
                                        <p:attrNameLst>
                                          <p:attrName>style.visibility</p:attrName>
                                        </p:attrNameLst>
                                      </p:cBhvr>
                                      <p:to>
                                        <p:strVal val="visible"/>
                                      </p:to>
                                    </p:set>
                                    <p:animEffect transition="in" filter="fade">
                                      <p:cBhvr>
                                        <p:cTn id="25" dur="300"/>
                                        <p:tgtEl>
                                          <p:spTgt spid="4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13"/>
                                        </p:tgtEl>
                                        <p:attrNameLst>
                                          <p:attrName>style.visibility</p:attrName>
                                        </p:attrNameLst>
                                      </p:cBhvr>
                                      <p:to>
                                        <p:strVal val="visible"/>
                                      </p:to>
                                    </p:set>
                                    <p:animEffect transition="in" filter="fade">
                                      <p:cBhvr>
                                        <p:cTn id="30" dur="300"/>
                                        <p:tgtEl>
                                          <p:spTgt spid="4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30"/>
                                        </p:tgtEl>
                                        <p:attrNameLst>
                                          <p:attrName>style.visibility</p:attrName>
                                        </p:attrNameLst>
                                      </p:cBhvr>
                                      <p:to>
                                        <p:strVal val="visible"/>
                                      </p:to>
                                    </p:set>
                                    <p:animEffect transition="in" filter="fade">
                                      <p:cBhvr>
                                        <p:cTn id="35" dur="300"/>
                                        <p:tgtEl>
                                          <p:spTgt spid="430"/>
                                        </p:tgtEl>
                                      </p:cBhvr>
                                    </p:animEffect>
                                  </p:childTnLst>
                                </p:cTn>
                              </p:par>
                            </p:childTnLst>
                          </p:cTn>
                        </p:par>
                        <p:par>
                          <p:cTn id="36" fill="hold">
                            <p:stCondLst>
                              <p:cond delay="300"/>
                            </p:stCondLst>
                            <p:childTnLst>
                              <p:par>
                                <p:cTn id="37" presetID="10" presetClass="entr" presetSubtype="0" fill="hold" nodeType="afterEffect">
                                  <p:stCondLst>
                                    <p:cond delay="0"/>
                                  </p:stCondLst>
                                  <p:childTnLst>
                                    <p:set>
                                      <p:cBhvr>
                                        <p:cTn id="38" dur="1" fill="hold">
                                          <p:stCondLst>
                                            <p:cond delay="0"/>
                                          </p:stCondLst>
                                        </p:cTn>
                                        <p:tgtEl>
                                          <p:spTgt spid="426"/>
                                        </p:tgtEl>
                                        <p:attrNameLst>
                                          <p:attrName>style.visibility</p:attrName>
                                        </p:attrNameLst>
                                      </p:cBhvr>
                                      <p:to>
                                        <p:strVal val="visible"/>
                                      </p:to>
                                    </p:set>
                                    <p:animEffect transition="in" filter="fade">
                                      <p:cBhvr>
                                        <p:cTn id="39" dur="300"/>
                                        <p:tgtEl>
                                          <p:spTgt spid="42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18"/>
                                        </p:tgtEl>
                                        <p:attrNameLst>
                                          <p:attrName>style.visibility</p:attrName>
                                        </p:attrNameLst>
                                      </p:cBhvr>
                                      <p:to>
                                        <p:strVal val="visible"/>
                                      </p:to>
                                    </p:set>
                                    <p:animEffect transition="in" filter="fade">
                                      <p:cBhvr>
                                        <p:cTn id="44" dur="300"/>
                                        <p:tgtEl>
                                          <p:spTgt spid="4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300"/>
                                        <p:tgtEl>
                                          <p:spTgt spid="430"/>
                                        </p:tgtEl>
                                      </p:cBhvr>
                                    </p:animEffect>
                                    <p:set>
                                      <p:cBhvr>
                                        <p:cTn id="49" dur="1" fill="hold">
                                          <p:stCondLst>
                                            <p:cond delay="300"/>
                                          </p:stCondLst>
                                        </p:cTn>
                                        <p:tgtEl>
                                          <p:spTgt spid="430"/>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300"/>
                                        <p:tgtEl>
                                          <p:spTgt spid="426"/>
                                        </p:tgtEl>
                                      </p:cBhvr>
                                    </p:animEffect>
                                    <p:set>
                                      <p:cBhvr>
                                        <p:cTn id="52" dur="1" fill="hold">
                                          <p:stCondLst>
                                            <p:cond delay="300"/>
                                          </p:stCondLst>
                                        </p:cTn>
                                        <p:tgtEl>
                                          <p:spTgt spid="426"/>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300"/>
                                        <p:tgtEl>
                                          <p:spTgt spid="418"/>
                                        </p:tgtEl>
                                      </p:cBhvr>
                                    </p:animEffect>
                                    <p:set>
                                      <p:cBhvr>
                                        <p:cTn id="55" dur="1" fill="hold">
                                          <p:stCondLst>
                                            <p:cond delay="300"/>
                                          </p:stCondLst>
                                        </p:cTn>
                                        <p:tgtEl>
                                          <p:spTgt spid="418"/>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300"/>
                                        <p:tgtEl>
                                          <p:spTgt spid="412"/>
                                        </p:tgtEl>
                                      </p:cBhvr>
                                    </p:animEffect>
                                    <p:set>
                                      <p:cBhvr>
                                        <p:cTn id="58" dur="1" fill="hold">
                                          <p:stCondLst>
                                            <p:cond delay="300"/>
                                          </p:stCondLst>
                                        </p:cTn>
                                        <p:tgtEl>
                                          <p:spTgt spid="412"/>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300"/>
                                        <p:tgtEl>
                                          <p:spTgt spid="429"/>
                                        </p:tgtEl>
                                      </p:cBhvr>
                                    </p:animEffect>
                                    <p:set>
                                      <p:cBhvr>
                                        <p:cTn id="61" dur="1" fill="hold">
                                          <p:stCondLst>
                                            <p:cond delay="300"/>
                                          </p:stCondLst>
                                        </p:cTn>
                                        <p:tgtEl>
                                          <p:spTgt spid="429"/>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300"/>
                                        <p:tgtEl>
                                          <p:spTgt spid="423"/>
                                        </p:tgtEl>
                                      </p:cBhvr>
                                    </p:animEffect>
                                    <p:set>
                                      <p:cBhvr>
                                        <p:cTn id="64" dur="1" fill="hold">
                                          <p:stCondLst>
                                            <p:cond delay="300"/>
                                          </p:stCondLst>
                                        </p:cTn>
                                        <p:tgtEl>
                                          <p:spTgt spid="423"/>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300"/>
                                        <p:tgtEl>
                                          <p:spTgt spid="413"/>
                                        </p:tgtEl>
                                      </p:cBhvr>
                                    </p:animEffect>
                                    <p:set>
                                      <p:cBhvr>
                                        <p:cTn id="67" dur="1" fill="hold">
                                          <p:stCondLst>
                                            <p:cond delay="300"/>
                                          </p:stCondLst>
                                        </p:cTn>
                                        <p:tgtEl>
                                          <p:spTgt spid="413"/>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31">
                                            <p:txEl>
                                              <p:pRg st="0" end="0"/>
                                            </p:txEl>
                                          </p:spTgt>
                                        </p:tgtEl>
                                        <p:attrNameLst>
                                          <p:attrName>style.visibility</p:attrName>
                                        </p:attrNameLst>
                                      </p:cBhvr>
                                      <p:to>
                                        <p:strVal val="visible"/>
                                      </p:to>
                                    </p:set>
                                    <p:animEffect transition="in" filter="fade">
                                      <p:cBhvr>
                                        <p:cTn id="72" dur="300"/>
                                        <p:tgtEl>
                                          <p:spTgt spid="431">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31">
                                            <p:txEl>
                                              <p:pRg st="1" end="1"/>
                                            </p:txEl>
                                          </p:spTgt>
                                        </p:tgtEl>
                                        <p:attrNameLst>
                                          <p:attrName>style.visibility</p:attrName>
                                        </p:attrNameLst>
                                      </p:cBhvr>
                                      <p:to>
                                        <p:strVal val="visible"/>
                                      </p:to>
                                    </p:set>
                                    <p:animEffect transition="in" filter="fade">
                                      <p:cBhvr>
                                        <p:cTn id="77" dur="300"/>
                                        <p:tgtEl>
                                          <p:spTgt spid="431">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31">
                                            <p:txEl>
                                              <p:pRg st="2" end="2"/>
                                            </p:txEl>
                                          </p:spTgt>
                                        </p:tgtEl>
                                        <p:attrNameLst>
                                          <p:attrName>style.visibility</p:attrName>
                                        </p:attrNameLst>
                                      </p:cBhvr>
                                      <p:to>
                                        <p:strVal val="visible"/>
                                      </p:to>
                                    </p:set>
                                    <p:animEffect transition="in" filter="fade">
                                      <p:cBhvr>
                                        <p:cTn id="82" dur="300"/>
                                        <p:tgtEl>
                                          <p:spTgt spid="431">
                                            <p:txEl>
                                              <p:pRg st="2" end="2"/>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31">
                                            <p:txEl>
                                              <p:pRg st="3" end="3"/>
                                            </p:txEl>
                                          </p:spTgt>
                                        </p:tgtEl>
                                        <p:attrNameLst>
                                          <p:attrName>style.visibility</p:attrName>
                                        </p:attrNameLst>
                                      </p:cBhvr>
                                      <p:to>
                                        <p:strVal val="visible"/>
                                      </p:to>
                                    </p:set>
                                    <p:animEffect transition="in" filter="fade">
                                      <p:cBhvr>
                                        <p:cTn id="87" dur="300"/>
                                        <p:tgtEl>
                                          <p:spTgt spid="4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1"/>
          <p:cNvSpPr txBox="1"/>
          <p:nvPr/>
        </p:nvSpPr>
        <p:spPr>
          <a:xfrm>
            <a:off x="423400" y="1045800"/>
            <a:ext cx="8531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Transparency</a:t>
            </a:r>
            <a:r>
              <a:rPr lang="en" sz="2000" b="0" i="0" u="none" strike="noStrike" cap="none">
                <a:solidFill>
                  <a:schemeClr val="dk1"/>
                </a:solidFill>
                <a:latin typeface="Nunito"/>
                <a:ea typeface="Nunito"/>
                <a:cs typeface="Nunito"/>
                <a:sym typeface="Nunito"/>
              </a:rPr>
              <a:t>: users understand a system sufficiently well to interact with it safely.</a:t>
            </a:r>
            <a:endParaRPr sz="2000" b="0" i="0" u="none" strike="noStrike" cap="none">
              <a:solidFill>
                <a:schemeClr val="dk1"/>
              </a:solidFill>
              <a:latin typeface="Nunito"/>
              <a:ea typeface="Nunito"/>
              <a:cs typeface="Nunito"/>
              <a:sym typeface="Nunito"/>
            </a:endParaRPr>
          </a:p>
        </p:txBody>
      </p:sp>
      <p:sp>
        <p:nvSpPr>
          <p:cNvPr id="437" name="Google Shape;437;p4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38" name="Google Shape;438;p4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29</a:t>
            </a:fld>
            <a:endParaRPr sz="1300" b="0" i="0" u="none" strike="noStrike" cap="none">
              <a:solidFill>
                <a:srgbClr val="FFFFFF"/>
              </a:solidFill>
              <a:latin typeface="Nunito"/>
              <a:ea typeface="Nunito"/>
              <a:cs typeface="Nunito"/>
              <a:sym typeface="Nunito"/>
            </a:endParaRPr>
          </a:p>
        </p:txBody>
      </p:sp>
      <p:sp>
        <p:nvSpPr>
          <p:cNvPr id="439" name="Google Shape;439;p4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40" name="Google Shape;440;p41"/>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7:</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Transparency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441" name="Google Shape;441;p41"/>
          <p:cNvSpPr txBox="1"/>
          <p:nvPr/>
        </p:nvSpPr>
        <p:spPr>
          <a:xfrm>
            <a:off x="423400" y="1901575"/>
            <a:ext cx="8531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pilots must understand their plane’s autopilot systems: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How to activate</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How to override</a:t>
            </a:r>
            <a:endParaRPr sz="2000" b="0" i="0" u="none" strike="noStrike" cap="none">
              <a:solidFill>
                <a:schemeClr val="dk1"/>
              </a:solidFill>
              <a:latin typeface="Nunito"/>
              <a:ea typeface="Nunito"/>
              <a:cs typeface="Nunito"/>
              <a:sym typeface="Nunito"/>
            </a:endParaRPr>
          </a:p>
        </p:txBody>
      </p:sp>
      <p:sp>
        <p:nvSpPr>
          <p:cNvPr id="442" name="Google Shape;442;p41"/>
          <p:cNvSpPr txBox="1"/>
          <p:nvPr/>
        </p:nvSpPr>
        <p:spPr>
          <a:xfrm>
            <a:off x="423400" y="3271375"/>
            <a:ext cx="8531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443" name="Google Shape;443;p41"/>
          <p:cNvSpPr txBox="1"/>
          <p:nvPr/>
        </p:nvSpPr>
        <p:spPr>
          <a:xfrm>
            <a:off x="423400" y="3123875"/>
            <a:ext cx="8531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AI model transparency could help operators: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Steer away from hazards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Anticipate deceptive behavior</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Retain control</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6"/>
                                        </p:tgtEl>
                                        <p:attrNameLst>
                                          <p:attrName>style.visibility</p:attrName>
                                        </p:attrNameLst>
                                      </p:cBhvr>
                                      <p:to>
                                        <p:strVal val="visible"/>
                                      </p:to>
                                    </p:set>
                                    <p:animEffect transition="in" filter="fade">
                                      <p:cBhvr>
                                        <p:cTn id="7" dur="300"/>
                                        <p:tgtEl>
                                          <p:spTgt spid="4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1">
                                            <p:txEl>
                                              <p:pRg st="0" end="0"/>
                                            </p:txEl>
                                          </p:spTgt>
                                        </p:tgtEl>
                                        <p:attrNameLst>
                                          <p:attrName>style.visibility</p:attrName>
                                        </p:attrNameLst>
                                      </p:cBhvr>
                                      <p:to>
                                        <p:strVal val="visible"/>
                                      </p:to>
                                    </p:set>
                                    <p:animEffect transition="in" filter="fade">
                                      <p:cBhvr>
                                        <p:cTn id="12" dur="300"/>
                                        <p:tgtEl>
                                          <p:spTgt spid="4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1">
                                            <p:txEl>
                                              <p:pRg st="1" end="1"/>
                                            </p:txEl>
                                          </p:spTgt>
                                        </p:tgtEl>
                                        <p:attrNameLst>
                                          <p:attrName>style.visibility</p:attrName>
                                        </p:attrNameLst>
                                      </p:cBhvr>
                                      <p:to>
                                        <p:strVal val="visible"/>
                                      </p:to>
                                    </p:set>
                                    <p:animEffect transition="in" filter="fade">
                                      <p:cBhvr>
                                        <p:cTn id="17" dur="300"/>
                                        <p:tgtEl>
                                          <p:spTgt spid="44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1">
                                            <p:txEl>
                                              <p:pRg st="2" end="2"/>
                                            </p:txEl>
                                          </p:spTgt>
                                        </p:tgtEl>
                                        <p:attrNameLst>
                                          <p:attrName>style.visibility</p:attrName>
                                        </p:attrNameLst>
                                      </p:cBhvr>
                                      <p:to>
                                        <p:strVal val="visible"/>
                                      </p:to>
                                    </p:set>
                                    <p:animEffect transition="in" filter="fade">
                                      <p:cBhvr>
                                        <p:cTn id="22" dur="300"/>
                                        <p:tgtEl>
                                          <p:spTgt spid="44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3">
                                            <p:txEl>
                                              <p:pRg st="0" end="0"/>
                                            </p:txEl>
                                          </p:spTgt>
                                        </p:tgtEl>
                                        <p:attrNameLst>
                                          <p:attrName>style.visibility</p:attrName>
                                        </p:attrNameLst>
                                      </p:cBhvr>
                                      <p:to>
                                        <p:strVal val="visible"/>
                                      </p:to>
                                    </p:set>
                                    <p:animEffect transition="in" filter="fade">
                                      <p:cBhvr>
                                        <p:cTn id="27" dur="300"/>
                                        <p:tgtEl>
                                          <p:spTgt spid="44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3">
                                            <p:txEl>
                                              <p:pRg st="1" end="1"/>
                                            </p:txEl>
                                          </p:spTgt>
                                        </p:tgtEl>
                                        <p:attrNameLst>
                                          <p:attrName>style.visibility</p:attrName>
                                        </p:attrNameLst>
                                      </p:cBhvr>
                                      <p:to>
                                        <p:strVal val="visible"/>
                                      </p:to>
                                    </p:set>
                                    <p:animEffect transition="in" filter="fade">
                                      <p:cBhvr>
                                        <p:cTn id="32" dur="300"/>
                                        <p:tgtEl>
                                          <p:spTgt spid="44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43">
                                            <p:txEl>
                                              <p:pRg st="2" end="2"/>
                                            </p:txEl>
                                          </p:spTgt>
                                        </p:tgtEl>
                                        <p:attrNameLst>
                                          <p:attrName>style.visibility</p:attrName>
                                        </p:attrNameLst>
                                      </p:cBhvr>
                                      <p:to>
                                        <p:strVal val="visible"/>
                                      </p:to>
                                    </p:set>
                                    <p:animEffect transition="in" filter="fade">
                                      <p:cBhvr>
                                        <p:cTn id="37" dur="300"/>
                                        <p:tgtEl>
                                          <p:spTgt spid="44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3">
                                            <p:txEl>
                                              <p:pRg st="3" end="3"/>
                                            </p:txEl>
                                          </p:spTgt>
                                        </p:tgtEl>
                                        <p:attrNameLst>
                                          <p:attrName>style.visibility</p:attrName>
                                        </p:attrNameLst>
                                      </p:cBhvr>
                                      <p:to>
                                        <p:strVal val="visible"/>
                                      </p:to>
                                    </p:set>
                                    <p:animEffect transition="in" filter="fade">
                                      <p:cBhvr>
                                        <p:cTn id="42" dur="300"/>
                                        <p:tgtEl>
                                          <p:spTgt spid="4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2"/>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Defense in depth</a:t>
            </a:r>
            <a:r>
              <a:rPr lang="en" sz="2000" b="0" i="0" u="none" strike="noStrike" cap="none">
                <a:solidFill>
                  <a:schemeClr val="dk1"/>
                </a:solidFill>
                <a:latin typeface="Nunito"/>
                <a:ea typeface="Nunito"/>
                <a:cs typeface="Nunito"/>
                <a:sym typeface="Nunito"/>
              </a:rPr>
              <a:t>: having many layers makes for more reliable defense.</a:t>
            </a:r>
            <a:endParaRPr sz="2000" b="0" i="0" u="none" strike="noStrike" cap="none">
              <a:solidFill>
                <a:schemeClr val="dk1"/>
              </a:solidFill>
              <a:latin typeface="Nunito"/>
              <a:ea typeface="Nunito"/>
              <a:cs typeface="Nunito"/>
              <a:sym typeface="Nunito"/>
            </a:endParaRPr>
          </a:p>
        </p:txBody>
      </p:sp>
      <p:sp>
        <p:nvSpPr>
          <p:cNvPr id="449" name="Google Shape;449;p4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50" name="Google Shape;450;p4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30</a:t>
            </a:fld>
            <a:endParaRPr sz="1300" b="0" i="0" u="none" strike="noStrike" cap="none">
              <a:solidFill>
                <a:srgbClr val="FFFFFF"/>
              </a:solidFill>
              <a:latin typeface="Nunito"/>
              <a:ea typeface="Nunito"/>
              <a:cs typeface="Nunito"/>
              <a:sym typeface="Nunito"/>
            </a:endParaRPr>
          </a:p>
        </p:txBody>
      </p:sp>
      <p:sp>
        <p:nvSpPr>
          <p:cNvPr id="451" name="Google Shape;451;p4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52" name="Google Shape;452;p42"/>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8:</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Defense in Depth</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453" name="Google Shape;453;p42"/>
          <p:cNvSpPr txBox="1"/>
          <p:nvPr/>
        </p:nvSpPr>
        <p:spPr>
          <a:xfrm>
            <a:off x="423400" y="15375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we can reduce our vulnerability to viruses most by taking multiple measures: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Wearing a mask</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Social distancing</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Hand washing</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454" name="Google Shape;454;p42"/>
          <p:cNvSpPr txBox="1"/>
          <p:nvPr/>
        </p:nvSpPr>
        <p:spPr>
          <a:xfrm>
            <a:off x="423400" y="346695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Note that this introduces the risk of defense layers interacting in unpredicted/undesired ways.</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8"/>
                                        </p:tgtEl>
                                        <p:attrNameLst>
                                          <p:attrName>style.visibility</p:attrName>
                                        </p:attrNameLst>
                                      </p:cBhvr>
                                      <p:to>
                                        <p:strVal val="visible"/>
                                      </p:to>
                                    </p:set>
                                    <p:animEffect transition="in" filter="fade">
                                      <p:cBhvr>
                                        <p:cTn id="7" dur="300"/>
                                        <p:tgtEl>
                                          <p:spTgt spid="4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3">
                                            <p:txEl>
                                              <p:pRg st="0" end="0"/>
                                            </p:txEl>
                                          </p:spTgt>
                                        </p:tgtEl>
                                        <p:attrNameLst>
                                          <p:attrName>style.visibility</p:attrName>
                                        </p:attrNameLst>
                                      </p:cBhvr>
                                      <p:to>
                                        <p:strVal val="visible"/>
                                      </p:to>
                                    </p:set>
                                    <p:animEffect transition="in" filter="fade">
                                      <p:cBhvr>
                                        <p:cTn id="12" dur="300"/>
                                        <p:tgtEl>
                                          <p:spTgt spid="45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3">
                                            <p:txEl>
                                              <p:pRg st="1" end="1"/>
                                            </p:txEl>
                                          </p:spTgt>
                                        </p:tgtEl>
                                        <p:attrNameLst>
                                          <p:attrName>style.visibility</p:attrName>
                                        </p:attrNameLst>
                                      </p:cBhvr>
                                      <p:to>
                                        <p:strVal val="visible"/>
                                      </p:to>
                                    </p:set>
                                    <p:animEffect transition="in" filter="fade">
                                      <p:cBhvr>
                                        <p:cTn id="17" dur="300"/>
                                        <p:tgtEl>
                                          <p:spTgt spid="45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3">
                                            <p:txEl>
                                              <p:pRg st="2" end="2"/>
                                            </p:txEl>
                                          </p:spTgt>
                                        </p:tgtEl>
                                        <p:attrNameLst>
                                          <p:attrName>style.visibility</p:attrName>
                                        </p:attrNameLst>
                                      </p:cBhvr>
                                      <p:to>
                                        <p:strVal val="visible"/>
                                      </p:to>
                                    </p:set>
                                    <p:animEffect transition="in" filter="fade">
                                      <p:cBhvr>
                                        <p:cTn id="22" dur="300"/>
                                        <p:tgtEl>
                                          <p:spTgt spid="45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3">
                                            <p:txEl>
                                              <p:pRg st="3" end="3"/>
                                            </p:txEl>
                                          </p:spTgt>
                                        </p:tgtEl>
                                        <p:attrNameLst>
                                          <p:attrName>style.visibility</p:attrName>
                                        </p:attrNameLst>
                                      </p:cBhvr>
                                      <p:to>
                                        <p:strVal val="visible"/>
                                      </p:to>
                                    </p:set>
                                    <p:animEffect transition="in" filter="fade">
                                      <p:cBhvr>
                                        <p:cTn id="27" dur="300"/>
                                        <p:tgtEl>
                                          <p:spTgt spid="45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53">
                                            <p:txEl>
                                              <p:pRg st="4" end="4"/>
                                            </p:txEl>
                                          </p:spTgt>
                                        </p:tgtEl>
                                        <p:attrNameLst>
                                          <p:attrName>style.visibility</p:attrName>
                                        </p:attrNameLst>
                                      </p:cBhvr>
                                      <p:to>
                                        <p:strVal val="visible"/>
                                      </p:to>
                                    </p:set>
                                    <p:animEffect transition="in" filter="fade">
                                      <p:cBhvr>
                                        <p:cTn id="32" dur="300"/>
                                        <p:tgtEl>
                                          <p:spTgt spid="45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54"/>
                                        </p:tgtEl>
                                        <p:attrNameLst>
                                          <p:attrName>style.visibility</p:attrName>
                                        </p:attrNameLst>
                                      </p:cBhvr>
                                      <p:to>
                                        <p:strVal val="visible"/>
                                      </p:to>
                                    </p:set>
                                    <p:animEffect transition="in" filter="fade">
                                      <p:cBhvr>
                                        <p:cTn id="37" dur="300"/>
                                        <p:tgtEl>
                                          <p:spTgt spid="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43"/>
          <p:cNvSpPr txBox="1">
            <a:spLocks noGrp="1"/>
          </p:cNvSpPr>
          <p:nvPr>
            <p:ph type="title"/>
          </p:nvPr>
        </p:nvSpPr>
        <p:spPr>
          <a:xfrm>
            <a:off x="311700" y="292625"/>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latin typeface="Nunito"/>
                <a:ea typeface="Nunito"/>
                <a:cs typeface="Nunito"/>
                <a:sym typeface="Nunito"/>
              </a:rPr>
              <a:t>Recap: Eight Safe Design Principles</a:t>
            </a:r>
            <a:endParaRPr>
              <a:latin typeface="Nunito"/>
              <a:ea typeface="Nunito"/>
              <a:cs typeface="Nunito"/>
              <a:sym typeface="Nunito"/>
            </a:endParaRPr>
          </a:p>
          <a:p>
            <a:pPr marL="0" lvl="0" indent="0" algn="ctr" rtl="0">
              <a:lnSpc>
                <a:spcPct val="100000"/>
              </a:lnSpc>
              <a:spcBef>
                <a:spcPts val="0"/>
              </a:spcBef>
              <a:spcAft>
                <a:spcPts val="0"/>
              </a:spcAft>
              <a:buSzPts val="3600"/>
              <a:buNone/>
            </a:pPr>
            <a:endParaRPr>
              <a:latin typeface="Nunito"/>
              <a:ea typeface="Nunito"/>
              <a:cs typeface="Nunito"/>
              <a:sym typeface="Nunito"/>
            </a:endParaRPr>
          </a:p>
        </p:txBody>
      </p:sp>
      <p:sp>
        <p:nvSpPr>
          <p:cNvPr id="460" name="Google Shape;460;p4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61" name="Google Shape;461;p4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31</a:t>
            </a:fld>
            <a:endParaRPr sz="1300" b="0" i="0" u="none" strike="noStrike" cap="none">
              <a:solidFill>
                <a:srgbClr val="FFFFFF"/>
              </a:solidFill>
              <a:latin typeface="Nunito"/>
              <a:ea typeface="Nunito"/>
              <a:cs typeface="Nunito"/>
              <a:sym typeface="Nunito"/>
            </a:endParaRPr>
          </a:p>
        </p:txBody>
      </p:sp>
      <p:sp>
        <p:nvSpPr>
          <p:cNvPr id="462" name="Google Shape;462;p4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63" name="Google Shape;463;p43"/>
          <p:cNvSpPr txBox="1">
            <a:spLocks noGrp="1"/>
          </p:cNvSpPr>
          <p:nvPr>
            <p:ph type="body" idx="1"/>
          </p:nvPr>
        </p:nvSpPr>
        <p:spPr>
          <a:xfrm>
            <a:off x="311700" y="1304875"/>
            <a:ext cx="39999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2000">
                <a:solidFill>
                  <a:schemeClr val="dk1"/>
                </a:solidFill>
                <a:latin typeface="Nunito"/>
                <a:ea typeface="Nunito"/>
                <a:cs typeface="Nunito"/>
                <a:sym typeface="Nunito"/>
              </a:rPr>
              <a:t>1. Redundancy</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2. Separation of duties</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3. Principle of least privilege </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4. Fail-safes</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20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endParaRPr>
              <a:latin typeface="Nunito"/>
              <a:ea typeface="Nunito"/>
              <a:cs typeface="Nunito"/>
              <a:sym typeface="Nunito"/>
            </a:endParaRPr>
          </a:p>
        </p:txBody>
      </p:sp>
      <p:sp>
        <p:nvSpPr>
          <p:cNvPr id="464" name="Google Shape;464;p43"/>
          <p:cNvSpPr txBox="1">
            <a:spLocks noGrp="1"/>
          </p:cNvSpPr>
          <p:nvPr>
            <p:ph type="body" idx="2"/>
          </p:nvPr>
        </p:nvSpPr>
        <p:spPr>
          <a:xfrm>
            <a:off x="4832400" y="1304875"/>
            <a:ext cx="39999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2000">
                <a:solidFill>
                  <a:schemeClr val="dk1"/>
                </a:solidFill>
                <a:latin typeface="Nunito"/>
                <a:ea typeface="Nunito"/>
                <a:cs typeface="Nunito"/>
                <a:sym typeface="Nunito"/>
              </a:rPr>
              <a:t>5. Antifragility</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r>
              <a:rPr lang="en" sz="2000">
                <a:solidFill>
                  <a:schemeClr val="dk1"/>
                </a:solidFill>
                <a:latin typeface="Nunito"/>
                <a:ea typeface="Nunito"/>
                <a:cs typeface="Nunito"/>
                <a:sym typeface="Nunito"/>
              </a:rPr>
              <a:t>6. Negative feedback loops</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r>
              <a:rPr lang="en" sz="2000">
                <a:solidFill>
                  <a:schemeClr val="dk1"/>
                </a:solidFill>
                <a:latin typeface="Nunito"/>
                <a:ea typeface="Nunito"/>
                <a:cs typeface="Nunito"/>
                <a:sym typeface="Nunito"/>
              </a:rPr>
              <a:t>7. Transparency</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8. Defense in depth</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endParaRPr>
              <a:latin typeface="Nunito"/>
              <a:ea typeface="Nunito"/>
              <a:cs typeface="Nunito"/>
              <a:sym typeface="Nunito"/>
            </a:endParaRPr>
          </a:p>
        </p:txBody>
      </p:sp>
      <p:sp>
        <p:nvSpPr>
          <p:cNvPr id="465" name="Google Shape;465;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4"/>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471" name="Google Shape;471;p44"/>
          <p:cNvSpPr txBox="1"/>
          <p:nvPr/>
        </p:nvSpPr>
        <p:spPr>
          <a:xfrm>
            <a:off x="36745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1. Risk decomposition and measuring reliability</a:t>
            </a:r>
            <a:endParaRPr sz="2000" b="0" i="1" u="none" strike="noStrike" cap="none">
              <a:solidFill>
                <a:schemeClr val="dk1"/>
              </a:solidFill>
              <a:latin typeface="Nunito"/>
              <a:ea typeface="Nunito"/>
              <a:cs typeface="Nunito"/>
              <a:sym typeface="Nunito"/>
            </a:endParaRPr>
          </a:p>
        </p:txBody>
      </p:sp>
      <p:sp>
        <p:nvSpPr>
          <p:cNvPr id="472" name="Google Shape;472;p4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73" name="Google Shape;473;p4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32</a:t>
            </a:fld>
            <a:endParaRPr sz="1300" b="0" i="0" u="none" strike="noStrike" cap="none">
              <a:solidFill>
                <a:srgbClr val="FFFFFF"/>
              </a:solidFill>
              <a:latin typeface="Nunito"/>
              <a:ea typeface="Nunito"/>
              <a:cs typeface="Nunito"/>
              <a:sym typeface="Nunito"/>
            </a:endParaRPr>
          </a:p>
        </p:txBody>
      </p:sp>
      <p:sp>
        <p:nvSpPr>
          <p:cNvPr id="474" name="Google Shape;474;p4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75" name="Google Shape;475;p44"/>
          <p:cNvSpPr txBox="1"/>
          <p:nvPr/>
        </p:nvSpPr>
        <p:spPr>
          <a:xfrm>
            <a:off x="367450" y="146632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Safe design principles </a:t>
            </a:r>
            <a:endParaRPr sz="2000" b="0" i="0" u="none" strike="noStrike" cap="none">
              <a:solidFill>
                <a:schemeClr val="dk1"/>
              </a:solidFill>
              <a:latin typeface="Nunito"/>
              <a:ea typeface="Nunito"/>
              <a:cs typeface="Nunito"/>
              <a:sym typeface="Nunito"/>
            </a:endParaRPr>
          </a:p>
        </p:txBody>
      </p:sp>
      <p:sp>
        <p:nvSpPr>
          <p:cNvPr id="476" name="Google Shape;476;p44"/>
          <p:cNvSpPr txBox="1"/>
          <p:nvPr/>
        </p:nvSpPr>
        <p:spPr>
          <a:xfrm>
            <a:off x="367450" y="276455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Systemic accident models</a:t>
            </a:r>
            <a:endParaRPr sz="2000" b="0" i="1" u="none" strike="noStrike" cap="none">
              <a:solidFill>
                <a:schemeClr val="dk1"/>
              </a:solidFill>
              <a:latin typeface="Nunito"/>
              <a:ea typeface="Nunito"/>
              <a:cs typeface="Nunito"/>
              <a:sym typeface="Nunito"/>
            </a:endParaRPr>
          </a:p>
        </p:txBody>
      </p:sp>
      <p:sp>
        <p:nvSpPr>
          <p:cNvPr id="477" name="Google Shape;477;p44"/>
          <p:cNvSpPr txBox="1"/>
          <p:nvPr/>
        </p:nvSpPr>
        <p:spPr>
          <a:xfrm>
            <a:off x="367450" y="341367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Tail events </a:t>
            </a:r>
            <a:endParaRPr sz="2000" b="0" i="0" u="none" strike="noStrike" cap="none">
              <a:solidFill>
                <a:schemeClr val="dk1"/>
              </a:solidFill>
              <a:latin typeface="Nunito"/>
              <a:ea typeface="Nunito"/>
              <a:cs typeface="Nunito"/>
              <a:sym typeface="Nunito"/>
            </a:endParaRPr>
          </a:p>
        </p:txBody>
      </p:sp>
      <p:sp>
        <p:nvSpPr>
          <p:cNvPr id="478" name="Google Shape;478;p44"/>
          <p:cNvSpPr txBox="1"/>
          <p:nvPr/>
        </p:nvSpPr>
        <p:spPr>
          <a:xfrm>
            <a:off x="367450" y="211543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Component failure accident models</a:t>
            </a:r>
            <a:endParaRPr sz="2000" b="0" i="0" u="none" strike="noStrike" cap="none">
              <a:solidFill>
                <a:schemeClr val="dk1"/>
              </a:solidFill>
              <a:latin typeface="Nunito"/>
              <a:ea typeface="Nunito"/>
              <a:cs typeface="Nunito"/>
              <a:sym typeface="Nunito"/>
            </a:endParaRPr>
          </a:p>
        </p:txBody>
      </p:sp>
      <p:sp>
        <p:nvSpPr>
          <p:cNvPr id="479" name="Google Shape;479;p44"/>
          <p:cNvSpPr txBox="1"/>
          <p:nvPr/>
        </p:nvSpPr>
        <p:spPr>
          <a:xfrm>
            <a:off x="367450" y="406279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Black swans</a:t>
            </a:r>
            <a:endParaRPr sz="2000" b="0" i="0" u="none" strike="noStrike" cap="none">
              <a:solidFill>
                <a:schemeClr val="dk1"/>
              </a:solidFill>
              <a:latin typeface="Nunito"/>
              <a:ea typeface="Nunito"/>
              <a:cs typeface="Nunito"/>
              <a:sym typeface="Nunito"/>
            </a:endParaRPr>
          </a:p>
        </p:txBody>
      </p:sp>
      <p:sp>
        <p:nvSpPr>
          <p:cNvPr id="480" name="Google Shape;480;p44"/>
          <p:cNvSpPr/>
          <p:nvPr/>
        </p:nvSpPr>
        <p:spPr>
          <a:xfrm>
            <a:off x="367450" y="2058765"/>
            <a:ext cx="8279700" cy="13548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0"/>
                                        </p:tgtEl>
                                        <p:attrNameLst>
                                          <p:attrName>style.visibility</p:attrName>
                                        </p:attrNameLst>
                                      </p:cBhvr>
                                      <p:to>
                                        <p:strVal val="visible"/>
                                      </p:to>
                                    </p:set>
                                    <p:animEffect transition="in" filter="fade">
                                      <p:cBhvr>
                                        <p:cTn id="7" dur="1"/>
                                        <p:tgtEl>
                                          <p:spTgt spid="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5"/>
          <p:cNvSpPr txBox="1">
            <a:spLocks noGrp="1"/>
          </p:cNvSpPr>
          <p:nvPr>
            <p:ph type="title"/>
          </p:nvPr>
        </p:nvSpPr>
        <p:spPr>
          <a:xfrm>
            <a:off x="423450" y="16942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Component Failure Accident Models</a:t>
            </a:r>
            <a:endParaRPr sz="3600">
              <a:latin typeface="Nunito"/>
              <a:ea typeface="Nunito"/>
              <a:cs typeface="Nunito"/>
              <a:sym typeface="Nunito"/>
            </a:endParaRPr>
          </a:p>
        </p:txBody>
      </p:sp>
      <p:sp>
        <p:nvSpPr>
          <p:cNvPr id="486" name="Google Shape;486;p4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87" name="Google Shape;487;p4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33</a:t>
            </a:fld>
            <a:endParaRPr sz="1300" b="0" i="0" u="none" strike="noStrike" cap="none">
              <a:solidFill>
                <a:srgbClr val="FFFFFF"/>
              </a:solidFill>
              <a:latin typeface="Nunito"/>
              <a:ea typeface="Nunito"/>
              <a:cs typeface="Nunito"/>
              <a:sym typeface="Nunito"/>
            </a:endParaRPr>
          </a:p>
        </p:txBody>
      </p:sp>
      <p:sp>
        <p:nvSpPr>
          <p:cNvPr id="488" name="Google Shape;488;p4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89" name="Google Shape;489;p45"/>
          <p:cNvSpPr txBox="1"/>
          <p:nvPr/>
        </p:nvSpPr>
        <p:spPr>
          <a:xfrm>
            <a:off x="367675" y="30062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1" u="none" strike="noStrike" cap="none">
                <a:solidFill>
                  <a:schemeClr val="dk1"/>
                </a:solidFill>
                <a:latin typeface="Nunito"/>
                <a:ea typeface="Nunito"/>
                <a:cs typeface="Nunito"/>
                <a:sym typeface="Nunito"/>
              </a:rPr>
              <a:t>Traditional risk analysis </a:t>
            </a:r>
            <a:r>
              <a:rPr lang="en" sz="2000" i="1">
                <a:solidFill>
                  <a:schemeClr val="dk1"/>
                </a:solidFill>
                <a:latin typeface="Nunito"/>
                <a:ea typeface="Nunito"/>
                <a:cs typeface="Nunito"/>
                <a:sym typeface="Nunito"/>
              </a:rPr>
              <a:t>concepts</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9"/>
                                        </p:tgtEl>
                                        <p:attrNameLst>
                                          <p:attrName>style.visibility</p:attrName>
                                        </p:attrNameLst>
                                      </p:cBhvr>
                                      <p:to>
                                        <p:strVal val="visible"/>
                                      </p:to>
                                    </p:set>
                                    <p:animEffect transition="in" filter="fade">
                                      <p:cBhvr>
                                        <p:cTn id="7" dur="300"/>
                                        <p:tgtEl>
                                          <p:spTgt spid="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6"/>
          <p:cNvSpPr txBox="1">
            <a:spLocks noGrp="1"/>
          </p:cNvSpPr>
          <p:nvPr>
            <p:ph type="title"/>
          </p:nvPr>
        </p:nvSpPr>
        <p:spPr>
          <a:xfrm>
            <a:off x="423400" y="6402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Swiss Cheese Model</a:t>
            </a:r>
            <a:endParaRPr/>
          </a:p>
        </p:txBody>
      </p:sp>
      <p:sp>
        <p:nvSpPr>
          <p:cNvPr id="495" name="Google Shape;495;p46"/>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Identify and analy</a:t>
            </a:r>
            <a:r>
              <a:rPr lang="en" sz="2000">
                <a:solidFill>
                  <a:schemeClr val="dk1"/>
                </a:solidFill>
                <a:latin typeface="Nunito"/>
                <a:ea typeface="Nunito"/>
                <a:cs typeface="Nunito"/>
                <a:sym typeface="Nunito"/>
              </a:rPr>
              <a:t>z</a:t>
            </a:r>
            <a:r>
              <a:rPr lang="en" sz="2000" b="0" i="0" u="none" strike="noStrike" cap="none">
                <a:solidFill>
                  <a:schemeClr val="dk1"/>
                </a:solidFill>
                <a:latin typeface="Nunito"/>
                <a:ea typeface="Nunito"/>
                <a:cs typeface="Nunito"/>
                <a:sym typeface="Nunito"/>
              </a:rPr>
              <a:t>e pathways to accidents.</a:t>
            </a:r>
            <a:endParaRPr sz="2000" b="0" i="0" u="none" strike="noStrike" cap="none">
              <a:solidFill>
                <a:schemeClr val="dk1"/>
              </a:solidFill>
              <a:latin typeface="Nunito"/>
              <a:ea typeface="Nunito"/>
              <a:cs typeface="Nunito"/>
              <a:sym typeface="Nunito"/>
            </a:endParaRPr>
          </a:p>
        </p:txBody>
      </p:sp>
      <p:sp>
        <p:nvSpPr>
          <p:cNvPr id="496" name="Google Shape;496;p4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97" name="Google Shape;497;p4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34</a:t>
            </a:fld>
            <a:endParaRPr sz="1300" b="0" i="0" u="none" strike="noStrike" cap="none">
              <a:solidFill>
                <a:srgbClr val="FFFFFF"/>
              </a:solidFill>
              <a:latin typeface="Nunito"/>
              <a:ea typeface="Nunito"/>
              <a:cs typeface="Nunito"/>
              <a:sym typeface="Nunito"/>
            </a:endParaRPr>
          </a:p>
        </p:txBody>
      </p:sp>
      <p:sp>
        <p:nvSpPr>
          <p:cNvPr id="498" name="Google Shape;498;p4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499" name="Google Shape;499;p46"/>
          <p:cNvPicPr preferRelativeResize="0"/>
          <p:nvPr/>
        </p:nvPicPr>
        <p:blipFill rotWithShape="1">
          <a:blip r:embed="rId3">
            <a:alphaModFix/>
          </a:blip>
          <a:srcRect t="20217"/>
          <a:stretch/>
        </p:blipFill>
        <p:spPr>
          <a:xfrm>
            <a:off x="1102425" y="2441250"/>
            <a:ext cx="7474099" cy="2178876"/>
          </a:xfrm>
          <a:prstGeom prst="rect">
            <a:avLst/>
          </a:prstGeom>
          <a:noFill/>
          <a:ln>
            <a:noFill/>
          </a:ln>
        </p:spPr>
      </p:pic>
      <p:sp>
        <p:nvSpPr>
          <p:cNvPr id="500" name="Google Shape;500;p46"/>
          <p:cNvSpPr txBox="1"/>
          <p:nvPr/>
        </p:nvSpPr>
        <p:spPr>
          <a:xfrm>
            <a:off x="423400" y="139748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infectious disease</a:t>
            </a:r>
            <a:endParaRPr sz="2000" b="0" i="0" u="none" strike="noStrike" cap="none">
              <a:solidFill>
                <a:schemeClr val="dk1"/>
              </a:solidFill>
              <a:latin typeface="Nunito"/>
              <a:ea typeface="Nunito"/>
              <a:cs typeface="Nunito"/>
              <a:sym typeface="Nunito"/>
            </a:endParaRPr>
          </a:p>
        </p:txBody>
      </p:sp>
      <p:sp>
        <p:nvSpPr>
          <p:cNvPr id="501" name="Google Shape;501;p46"/>
          <p:cNvSpPr txBox="1"/>
          <p:nvPr/>
        </p:nvSpPr>
        <p:spPr>
          <a:xfrm rot="878137">
            <a:off x="1106679" y="229383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Get vaccinated</a:t>
            </a:r>
            <a:endParaRPr sz="2000" b="0" i="0" u="none" strike="noStrike" cap="none">
              <a:solidFill>
                <a:schemeClr val="dk1"/>
              </a:solidFill>
              <a:latin typeface="Nunito"/>
              <a:ea typeface="Nunito"/>
              <a:cs typeface="Nunito"/>
              <a:sym typeface="Nunito"/>
            </a:endParaRPr>
          </a:p>
        </p:txBody>
      </p:sp>
      <p:sp>
        <p:nvSpPr>
          <p:cNvPr id="502" name="Google Shape;502;p46"/>
          <p:cNvSpPr txBox="1"/>
          <p:nvPr/>
        </p:nvSpPr>
        <p:spPr>
          <a:xfrm rot="878137">
            <a:off x="2531354" y="229383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Wash hands</a:t>
            </a:r>
            <a:endParaRPr sz="2000" b="0" i="0" u="none" strike="noStrike" cap="none">
              <a:solidFill>
                <a:schemeClr val="dk1"/>
              </a:solidFill>
              <a:latin typeface="Nunito"/>
              <a:ea typeface="Nunito"/>
              <a:cs typeface="Nunito"/>
              <a:sym typeface="Nunito"/>
            </a:endParaRPr>
          </a:p>
        </p:txBody>
      </p:sp>
      <p:sp>
        <p:nvSpPr>
          <p:cNvPr id="503" name="Google Shape;503;p46"/>
          <p:cNvSpPr txBox="1"/>
          <p:nvPr/>
        </p:nvSpPr>
        <p:spPr>
          <a:xfrm rot="878122">
            <a:off x="3797406" y="2266084"/>
            <a:ext cx="2344987"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Access healthcare</a:t>
            </a:r>
            <a:endParaRPr sz="2000" b="0" i="0" u="none" strike="noStrike" cap="none">
              <a:solidFill>
                <a:schemeClr val="dk1"/>
              </a:solidFill>
              <a:latin typeface="Nunito"/>
              <a:ea typeface="Nunito"/>
              <a:cs typeface="Nunito"/>
              <a:sym typeface="Nunito"/>
            </a:endParaRPr>
          </a:p>
        </p:txBody>
      </p:sp>
      <p:sp>
        <p:nvSpPr>
          <p:cNvPr id="504" name="Google Shape;504;p46"/>
          <p:cNvSpPr txBox="1"/>
          <p:nvPr/>
        </p:nvSpPr>
        <p:spPr>
          <a:xfrm rot="878137">
            <a:off x="5675604" y="229383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Social distance</a:t>
            </a:r>
            <a:endParaRPr sz="2000" b="0" i="0" u="none" strike="noStrike" cap="none">
              <a:solidFill>
                <a:schemeClr val="dk1"/>
              </a:solidFill>
              <a:latin typeface="Nunito"/>
              <a:ea typeface="Nunito"/>
              <a:cs typeface="Nunito"/>
              <a:sym typeface="Nunito"/>
            </a:endParaRPr>
          </a:p>
        </p:txBody>
      </p:sp>
      <p:sp>
        <p:nvSpPr>
          <p:cNvPr id="505" name="Google Shape;505;p46"/>
          <p:cNvSpPr txBox="1"/>
          <p:nvPr/>
        </p:nvSpPr>
        <p:spPr>
          <a:xfrm rot="878001">
            <a:off x="7174432" y="2309732"/>
            <a:ext cx="2087617"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Healthy lifestyle</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5"/>
                                        </p:tgtEl>
                                        <p:attrNameLst>
                                          <p:attrName>style.visibility</p:attrName>
                                        </p:attrNameLst>
                                      </p:cBhvr>
                                      <p:to>
                                        <p:strVal val="visible"/>
                                      </p:to>
                                    </p:set>
                                    <p:animEffect transition="in" filter="fade">
                                      <p:cBhvr>
                                        <p:cTn id="7" dur="300"/>
                                        <p:tgtEl>
                                          <p:spTgt spid="495"/>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499"/>
                                        </p:tgtEl>
                                        <p:attrNameLst>
                                          <p:attrName>style.visibility</p:attrName>
                                        </p:attrNameLst>
                                      </p:cBhvr>
                                      <p:to>
                                        <p:strVal val="visible"/>
                                      </p:to>
                                    </p:set>
                                    <p:animEffect transition="in" filter="fade">
                                      <p:cBhvr>
                                        <p:cTn id="11" dur="300"/>
                                        <p:tgtEl>
                                          <p:spTgt spid="49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00"/>
                                        </p:tgtEl>
                                        <p:attrNameLst>
                                          <p:attrName>style.visibility</p:attrName>
                                        </p:attrNameLst>
                                      </p:cBhvr>
                                      <p:to>
                                        <p:strVal val="visible"/>
                                      </p:to>
                                    </p:set>
                                    <p:animEffect transition="in" filter="fade">
                                      <p:cBhvr>
                                        <p:cTn id="16" dur="300"/>
                                        <p:tgtEl>
                                          <p:spTgt spid="50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01"/>
                                        </p:tgtEl>
                                        <p:attrNameLst>
                                          <p:attrName>style.visibility</p:attrName>
                                        </p:attrNameLst>
                                      </p:cBhvr>
                                      <p:to>
                                        <p:strVal val="visible"/>
                                      </p:to>
                                    </p:set>
                                    <p:animEffect transition="in" filter="fade">
                                      <p:cBhvr>
                                        <p:cTn id="21" dur="300"/>
                                        <p:tgtEl>
                                          <p:spTgt spid="501"/>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502"/>
                                        </p:tgtEl>
                                        <p:attrNameLst>
                                          <p:attrName>style.visibility</p:attrName>
                                        </p:attrNameLst>
                                      </p:cBhvr>
                                      <p:to>
                                        <p:strVal val="visible"/>
                                      </p:to>
                                    </p:set>
                                    <p:animEffect transition="in" filter="fade">
                                      <p:cBhvr>
                                        <p:cTn id="25" dur="300"/>
                                        <p:tgtEl>
                                          <p:spTgt spid="502"/>
                                        </p:tgtEl>
                                      </p:cBhvr>
                                    </p:animEffect>
                                  </p:childTnLst>
                                </p:cTn>
                              </p:par>
                            </p:childTnLst>
                          </p:cTn>
                        </p:par>
                        <p:par>
                          <p:cTn id="26" fill="hold">
                            <p:stCondLst>
                              <p:cond delay="600"/>
                            </p:stCondLst>
                            <p:childTnLst>
                              <p:par>
                                <p:cTn id="27" presetID="10" presetClass="entr" presetSubtype="0" fill="hold" nodeType="afterEffect">
                                  <p:stCondLst>
                                    <p:cond delay="0"/>
                                  </p:stCondLst>
                                  <p:childTnLst>
                                    <p:set>
                                      <p:cBhvr>
                                        <p:cTn id="28" dur="1" fill="hold">
                                          <p:stCondLst>
                                            <p:cond delay="0"/>
                                          </p:stCondLst>
                                        </p:cTn>
                                        <p:tgtEl>
                                          <p:spTgt spid="503"/>
                                        </p:tgtEl>
                                        <p:attrNameLst>
                                          <p:attrName>style.visibility</p:attrName>
                                        </p:attrNameLst>
                                      </p:cBhvr>
                                      <p:to>
                                        <p:strVal val="visible"/>
                                      </p:to>
                                    </p:set>
                                    <p:animEffect transition="in" filter="fade">
                                      <p:cBhvr>
                                        <p:cTn id="29" dur="300"/>
                                        <p:tgtEl>
                                          <p:spTgt spid="503"/>
                                        </p:tgtEl>
                                      </p:cBhvr>
                                    </p:animEffect>
                                  </p:childTnLst>
                                </p:cTn>
                              </p:par>
                            </p:childTnLst>
                          </p:cTn>
                        </p:par>
                        <p:par>
                          <p:cTn id="30" fill="hold">
                            <p:stCondLst>
                              <p:cond delay="900"/>
                            </p:stCondLst>
                            <p:childTnLst>
                              <p:par>
                                <p:cTn id="31" presetID="10" presetClass="entr" presetSubtype="0" fill="hold" nodeType="afterEffect">
                                  <p:stCondLst>
                                    <p:cond delay="0"/>
                                  </p:stCondLst>
                                  <p:childTnLst>
                                    <p:set>
                                      <p:cBhvr>
                                        <p:cTn id="32" dur="1" fill="hold">
                                          <p:stCondLst>
                                            <p:cond delay="0"/>
                                          </p:stCondLst>
                                        </p:cTn>
                                        <p:tgtEl>
                                          <p:spTgt spid="504"/>
                                        </p:tgtEl>
                                        <p:attrNameLst>
                                          <p:attrName>style.visibility</p:attrName>
                                        </p:attrNameLst>
                                      </p:cBhvr>
                                      <p:to>
                                        <p:strVal val="visible"/>
                                      </p:to>
                                    </p:set>
                                    <p:animEffect transition="in" filter="fade">
                                      <p:cBhvr>
                                        <p:cTn id="33" dur="300"/>
                                        <p:tgtEl>
                                          <p:spTgt spid="504"/>
                                        </p:tgtEl>
                                      </p:cBhvr>
                                    </p:animEffect>
                                  </p:childTnLst>
                                </p:cTn>
                              </p:par>
                            </p:childTnLst>
                          </p:cTn>
                        </p:par>
                        <p:par>
                          <p:cTn id="34" fill="hold">
                            <p:stCondLst>
                              <p:cond delay="1200"/>
                            </p:stCondLst>
                            <p:childTnLst>
                              <p:par>
                                <p:cTn id="35" presetID="10" presetClass="entr" presetSubtype="0" fill="hold" nodeType="afterEffect">
                                  <p:stCondLst>
                                    <p:cond delay="0"/>
                                  </p:stCondLst>
                                  <p:childTnLst>
                                    <p:set>
                                      <p:cBhvr>
                                        <p:cTn id="36" dur="1" fill="hold">
                                          <p:stCondLst>
                                            <p:cond delay="0"/>
                                          </p:stCondLst>
                                        </p:cTn>
                                        <p:tgtEl>
                                          <p:spTgt spid="505"/>
                                        </p:tgtEl>
                                        <p:attrNameLst>
                                          <p:attrName>style.visibility</p:attrName>
                                        </p:attrNameLst>
                                      </p:cBhvr>
                                      <p:to>
                                        <p:strVal val="visible"/>
                                      </p:to>
                                    </p:set>
                                    <p:animEffect transition="in" filter="fade">
                                      <p:cBhvr>
                                        <p:cTn id="37" dur="300"/>
                                        <p:tgtEl>
                                          <p:spTgt spid="50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300"/>
                                        <p:tgtEl>
                                          <p:spTgt spid="505"/>
                                        </p:tgtEl>
                                      </p:cBhvr>
                                    </p:animEffect>
                                    <p:set>
                                      <p:cBhvr>
                                        <p:cTn id="42" dur="1" fill="hold">
                                          <p:stCondLst>
                                            <p:cond delay="300"/>
                                          </p:stCondLst>
                                        </p:cTn>
                                        <p:tgtEl>
                                          <p:spTgt spid="505"/>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300"/>
                                        <p:tgtEl>
                                          <p:spTgt spid="501"/>
                                        </p:tgtEl>
                                      </p:cBhvr>
                                    </p:animEffect>
                                    <p:set>
                                      <p:cBhvr>
                                        <p:cTn id="45" dur="1" fill="hold">
                                          <p:stCondLst>
                                            <p:cond delay="300"/>
                                          </p:stCondLst>
                                        </p:cTn>
                                        <p:tgtEl>
                                          <p:spTgt spid="501"/>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300"/>
                                        <p:tgtEl>
                                          <p:spTgt spid="502"/>
                                        </p:tgtEl>
                                      </p:cBhvr>
                                    </p:animEffect>
                                    <p:set>
                                      <p:cBhvr>
                                        <p:cTn id="48" dur="1" fill="hold">
                                          <p:stCondLst>
                                            <p:cond delay="300"/>
                                          </p:stCondLst>
                                        </p:cTn>
                                        <p:tgtEl>
                                          <p:spTgt spid="502"/>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300"/>
                                        <p:tgtEl>
                                          <p:spTgt spid="503"/>
                                        </p:tgtEl>
                                      </p:cBhvr>
                                    </p:animEffect>
                                    <p:set>
                                      <p:cBhvr>
                                        <p:cTn id="51" dur="1" fill="hold">
                                          <p:stCondLst>
                                            <p:cond delay="300"/>
                                          </p:stCondLst>
                                        </p:cTn>
                                        <p:tgtEl>
                                          <p:spTgt spid="503"/>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300"/>
                                        <p:tgtEl>
                                          <p:spTgt spid="504"/>
                                        </p:tgtEl>
                                      </p:cBhvr>
                                    </p:animEffect>
                                    <p:set>
                                      <p:cBhvr>
                                        <p:cTn id="54" dur="1" fill="hold">
                                          <p:stCondLst>
                                            <p:cond delay="300"/>
                                          </p:stCondLst>
                                        </p:cTn>
                                        <p:tgtEl>
                                          <p:spTgt spid="504"/>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300"/>
                                        <p:tgtEl>
                                          <p:spTgt spid="500"/>
                                        </p:tgtEl>
                                      </p:cBhvr>
                                    </p:animEffect>
                                    <p:set>
                                      <p:cBhvr>
                                        <p:cTn id="57" dur="1" fill="hold">
                                          <p:stCondLst>
                                            <p:cond delay="300"/>
                                          </p:stCondLst>
                                        </p:cTn>
                                        <p:tgtEl>
                                          <p:spTgt spid="5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7"/>
          <p:cNvSpPr txBox="1">
            <a:spLocks noGrp="1"/>
          </p:cNvSpPr>
          <p:nvPr>
            <p:ph type="title"/>
          </p:nvPr>
        </p:nvSpPr>
        <p:spPr>
          <a:xfrm>
            <a:off x="423400" y="6402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Swiss Cheese Model</a:t>
            </a:r>
            <a:endParaRPr/>
          </a:p>
        </p:txBody>
      </p:sp>
      <p:sp>
        <p:nvSpPr>
          <p:cNvPr id="511" name="Google Shape;511;p47"/>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Identify and analy</a:t>
            </a:r>
            <a:r>
              <a:rPr lang="en" sz="2000">
                <a:solidFill>
                  <a:schemeClr val="dk1"/>
                </a:solidFill>
                <a:latin typeface="Nunito"/>
                <a:ea typeface="Nunito"/>
                <a:cs typeface="Nunito"/>
                <a:sym typeface="Nunito"/>
              </a:rPr>
              <a:t>z</a:t>
            </a:r>
            <a:r>
              <a:rPr lang="en" sz="2000" b="0" i="0" u="none" strike="noStrike" cap="none">
                <a:solidFill>
                  <a:schemeClr val="dk1"/>
                </a:solidFill>
                <a:latin typeface="Nunito"/>
                <a:ea typeface="Nunito"/>
                <a:cs typeface="Nunito"/>
                <a:sym typeface="Nunito"/>
              </a:rPr>
              <a:t>e pathways to accidents.</a:t>
            </a:r>
            <a:endParaRPr sz="2000" b="0" i="0" u="none" strike="noStrike" cap="none">
              <a:solidFill>
                <a:schemeClr val="dk1"/>
              </a:solidFill>
              <a:latin typeface="Nunito"/>
              <a:ea typeface="Nunito"/>
              <a:cs typeface="Nunito"/>
              <a:sym typeface="Nunito"/>
            </a:endParaRPr>
          </a:p>
        </p:txBody>
      </p:sp>
      <p:sp>
        <p:nvSpPr>
          <p:cNvPr id="512" name="Google Shape;512;p4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13" name="Google Shape;513;p4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35</a:t>
            </a:fld>
            <a:endParaRPr sz="1300" b="0" i="0" u="none" strike="noStrike" cap="none">
              <a:solidFill>
                <a:srgbClr val="FFFFFF"/>
              </a:solidFill>
              <a:latin typeface="Nunito"/>
              <a:ea typeface="Nunito"/>
              <a:cs typeface="Nunito"/>
              <a:sym typeface="Nunito"/>
            </a:endParaRPr>
          </a:p>
        </p:txBody>
      </p:sp>
      <p:sp>
        <p:nvSpPr>
          <p:cNvPr id="514" name="Google Shape;514;p4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515" name="Google Shape;515;p47"/>
          <p:cNvPicPr preferRelativeResize="0"/>
          <p:nvPr/>
        </p:nvPicPr>
        <p:blipFill rotWithShape="1">
          <a:blip r:embed="rId3">
            <a:alphaModFix/>
          </a:blip>
          <a:srcRect t="20217"/>
          <a:stretch/>
        </p:blipFill>
        <p:spPr>
          <a:xfrm>
            <a:off x="1102425" y="2441250"/>
            <a:ext cx="7474099" cy="2178876"/>
          </a:xfrm>
          <a:prstGeom prst="rect">
            <a:avLst/>
          </a:prstGeom>
          <a:noFill/>
          <a:ln>
            <a:noFill/>
          </a:ln>
        </p:spPr>
      </p:pic>
      <p:sp>
        <p:nvSpPr>
          <p:cNvPr id="516" name="Google Shape;516;p47"/>
          <p:cNvSpPr txBox="1"/>
          <p:nvPr/>
        </p:nvSpPr>
        <p:spPr>
          <a:xfrm rot="878137">
            <a:off x="1132704" y="222968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Safety culture</a:t>
            </a:r>
            <a:endParaRPr sz="2000" b="0" i="0" u="none" strike="noStrike" cap="none">
              <a:solidFill>
                <a:schemeClr val="dk1"/>
              </a:solidFill>
              <a:latin typeface="Nunito"/>
              <a:ea typeface="Nunito"/>
              <a:cs typeface="Nunito"/>
              <a:sym typeface="Nunito"/>
            </a:endParaRPr>
          </a:p>
        </p:txBody>
      </p:sp>
      <p:sp>
        <p:nvSpPr>
          <p:cNvPr id="517" name="Google Shape;517;p47"/>
          <p:cNvSpPr txBox="1"/>
          <p:nvPr/>
        </p:nvSpPr>
        <p:spPr>
          <a:xfrm rot="878137">
            <a:off x="2706979" y="229383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Red teaming</a:t>
            </a:r>
            <a:endParaRPr sz="2000" b="0" i="0" u="none" strike="noStrike" cap="none">
              <a:solidFill>
                <a:schemeClr val="dk1"/>
              </a:solidFill>
              <a:latin typeface="Nunito"/>
              <a:ea typeface="Nunito"/>
              <a:cs typeface="Nunito"/>
              <a:sym typeface="Nunito"/>
            </a:endParaRPr>
          </a:p>
        </p:txBody>
      </p:sp>
      <p:sp>
        <p:nvSpPr>
          <p:cNvPr id="518" name="Google Shape;518;p47"/>
          <p:cNvSpPr txBox="1"/>
          <p:nvPr/>
        </p:nvSpPr>
        <p:spPr>
          <a:xfrm rot="878122">
            <a:off x="4089181" y="2293834"/>
            <a:ext cx="2344987"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Cyberdefense</a:t>
            </a:r>
            <a:endParaRPr sz="2000" b="0" i="0" u="none" strike="noStrike" cap="none">
              <a:solidFill>
                <a:schemeClr val="dk1"/>
              </a:solidFill>
              <a:latin typeface="Nunito"/>
              <a:ea typeface="Nunito"/>
              <a:cs typeface="Nunito"/>
              <a:sym typeface="Nunito"/>
            </a:endParaRPr>
          </a:p>
        </p:txBody>
      </p:sp>
      <p:sp>
        <p:nvSpPr>
          <p:cNvPr id="519" name="Google Shape;519;p47"/>
          <p:cNvSpPr txBox="1"/>
          <p:nvPr/>
        </p:nvSpPr>
        <p:spPr>
          <a:xfrm rot="877800">
            <a:off x="5199212" y="2229678"/>
            <a:ext cx="2457479"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Anomaly detection</a:t>
            </a:r>
            <a:endParaRPr sz="2000" b="0" i="0" u="none" strike="noStrike" cap="none">
              <a:solidFill>
                <a:schemeClr val="dk1"/>
              </a:solidFill>
              <a:latin typeface="Nunito"/>
              <a:ea typeface="Nunito"/>
              <a:cs typeface="Nunito"/>
              <a:sym typeface="Nunito"/>
            </a:endParaRPr>
          </a:p>
        </p:txBody>
      </p:sp>
      <p:sp>
        <p:nvSpPr>
          <p:cNvPr id="520" name="Google Shape;520;p47"/>
          <p:cNvSpPr txBox="1"/>
          <p:nvPr/>
        </p:nvSpPr>
        <p:spPr>
          <a:xfrm rot="878001">
            <a:off x="7315207" y="2293832"/>
            <a:ext cx="2087617"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Transparency</a:t>
            </a:r>
            <a:endParaRPr sz="2000" b="0" i="0" u="none" strike="noStrike" cap="none">
              <a:solidFill>
                <a:schemeClr val="dk1"/>
              </a:solidFill>
              <a:latin typeface="Nunito"/>
              <a:ea typeface="Nunito"/>
              <a:cs typeface="Nunito"/>
              <a:sym typeface="Nunito"/>
            </a:endParaRPr>
          </a:p>
        </p:txBody>
      </p:sp>
      <p:sp>
        <p:nvSpPr>
          <p:cNvPr id="521" name="Google Shape;521;p47"/>
          <p:cNvSpPr txBox="1"/>
          <p:nvPr/>
        </p:nvSpPr>
        <p:spPr>
          <a:xfrm>
            <a:off x="423400" y="1435600"/>
            <a:ext cx="2675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AI safety</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6"/>
                                        </p:tgtEl>
                                        <p:attrNameLst>
                                          <p:attrName>style.visibility</p:attrName>
                                        </p:attrNameLst>
                                      </p:cBhvr>
                                      <p:to>
                                        <p:strVal val="visible"/>
                                      </p:to>
                                    </p:set>
                                    <p:animEffect transition="in" filter="fade">
                                      <p:cBhvr>
                                        <p:cTn id="7" dur="300"/>
                                        <p:tgtEl>
                                          <p:spTgt spid="516"/>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517"/>
                                        </p:tgtEl>
                                        <p:attrNameLst>
                                          <p:attrName>style.visibility</p:attrName>
                                        </p:attrNameLst>
                                      </p:cBhvr>
                                      <p:to>
                                        <p:strVal val="visible"/>
                                      </p:to>
                                    </p:set>
                                    <p:animEffect transition="in" filter="fade">
                                      <p:cBhvr>
                                        <p:cTn id="11" dur="300"/>
                                        <p:tgtEl>
                                          <p:spTgt spid="517"/>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518"/>
                                        </p:tgtEl>
                                        <p:attrNameLst>
                                          <p:attrName>style.visibility</p:attrName>
                                        </p:attrNameLst>
                                      </p:cBhvr>
                                      <p:to>
                                        <p:strVal val="visible"/>
                                      </p:to>
                                    </p:set>
                                    <p:animEffect transition="in" filter="fade">
                                      <p:cBhvr>
                                        <p:cTn id="15" dur="300"/>
                                        <p:tgtEl>
                                          <p:spTgt spid="518"/>
                                        </p:tgtEl>
                                      </p:cBhvr>
                                    </p:animEffect>
                                  </p:childTnLst>
                                </p:cTn>
                              </p:par>
                            </p:childTnLst>
                          </p:cTn>
                        </p:par>
                        <p:par>
                          <p:cTn id="16" fill="hold">
                            <p:stCondLst>
                              <p:cond delay="900"/>
                            </p:stCondLst>
                            <p:childTnLst>
                              <p:par>
                                <p:cTn id="17" presetID="10" presetClass="entr" presetSubtype="0" fill="hold" nodeType="afterEffect">
                                  <p:stCondLst>
                                    <p:cond delay="0"/>
                                  </p:stCondLst>
                                  <p:childTnLst>
                                    <p:set>
                                      <p:cBhvr>
                                        <p:cTn id="18" dur="1" fill="hold">
                                          <p:stCondLst>
                                            <p:cond delay="0"/>
                                          </p:stCondLst>
                                        </p:cTn>
                                        <p:tgtEl>
                                          <p:spTgt spid="519"/>
                                        </p:tgtEl>
                                        <p:attrNameLst>
                                          <p:attrName>style.visibility</p:attrName>
                                        </p:attrNameLst>
                                      </p:cBhvr>
                                      <p:to>
                                        <p:strVal val="visible"/>
                                      </p:to>
                                    </p:set>
                                    <p:animEffect transition="in" filter="fade">
                                      <p:cBhvr>
                                        <p:cTn id="19" dur="300"/>
                                        <p:tgtEl>
                                          <p:spTgt spid="519"/>
                                        </p:tgtEl>
                                      </p:cBhvr>
                                    </p:animEffect>
                                  </p:childTnLst>
                                </p:cTn>
                              </p:par>
                            </p:childTnLst>
                          </p:cTn>
                        </p:par>
                        <p:par>
                          <p:cTn id="20" fill="hold">
                            <p:stCondLst>
                              <p:cond delay="1200"/>
                            </p:stCondLst>
                            <p:childTnLst>
                              <p:par>
                                <p:cTn id="21" presetID="10" presetClass="entr" presetSubtype="0" fill="hold" nodeType="afterEffect">
                                  <p:stCondLst>
                                    <p:cond delay="0"/>
                                  </p:stCondLst>
                                  <p:childTnLst>
                                    <p:set>
                                      <p:cBhvr>
                                        <p:cTn id="22" dur="1" fill="hold">
                                          <p:stCondLst>
                                            <p:cond delay="0"/>
                                          </p:stCondLst>
                                        </p:cTn>
                                        <p:tgtEl>
                                          <p:spTgt spid="520"/>
                                        </p:tgtEl>
                                        <p:attrNameLst>
                                          <p:attrName>style.visibility</p:attrName>
                                        </p:attrNameLst>
                                      </p:cBhvr>
                                      <p:to>
                                        <p:strVal val="visible"/>
                                      </p:to>
                                    </p:set>
                                    <p:animEffect transition="in" filter="fade">
                                      <p:cBhvr>
                                        <p:cTn id="23" dur="300"/>
                                        <p:tgtEl>
                                          <p:spTgt spid="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grpSp>
        <p:nvGrpSpPr>
          <p:cNvPr id="526" name="Google Shape;526;p48"/>
          <p:cNvGrpSpPr/>
          <p:nvPr/>
        </p:nvGrpSpPr>
        <p:grpSpPr>
          <a:xfrm>
            <a:off x="6937300" y="1776150"/>
            <a:ext cx="1895100" cy="2055900"/>
            <a:chOff x="6006775" y="856575"/>
            <a:chExt cx="1895100" cy="2055900"/>
          </a:xfrm>
        </p:grpSpPr>
        <p:sp>
          <p:nvSpPr>
            <p:cNvPr id="527" name="Google Shape;527;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48"/>
            <p:cNvSpPr/>
            <p:nvPr/>
          </p:nvSpPr>
          <p:spPr>
            <a:xfrm>
              <a:off x="7220450" y="2249750"/>
              <a:ext cx="243900" cy="2136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48"/>
            <p:cNvSpPr/>
            <p:nvPr/>
          </p:nvSpPr>
          <p:spPr>
            <a:xfrm>
              <a:off x="7536350" y="1135080"/>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48"/>
            <p:cNvSpPr/>
            <p:nvPr/>
          </p:nvSpPr>
          <p:spPr>
            <a:xfrm>
              <a:off x="7510850" y="2639761"/>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48"/>
            <p:cNvSpPr/>
            <p:nvPr/>
          </p:nvSpPr>
          <p:spPr>
            <a:xfrm>
              <a:off x="6620325" y="2704630"/>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2" name="Google Shape;532;p48"/>
          <p:cNvGrpSpPr/>
          <p:nvPr/>
        </p:nvGrpSpPr>
        <p:grpSpPr>
          <a:xfrm>
            <a:off x="6463975" y="1313775"/>
            <a:ext cx="1895100" cy="2055900"/>
            <a:chOff x="6006775" y="856575"/>
            <a:chExt cx="1895100" cy="2055900"/>
          </a:xfrm>
        </p:grpSpPr>
        <p:sp>
          <p:nvSpPr>
            <p:cNvPr id="533" name="Google Shape;533;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48"/>
            <p:cNvSpPr/>
            <p:nvPr/>
          </p:nvSpPr>
          <p:spPr>
            <a:xfrm>
              <a:off x="7561850" y="1969400"/>
              <a:ext cx="85800" cy="75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48"/>
            <p:cNvSpPr/>
            <p:nvPr/>
          </p:nvSpPr>
          <p:spPr>
            <a:xfrm>
              <a:off x="6253800" y="1020680"/>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48"/>
            <p:cNvSpPr/>
            <p:nvPr/>
          </p:nvSpPr>
          <p:spPr>
            <a:xfrm>
              <a:off x="7308400" y="939372"/>
              <a:ext cx="215700" cy="201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48"/>
            <p:cNvSpPr/>
            <p:nvPr/>
          </p:nvSpPr>
          <p:spPr>
            <a:xfrm>
              <a:off x="6766500" y="251190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38" name="Google Shape;538;p48"/>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Swiss Cheese Model</a:t>
            </a:r>
            <a:endParaRPr/>
          </a:p>
        </p:txBody>
      </p:sp>
      <p:sp>
        <p:nvSpPr>
          <p:cNvPr id="539" name="Google Shape;539;p4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40" name="Google Shape;540;p4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36</a:t>
            </a:fld>
            <a:endParaRPr sz="1300" b="0" i="0" u="none" strike="noStrike" cap="none">
              <a:solidFill>
                <a:srgbClr val="FFFFFF"/>
              </a:solidFill>
              <a:latin typeface="Nunito"/>
              <a:ea typeface="Nunito"/>
              <a:cs typeface="Nunito"/>
              <a:sym typeface="Nunito"/>
            </a:endParaRPr>
          </a:p>
        </p:txBody>
      </p:sp>
      <p:sp>
        <p:nvSpPr>
          <p:cNvPr id="541" name="Google Shape;541;p4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542" name="Google Shape;542;p48"/>
          <p:cNvSpPr txBox="1"/>
          <p:nvPr/>
        </p:nvSpPr>
        <p:spPr>
          <a:xfrm>
            <a:off x="423400" y="763063"/>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Safety can be improved by:</a:t>
            </a:r>
            <a:endParaRPr sz="2000" b="0" i="0" u="none" strike="noStrike" cap="none">
              <a:solidFill>
                <a:schemeClr val="dk1"/>
              </a:solidFill>
              <a:latin typeface="Nunito"/>
              <a:ea typeface="Nunito"/>
              <a:cs typeface="Nunito"/>
              <a:sym typeface="Nunito"/>
            </a:endParaRPr>
          </a:p>
        </p:txBody>
      </p:sp>
      <p:grpSp>
        <p:nvGrpSpPr>
          <p:cNvPr id="543" name="Google Shape;543;p48"/>
          <p:cNvGrpSpPr/>
          <p:nvPr/>
        </p:nvGrpSpPr>
        <p:grpSpPr>
          <a:xfrm>
            <a:off x="6006775" y="856575"/>
            <a:ext cx="1895100" cy="2055900"/>
            <a:chOff x="6006775" y="856575"/>
            <a:chExt cx="1895100" cy="2055900"/>
          </a:xfrm>
        </p:grpSpPr>
        <p:sp>
          <p:nvSpPr>
            <p:cNvPr id="544" name="Google Shape;544;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48"/>
            <p:cNvSpPr/>
            <p:nvPr/>
          </p:nvSpPr>
          <p:spPr>
            <a:xfrm>
              <a:off x="6242325" y="1113550"/>
              <a:ext cx="150000" cy="1413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48"/>
            <p:cNvSpPr/>
            <p:nvPr/>
          </p:nvSpPr>
          <p:spPr>
            <a:xfrm>
              <a:off x="6501800" y="1775525"/>
              <a:ext cx="243900" cy="2313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48"/>
            <p:cNvSpPr/>
            <p:nvPr/>
          </p:nvSpPr>
          <p:spPr>
            <a:xfrm>
              <a:off x="7561850" y="1512200"/>
              <a:ext cx="150000" cy="1413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48"/>
            <p:cNvSpPr/>
            <p:nvPr/>
          </p:nvSpPr>
          <p:spPr>
            <a:xfrm>
              <a:off x="7366600" y="2153925"/>
              <a:ext cx="289200" cy="30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48"/>
            <p:cNvSpPr/>
            <p:nvPr/>
          </p:nvSpPr>
          <p:spPr>
            <a:xfrm>
              <a:off x="6195375" y="2583962"/>
              <a:ext cx="243900" cy="2313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0" name="Google Shape;550;p48"/>
          <p:cNvGrpSpPr/>
          <p:nvPr/>
        </p:nvGrpSpPr>
        <p:grpSpPr>
          <a:xfrm>
            <a:off x="6006775" y="856575"/>
            <a:ext cx="1895100" cy="2055900"/>
            <a:chOff x="6006775" y="856575"/>
            <a:chExt cx="1895100" cy="2055900"/>
          </a:xfrm>
        </p:grpSpPr>
        <p:sp>
          <p:nvSpPr>
            <p:cNvPr id="551" name="Google Shape;551;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48"/>
            <p:cNvSpPr/>
            <p:nvPr/>
          </p:nvSpPr>
          <p:spPr>
            <a:xfrm>
              <a:off x="6242325" y="1113550"/>
              <a:ext cx="85800" cy="75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3" name="Google Shape;553;p48"/>
            <p:cNvSpPr/>
            <p:nvPr/>
          </p:nvSpPr>
          <p:spPr>
            <a:xfrm>
              <a:off x="6501800" y="177552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48"/>
            <p:cNvSpPr/>
            <p:nvPr/>
          </p:nvSpPr>
          <p:spPr>
            <a:xfrm>
              <a:off x="7561850" y="1512200"/>
              <a:ext cx="85800" cy="75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5" name="Google Shape;555;p48"/>
            <p:cNvSpPr/>
            <p:nvPr/>
          </p:nvSpPr>
          <p:spPr>
            <a:xfrm>
              <a:off x="7519000" y="233932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48"/>
            <p:cNvSpPr/>
            <p:nvPr/>
          </p:nvSpPr>
          <p:spPr>
            <a:xfrm>
              <a:off x="6195375" y="258395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7" name="Google Shape;557;p48"/>
          <p:cNvGrpSpPr/>
          <p:nvPr/>
        </p:nvGrpSpPr>
        <p:grpSpPr>
          <a:xfrm>
            <a:off x="6006775" y="856575"/>
            <a:ext cx="1895100" cy="2055900"/>
            <a:chOff x="6006775" y="856575"/>
            <a:chExt cx="1895100" cy="2055900"/>
          </a:xfrm>
        </p:grpSpPr>
        <p:sp>
          <p:nvSpPr>
            <p:cNvPr id="558" name="Google Shape;558;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9" name="Google Shape;559;p48"/>
            <p:cNvSpPr/>
            <p:nvPr/>
          </p:nvSpPr>
          <p:spPr>
            <a:xfrm>
              <a:off x="7561850" y="1512200"/>
              <a:ext cx="85800" cy="75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48"/>
            <p:cNvSpPr/>
            <p:nvPr/>
          </p:nvSpPr>
          <p:spPr>
            <a:xfrm>
              <a:off x="6195375" y="258395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61" name="Google Shape;561;p48"/>
          <p:cNvSpPr txBox="1"/>
          <p:nvPr/>
        </p:nvSpPr>
        <p:spPr>
          <a:xfrm>
            <a:off x="403250" y="1121488"/>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Reducing the size of holes</a:t>
            </a:r>
            <a:endParaRPr sz="2000" b="0" i="0" u="none" strike="noStrike" cap="none">
              <a:solidFill>
                <a:schemeClr val="dk1"/>
              </a:solidFill>
              <a:latin typeface="Nunito"/>
              <a:ea typeface="Nunito"/>
              <a:cs typeface="Nunito"/>
              <a:sym typeface="Nunito"/>
            </a:endParaRPr>
          </a:p>
        </p:txBody>
      </p:sp>
      <p:sp>
        <p:nvSpPr>
          <p:cNvPr id="562" name="Google Shape;562;p48"/>
          <p:cNvSpPr txBox="1"/>
          <p:nvPr/>
        </p:nvSpPr>
        <p:spPr>
          <a:xfrm>
            <a:off x="423400" y="1492388"/>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Reducing number of holes</a:t>
            </a:r>
            <a:endParaRPr sz="2000" b="0" i="0" u="none" strike="noStrike" cap="none">
              <a:solidFill>
                <a:schemeClr val="dk1"/>
              </a:solidFill>
              <a:latin typeface="Nunito"/>
              <a:ea typeface="Nunito"/>
              <a:cs typeface="Nunito"/>
              <a:sym typeface="Nunito"/>
            </a:endParaRPr>
          </a:p>
        </p:txBody>
      </p:sp>
      <p:sp>
        <p:nvSpPr>
          <p:cNvPr id="563" name="Google Shape;563;p48"/>
          <p:cNvSpPr txBox="1"/>
          <p:nvPr/>
        </p:nvSpPr>
        <p:spPr>
          <a:xfrm>
            <a:off x="423400" y="1839513"/>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Increasing number of slices</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2"/>
                                        </p:tgtEl>
                                        <p:attrNameLst>
                                          <p:attrName>style.visibility</p:attrName>
                                        </p:attrNameLst>
                                      </p:cBhvr>
                                      <p:to>
                                        <p:strVal val="visible"/>
                                      </p:to>
                                    </p:set>
                                    <p:animEffect transition="in" filter="fade">
                                      <p:cBhvr>
                                        <p:cTn id="7" dur="300"/>
                                        <p:tgtEl>
                                          <p:spTgt spid="542"/>
                                        </p:tgtEl>
                                      </p:cBhvr>
                                    </p:animEffect>
                                  </p:childTnLst>
                                </p:cTn>
                              </p:par>
                              <p:par>
                                <p:cTn id="8" presetID="10" presetClass="entr" presetSubtype="0" fill="hold" nodeType="withEffect">
                                  <p:stCondLst>
                                    <p:cond delay="0"/>
                                  </p:stCondLst>
                                  <p:childTnLst>
                                    <p:set>
                                      <p:cBhvr>
                                        <p:cTn id="9" dur="1" fill="hold">
                                          <p:stCondLst>
                                            <p:cond delay="0"/>
                                          </p:stCondLst>
                                        </p:cTn>
                                        <p:tgtEl>
                                          <p:spTgt spid="543"/>
                                        </p:tgtEl>
                                        <p:attrNameLst>
                                          <p:attrName>style.visibility</p:attrName>
                                        </p:attrNameLst>
                                      </p:cBhvr>
                                      <p:to>
                                        <p:strVal val="visible"/>
                                      </p:to>
                                    </p:set>
                                    <p:animEffect transition="in" filter="fade">
                                      <p:cBhvr>
                                        <p:cTn id="10" dur="1000"/>
                                        <p:tgtEl>
                                          <p:spTgt spid="54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61"/>
                                        </p:tgtEl>
                                        <p:attrNameLst>
                                          <p:attrName>style.visibility</p:attrName>
                                        </p:attrNameLst>
                                      </p:cBhvr>
                                      <p:to>
                                        <p:strVal val="visible"/>
                                      </p:to>
                                    </p:set>
                                    <p:animEffect transition="in" filter="fade">
                                      <p:cBhvr>
                                        <p:cTn id="15" dur="300"/>
                                        <p:tgtEl>
                                          <p:spTgt spid="561"/>
                                        </p:tgtEl>
                                      </p:cBhvr>
                                    </p:animEffect>
                                  </p:childTnLst>
                                </p:cTn>
                              </p:par>
                            </p:childTnLst>
                          </p:cTn>
                        </p:par>
                        <p:par>
                          <p:cTn id="16" fill="hold">
                            <p:stCondLst>
                              <p:cond delay="300"/>
                            </p:stCondLst>
                            <p:childTnLst>
                              <p:par>
                                <p:cTn id="17" presetID="10" presetClass="entr" presetSubtype="0" fill="hold" nodeType="afterEffect">
                                  <p:stCondLst>
                                    <p:cond delay="0"/>
                                  </p:stCondLst>
                                  <p:childTnLst>
                                    <p:set>
                                      <p:cBhvr>
                                        <p:cTn id="18" dur="1" fill="hold">
                                          <p:stCondLst>
                                            <p:cond delay="0"/>
                                          </p:stCondLst>
                                        </p:cTn>
                                        <p:tgtEl>
                                          <p:spTgt spid="550"/>
                                        </p:tgtEl>
                                        <p:attrNameLst>
                                          <p:attrName>style.visibility</p:attrName>
                                        </p:attrNameLst>
                                      </p:cBhvr>
                                      <p:to>
                                        <p:strVal val="visible"/>
                                      </p:to>
                                    </p:set>
                                    <p:animEffect transition="in" filter="fade">
                                      <p:cBhvr>
                                        <p:cTn id="19" dur="1000"/>
                                        <p:tgtEl>
                                          <p:spTgt spid="5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62"/>
                                        </p:tgtEl>
                                        <p:attrNameLst>
                                          <p:attrName>style.visibility</p:attrName>
                                        </p:attrNameLst>
                                      </p:cBhvr>
                                      <p:to>
                                        <p:strVal val="visible"/>
                                      </p:to>
                                    </p:set>
                                    <p:animEffect transition="in" filter="fade">
                                      <p:cBhvr>
                                        <p:cTn id="24" dur="300"/>
                                        <p:tgtEl>
                                          <p:spTgt spid="562"/>
                                        </p:tgtEl>
                                      </p:cBhvr>
                                    </p:animEffect>
                                  </p:childTnLst>
                                </p:cTn>
                              </p:par>
                            </p:childTnLst>
                          </p:cTn>
                        </p:par>
                        <p:par>
                          <p:cTn id="25" fill="hold">
                            <p:stCondLst>
                              <p:cond delay="300"/>
                            </p:stCondLst>
                            <p:childTnLst>
                              <p:par>
                                <p:cTn id="26" presetID="10" presetClass="entr" presetSubtype="0" fill="hold" nodeType="afterEffect">
                                  <p:stCondLst>
                                    <p:cond delay="0"/>
                                  </p:stCondLst>
                                  <p:childTnLst>
                                    <p:set>
                                      <p:cBhvr>
                                        <p:cTn id="27" dur="1" fill="hold">
                                          <p:stCondLst>
                                            <p:cond delay="0"/>
                                          </p:stCondLst>
                                        </p:cTn>
                                        <p:tgtEl>
                                          <p:spTgt spid="557"/>
                                        </p:tgtEl>
                                        <p:attrNameLst>
                                          <p:attrName>style.visibility</p:attrName>
                                        </p:attrNameLst>
                                      </p:cBhvr>
                                      <p:to>
                                        <p:strVal val="visible"/>
                                      </p:to>
                                    </p:set>
                                    <p:animEffect transition="in" filter="fade">
                                      <p:cBhvr>
                                        <p:cTn id="28" dur="1000"/>
                                        <p:tgtEl>
                                          <p:spTgt spid="55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63"/>
                                        </p:tgtEl>
                                        <p:attrNameLst>
                                          <p:attrName>style.visibility</p:attrName>
                                        </p:attrNameLst>
                                      </p:cBhvr>
                                      <p:to>
                                        <p:strVal val="visible"/>
                                      </p:to>
                                    </p:set>
                                    <p:animEffect transition="in" filter="fade">
                                      <p:cBhvr>
                                        <p:cTn id="33" dur="300"/>
                                        <p:tgtEl>
                                          <p:spTgt spid="563"/>
                                        </p:tgtEl>
                                      </p:cBhvr>
                                    </p:animEffect>
                                  </p:childTnLst>
                                </p:cTn>
                              </p:par>
                            </p:childTnLst>
                          </p:cTn>
                        </p:par>
                        <p:par>
                          <p:cTn id="34" fill="hold">
                            <p:stCondLst>
                              <p:cond delay="300"/>
                            </p:stCondLst>
                            <p:childTnLst>
                              <p:par>
                                <p:cTn id="35" presetID="10" presetClass="entr" presetSubtype="0" fill="hold" nodeType="afterEffect">
                                  <p:stCondLst>
                                    <p:cond delay="0"/>
                                  </p:stCondLst>
                                  <p:childTnLst>
                                    <p:set>
                                      <p:cBhvr>
                                        <p:cTn id="36" dur="1" fill="hold">
                                          <p:stCondLst>
                                            <p:cond delay="0"/>
                                          </p:stCondLst>
                                        </p:cTn>
                                        <p:tgtEl>
                                          <p:spTgt spid="532"/>
                                        </p:tgtEl>
                                        <p:attrNameLst>
                                          <p:attrName>style.visibility</p:attrName>
                                        </p:attrNameLst>
                                      </p:cBhvr>
                                      <p:to>
                                        <p:strVal val="visible"/>
                                      </p:to>
                                    </p:set>
                                    <p:animEffect transition="in" filter="fade">
                                      <p:cBhvr>
                                        <p:cTn id="37" dur="1000"/>
                                        <p:tgtEl>
                                          <p:spTgt spid="532"/>
                                        </p:tgtEl>
                                      </p:cBhvr>
                                    </p:animEffect>
                                  </p:childTnLst>
                                </p:cTn>
                              </p:par>
                            </p:childTnLst>
                          </p:cTn>
                        </p:par>
                        <p:par>
                          <p:cTn id="38" fill="hold">
                            <p:stCondLst>
                              <p:cond delay="1300"/>
                            </p:stCondLst>
                            <p:childTnLst>
                              <p:par>
                                <p:cTn id="39" presetID="10" presetClass="entr" presetSubtype="0" fill="hold" nodeType="afterEffect">
                                  <p:stCondLst>
                                    <p:cond delay="0"/>
                                  </p:stCondLst>
                                  <p:childTnLst>
                                    <p:set>
                                      <p:cBhvr>
                                        <p:cTn id="40" dur="1" fill="hold">
                                          <p:stCondLst>
                                            <p:cond delay="0"/>
                                          </p:stCondLst>
                                        </p:cTn>
                                        <p:tgtEl>
                                          <p:spTgt spid="526"/>
                                        </p:tgtEl>
                                        <p:attrNameLst>
                                          <p:attrName>style.visibility</p:attrName>
                                        </p:attrNameLst>
                                      </p:cBhvr>
                                      <p:to>
                                        <p:strVal val="visible"/>
                                      </p:to>
                                    </p:set>
                                    <p:animEffect transition="in" filter="fade">
                                      <p:cBhvr>
                                        <p:cTn id="41" dur="1000"/>
                                        <p:tgtEl>
                                          <p:spTgt spid="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49"/>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Fault Tree Analysis </a:t>
            </a:r>
            <a:endParaRPr/>
          </a:p>
        </p:txBody>
      </p:sp>
      <p:sp>
        <p:nvSpPr>
          <p:cNvPr id="569" name="Google Shape;569;p49"/>
          <p:cNvSpPr txBox="1"/>
          <p:nvPr/>
        </p:nvSpPr>
        <p:spPr>
          <a:xfrm>
            <a:off x="423400" y="1789200"/>
            <a:ext cx="3533100" cy="1565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Start by considering specific negative outcomes, then work backward to identify their possible causes.</a:t>
            </a:r>
            <a:endParaRPr sz="2000" b="0" i="0" u="none" strike="noStrike" cap="none">
              <a:solidFill>
                <a:schemeClr val="dk1"/>
              </a:solidFill>
              <a:latin typeface="Nunito"/>
              <a:ea typeface="Nunito"/>
              <a:cs typeface="Nunito"/>
              <a:sym typeface="Nunito"/>
            </a:endParaRPr>
          </a:p>
        </p:txBody>
      </p:sp>
      <p:sp>
        <p:nvSpPr>
          <p:cNvPr id="570" name="Google Shape;570;p4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71" name="Google Shape;571;p4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37</a:t>
            </a:fld>
            <a:endParaRPr sz="1300" b="0" i="0" u="none" strike="noStrike" cap="none">
              <a:solidFill>
                <a:srgbClr val="FFFFFF"/>
              </a:solidFill>
              <a:latin typeface="Nunito"/>
              <a:ea typeface="Nunito"/>
              <a:cs typeface="Nunito"/>
              <a:sym typeface="Nunito"/>
            </a:endParaRPr>
          </a:p>
        </p:txBody>
      </p:sp>
      <p:sp>
        <p:nvSpPr>
          <p:cNvPr id="572" name="Google Shape;572;p4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573" name="Google Shape;573;p49"/>
          <p:cNvPicPr preferRelativeResize="0"/>
          <p:nvPr/>
        </p:nvPicPr>
        <p:blipFill rotWithShape="1">
          <a:blip r:embed="rId3">
            <a:alphaModFix/>
          </a:blip>
          <a:srcRect/>
          <a:stretch/>
        </p:blipFill>
        <p:spPr>
          <a:xfrm>
            <a:off x="4648928" y="623801"/>
            <a:ext cx="3942974" cy="42149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9"/>
                                        </p:tgtEl>
                                        <p:attrNameLst>
                                          <p:attrName>style.visibility</p:attrName>
                                        </p:attrNameLst>
                                      </p:cBhvr>
                                      <p:to>
                                        <p:strVal val="visible"/>
                                      </p:to>
                                    </p:set>
                                    <p:animEffect transition="in" filter="fade">
                                      <p:cBhvr>
                                        <p:cTn id="7" dur="1000"/>
                                        <p:tgtEl>
                                          <p:spTgt spid="5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3"/>
                                        </p:tgtEl>
                                        <p:attrNameLst>
                                          <p:attrName>style.visibility</p:attrName>
                                        </p:attrNameLst>
                                      </p:cBhvr>
                                      <p:to>
                                        <p:strVal val="visible"/>
                                      </p:to>
                                    </p:set>
                                    <p:animEffect transition="in" filter="fade">
                                      <p:cBhvr>
                                        <p:cTn id="12" dur="300"/>
                                        <p:tgtEl>
                                          <p:spTgt spid="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5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Limitations</a:t>
            </a:r>
            <a:endParaRPr/>
          </a:p>
        </p:txBody>
      </p:sp>
      <p:sp>
        <p:nvSpPr>
          <p:cNvPr id="579" name="Google Shape;579;p50"/>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Chain-of events reasoning can be too simplistic if causality is nonlinear.</a:t>
            </a:r>
            <a:endParaRPr sz="2000" b="0" i="0" u="none" strike="noStrike" cap="none">
              <a:solidFill>
                <a:schemeClr val="dk1"/>
              </a:solidFill>
              <a:latin typeface="Nunito"/>
              <a:ea typeface="Nunito"/>
              <a:cs typeface="Nunito"/>
              <a:sym typeface="Nunito"/>
            </a:endParaRPr>
          </a:p>
        </p:txBody>
      </p:sp>
      <p:sp>
        <p:nvSpPr>
          <p:cNvPr id="580" name="Google Shape;580;p5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81" name="Google Shape;581;p5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38</a:t>
            </a:fld>
            <a:endParaRPr sz="1300" b="0" i="0" u="none" strike="noStrike" cap="none">
              <a:solidFill>
                <a:srgbClr val="FFFFFF"/>
              </a:solidFill>
              <a:latin typeface="Nunito"/>
              <a:ea typeface="Nunito"/>
              <a:cs typeface="Nunito"/>
              <a:sym typeface="Nunito"/>
            </a:endParaRPr>
          </a:p>
        </p:txBody>
      </p:sp>
      <p:sp>
        <p:nvSpPr>
          <p:cNvPr id="582" name="Google Shape;582;p5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583" name="Google Shape;583;p50"/>
          <p:cNvSpPr txBox="1"/>
          <p:nvPr/>
        </p:nvSpPr>
        <p:spPr>
          <a:xfrm>
            <a:off x="423400" y="1481375"/>
            <a:ext cx="8750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Complex system components may interact to produce emergent properties.</a:t>
            </a:r>
            <a:endParaRPr sz="2000" b="0" i="0" u="none" strike="noStrike" cap="none">
              <a:solidFill>
                <a:schemeClr val="dk1"/>
              </a:solidFill>
              <a:latin typeface="Nunito"/>
              <a:ea typeface="Nunito"/>
              <a:cs typeface="Nunito"/>
              <a:sym typeface="Nunito"/>
            </a:endParaRPr>
          </a:p>
        </p:txBody>
      </p:sp>
      <p:sp>
        <p:nvSpPr>
          <p:cNvPr id="584" name="Google Shape;584;p50"/>
          <p:cNvSpPr txBox="1"/>
          <p:nvPr/>
        </p:nvSpPr>
        <p:spPr>
          <a:xfrm>
            <a:off x="423400" y="2433925"/>
            <a:ext cx="8857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Accidents can happen even if no single component fails, due to interactions.</a:t>
            </a:r>
            <a:endParaRPr sz="2000" b="0" i="0" u="none" strike="noStrike" cap="none">
              <a:solidFill>
                <a:schemeClr val="dk1"/>
              </a:solidFill>
              <a:latin typeface="Nunito"/>
              <a:ea typeface="Nunito"/>
              <a:cs typeface="Nunito"/>
              <a:sym typeface="Nunito"/>
            </a:endParaRPr>
          </a:p>
        </p:txBody>
      </p:sp>
      <p:sp>
        <p:nvSpPr>
          <p:cNvPr id="585" name="Google Shape;585;p50"/>
          <p:cNvSpPr txBox="1"/>
          <p:nvPr/>
        </p:nvSpPr>
        <p:spPr>
          <a:xfrm>
            <a:off x="423400" y="3386475"/>
            <a:ext cx="4812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The causa</a:t>
            </a:r>
            <a:r>
              <a:rPr lang="en" sz="2000">
                <a:solidFill>
                  <a:schemeClr val="dk1"/>
                </a:solidFill>
                <a:latin typeface="Nunito"/>
                <a:ea typeface="Nunito"/>
                <a:cs typeface="Nunito"/>
                <a:sym typeface="Nunito"/>
              </a:rPr>
              <a:t>lity</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may be</a:t>
            </a:r>
            <a:r>
              <a:rPr lang="en" sz="2000">
                <a:solidFill>
                  <a:schemeClr val="dk1"/>
                </a:solidFill>
                <a:latin typeface="Nunito"/>
                <a:ea typeface="Nunito"/>
                <a:cs typeface="Nunito"/>
                <a:sym typeface="Nunito"/>
              </a:rPr>
              <a:t> </a:t>
            </a:r>
            <a:r>
              <a:rPr lang="en" sz="2000" b="0" i="0" u="none" strike="noStrike" cap="none">
                <a:solidFill>
                  <a:schemeClr val="dk1"/>
                </a:solidFill>
                <a:latin typeface="Nunito"/>
                <a:ea typeface="Nunito"/>
                <a:cs typeface="Nunito"/>
                <a:sym typeface="Nunito"/>
              </a:rPr>
              <a:t>diffuse</a:t>
            </a:r>
            <a:endParaRPr sz="2000" b="0" i="0" u="none" strike="noStrike" cap="none">
              <a:solidFill>
                <a:schemeClr val="dk1"/>
              </a:solidFill>
              <a:latin typeface="Nunito"/>
              <a:ea typeface="Nunito"/>
              <a:cs typeface="Nunito"/>
              <a:sym typeface="Nunito"/>
            </a:endParaRPr>
          </a:p>
        </p:txBody>
      </p:sp>
      <p:pic>
        <p:nvPicPr>
          <p:cNvPr id="586" name="Google Shape;586;p50"/>
          <p:cNvPicPr preferRelativeResize="0"/>
          <p:nvPr/>
        </p:nvPicPr>
        <p:blipFill>
          <a:blip r:embed="rId3">
            <a:alphaModFix/>
          </a:blip>
          <a:stretch>
            <a:fillRect/>
          </a:stretch>
        </p:blipFill>
        <p:spPr>
          <a:xfrm>
            <a:off x="2495653" y="3207210"/>
            <a:ext cx="2555049" cy="1428877"/>
          </a:xfrm>
          <a:prstGeom prst="rect">
            <a:avLst/>
          </a:prstGeom>
          <a:noFill/>
          <a:ln>
            <a:noFill/>
          </a:ln>
        </p:spPr>
      </p:pic>
      <p:grpSp>
        <p:nvGrpSpPr>
          <p:cNvPr id="587" name="Google Shape;587;p50"/>
          <p:cNvGrpSpPr/>
          <p:nvPr/>
        </p:nvGrpSpPr>
        <p:grpSpPr>
          <a:xfrm>
            <a:off x="5284201" y="3030628"/>
            <a:ext cx="3548201" cy="1703070"/>
            <a:chOff x="5284201" y="3030628"/>
            <a:chExt cx="3548201" cy="1703070"/>
          </a:xfrm>
        </p:grpSpPr>
        <p:pic>
          <p:nvPicPr>
            <p:cNvPr id="588" name="Google Shape;588;p50"/>
            <p:cNvPicPr preferRelativeResize="0"/>
            <p:nvPr/>
          </p:nvPicPr>
          <p:blipFill>
            <a:blip r:embed="rId4">
              <a:alphaModFix/>
            </a:blip>
            <a:stretch>
              <a:fillRect/>
            </a:stretch>
          </p:blipFill>
          <p:spPr>
            <a:xfrm>
              <a:off x="5284201" y="3030628"/>
              <a:ext cx="3548201" cy="1703070"/>
            </a:xfrm>
            <a:prstGeom prst="rect">
              <a:avLst/>
            </a:prstGeom>
            <a:noFill/>
            <a:ln>
              <a:noFill/>
            </a:ln>
          </p:spPr>
        </p:pic>
        <p:sp>
          <p:nvSpPr>
            <p:cNvPr id="589" name="Google Shape;589;p50"/>
            <p:cNvSpPr/>
            <p:nvPr/>
          </p:nvSpPr>
          <p:spPr>
            <a:xfrm>
              <a:off x="8526570" y="4416475"/>
              <a:ext cx="219300" cy="21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Telex"/>
                <a:ea typeface="Telex"/>
                <a:cs typeface="Telex"/>
                <a:sym typeface="Tele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animEffect transition="in" filter="fade">
                                      <p:cBhvr>
                                        <p:cTn id="7" dur="300"/>
                                        <p:tgtEl>
                                          <p:spTgt spid="5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3"/>
                                        </p:tgtEl>
                                        <p:attrNameLst>
                                          <p:attrName>style.visibility</p:attrName>
                                        </p:attrNameLst>
                                      </p:cBhvr>
                                      <p:to>
                                        <p:strVal val="visible"/>
                                      </p:to>
                                    </p:set>
                                    <p:animEffect transition="in" filter="fade">
                                      <p:cBhvr>
                                        <p:cTn id="12" dur="300"/>
                                        <p:tgtEl>
                                          <p:spTgt spid="58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4"/>
                                        </p:tgtEl>
                                        <p:attrNameLst>
                                          <p:attrName>style.visibility</p:attrName>
                                        </p:attrNameLst>
                                      </p:cBhvr>
                                      <p:to>
                                        <p:strVal val="visible"/>
                                      </p:to>
                                    </p:set>
                                    <p:animEffect transition="in" filter="fade">
                                      <p:cBhvr>
                                        <p:cTn id="17" dur="300"/>
                                        <p:tgtEl>
                                          <p:spTgt spid="58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85"/>
                                        </p:tgtEl>
                                        <p:attrNameLst>
                                          <p:attrName>style.visibility</p:attrName>
                                        </p:attrNameLst>
                                      </p:cBhvr>
                                      <p:to>
                                        <p:strVal val="visible"/>
                                      </p:to>
                                    </p:set>
                                    <p:animEffect transition="in" filter="fade">
                                      <p:cBhvr>
                                        <p:cTn id="22" dur="300"/>
                                        <p:tgtEl>
                                          <p:spTgt spid="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52"/>
          <p:cNvSpPr txBox="1">
            <a:spLocks noGrp="1"/>
          </p:cNvSpPr>
          <p:nvPr>
            <p:ph type="title"/>
          </p:nvPr>
        </p:nvSpPr>
        <p:spPr>
          <a:xfrm>
            <a:off x="423450" y="16942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Systemic Accident Models</a:t>
            </a:r>
            <a:endParaRPr sz="3600">
              <a:latin typeface="Nunito"/>
              <a:ea typeface="Nunito"/>
              <a:cs typeface="Nunito"/>
              <a:sym typeface="Nunito"/>
            </a:endParaRPr>
          </a:p>
        </p:txBody>
      </p:sp>
      <p:sp>
        <p:nvSpPr>
          <p:cNvPr id="604" name="Google Shape;604;p5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05" name="Google Shape;605;p5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39</a:t>
            </a:fld>
            <a:endParaRPr sz="1300" b="0" i="0" u="none" strike="noStrike" cap="none">
              <a:solidFill>
                <a:srgbClr val="FFFFFF"/>
              </a:solidFill>
              <a:latin typeface="Nunito"/>
              <a:ea typeface="Nunito"/>
              <a:cs typeface="Nunito"/>
              <a:sym typeface="Nunito"/>
            </a:endParaRPr>
          </a:p>
        </p:txBody>
      </p:sp>
      <p:sp>
        <p:nvSpPr>
          <p:cNvPr id="606" name="Google Shape;606;p5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07" name="Google Shape;607;p52"/>
          <p:cNvSpPr txBox="1"/>
          <p:nvPr/>
        </p:nvSpPr>
        <p:spPr>
          <a:xfrm>
            <a:off x="367675" y="30062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i="1">
                <a:solidFill>
                  <a:schemeClr val="dk1"/>
                </a:solidFill>
                <a:latin typeface="Nunito"/>
                <a:ea typeface="Nunito"/>
                <a:cs typeface="Nunito"/>
                <a:sym typeface="Nunito"/>
              </a:rPr>
              <a:t>Human factors and systems-based</a:t>
            </a:r>
            <a:r>
              <a:rPr lang="en" sz="2000" b="0" i="1" u="none" strike="noStrike" cap="none">
                <a:solidFill>
                  <a:schemeClr val="dk1"/>
                </a:solidFill>
                <a:latin typeface="Nunito"/>
                <a:ea typeface="Nunito"/>
                <a:cs typeface="Nunito"/>
                <a:sym typeface="Nunito"/>
              </a:rPr>
              <a:t> risk analysis</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7"/>
                                        </p:tgtEl>
                                        <p:attrNameLst>
                                          <p:attrName>style.visibility</p:attrName>
                                        </p:attrNameLst>
                                      </p:cBhvr>
                                      <p:to>
                                        <p:strVal val="visible"/>
                                      </p:to>
                                    </p:set>
                                    <p:animEffect transition="in" filter="fade">
                                      <p:cBhvr>
                                        <p:cTn id="7" dur="300"/>
                                        <p:tgtEl>
                                          <p:spTgt spid="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53"/>
          <p:cNvSpPr txBox="1">
            <a:spLocks noGrp="1"/>
          </p:cNvSpPr>
          <p:nvPr>
            <p:ph type="title"/>
          </p:nvPr>
        </p:nvSpPr>
        <p:spPr>
          <a:xfrm>
            <a:off x="175" y="-12175"/>
            <a:ext cx="9143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sz="3200"/>
              <a:t>Understanding Adverse Events: Human Factors</a:t>
            </a:r>
            <a:endParaRPr sz="3200"/>
          </a:p>
        </p:txBody>
      </p:sp>
      <p:sp>
        <p:nvSpPr>
          <p:cNvPr id="613" name="Google Shape;613;p53"/>
          <p:cNvSpPr txBox="1"/>
          <p:nvPr/>
        </p:nvSpPr>
        <p:spPr>
          <a:xfrm>
            <a:off x="145950" y="817200"/>
            <a:ext cx="8899800" cy="1382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Human rather than technical failures now represent the greatest threat to complex and potentially hazardous systems.</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Managing the human risks will never be 100% effective. Human fallibility can be moderated, but it cannot be eliminated.</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Significant errors occur at all levels of the system, not just at the sharp end. Decisions made in the upper echelons of the organisation create the conditions in the workplace that subsequently promote individual errors and violations. Latent failures are present long before an accident and are hence prime candidates for principled risk management.</a:t>
            </a:r>
            <a:endParaRPr sz="2000">
              <a:solidFill>
                <a:schemeClr val="dk1"/>
              </a:solidFill>
              <a:latin typeface="Nunito"/>
              <a:ea typeface="Nunito"/>
              <a:cs typeface="Nunito"/>
              <a:sym typeface="Nunito"/>
            </a:endParaRPr>
          </a:p>
        </p:txBody>
      </p:sp>
      <p:sp>
        <p:nvSpPr>
          <p:cNvPr id="614" name="Google Shape;614;p5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15" name="Google Shape;615;p5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40</a:t>
            </a:fld>
            <a:endParaRPr sz="1300" b="0" i="0" u="none" strike="noStrike" cap="none">
              <a:solidFill>
                <a:srgbClr val="FFFFFF"/>
              </a:solidFill>
              <a:latin typeface="Nunito"/>
              <a:ea typeface="Nunito"/>
              <a:cs typeface="Nunito"/>
              <a:sym typeface="Nunito"/>
            </a:endParaRPr>
          </a:p>
        </p:txBody>
      </p:sp>
      <p:sp>
        <p:nvSpPr>
          <p:cNvPr id="616" name="Google Shape;616;p5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3">
                                            <p:txEl>
                                              <p:pRg st="0" end="0"/>
                                            </p:txEl>
                                          </p:spTgt>
                                        </p:tgtEl>
                                        <p:attrNameLst>
                                          <p:attrName>style.visibility</p:attrName>
                                        </p:attrNameLst>
                                      </p:cBhvr>
                                      <p:to>
                                        <p:strVal val="visible"/>
                                      </p:to>
                                    </p:set>
                                    <p:animEffect transition="in" filter="fade">
                                      <p:cBhvr>
                                        <p:cTn id="7" dur="300"/>
                                        <p:tgtEl>
                                          <p:spTgt spid="6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3">
                                            <p:txEl>
                                              <p:pRg st="1" end="1"/>
                                            </p:txEl>
                                          </p:spTgt>
                                        </p:tgtEl>
                                        <p:attrNameLst>
                                          <p:attrName>style.visibility</p:attrName>
                                        </p:attrNameLst>
                                      </p:cBhvr>
                                      <p:to>
                                        <p:strVal val="visible"/>
                                      </p:to>
                                    </p:set>
                                    <p:animEffect transition="in" filter="fade">
                                      <p:cBhvr>
                                        <p:cTn id="12" dur="300"/>
                                        <p:tgtEl>
                                          <p:spTgt spid="6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3">
                                            <p:txEl>
                                              <p:pRg st="2" end="2"/>
                                            </p:txEl>
                                          </p:spTgt>
                                        </p:tgtEl>
                                        <p:attrNameLst>
                                          <p:attrName>style.visibility</p:attrName>
                                        </p:attrNameLst>
                                      </p:cBhvr>
                                      <p:to>
                                        <p:strVal val="visible"/>
                                      </p:to>
                                    </p:set>
                                    <p:animEffect transition="in" filter="fade">
                                      <p:cBhvr>
                                        <p:cTn id="17" dur="300"/>
                                        <p:tgtEl>
                                          <p:spTgt spid="6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3">
                                            <p:txEl>
                                              <p:pRg st="3" end="3"/>
                                            </p:txEl>
                                          </p:spTgt>
                                        </p:tgtEl>
                                        <p:attrNameLst>
                                          <p:attrName>style.visibility</p:attrName>
                                        </p:attrNameLst>
                                      </p:cBhvr>
                                      <p:to>
                                        <p:strVal val="visible"/>
                                      </p:to>
                                    </p:set>
                                    <p:animEffect transition="in" filter="fade">
                                      <p:cBhvr>
                                        <p:cTn id="22" dur="300"/>
                                        <p:tgtEl>
                                          <p:spTgt spid="6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3">
                                            <p:txEl>
                                              <p:pRg st="4" end="4"/>
                                            </p:txEl>
                                          </p:spTgt>
                                        </p:tgtEl>
                                        <p:attrNameLst>
                                          <p:attrName>style.visibility</p:attrName>
                                        </p:attrNameLst>
                                      </p:cBhvr>
                                      <p:to>
                                        <p:strVal val="visible"/>
                                      </p:to>
                                    </p:set>
                                    <p:animEffect transition="in" filter="fade">
                                      <p:cBhvr>
                                        <p:cTn id="27" dur="300"/>
                                        <p:tgtEl>
                                          <p:spTgt spid="6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54"/>
          <p:cNvSpPr txBox="1"/>
          <p:nvPr/>
        </p:nvSpPr>
        <p:spPr>
          <a:xfrm>
            <a:off x="423400" y="817200"/>
            <a:ext cx="8344800" cy="1382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Measures that involve sanctions and exhortations (that is, moralistic measures directed to those at the sharp end) have only very limited effectiveness, especially so in the case of highly trained professionals.</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People do not act in isolation. Their behaviour is shaped by circumstances. The same is true for errors and violations. The likelihood of an unsafe act being committed is heavily influenced by the nature of the task and by the local workplace conditions. These, in turn, are the product of "upstream" organisational factors.</a:t>
            </a:r>
            <a:endParaRPr sz="2000">
              <a:solidFill>
                <a:schemeClr val="dk1"/>
              </a:solidFill>
              <a:latin typeface="Nunito"/>
              <a:ea typeface="Nunito"/>
              <a:cs typeface="Nunito"/>
              <a:sym typeface="Nunito"/>
            </a:endParaRPr>
          </a:p>
        </p:txBody>
      </p:sp>
      <p:sp>
        <p:nvSpPr>
          <p:cNvPr id="622" name="Google Shape;622;p5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23" name="Google Shape;623;p5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41</a:t>
            </a:fld>
            <a:endParaRPr sz="1300" b="0" i="0" u="none" strike="noStrike" cap="none">
              <a:solidFill>
                <a:srgbClr val="FFFFFF"/>
              </a:solidFill>
              <a:latin typeface="Nunito"/>
              <a:ea typeface="Nunito"/>
              <a:cs typeface="Nunito"/>
              <a:sym typeface="Nunito"/>
            </a:endParaRPr>
          </a:p>
        </p:txBody>
      </p:sp>
      <p:sp>
        <p:nvSpPr>
          <p:cNvPr id="624" name="Google Shape;624;p5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25" name="Google Shape;625;p54"/>
          <p:cNvSpPr txBox="1">
            <a:spLocks noGrp="1"/>
          </p:cNvSpPr>
          <p:nvPr>
            <p:ph type="title"/>
          </p:nvPr>
        </p:nvSpPr>
        <p:spPr>
          <a:xfrm>
            <a:off x="175" y="-12175"/>
            <a:ext cx="9143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sz="3200"/>
              <a:t>Understanding Adverse Events: Human Factors</a:t>
            </a:r>
            <a:endParaRPr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1">
                                            <p:txEl>
                                              <p:pRg st="0" end="0"/>
                                            </p:txEl>
                                          </p:spTgt>
                                        </p:tgtEl>
                                        <p:attrNameLst>
                                          <p:attrName>style.visibility</p:attrName>
                                        </p:attrNameLst>
                                      </p:cBhvr>
                                      <p:to>
                                        <p:strVal val="visible"/>
                                      </p:to>
                                    </p:set>
                                    <p:animEffect transition="in" filter="fade">
                                      <p:cBhvr>
                                        <p:cTn id="7" dur="300"/>
                                        <p:tgtEl>
                                          <p:spTgt spid="6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1">
                                            <p:txEl>
                                              <p:pRg st="1" end="1"/>
                                            </p:txEl>
                                          </p:spTgt>
                                        </p:tgtEl>
                                        <p:attrNameLst>
                                          <p:attrName>style.visibility</p:attrName>
                                        </p:attrNameLst>
                                      </p:cBhvr>
                                      <p:to>
                                        <p:strVal val="visible"/>
                                      </p:to>
                                    </p:set>
                                    <p:animEffect transition="in" filter="fade">
                                      <p:cBhvr>
                                        <p:cTn id="12" dur="300"/>
                                        <p:tgtEl>
                                          <p:spTgt spid="6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1">
                                            <p:txEl>
                                              <p:pRg st="2" end="2"/>
                                            </p:txEl>
                                          </p:spTgt>
                                        </p:tgtEl>
                                        <p:attrNameLst>
                                          <p:attrName>style.visibility</p:attrName>
                                        </p:attrNameLst>
                                      </p:cBhvr>
                                      <p:to>
                                        <p:strVal val="visible"/>
                                      </p:to>
                                    </p:set>
                                    <p:animEffect transition="in" filter="fade">
                                      <p:cBhvr>
                                        <p:cTn id="17" dur="300"/>
                                        <p:tgtEl>
                                          <p:spTgt spid="6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55"/>
          <p:cNvSpPr txBox="1"/>
          <p:nvPr/>
        </p:nvSpPr>
        <p:spPr>
          <a:xfrm>
            <a:off x="267375" y="741000"/>
            <a:ext cx="8657100" cy="1382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Automation and increasingly advanced equipment do not cure human factors problems, they merely relocate them.</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12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Effective risk management depends critically on a confidential and preferably anonymous incident monitoring system that records the individual, task, situational, and organisational factors associated with incidents and near misses.</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12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Effective risk management means the simultaneous and targeted deployment of limited remedial resources at different levels of the system: the individual or team, the task, the situation, and the organisation as a whole.</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2000">
              <a:solidFill>
                <a:schemeClr val="dk1"/>
              </a:solidFill>
              <a:latin typeface="Nunito"/>
              <a:ea typeface="Nunito"/>
              <a:cs typeface="Nunito"/>
              <a:sym typeface="Nunito"/>
            </a:endParaRPr>
          </a:p>
        </p:txBody>
      </p:sp>
      <p:sp>
        <p:nvSpPr>
          <p:cNvPr id="631" name="Google Shape;631;p5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32" name="Google Shape;632;p5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42</a:t>
            </a:fld>
            <a:endParaRPr sz="1300" b="0" i="0" u="none" strike="noStrike" cap="none">
              <a:solidFill>
                <a:srgbClr val="FFFFFF"/>
              </a:solidFill>
              <a:latin typeface="Nunito"/>
              <a:ea typeface="Nunito"/>
              <a:cs typeface="Nunito"/>
              <a:sym typeface="Nunito"/>
            </a:endParaRPr>
          </a:p>
        </p:txBody>
      </p:sp>
      <p:sp>
        <p:nvSpPr>
          <p:cNvPr id="633" name="Google Shape;633;p5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34" name="Google Shape;634;p55"/>
          <p:cNvSpPr txBox="1">
            <a:spLocks noGrp="1"/>
          </p:cNvSpPr>
          <p:nvPr>
            <p:ph type="title"/>
          </p:nvPr>
        </p:nvSpPr>
        <p:spPr>
          <a:xfrm>
            <a:off x="175" y="-12175"/>
            <a:ext cx="9143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sz="3200"/>
              <a:t>Understanding Adverse Events: Human Factors</a:t>
            </a:r>
            <a:endParaRPr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0">
                                            <p:txEl>
                                              <p:pRg st="0" end="0"/>
                                            </p:txEl>
                                          </p:spTgt>
                                        </p:tgtEl>
                                        <p:attrNameLst>
                                          <p:attrName>style.visibility</p:attrName>
                                        </p:attrNameLst>
                                      </p:cBhvr>
                                      <p:to>
                                        <p:strVal val="visible"/>
                                      </p:to>
                                    </p:set>
                                    <p:animEffect transition="in" filter="fade">
                                      <p:cBhvr>
                                        <p:cTn id="7" dur="300"/>
                                        <p:tgtEl>
                                          <p:spTgt spid="6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0">
                                            <p:txEl>
                                              <p:pRg st="1" end="1"/>
                                            </p:txEl>
                                          </p:spTgt>
                                        </p:tgtEl>
                                        <p:attrNameLst>
                                          <p:attrName>style.visibility</p:attrName>
                                        </p:attrNameLst>
                                      </p:cBhvr>
                                      <p:to>
                                        <p:strVal val="visible"/>
                                      </p:to>
                                    </p:set>
                                    <p:animEffect transition="in" filter="fade">
                                      <p:cBhvr>
                                        <p:cTn id="12" dur="300"/>
                                        <p:tgtEl>
                                          <p:spTgt spid="6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0">
                                            <p:txEl>
                                              <p:pRg st="2" end="2"/>
                                            </p:txEl>
                                          </p:spTgt>
                                        </p:tgtEl>
                                        <p:attrNameLst>
                                          <p:attrName>style.visibility</p:attrName>
                                        </p:attrNameLst>
                                      </p:cBhvr>
                                      <p:to>
                                        <p:strVal val="visible"/>
                                      </p:to>
                                    </p:set>
                                    <p:animEffect transition="in" filter="fade">
                                      <p:cBhvr>
                                        <p:cTn id="17" dur="300"/>
                                        <p:tgtEl>
                                          <p:spTgt spid="6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0">
                                            <p:txEl>
                                              <p:pRg st="3" end="3"/>
                                            </p:txEl>
                                          </p:spTgt>
                                        </p:tgtEl>
                                        <p:attrNameLst>
                                          <p:attrName>style.visibility</p:attrName>
                                        </p:attrNameLst>
                                      </p:cBhvr>
                                      <p:to>
                                        <p:strVal val="visible"/>
                                      </p:to>
                                    </p:set>
                                    <p:animEffect transition="in" filter="fade">
                                      <p:cBhvr>
                                        <p:cTn id="22" dur="300"/>
                                        <p:tgtEl>
                                          <p:spTgt spid="6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30">
                                            <p:txEl>
                                              <p:pRg st="4" end="4"/>
                                            </p:txEl>
                                          </p:spTgt>
                                        </p:tgtEl>
                                        <p:attrNameLst>
                                          <p:attrName>style.visibility</p:attrName>
                                        </p:attrNameLst>
                                      </p:cBhvr>
                                      <p:to>
                                        <p:strVal val="visible"/>
                                      </p:to>
                                    </p:set>
                                    <p:animEffect transition="in" filter="fade">
                                      <p:cBhvr>
                                        <p:cTn id="27" dur="300"/>
                                        <p:tgtEl>
                                          <p:spTgt spid="6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30">
                                            <p:txEl>
                                              <p:pRg st="5" end="5"/>
                                            </p:txEl>
                                          </p:spTgt>
                                        </p:tgtEl>
                                        <p:attrNameLst>
                                          <p:attrName>style.visibility</p:attrName>
                                        </p:attrNameLst>
                                      </p:cBhvr>
                                      <p:to>
                                        <p:strVal val="visible"/>
                                      </p:to>
                                    </p:set>
                                    <p:animEffect transition="in" filter="fade">
                                      <p:cBhvr>
                                        <p:cTn id="32" dur="300"/>
                                        <p:tgtEl>
                                          <p:spTgt spid="6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6"/>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Sociotechnical Systems</a:t>
            </a:r>
            <a:endParaRPr/>
          </a:p>
        </p:txBody>
      </p:sp>
      <p:sp>
        <p:nvSpPr>
          <p:cNvPr id="640" name="Google Shape;640;p5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41" name="Google Shape;641;p5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43</a:t>
            </a:fld>
            <a:endParaRPr sz="1300" b="0" i="0" u="none" strike="noStrike" cap="none">
              <a:solidFill>
                <a:srgbClr val="FFFFFF"/>
              </a:solidFill>
              <a:latin typeface="Nunito"/>
              <a:ea typeface="Nunito"/>
              <a:cs typeface="Nunito"/>
              <a:sym typeface="Nunito"/>
            </a:endParaRPr>
          </a:p>
        </p:txBody>
      </p:sp>
      <p:sp>
        <p:nvSpPr>
          <p:cNvPr id="642" name="Google Shape;642;p5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643" name="Google Shape;643;p56"/>
          <p:cNvPicPr preferRelativeResize="0"/>
          <p:nvPr/>
        </p:nvPicPr>
        <p:blipFill>
          <a:blip r:embed="rId3">
            <a:alphaModFix/>
          </a:blip>
          <a:stretch>
            <a:fillRect/>
          </a:stretch>
        </p:blipFill>
        <p:spPr>
          <a:xfrm>
            <a:off x="152400" y="712925"/>
            <a:ext cx="4745252" cy="3933700"/>
          </a:xfrm>
          <a:prstGeom prst="rect">
            <a:avLst/>
          </a:prstGeom>
          <a:noFill/>
          <a:ln>
            <a:noFill/>
          </a:ln>
        </p:spPr>
      </p:pic>
      <p:pic>
        <p:nvPicPr>
          <p:cNvPr id="644" name="Google Shape;644;p56"/>
          <p:cNvPicPr preferRelativeResize="0"/>
          <p:nvPr/>
        </p:nvPicPr>
        <p:blipFill>
          <a:blip r:embed="rId4">
            <a:alphaModFix/>
          </a:blip>
          <a:stretch>
            <a:fillRect/>
          </a:stretch>
        </p:blipFill>
        <p:spPr>
          <a:xfrm>
            <a:off x="6073052" y="712913"/>
            <a:ext cx="1853881" cy="397337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7"/>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Drift into Failure</a:t>
            </a:r>
            <a:endParaRPr/>
          </a:p>
        </p:txBody>
      </p:sp>
      <p:sp>
        <p:nvSpPr>
          <p:cNvPr id="650" name="Google Shape;650;p5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51" name="Google Shape;651;p5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44</a:t>
            </a:fld>
            <a:endParaRPr sz="1300" b="0" i="0" u="none" strike="noStrike" cap="none">
              <a:solidFill>
                <a:srgbClr val="FFFFFF"/>
              </a:solidFill>
              <a:latin typeface="Nunito"/>
              <a:ea typeface="Nunito"/>
              <a:cs typeface="Nunito"/>
              <a:sym typeface="Nunito"/>
            </a:endParaRPr>
          </a:p>
        </p:txBody>
      </p:sp>
      <p:sp>
        <p:nvSpPr>
          <p:cNvPr id="652" name="Google Shape;652;p5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53" name="Google Shape;653;p57"/>
          <p:cNvSpPr txBox="1"/>
          <p:nvPr/>
        </p:nvSpPr>
        <p:spPr>
          <a:xfrm>
            <a:off x="5123975" y="4560900"/>
            <a:ext cx="412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Slide adapted from Eric Marsden’s Safety models presentation</a:t>
            </a:r>
            <a:endParaRPr sz="1100">
              <a:latin typeface="Nunito"/>
              <a:ea typeface="Nunito"/>
              <a:cs typeface="Nunito"/>
              <a:sym typeface="Nunito"/>
            </a:endParaRPr>
          </a:p>
        </p:txBody>
      </p:sp>
      <p:pic>
        <p:nvPicPr>
          <p:cNvPr id="654" name="Google Shape;654;p57"/>
          <p:cNvPicPr preferRelativeResize="0"/>
          <p:nvPr/>
        </p:nvPicPr>
        <p:blipFill>
          <a:blip r:embed="rId3">
            <a:alphaModFix/>
          </a:blip>
          <a:stretch>
            <a:fillRect/>
          </a:stretch>
        </p:blipFill>
        <p:spPr>
          <a:xfrm>
            <a:off x="2117425" y="723963"/>
            <a:ext cx="4909048" cy="36955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58"/>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Drift into Failure</a:t>
            </a:r>
            <a:endParaRPr/>
          </a:p>
        </p:txBody>
      </p:sp>
      <p:sp>
        <p:nvSpPr>
          <p:cNvPr id="660" name="Google Shape;660;p5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61" name="Google Shape;661;p5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45</a:t>
            </a:fld>
            <a:endParaRPr sz="1300" b="0" i="0" u="none" strike="noStrike" cap="none">
              <a:solidFill>
                <a:srgbClr val="FFFFFF"/>
              </a:solidFill>
              <a:latin typeface="Nunito"/>
              <a:ea typeface="Nunito"/>
              <a:cs typeface="Nunito"/>
              <a:sym typeface="Nunito"/>
            </a:endParaRPr>
          </a:p>
        </p:txBody>
      </p:sp>
      <p:sp>
        <p:nvSpPr>
          <p:cNvPr id="662" name="Google Shape;662;p5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63" name="Google Shape;663;p58"/>
          <p:cNvSpPr txBox="1"/>
          <p:nvPr/>
        </p:nvSpPr>
        <p:spPr>
          <a:xfrm>
            <a:off x="5123975" y="4560900"/>
            <a:ext cx="412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Slide adapted from Eric Marsden’s Safety models presentation</a:t>
            </a:r>
            <a:endParaRPr sz="1100">
              <a:latin typeface="Nunito"/>
              <a:ea typeface="Nunito"/>
              <a:cs typeface="Nunito"/>
              <a:sym typeface="Nunito"/>
            </a:endParaRPr>
          </a:p>
        </p:txBody>
      </p:sp>
      <p:pic>
        <p:nvPicPr>
          <p:cNvPr id="664" name="Google Shape;664;p58"/>
          <p:cNvPicPr preferRelativeResize="0"/>
          <p:nvPr/>
        </p:nvPicPr>
        <p:blipFill>
          <a:blip r:embed="rId3">
            <a:alphaModFix/>
          </a:blip>
          <a:stretch>
            <a:fillRect/>
          </a:stretch>
        </p:blipFill>
        <p:spPr>
          <a:xfrm>
            <a:off x="2117425" y="723963"/>
            <a:ext cx="4909048" cy="36955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59"/>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Drift into Failure</a:t>
            </a:r>
            <a:endParaRPr/>
          </a:p>
        </p:txBody>
      </p:sp>
      <p:sp>
        <p:nvSpPr>
          <p:cNvPr id="670" name="Google Shape;670;p5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71" name="Google Shape;671;p5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46</a:t>
            </a:fld>
            <a:endParaRPr sz="1300" b="0" i="0" u="none" strike="noStrike" cap="none">
              <a:solidFill>
                <a:srgbClr val="FFFFFF"/>
              </a:solidFill>
              <a:latin typeface="Nunito"/>
              <a:ea typeface="Nunito"/>
              <a:cs typeface="Nunito"/>
              <a:sym typeface="Nunito"/>
            </a:endParaRPr>
          </a:p>
        </p:txBody>
      </p:sp>
      <p:sp>
        <p:nvSpPr>
          <p:cNvPr id="672" name="Google Shape;672;p5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73" name="Google Shape;673;p59"/>
          <p:cNvSpPr txBox="1"/>
          <p:nvPr/>
        </p:nvSpPr>
        <p:spPr>
          <a:xfrm>
            <a:off x="5123975" y="4560900"/>
            <a:ext cx="412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Slide adapted from Eric Marsden’s Safety models presentation</a:t>
            </a:r>
            <a:endParaRPr sz="1100">
              <a:latin typeface="Nunito"/>
              <a:ea typeface="Nunito"/>
              <a:cs typeface="Nunito"/>
              <a:sym typeface="Nunito"/>
            </a:endParaRPr>
          </a:p>
        </p:txBody>
      </p:sp>
      <p:pic>
        <p:nvPicPr>
          <p:cNvPr id="674" name="Google Shape;674;p59"/>
          <p:cNvPicPr preferRelativeResize="0"/>
          <p:nvPr/>
        </p:nvPicPr>
        <p:blipFill>
          <a:blip r:embed="rId3">
            <a:alphaModFix/>
          </a:blip>
          <a:stretch>
            <a:fillRect/>
          </a:stretch>
        </p:blipFill>
        <p:spPr>
          <a:xfrm>
            <a:off x="2117425" y="723963"/>
            <a:ext cx="4909048" cy="36955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Drift into Failure</a:t>
            </a:r>
            <a:endParaRPr/>
          </a:p>
        </p:txBody>
      </p:sp>
      <p:sp>
        <p:nvSpPr>
          <p:cNvPr id="680" name="Google Shape;680;p6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81" name="Google Shape;681;p6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47</a:t>
            </a:fld>
            <a:endParaRPr sz="1300" b="0" i="0" u="none" strike="noStrike" cap="none">
              <a:solidFill>
                <a:srgbClr val="FFFFFF"/>
              </a:solidFill>
              <a:latin typeface="Nunito"/>
              <a:ea typeface="Nunito"/>
              <a:cs typeface="Nunito"/>
              <a:sym typeface="Nunito"/>
            </a:endParaRPr>
          </a:p>
        </p:txBody>
      </p:sp>
      <p:sp>
        <p:nvSpPr>
          <p:cNvPr id="682" name="Google Shape;682;p6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83" name="Google Shape;683;p60"/>
          <p:cNvSpPr txBox="1"/>
          <p:nvPr/>
        </p:nvSpPr>
        <p:spPr>
          <a:xfrm>
            <a:off x="5123975" y="4560900"/>
            <a:ext cx="412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Slide adapted from Eric Marsden’s Safety models presentation</a:t>
            </a:r>
            <a:endParaRPr sz="1100">
              <a:latin typeface="Nunito"/>
              <a:ea typeface="Nunito"/>
              <a:cs typeface="Nunito"/>
              <a:sym typeface="Nunito"/>
            </a:endParaRPr>
          </a:p>
        </p:txBody>
      </p:sp>
      <p:pic>
        <p:nvPicPr>
          <p:cNvPr id="684" name="Google Shape;684;p60"/>
          <p:cNvPicPr preferRelativeResize="0"/>
          <p:nvPr/>
        </p:nvPicPr>
        <p:blipFill>
          <a:blip r:embed="rId3">
            <a:alphaModFix/>
          </a:blip>
          <a:stretch>
            <a:fillRect/>
          </a:stretch>
        </p:blipFill>
        <p:spPr>
          <a:xfrm>
            <a:off x="2117425" y="723963"/>
            <a:ext cx="4909048" cy="36955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69"/>
          <p:cNvSpPr txBox="1">
            <a:spLocks noGrp="1"/>
          </p:cNvSpPr>
          <p:nvPr>
            <p:ph type="title"/>
          </p:nvPr>
        </p:nvSpPr>
        <p:spPr>
          <a:xfrm>
            <a:off x="398825" y="1330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Recap</a:t>
            </a:r>
            <a:endParaRPr/>
          </a:p>
          <a:p>
            <a:pPr marL="0" lvl="0" indent="0" algn="ctr" rtl="0">
              <a:lnSpc>
                <a:spcPct val="100000"/>
              </a:lnSpc>
              <a:spcBef>
                <a:spcPts val="0"/>
              </a:spcBef>
              <a:spcAft>
                <a:spcPts val="0"/>
              </a:spcAft>
              <a:buSzPts val="3600"/>
              <a:buNone/>
            </a:pPr>
            <a:endParaRPr/>
          </a:p>
        </p:txBody>
      </p:sp>
      <p:sp>
        <p:nvSpPr>
          <p:cNvPr id="785" name="Google Shape;785;p69"/>
          <p:cNvSpPr txBox="1"/>
          <p:nvPr/>
        </p:nvSpPr>
        <p:spPr>
          <a:xfrm>
            <a:off x="423400" y="893400"/>
            <a:ext cx="8409000" cy="3607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AI safety can be viewed as a safety engineering problem.</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Component failure accident models provide insight into how to prevent individual errors and their knock-on effects.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Swiss Cheese Model, Fault Tree Analysis</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Systemic accident models take a wider view, considering how to make the entire system safer rather than focusing on individual components.</a:t>
            </a:r>
            <a:endParaRPr sz="2000" b="0" i="0" u="none" strike="noStrike" cap="none">
              <a:solidFill>
                <a:schemeClr val="dk1"/>
              </a:solidFill>
              <a:latin typeface="Nunito"/>
              <a:ea typeface="Nunito"/>
              <a:cs typeface="Nunito"/>
              <a:sym typeface="Nunito"/>
            </a:endParaRPr>
          </a:p>
        </p:txBody>
      </p:sp>
      <p:sp>
        <p:nvSpPr>
          <p:cNvPr id="786" name="Google Shape;786;p6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87" name="Google Shape;787;p6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48</a:t>
            </a:fld>
            <a:endParaRPr sz="1300" b="0" i="0" u="none" strike="noStrike" cap="none">
              <a:solidFill>
                <a:srgbClr val="FFFFFF"/>
              </a:solidFill>
              <a:latin typeface="Nunito"/>
              <a:ea typeface="Nunito"/>
              <a:cs typeface="Nunito"/>
              <a:sym typeface="Nunito"/>
            </a:endParaRPr>
          </a:p>
        </p:txBody>
      </p:sp>
      <p:sp>
        <p:nvSpPr>
          <p:cNvPr id="788" name="Google Shape;788;p6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5">
                                            <p:txEl>
                                              <p:pRg st="0" end="0"/>
                                            </p:txEl>
                                          </p:spTgt>
                                        </p:tgtEl>
                                        <p:attrNameLst>
                                          <p:attrName>style.visibility</p:attrName>
                                        </p:attrNameLst>
                                      </p:cBhvr>
                                      <p:to>
                                        <p:strVal val="visible"/>
                                      </p:to>
                                    </p:set>
                                    <p:animEffect transition="in" filter="fade">
                                      <p:cBhvr>
                                        <p:cTn id="7" dur="1000"/>
                                        <p:tgtEl>
                                          <p:spTgt spid="7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5">
                                            <p:txEl>
                                              <p:pRg st="1" end="1"/>
                                            </p:txEl>
                                          </p:spTgt>
                                        </p:tgtEl>
                                        <p:attrNameLst>
                                          <p:attrName>style.visibility</p:attrName>
                                        </p:attrNameLst>
                                      </p:cBhvr>
                                      <p:to>
                                        <p:strVal val="visible"/>
                                      </p:to>
                                    </p:set>
                                    <p:animEffect transition="in" filter="fade">
                                      <p:cBhvr>
                                        <p:cTn id="12" dur="1000"/>
                                        <p:tgtEl>
                                          <p:spTgt spid="7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85">
                                            <p:txEl>
                                              <p:pRg st="2" end="2"/>
                                            </p:txEl>
                                          </p:spTgt>
                                        </p:tgtEl>
                                        <p:attrNameLst>
                                          <p:attrName>style.visibility</p:attrName>
                                        </p:attrNameLst>
                                      </p:cBhvr>
                                      <p:to>
                                        <p:strVal val="visible"/>
                                      </p:to>
                                    </p:set>
                                    <p:animEffect transition="in" filter="fade">
                                      <p:cBhvr>
                                        <p:cTn id="17" dur="1000"/>
                                        <p:tgtEl>
                                          <p:spTgt spid="7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85">
                                            <p:txEl>
                                              <p:pRg st="3" end="3"/>
                                            </p:txEl>
                                          </p:spTgt>
                                        </p:tgtEl>
                                        <p:attrNameLst>
                                          <p:attrName>style.visibility</p:attrName>
                                        </p:attrNameLst>
                                      </p:cBhvr>
                                      <p:to>
                                        <p:strVal val="visible"/>
                                      </p:to>
                                    </p:set>
                                    <p:animEffect transition="in" filter="fade">
                                      <p:cBhvr>
                                        <p:cTn id="22" dur="1000"/>
                                        <p:tgtEl>
                                          <p:spTgt spid="7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85">
                                            <p:txEl>
                                              <p:pRg st="4" end="4"/>
                                            </p:txEl>
                                          </p:spTgt>
                                        </p:tgtEl>
                                        <p:attrNameLst>
                                          <p:attrName>style.visibility</p:attrName>
                                        </p:attrNameLst>
                                      </p:cBhvr>
                                      <p:to>
                                        <p:strVal val="visible"/>
                                      </p:to>
                                    </p:set>
                                    <p:animEffect transition="in" filter="fade">
                                      <p:cBhvr>
                                        <p:cTn id="27" dur="1000"/>
                                        <p:tgtEl>
                                          <p:spTgt spid="78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85">
                                            <p:txEl>
                                              <p:pRg st="5" end="5"/>
                                            </p:txEl>
                                          </p:spTgt>
                                        </p:tgtEl>
                                        <p:attrNameLst>
                                          <p:attrName>style.visibility</p:attrName>
                                        </p:attrNameLst>
                                      </p:cBhvr>
                                      <p:to>
                                        <p:strVal val="visible"/>
                                      </p:to>
                                    </p:set>
                                    <p:animEffect transition="in" filter="fade">
                                      <p:cBhvr>
                                        <p:cTn id="32" dur="1000"/>
                                        <p:tgtEl>
                                          <p:spTgt spid="78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7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94" name="Google Shape;794;p70"/>
          <p:cNvSpPr txBox="1"/>
          <p:nvPr/>
        </p:nvSpPr>
        <p:spPr>
          <a:xfrm>
            <a:off x="36745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1. Risk decomposition and measuring reliability</a:t>
            </a:r>
            <a:endParaRPr sz="2000" b="0" i="1" u="none" strike="noStrike" cap="none">
              <a:solidFill>
                <a:schemeClr val="dk1"/>
              </a:solidFill>
              <a:latin typeface="Nunito"/>
              <a:ea typeface="Nunito"/>
              <a:cs typeface="Nunito"/>
              <a:sym typeface="Nunito"/>
            </a:endParaRPr>
          </a:p>
        </p:txBody>
      </p:sp>
      <p:sp>
        <p:nvSpPr>
          <p:cNvPr id="795" name="Google Shape;795;p7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96" name="Google Shape;796;p7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49</a:t>
            </a:fld>
            <a:endParaRPr sz="1300" b="0" i="0" u="none" strike="noStrike" cap="none">
              <a:solidFill>
                <a:srgbClr val="FFFFFF"/>
              </a:solidFill>
              <a:latin typeface="Nunito"/>
              <a:ea typeface="Nunito"/>
              <a:cs typeface="Nunito"/>
              <a:sym typeface="Nunito"/>
            </a:endParaRPr>
          </a:p>
        </p:txBody>
      </p:sp>
      <p:sp>
        <p:nvSpPr>
          <p:cNvPr id="797" name="Google Shape;797;p7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98" name="Google Shape;798;p70"/>
          <p:cNvSpPr txBox="1"/>
          <p:nvPr/>
        </p:nvSpPr>
        <p:spPr>
          <a:xfrm>
            <a:off x="367450" y="146632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Safe design principles </a:t>
            </a:r>
            <a:endParaRPr sz="2000" b="0" i="0" u="none" strike="noStrike" cap="none">
              <a:solidFill>
                <a:schemeClr val="dk1"/>
              </a:solidFill>
              <a:latin typeface="Nunito"/>
              <a:ea typeface="Nunito"/>
              <a:cs typeface="Nunito"/>
              <a:sym typeface="Nunito"/>
            </a:endParaRPr>
          </a:p>
        </p:txBody>
      </p:sp>
      <p:sp>
        <p:nvSpPr>
          <p:cNvPr id="799" name="Google Shape;799;p70"/>
          <p:cNvSpPr txBox="1"/>
          <p:nvPr/>
        </p:nvSpPr>
        <p:spPr>
          <a:xfrm>
            <a:off x="367450" y="276455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Systemic accident models</a:t>
            </a:r>
            <a:endParaRPr sz="2000" b="0" i="1" u="none" strike="noStrike" cap="none">
              <a:solidFill>
                <a:schemeClr val="dk1"/>
              </a:solidFill>
              <a:latin typeface="Nunito"/>
              <a:ea typeface="Nunito"/>
              <a:cs typeface="Nunito"/>
              <a:sym typeface="Nunito"/>
            </a:endParaRPr>
          </a:p>
        </p:txBody>
      </p:sp>
      <p:sp>
        <p:nvSpPr>
          <p:cNvPr id="800" name="Google Shape;800;p70"/>
          <p:cNvSpPr txBox="1"/>
          <p:nvPr/>
        </p:nvSpPr>
        <p:spPr>
          <a:xfrm>
            <a:off x="367450" y="341367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Tail events </a:t>
            </a:r>
            <a:endParaRPr sz="2000" b="0" i="0" u="none" strike="noStrike" cap="none">
              <a:solidFill>
                <a:schemeClr val="dk1"/>
              </a:solidFill>
              <a:latin typeface="Nunito"/>
              <a:ea typeface="Nunito"/>
              <a:cs typeface="Nunito"/>
              <a:sym typeface="Nunito"/>
            </a:endParaRPr>
          </a:p>
        </p:txBody>
      </p:sp>
      <p:sp>
        <p:nvSpPr>
          <p:cNvPr id="801" name="Google Shape;801;p70"/>
          <p:cNvSpPr txBox="1"/>
          <p:nvPr/>
        </p:nvSpPr>
        <p:spPr>
          <a:xfrm>
            <a:off x="367450" y="211543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Component failure accident models</a:t>
            </a:r>
            <a:endParaRPr sz="2000" b="0" i="0" u="none" strike="noStrike" cap="none">
              <a:solidFill>
                <a:schemeClr val="dk1"/>
              </a:solidFill>
              <a:latin typeface="Nunito"/>
              <a:ea typeface="Nunito"/>
              <a:cs typeface="Nunito"/>
              <a:sym typeface="Nunito"/>
            </a:endParaRPr>
          </a:p>
        </p:txBody>
      </p:sp>
      <p:sp>
        <p:nvSpPr>
          <p:cNvPr id="802" name="Google Shape;802;p70"/>
          <p:cNvSpPr txBox="1"/>
          <p:nvPr/>
        </p:nvSpPr>
        <p:spPr>
          <a:xfrm>
            <a:off x="367450" y="406279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Black swans</a:t>
            </a:r>
            <a:endParaRPr sz="2000" b="0" i="0" u="none" strike="noStrike" cap="none">
              <a:solidFill>
                <a:schemeClr val="dk1"/>
              </a:solidFill>
              <a:latin typeface="Nunito"/>
              <a:ea typeface="Nunito"/>
              <a:cs typeface="Nunito"/>
              <a:sym typeface="Nunito"/>
            </a:endParaRPr>
          </a:p>
        </p:txBody>
      </p:sp>
      <p:sp>
        <p:nvSpPr>
          <p:cNvPr id="803" name="Google Shape;803;p70"/>
          <p:cNvSpPr/>
          <p:nvPr/>
        </p:nvSpPr>
        <p:spPr>
          <a:xfrm>
            <a:off x="367450" y="3356975"/>
            <a:ext cx="8279700" cy="12435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3"/>
                                        </p:tgtEl>
                                        <p:attrNameLst>
                                          <p:attrName>style.visibility</p:attrName>
                                        </p:attrNameLst>
                                      </p:cBhvr>
                                      <p:to>
                                        <p:strVal val="visible"/>
                                      </p:to>
                                    </p:set>
                                    <p:animEffect transition="in" filter="fade">
                                      <p:cBhvr>
                                        <p:cTn id="7" dur="1000"/>
                                        <p:tgtEl>
                                          <p:spTgt spid="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71"/>
          <p:cNvSpPr txBox="1">
            <a:spLocks noGrp="1"/>
          </p:cNvSpPr>
          <p:nvPr>
            <p:ph type="title"/>
          </p:nvPr>
        </p:nvSpPr>
        <p:spPr>
          <a:xfrm>
            <a:off x="423450" y="19228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dirty="0"/>
              <a:t>Tail Events</a:t>
            </a:r>
            <a:endParaRPr sz="3600" dirty="0">
              <a:latin typeface="Nunito"/>
              <a:ea typeface="Nunito"/>
              <a:cs typeface="Nunito"/>
              <a:sym typeface="Nunito"/>
            </a:endParaRPr>
          </a:p>
        </p:txBody>
      </p:sp>
      <p:sp>
        <p:nvSpPr>
          <p:cNvPr id="809" name="Google Shape;809;p7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10" name="Google Shape;810;p7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50</a:t>
            </a:fld>
            <a:endParaRPr sz="1300" b="0" i="0" u="none" strike="noStrike" cap="none">
              <a:solidFill>
                <a:srgbClr val="FFFFFF"/>
              </a:solidFill>
              <a:latin typeface="Nunito"/>
              <a:ea typeface="Nunito"/>
              <a:cs typeface="Nunito"/>
              <a:sym typeface="Nunito"/>
            </a:endParaRPr>
          </a:p>
        </p:txBody>
      </p:sp>
      <p:sp>
        <p:nvSpPr>
          <p:cNvPr id="811" name="Google Shape;811;p7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72"/>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Defining Our Terms</a:t>
            </a:r>
            <a:endParaRPr/>
          </a:p>
        </p:txBody>
      </p:sp>
      <p:sp>
        <p:nvSpPr>
          <p:cNvPr id="817" name="Google Shape;817;p72"/>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Tail event</a:t>
            </a:r>
            <a:r>
              <a:rPr lang="en" sz="2000" b="0" i="0" u="none" strike="noStrike" cap="none">
                <a:solidFill>
                  <a:schemeClr val="dk1"/>
                </a:solidFill>
                <a:latin typeface="Nunito"/>
                <a:ea typeface="Nunito"/>
                <a:cs typeface="Nunito"/>
                <a:sym typeface="Nunito"/>
              </a:rPr>
              <a:t>: a low-probability but high-impact occurrence.</a:t>
            </a:r>
            <a:endParaRPr sz="2000" b="0" i="0" u="none" strike="noStrike" cap="none">
              <a:solidFill>
                <a:schemeClr val="dk1"/>
              </a:solidFill>
              <a:latin typeface="Nunito"/>
              <a:ea typeface="Nunito"/>
              <a:cs typeface="Nunito"/>
              <a:sym typeface="Nunito"/>
            </a:endParaRPr>
          </a:p>
        </p:txBody>
      </p:sp>
      <p:sp>
        <p:nvSpPr>
          <p:cNvPr id="818" name="Google Shape;818;p7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19" name="Google Shape;819;p7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51</a:t>
            </a:fld>
            <a:endParaRPr sz="1300" b="0" i="0" u="none" strike="noStrike" cap="none">
              <a:solidFill>
                <a:srgbClr val="FFFFFF"/>
              </a:solidFill>
              <a:latin typeface="Nunito"/>
              <a:ea typeface="Nunito"/>
              <a:cs typeface="Nunito"/>
              <a:sym typeface="Nunito"/>
            </a:endParaRPr>
          </a:p>
        </p:txBody>
      </p:sp>
      <p:sp>
        <p:nvSpPr>
          <p:cNvPr id="820" name="Google Shape;820;p7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821" name="Google Shape;821;p72"/>
          <p:cNvSpPr txBox="1"/>
          <p:nvPr/>
        </p:nvSpPr>
        <p:spPr>
          <a:xfrm>
            <a:off x="423400" y="144862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Tail risk</a:t>
            </a:r>
            <a:r>
              <a:rPr lang="en" sz="2000" b="0" i="0" u="none" strike="noStrike" cap="none">
                <a:solidFill>
                  <a:schemeClr val="dk1"/>
                </a:solidFill>
                <a:latin typeface="Nunito"/>
                <a:ea typeface="Nunito"/>
                <a:cs typeface="Nunito"/>
                <a:sym typeface="Nunito"/>
              </a:rPr>
              <a:t>: the possibility of a tail event with negative impact.</a:t>
            </a:r>
            <a:endParaRPr sz="2000" b="0" i="0" u="none" strike="noStrike" cap="none">
              <a:solidFill>
                <a:schemeClr val="dk1"/>
              </a:solidFill>
              <a:latin typeface="Nunito"/>
              <a:ea typeface="Nunito"/>
              <a:cs typeface="Nunito"/>
              <a:sym typeface="Nunito"/>
            </a:endParaRPr>
          </a:p>
        </p:txBody>
      </p:sp>
      <p:sp>
        <p:nvSpPr>
          <p:cNvPr id="822" name="Google Shape;822;p72"/>
          <p:cNvSpPr txBox="1"/>
          <p:nvPr/>
        </p:nvSpPr>
        <p:spPr>
          <a:xfrm>
            <a:off x="423400" y="208005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Black swan</a:t>
            </a:r>
            <a:r>
              <a:rPr lang="en" sz="2000" b="0" i="0" u="none" strike="noStrike" cap="none">
                <a:solidFill>
                  <a:schemeClr val="dk1"/>
                </a:solidFill>
                <a:latin typeface="Nunito"/>
                <a:ea typeface="Nunito"/>
                <a:cs typeface="Nunito"/>
                <a:sym typeface="Nunito"/>
              </a:rPr>
              <a:t>: tail events that are unanticipated, because they are “unknown unknowns” (</a:t>
            </a:r>
            <a:r>
              <a:rPr lang="en" sz="2000">
                <a:solidFill>
                  <a:schemeClr val="dk1"/>
                </a:solidFill>
                <a:latin typeface="Nunito"/>
                <a:ea typeface="Nunito"/>
                <a:cs typeface="Nunito"/>
                <a:sym typeface="Nunito"/>
              </a:rPr>
              <a:t>discussed</a:t>
            </a:r>
            <a:r>
              <a:rPr lang="en" sz="2000" b="0" i="0" u="none" strike="noStrike" cap="none">
                <a:solidFill>
                  <a:schemeClr val="dk1"/>
                </a:solidFill>
                <a:latin typeface="Nunito"/>
                <a:ea typeface="Nunito"/>
                <a:cs typeface="Nunito"/>
                <a:sym typeface="Nunito"/>
              </a:rPr>
              <a:t> later).</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7"/>
                                        </p:tgtEl>
                                        <p:attrNameLst>
                                          <p:attrName>style.visibility</p:attrName>
                                        </p:attrNameLst>
                                      </p:cBhvr>
                                      <p:to>
                                        <p:strVal val="visible"/>
                                      </p:to>
                                    </p:set>
                                    <p:animEffect transition="in" filter="fade">
                                      <p:cBhvr>
                                        <p:cTn id="7" dur="300"/>
                                        <p:tgtEl>
                                          <p:spTgt spid="8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1"/>
                                        </p:tgtEl>
                                        <p:attrNameLst>
                                          <p:attrName>style.visibility</p:attrName>
                                        </p:attrNameLst>
                                      </p:cBhvr>
                                      <p:to>
                                        <p:strVal val="visible"/>
                                      </p:to>
                                    </p:set>
                                    <p:animEffect transition="in" filter="fade">
                                      <p:cBhvr>
                                        <p:cTn id="12" dur="300"/>
                                        <p:tgtEl>
                                          <p:spTgt spid="8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2"/>
                                        </p:tgtEl>
                                        <p:attrNameLst>
                                          <p:attrName>style.visibility</p:attrName>
                                        </p:attrNameLst>
                                      </p:cBhvr>
                                      <p:to>
                                        <p:strVal val="visible"/>
                                      </p:to>
                                    </p:set>
                                    <p:animEffect transition="in" filter="fade">
                                      <p:cBhvr>
                                        <p:cTn id="17" dur="300"/>
                                        <p:tgtEl>
                                          <p:spTgt spid="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7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Introduction to Tail Events</a:t>
            </a:r>
            <a:endParaRPr/>
          </a:p>
        </p:txBody>
      </p:sp>
      <p:sp>
        <p:nvSpPr>
          <p:cNvPr id="828" name="Google Shape;828;p7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29" name="Google Shape;829;p7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52</a:t>
            </a:fld>
            <a:endParaRPr sz="1300" b="0" i="0" u="none" strike="noStrike" cap="none">
              <a:solidFill>
                <a:srgbClr val="FFFFFF"/>
              </a:solidFill>
              <a:latin typeface="Nunito"/>
              <a:ea typeface="Nunito"/>
              <a:cs typeface="Nunito"/>
              <a:sym typeface="Nunito"/>
            </a:endParaRPr>
          </a:p>
        </p:txBody>
      </p:sp>
      <p:sp>
        <p:nvSpPr>
          <p:cNvPr id="830" name="Google Shape;830;p7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831" name="Google Shape;831;p73"/>
          <p:cNvSpPr txBox="1"/>
          <p:nvPr/>
        </p:nvSpPr>
        <p:spPr>
          <a:xfrm>
            <a:off x="423400" y="876163"/>
            <a:ext cx="8857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Scott Sagan:</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“Things that have never happened before happen all the time.”</a:t>
            </a:r>
            <a:endParaRPr sz="2000" b="0" i="0" u="none" strike="noStrike" cap="none">
              <a:solidFill>
                <a:schemeClr val="dk1"/>
              </a:solidFill>
              <a:latin typeface="Nunito"/>
              <a:ea typeface="Nunito"/>
              <a:cs typeface="Nunito"/>
              <a:sym typeface="Nunito"/>
            </a:endParaRPr>
          </a:p>
        </p:txBody>
      </p:sp>
      <p:sp>
        <p:nvSpPr>
          <p:cNvPr id="832" name="Google Shape;832;p73"/>
          <p:cNvSpPr txBox="1"/>
          <p:nvPr/>
        </p:nvSpPr>
        <p:spPr>
          <a:xfrm>
            <a:off x="423400" y="2064500"/>
            <a:ext cx="8857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Tail event examples: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2007 financial crisis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COVID pandemic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ChatGPT</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1"/>
                                        </p:tgtEl>
                                        <p:attrNameLst>
                                          <p:attrName>style.visibility</p:attrName>
                                        </p:attrNameLst>
                                      </p:cBhvr>
                                      <p:to>
                                        <p:strVal val="visible"/>
                                      </p:to>
                                    </p:set>
                                    <p:animEffect transition="in" filter="fade">
                                      <p:cBhvr>
                                        <p:cTn id="7" dur="300"/>
                                        <p:tgtEl>
                                          <p:spTgt spid="8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32">
                                            <p:txEl>
                                              <p:pRg st="0" end="0"/>
                                            </p:txEl>
                                          </p:spTgt>
                                        </p:tgtEl>
                                        <p:attrNameLst>
                                          <p:attrName>style.visibility</p:attrName>
                                        </p:attrNameLst>
                                      </p:cBhvr>
                                      <p:to>
                                        <p:strVal val="visible"/>
                                      </p:to>
                                    </p:set>
                                    <p:animEffect transition="in" filter="fade">
                                      <p:cBhvr>
                                        <p:cTn id="12" dur="300"/>
                                        <p:tgtEl>
                                          <p:spTgt spid="8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2">
                                            <p:txEl>
                                              <p:pRg st="1" end="1"/>
                                            </p:txEl>
                                          </p:spTgt>
                                        </p:tgtEl>
                                        <p:attrNameLst>
                                          <p:attrName>style.visibility</p:attrName>
                                        </p:attrNameLst>
                                      </p:cBhvr>
                                      <p:to>
                                        <p:strVal val="visible"/>
                                      </p:to>
                                    </p:set>
                                    <p:animEffect transition="in" filter="fade">
                                      <p:cBhvr>
                                        <p:cTn id="17" dur="300"/>
                                        <p:tgtEl>
                                          <p:spTgt spid="83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32">
                                            <p:txEl>
                                              <p:pRg st="2" end="2"/>
                                            </p:txEl>
                                          </p:spTgt>
                                        </p:tgtEl>
                                        <p:attrNameLst>
                                          <p:attrName>style.visibility</p:attrName>
                                        </p:attrNameLst>
                                      </p:cBhvr>
                                      <p:to>
                                        <p:strVal val="visible"/>
                                      </p:to>
                                    </p:set>
                                    <p:animEffect transition="in" filter="fade">
                                      <p:cBhvr>
                                        <p:cTn id="22" dur="300"/>
                                        <p:tgtEl>
                                          <p:spTgt spid="83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32">
                                            <p:txEl>
                                              <p:pRg st="3" end="3"/>
                                            </p:txEl>
                                          </p:spTgt>
                                        </p:tgtEl>
                                        <p:attrNameLst>
                                          <p:attrName>style.visibility</p:attrName>
                                        </p:attrNameLst>
                                      </p:cBhvr>
                                      <p:to>
                                        <p:strVal val="visible"/>
                                      </p:to>
                                    </p:set>
                                    <p:animEffect transition="in" filter="fade">
                                      <p:cBhvr>
                                        <p:cTn id="27" dur="300"/>
                                        <p:tgtEl>
                                          <p:spTgt spid="8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80"/>
          <p:cNvSpPr txBox="1">
            <a:spLocks noGrp="1"/>
          </p:cNvSpPr>
          <p:nvPr>
            <p:ph type="title"/>
          </p:nvPr>
        </p:nvSpPr>
        <p:spPr>
          <a:xfrm>
            <a:off x="175" y="-12175"/>
            <a:ext cx="9143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Mediocristan vs Extremistan</a:t>
            </a:r>
            <a:endParaRPr/>
          </a:p>
        </p:txBody>
      </p:sp>
      <p:sp>
        <p:nvSpPr>
          <p:cNvPr id="908" name="Google Shape;908;p8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09" name="Google Shape;909;p8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53</a:t>
            </a:fld>
            <a:endParaRPr sz="1300" b="0" i="0" u="none" strike="noStrike" cap="none">
              <a:solidFill>
                <a:srgbClr val="FFFFFF"/>
              </a:solidFill>
              <a:latin typeface="Nunito"/>
              <a:ea typeface="Nunito"/>
              <a:cs typeface="Nunito"/>
              <a:sym typeface="Nunito"/>
            </a:endParaRPr>
          </a:p>
        </p:txBody>
      </p:sp>
      <p:sp>
        <p:nvSpPr>
          <p:cNvPr id="910" name="Google Shape;910;p8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911" name="Google Shape;911;p80"/>
          <p:cNvPicPr preferRelativeResize="0"/>
          <p:nvPr/>
        </p:nvPicPr>
        <p:blipFill rotWithShape="1">
          <a:blip r:embed="rId3">
            <a:alphaModFix/>
          </a:blip>
          <a:srcRect/>
          <a:stretch/>
        </p:blipFill>
        <p:spPr>
          <a:xfrm>
            <a:off x="891424" y="758027"/>
            <a:ext cx="7361151" cy="3843499"/>
          </a:xfrm>
          <a:prstGeom prst="rect">
            <a:avLst/>
          </a:prstGeom>
          <a:noFill/>
          <a:ln>
            <a:noFill/>
          </a:ln>
        </p:spPr>
      </p:pic>
      <p:sp>
        <p:nvSpPr>
          <p:cNvPr id="912" name="Google Shape;912;p80"/>
          <p:cNvSpPr/>
          <p:nvPr/>
        </p:nvSpPr>
        <p:spPr>
          <a:xfrm>
            <a:off x="4572000" y="718413"/>
            <a:ext cx="3686100" cy="3962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13" name="Google Shape;913;p80"/>
          <p:cNvPicPr preferRelativeResize="0"/>
          <p:nvPr/>
        </p:nvPicPr>
        <p:blipFill rotWithShape="1">
          <a:blip r:embed="rId3">
            <a:alphaModFix/>
          </a:blip>
          <a:srcRect/>
          <a:stretch/>
        </p:blipFill>
        <p:spPr>
          <a:xfrm>
            <a:off x="891424" y="758027"/>
            <a:ext cx="7361151" cy="38434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11"/>
                                        </p:tgtEl>
                                        <p:attrNameLst>
                                          <p:attrName>style.visibility</p:attrName>
                                        </p:attrNameLst>
                                      </p:cBhvr>
                                      <p:to>
                                        <p:strVal val="visible"/>
                                      </p:to>
                                    </p:set>
                                    <p:animEffect transition="in" filter="fade">
                                      <p:cBhvr>
                                        <p:cTn id="7" dur="300"/>
                                        <p:tgtEl>
                                          <p:spTgt spid="9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2" fill="hold" nodeType="clickEffect">
                                  <p:stCondLst>
                                    <p:cond delay="0"/>
                                  </p:stCondLst>
                                  <p:childTnLst>
                                    <p:anim calcmode="lin" valueType="num">
                                      <p:cBhvr additive="base">
                                        <p:cTn id="11" dur="1000"/>
                                        <p:tgtEl>
                                          <p:spTgt spid="912"/>
                                        </p:tgtEl>
                                        <p:attrNameLst>
                                          <p:attrName>ppt_x</p:attrName>
                                        </p:attrNameLst>
                                      </p:cBhvr>
                                      <p:tavLst>
                                        <p:tav tm="0">
                                          <p:val>
                                            <p:strVal val="#ppt_x"/>
                                          </p:val>
                                        </p:tav>
                                        <p:tav tm="100000">
                                          <p:val>
                                            <p:strVal val="#ppt_x+1"/>
                                          </p:val>
                                        </p:tav>
                                      </p:tavLst>
                                    </p:anim>
                                    <p:set>
                                      <p:cBhvr>
                                        <p:cTn id="12" dur="1" fill="hold">
                                          <p:stCondLst>
                                            <p:cond delay="1000"/>
                                          </p:stCondLst>
                                        </p:cTn>
                                        <p:tgtEl>
                                          <p:spTgt spid="91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913"/>
                                        </p:tgtEl>
                                        <p:attrNameLst>
                                          <p:attrName>style.visibility</p:attrName>
                                        </p:attrNameLst>
                                      </p:cBhvr>
                                      <p:to>
                                        <p:strVal val="visible"/>
                                      </p:to>
                                    </p:set>
                                    <p:animEffect transition="in" filter="fade">
                                      <p:cBhvr>
                                        <p:cTn id="15" dur="1000"/>
                                        <p:tgtEl>
                                          <p:spTgt spid="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81"/>
          <p:cNvSpPr txBox="1">
            <a:spLocks noGrp="1"/>
          </p:cNvSpPr>
          <p:nvPr>
            <p:ph type="title"/>
          </p:nvPr>
        </p:nvSpPr>
        <p:spPr>
          <a:xfrm>
            <a:off x="423450" y="16942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Black Swans</a:t>
            </a:r>
            <a:endParaRPr sz="3600">
              <a:latin typeface="Nunito"/>
              <a:ea typeface="Nunito"/>
              <a:cs typeface="Nunito"/>
              <a:sym typeface="Nunito"/>
            </a:endParaRPr>
          </a:p>
        </p:txBody>
      </p:sp>
      <p:sp>
        <p:nvSpPr>
          <p:cNvPr id="919" name="Google Shape;919;p8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20" name="Google Shape;920;p8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54</a:t>
            </a:fld>
            <a:endParaRPr sz="1300" b="0" i="0" u="none" strike="noStrike" cap="none">
              <a:solidFill>
                <a:srgbClr val="FFFFFF"/>
              </a:solidFill>
              <a:latin typeface="Nunito"/>
              <a:ea typeface="Nunito"/>
              <a:cs typeface="Nunito"/>
              <a:sym typeface="Nunito"/>
            </a:endParaRPr>
          </a:p>
        </p:txBody>
      </p:sp>
      <p:sp>
        <p:nvSpPr>
          <p:cNvPr id="921" name="Google Shape;921;p8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22" name="Google Shape;922;p81"/>
          <p:cNvSpPr txBox="1"/>
          <p:nvPr/>
        </p:nvSpPr>
        <p:spPr>
          <a:xfrm>
            <a:off x="367675" y="30062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1" u="none" strike="noStrike" cap="none">
                <a:solidFill>
                  <a:schemeClr val="dk1"/>
                </a:solidFill>
                <a:latin typeface="Nunito"/>
                <a:ea typeface="Nunito"/>
                <a:cs typeface="Nunito"/>
                <a:sym typeface="Nunito"/>
              </a:rPr>
              <a:t>Unanticipated tail events</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
                                        </p:tgtEl>
                                        <p:attrNameLst>
                                          <p:attrName>style.visibility</p:attrName>
                                        </p:attrNameLst>
                                      </p:cBhvr>
                                      <p:to>
                                        <p:strVal val="visible"/>
                                      </p:to>
                                    </p:set>
                                    <p:animEffect transition="in" filter="fade">
                                      <p:cBhvr>
                                        <p:cTn id="7" dur="300"/>
                                        <p:tgtEl>
                                          <p:spTgt spid="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82"/>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Introduction to Black Swans</a:t>
            </a:r>
            <a:endParaRPr/>
          </a:p>
        </p:txBody>
      </p:sp>
      <p:sp>
        <p:nvSpPr>
          <p:cNvPr id="928" name="Google Shape;928;p82"/>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Origin story: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Commonplace belief: “All swans are white”</a:t>
            </a:r>
            <a:endParaRPr sz="2000" b="0" i="0" u="none" strike="noStrike" cap="none">
              <a:solidFill>
                <a:schemeClr val="dk1"/>
              </a:solidFill>
              <a:latin typeface="Nunito"/>
              <a:ea typeface="Nunito"/>
              <a:cs typeface="Nunito"/>
              <a:sym typeface="Nunito"/>
            </a:endParaRPr>
          </a:p>
        </p:txBody>
      </p:sp>
      <p:sp>
        <p:nvSpPr>
          <p:cNvPr id="929" name="Google Shape;929;p8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30" name="Google Shape;930;p8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55</a:t>
            </a:fld>
            <a:endParaRPr sz="1300" b="0" i="0" u="none" strike="noStrike" cap="none">
              <a:solidFill>
                <a:srgbClr val="FFFFFF"/>
              </a:solidFill>
              <a:latin typeface="Nunito"/>
              <a:ea typeface="Nunito"/>
              <a:cs typeface="Nunito"/>
              <a:sym typeface="Nunito"/>
            </a:endParaRPr>
          </a:p>
        </p:txBody>
      </p:sp>
      <p:sp>
        <p:nvSpPr>
          <p:cNvPr id="931" name="Google Shape;931;p8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32" name="Google Shape;932;p82"/>
          <p:cNvSpPr txBox="1"/>
          <p:nvPr/>
        </p:nvSpPr>
        <p:spPr>
          <a:xfrm>
            <a:off x="423400" y="193298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Black swan</a:t>
            </a:r>
            <a:r>
              <a:rPr lang="en" sz="2000" b="0" i="0" u="none" strike="noStrike" cap="none">
                <a:solidFill>
                  <a:schemeClr val="dk1"/>
                </a:solidFill>
                <a:latin typeface="Nunito"/>
                <a:ea typeface="Nunito"/>
                <a:cs typeface="Nunito"/>
                <a:sym typeface="Nunito"/>
              </a:rPr>
              <a:t>: a tail event that is </a:t>
            </a:r>
            <a:r>
              <a:rPr lang="en" sz="2000" b="0" i="1" u="none" strike="noStrike" cap="none">
                <a:solidFill>
                  <a:schemeClr val="dk1"/>
                </a:solidFill>
                <a:latin typeface="Nunito"/>
                <a:ea typeface="Nunito"/>
                <a:cs typeface="Nunito"/>
                <a:sym typeface="Nunito"/>
              </a:rPr>
              <a:t>largely</a:t>
            </a:r>
            <a:r>
              <a:rPr lang="en" sz="2000" b="0" i="0" u="none" strike="noStrike" cap="none">
                <a:solidFill>
                  <a:schemeClr val="dk1"/>
                </a:solidFill>
                <a:latin typeface="Nunito"/>
                <a:ea typeface="Nunito"/>
                <a:cs typeface="Nunito"/>
                <a:sym typeface="Nunito"/>
              </a:rPr>
              <a:t> unanticipated by </a:t>
            </a:r>
            <a:r>
              <a:rPr lang="en" sz="2000" b="0" i="1" u="none" strike="noStrike" cap="none">
                <a:solidFill>
                  <a:schemeClr val="dk1"/>
                </a:solidFill>
                <a:latin typeface="Nunito"/>
                <a:ea typeface="Nunito"/>
                <a:cs typeface="Nunito"/>
                <a:sym typeface="Nunito"/>
              </a:rPr>
              <a:t>most</a:t>
            </a:r>
            <a:r>
              <a:rPr lang="en" sz="2000" b="0" i="0" u="none" strike="noStrike" cap="none">
                <a:solidFill>
                  <a:schemeClr val="dk1"/>
                </a:solidFill>
                <a:latin typeface="Nunito"/>
                <a:ea typeface="Nunito"/>
                <a:cs typeface="Nunito"/>
                <a:sym typeface="Nunito"/>
              </a:rPr>
              <a:t> people.</a:t>
            </a:r>
            <a:endParaRPr sz="2000" b="0" i="0" u="none" strike="noStrike" cap="none">
              <a:solidFill>
                <a:schemeClr val="dk1"/>
              </a:solidFill>
              <a:latin typeface="Nunito"/>
              <a:ea typeface="Nunito"/>
              <a:cs typeface="Nunito"/>
              <a:sym typeface="Nunito"/>
            </a:endParaRPr>
          </a:p>
        </p:txBody>
      </p:sp>
      <p:sp>
        <p:nvSpPr>
          <p:cNvPr id="933" name="Google Shape;933;p82"/>
          <p:cNvSpPr txBox="1"/>
          <p:nvPr/>
        </p:nvSpPr>
        <p:spPr>
          <a:xfrm>
            <a:off x="423400" y="1498900"/>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Observation: a black swan</a:t>
            </a:r>
            <a:endParaRPr sz="2000" b="0" i="0" u="none" strike="noStrike" cap="none">
              <a:solidFill>
                <a:schemeClr val="dk1"/>
              </a:solidFill>
              <a:latin typeface="Nunito"/>
              <a:ea typeface="Nunito"/>
              <a:cs typeface="Nunito"/>
              <a:sym typeface="Nunito"/>
            </a:endParaRPr>
          </a:p>
        </p:txBody>
      </p:sp>
      <p:pic>
        <p:nvPicPr>
          <p:cNvPr id="934" name="Google Shape;934;p82"/>
          <p:cNvPicPr preferRelativeResize="0"/>
          <p:nvPr/>
        </p:nvPicPr>
        <p:blipFill rotWithShape="1">
          <a:blip r:embed="rId3">
            <a:alphaModFix/>
          </a:blip>
          <a:srcRect/>
          <a:stretch/>
        </p:blipFill>
        <p:spPr>
          <a:xfrm>
            <a:off x="1310410" y="2477462"/>
            <a:ext cx="2659125" cy="2308476"/>
          </a:xfrm>
          <a:prstGeom prst="rect">
            <a:avLst/>
          </a:prstGeom>
          <a:noFill/>
          <a:ln>
            <a:noFill/>
          </a:ln>
        </p:spPr>
      </p:pic>
      <p:pic>
        <p:nvPicPr>
          <p:cNvPr id="935" name="Google Shape;935;p82"/>
          <p:cNvPicPr preferRelativeResize="0"/>
          <p:nvPr/>
        </p:nvPicPr>
        <p:blipFill rotWithShape="1">
          <a:blip r:embed="rId4">
            <a:alphaModFix/>
          </a:blip>
          <a:srcRect/>
          <a:stretch/>
        </p:blipFill>
        <p:spPr>
          <a:xfrm>
            <a:off x="4788973" y="2527937"/>
            <a:ext cx="2561798" cy="2207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8">
                                            <p:txEl>
                                              <p:pRg st="0" end="0"/>
                                            </p:txEl>
                                          </p:spTgt>
                                        </p:tgtEl>
                                        <p:attrNameLst>
                                          <p:attrName>style.visibility</p:attrName>
                                        </p:attrNameLst>
                                      </p:cBhvr>
                                      <p:to>
                                        <p:strVal val="visible"/>
                                      </p:to>
                                    </p:set>
                                    <p:animEffect transition="in" filter="fade">
                                      <p:cBhvr>
                                        <p:cTn id="7" dur="1000"/>
                                        <p:tgtEl>
                                          <p:spTgt spid="9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8">
                                            <p:txEl>
                                              <p:pRg st="1" end="1"/>
                                            </p:txEl>
                                          </p:spTgt>
                                        </p:tgtEl>
                                        <p:attrNameLst>
                                          <p:attrName>style.visibility</p:attrName>
                                        </p:attrNameLst>
                                      </p:cBhvr>
                                      <p:to>
                                        <p:strVal val="visible"/>
                                      </p:to>
                                    </p:set>
                                    <p:animEffect transition="in" filter="fade">
                                      <p:cBhvr>
                                        <p:cTn id="12" dur="1000"/>
                                        <p:tgtEl>
                                          <p:spTgt spid="928">
                                            <p:txEl>
                                              <p:pRg st="1" end="1"/>
                                            </p:txEl>
                                          </p:spTgt>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934"/>
                                        </p:tgtEl>
                                        <p:attrNameLst>
                                          <p:attrName>style.visibility</p:attrName>
                                        </p:attrNameLst>
                                      </p:cBhvr>
                                      <p:to>
                                        <p:strVal val="visible"/>
                                      </p:to>
                                    </p:set>
                                    <p:animEffect transition="in" filter="fade">
                                      <p:cBhvr>
                                        <p:cTn id="16" dur="300"/>
                                        <p:tgtEl>
                                          <p:spTgt spid="93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33"/>
                                        </p:tgtEl>
                                        <p:attrNameLst>
                                          <p:attrName>style.visibility</p:attrName>
                                        </p:attrNameLst>
                                      </p:cBhvr>
                                      <p:to>
                                        <p:strVal val="visible"/>
                                      </p:to>
                                    </p:set>
                                    <p:animEffect transition="in" filter="fade">
                                      <p:cBhvr>
                                        <p:cTn id="21" dur="300"/>
                                        <p:tgtEl>
                                          <p:spTgt spid="933"/>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935"/>
                                        </p:tgtEl>
                                        <p:attrNameLst>
                                          <p:attrName>style.visibility</p:attrName>
                                        </p:attrNameLst>
                                      </p:cBhvr>
                                      <p:to>
                                        <p:strVal val="visible"/>
                                      </p:to>
                                    </p:set>
                                    <p:animEffect transition="in" filter="fade">
                                      <p:cBhvr>
                                        <p:cTn id="25" dur="300"/>
                                        <p:tgtEl>
                                          <p:spTgt spid="93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300"/>
                                        <p:tgtEl>
                                          <p:spTgt spid="934"/>
                                        </p:tgtEl>
                                      </p:cBhvr>
                                    </p:animEffect>
                                    <p:set>
                                      <p:cBhvr>
                                        <p:cTn id="30" dur="1" fill="hold">
                                          <p:stCondLst>
                                            <p:cond delay="300"/>
                                          </p:stCondLst>
                                        </p:cTn>
                                        <p:tgtEl>
                                          <p:spTgt spid="934"/>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300"/>
                                        <p:tgtEl>
                                          <p:spTgt spid="935"/>
                                        </p:tgtEl>
                                      </p:cBhvr>
                                    </p:animEffect>
                                    <p:set>
                                      <p:cBhvr>
                                        <p:cTn id="33" dur="1" fill="hold">
                                          <p:stCondLst>
                                            <p:cond delay="300"/>
                                          </p:stCondLst>
                                        </p:cTn>
                                        <p:tgtEl>
                                          <p:spTgt spid="935"/>
                                        </p:tgtEl>
                                        <p:attrNameLst>
                                          <p:attrName>style.visibility</p:attrName>
                                        </p:attrNameLst>
                                      </p:cBhvr>
                                      <p:to>
                                        <p:strVal val="hidden"/>
                                      </p:to>
                                    </p:set>
                                  </p:childTnLst>
                                </p:cTn>
                              </p:par>
                              <p:par>
                                <p:cTn id="34" presetID="10" presetClass="entr" presetSubtype="0" fill="hold" nodeType="withEffect">
                                  <p:stCondLst>
                                    <p:cond delay="0"/>
                                  </p:stCondLst>
                                  <p:childTnLst>
                                    <p:set>
                                      <p:cBhvr>
                                        <p:cTn id="35" dur="1" fill="hold">
                                          <p:stCondLst>
                                            <p:cond delay="0"/>
                                          </p:stCondLst>
                                        </p:cTn>
                                        <p:tgtEl>
                                          <p:spTgt spid="932"/>
                                        </p:tgtEl>
                                        <p:attrNameLst>
                                          <p:attrName>style.visibility</p:attrName>
                                        </p:attrNameLst>
                                      </p:cBhvr>
                                      <p:to>
                                        <p:strVal val="visible"/>
                                      </p:to>
                                    </p:set>
                                    <p:animEffect transition="in" filter="fade">
                                      <p:cBhvr>
                                        <p:cTn id="36" dur="300"/>
                                        <p:tgtEl>
                                          <p:spTgt spid="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83"/>
          <p:cNvSpPr/>
          <p:nvPr/>
        </p:nvSpPr>
        <p:spPr>
          <a:xfrm>
            <a:off x="4411050" y="2594600"/>
            <a:ext cx="3644400" cy="1966200"/>
          </a:xfrm>
          <a:prstGeom prst="rect">
            <a:avLst/>
          </a:prstGeom>
          <a:solidFill>
            <a:srgbClr val="A4C2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8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“Known vs Unknown” Unknowns</a:t>
            </a:r>
            <a:endParaRPr/>
          </a:p>
        </p:txBody>
      </p:sp>
      <p:sp>
        <p:nvSpPr>
          <p:cNvPr id="942" name="Google Shape;942;p83"/>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943" name="Google Shape;943;p8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44" name="Google Shape;944;p8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56</a:t>
            </a:fld>
            <a:endParaRPr sz="1300" b="0" i="0" u="none" strike="noStrike" cap="none">
              <a:solidFill>
                <a:srgbClr val="FFFFFF"/>
              </a:solidFill>
              <a:latin typeface="Nunito"/>
              <a:ea typeface="Nunito"/>
              <a:cs typeface="Nunito"/>
              <a:sym typeface="Nunito"/>
            </a:endParaRPr>
          </a:p>
        </p:txBody>
      </p:sp>
      <p:sp>
        <p:nvSpPr>
          <p:cNvPr id="945" name="Google Shape;945;p8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graphicFrame>
        <p:nvGraphicFramePr>
          <p:cNvPr id="946" name="Google Shape;946;p83"/>
          <p:cNvGraphicFramePr/>
          <p:nvPr/>
        </p:nvGraphicFramePr>
        <p:xfrm>
          <a:off x="987275" y="943600"/>
          <a:ext cx="7068150" cy="3626550"/>
        </p:xfrm>
        <a:graphic>
          <a:graphicData uri="http://schemas.openxmlformats.org/drawingml/2006/table">
            <a:tbl>
              <a:tblPr>
                <a:noFill/>
                <a:tableStyleId>{BF31EC0D-D4BC-45B7-BEFD-C31C30F8696B}</a:tableStyleId>
              </a:tblPr>
              <a:tblGrid>
                <a:gridCol w="3423775">
                  <a:extLst>
                    <a:ext uri="{9D8B030D-6E8A-4147-A177-3AD203B41FA5}">
                      <a16:colId xmlns:a16="http://schemas.microsoft.com/office/drawing/2014/main" val="20000"/>
                    </a:ext>
                  </a:extLst>
                </a:gridCol>
                <a:gridCol w="3644375">
                  <a:extLst>
                    <a:ext uri="{9D8B030D-6E8A-4147-A177-3AD203B41FA5}">
                      <a16:colId xmlns:a16="http://schemas.microsoft.com/office/drawing/2014/main" val="20001"/>
                    </a:ext>
                  </a:extLst>
                </a:gridCol>
              </a:tblGrid>
              <a:tr h="1610825">
                <a:tc>
                  <a:txBody>
                    <a:bodyPr/>
                    <a:lstStyle/>
                    <a:p>
                      <a:pPr marL="0" marR="0" lvl="0" indent="0" algn="l" rtl="0">
                        <a:lnSpc>
                          <a:spcPct val="100000"/>
                        </a:lnSpc>
                        <a:spcBef>
                          <a:spcPts val="0"/>
                        </a:spcBef>
                        <a:spcAft>
                          <a:spcPts val="0"/>
                        </a:spcAft>
                        <a:buClr>
                          <a:srgbClr val="000000"/>
                        </a:buClr>
                        <a:buSzPts val="2000"/>
                        <a:buFont typeface="Arial"/>
                        <a:buNone/>
                      </a:pPr>
                      <a:r>
                        <a:rPr lang="en" sz="2000" b="1" u="none" strike="noStrike" cap="none">
                          <a:latin typeface="Nunito"/>
                          <a:ea typeface="Nunito"/>
                          <a:cs typeface="Nunito"/>
                          <a:sym typeface="Nunito"/>
                        </a:rPr>
                        <a:t>Known knowns</a:t>
                      </a:r>
                      <a:r>
                        <a:rPr lang="en" sz="2000" u="none" strike="noStrike" cap="none">
                          <a:latin typeface="Nunito"/>
                          <a:ea typeface="Nunito"/>
                          <a:cs typeface="Nunito"/>
                          <a:sym typeface="Nunito"/>
                        </a:rPr>
                        <a:t>: things we are aware of and understand.</a:t>
                      </a: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u="none" strike="noStrike" cap="none">
                          <a:latin typeface="Nunito"/>
                          <a:ea typeface="Nunito"/>
                          <a:cs typeface="Nunito"/>
                          <a:sym typeface="Nunito"/>
                        </a:rPr>
                        <a:t>Facts and requirements.</a:t>
                      </a:r>
                      <a:endParaRPr sz="2000" u="none" strike="noStrike" cap="none">
                        <a:latin typeface="Nunito"/>
                        <a:ea typeface="Nunito"/>
                        <a:cs typeface="Nunito"/>
                        <a:sym typeface="Nunito"/>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2000"/>
                        <a:buFont typeface="Arial"/>
                        <a:buNone/>
                      </a:pPr>
                      <a:r>
                        <a:rPr lang="en" sz="2000" b="1" u="none" strike="noStrike" cap="none">
                          <a:latin typeface="Nunito"/>
                          <a:ea typeface="Nunito"/>
                          <a:cs typeface="Nunito"/>
                          <a:sym typeface="Nunito"/>
                        </a:rPr>
                        <a:t>Unknown knowns</a:t>
                      </a:r>
                      <a:r>
                        <a:rPr lang="en" sz="2000" u="none" strike="noStrike" cap="none">
                          <a:latin typeface="Nunito"/>
                          <a:ea typeface="Nunito"/>
                          <a:cs typeface="Nunito"/>
                          <a:sym typeface="Nunito"/>
                        </a:rPr>
                        <a:t>: things we do not realize we know.</a:t>
                      </a: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u="none" strike="noStrike" cap="none">
                          <a:latin typeface="Nunito"/>
                          <a:ea typeface="Nunito"/>
                          <a:cs typeface="Nunito"/>
                          <a:sym typeface="Nunito"/>
                        </a:rPr>
                        <a:t>Tacit knowledge.</a:t>
                      </a:r>
                      <a:endParaRPr sz="2000" u="none" strike="noStrike" cap="none">
                        <a:latin typeface="Nunito"/>
                        <a:ea typeface="Nunito"/>
                        <a:cs typeface="Nunito"/>
                        <a:sym typeface="Nunito"/>
                      </a:endParaRPr>
                    </a:p>
                  </a:txBody>
                  <a:tcPr marL="63500" marR="63500" marT="63500" marB="63500"/>
                </a:tc>
                <a:extLst>
                  <a:ext uri="{0D108BD9-81ED-4DB2-BD59-A6C34878D82A}">
                    <a16:rowId xmlns:a16="http://schemas.microsoft.com/office/drawing/2014/main" val="10000"/>
                  </a:ext>
                </a:extLst>
              </a:tr>
              <a:tr h="1975550">
                <a:tc>
                  <a:txBody>
                    <a:bodyPr/>
                    <a:lstStyle/>
                    <a:p>
                      <a:pPr marL="0" marR="0" lvl="0" indent="0" algn="l" rtl="0">
                        <a:lnSpc>
                          <a:spcPct val="100000"/>
                        </a:lnSpc>
                        <a:spcBef>
                          <a:spcPts val="0"/>
                        </a:spcBef>
                        <a:spcAft>
                          <a:spcPts val="0"/>
                        </a:spcAft>
                        <a:buClr>
                          <a:srgbClr val="000000"/>
                        </a:buClr>
                        <a:buSzPts val="2000"/>
                        <a:buFont typeface="Arial"/>
                        <a:buNone/>
                      </a:pPr>
                      <a:r>
                        <a:rPr lang="en" sz="2000" b="1" u="none" strike="noStrike" cap="none">
                          <a:latin typeface="Nunito"/>
                          <a:ea typeface="Nunito"/>
                          <a:cs typeface="Nunito"/>
                          <a:sym typeface="Nunito"/>
                        </a:rPr>
                        <a:t>Known unknowns</a:t>
                      </a:r>
                      <a:r>
                        <a:rPr lang="en" sz="2000" u="none" strike="noStrike" cap="none">
                          <a:latin typeface="Nunito"/>
                          <a:ea typeface="Nunito"/>
                          <a:cs typeface="Nunito"/>
                          <a:sym typeface="Nunito"/>
                        </a:rPr>
                        <a:t>: things we are aware of but which we don’t fully understand.</a:t>
                      </a: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u="none" strike="noStrike" cap="none">
                          <a:latin typeface="Nunito"/>
                          <a:ea typeface="Nunito"/>
                          <a:cs typeface="Nunito"/>
                          <a:sym typeface="Nunito"/>
                        </a:rPr>
                        <a:t>Close-ended questions.</a:t>
                      </a:r>
                      <a:endParaRPr sz="2000" u="none" strike="noStrike" cap="none">
                        <a:latin typeface="Nunito"/>
                        <a:ea typeface="Nunito"/>
                        <a:cs typeface="Nunito"/>
                        <a:sym typeface="Nunito"/>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2000"/>
                        <a:buFont typeface="Arial"/>
                        <a:buNone/>
                      </a:pPr>
                      <a:r>
                        <a:rPr lang="en" sz="2000" b="1" u="none" strike="noStrike" cap="none">
                          <a:latin typeface="Nunito"/>
                          <a:ea typeface="Nunito"/>
                          <a:cs typeface="Nunito"/>
                          <a:sym typeface="Nunito"/>
                        </a:rPr>
                        <a:t>Unknown unknowns</a:t>
                      </a:r>
                      <a:r>
                        <a:rPr lang="en" sz="2000" u="none" strike="noStrike" cap="none">
                          <a:latin typeface="Nunito"/>
                          <a:ea typeface="Nunito"/>
                          <a:cs typeface="Nunito"/>
                          <a:sym typeface="Nunito"/>
                        </a:rPr>
                        <a:t>: things we do not understand, and are not aware we do not know.</a:t>
                      </a: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u="none" strike="noStrike" cap="none">
                          <a:latin typeface="Nunito"/>
                          <a:ea typeface="Nunito"/>
                          <a:cs typeface="Nunito"/>
                          <a:sym typeface="Nunito"/>
                        </a:rPr>
                        <a:t>Open-ended exploration.</a:t>
                      </a:r>
                      <a:endParaRPr sz="2000" u="none" strike="noStrike" cap="none">
                        <a:latin typeface="Nunito"/>
                        <a:ea typeface="Nunito"/>
                        <a:cs typeface="Nunito"/>
                        <a:sym typeface="Nunito"/>
                      </a:endParaRPr>
                    </a:p>
                  </a:txBody>
                  <a:tcPr marL="63500" marR="63500" marT="63500" marB="63500"/>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0"/>
                                        </p:tgtEl>
                                        <p:attrNameLst>
                                          <p:attrName>style.visibility</p:attrName>
                                        </p:attrNameLst>
                                      </p:cBhvr>
                                      <p:to>
                                        <p:strVal val="visible"/>
                                      </p:to>
                                    </p:set>
                                    <p:animEffect transition="in" filter="fade">
                                      <p:cBhvr>
                                        <p:cTn id="7" dur="300"/>
                                        <p:tgtEl>
                                          <p:spTgt spid="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84"/>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Turkey Problem</a:t>
            </a:r>
            <a:endParaRPr/>
          </a:p>
        </p:txBody>
      </p:sp>
      <p:sp>
        <p:nvSpPr>
          <p:cNvPr id="952" name="Google Shape;952;p84"/>
          <p:cNvSpPr txBox="1"/>
          <p:nvPr/>
        </p:nvSpPr>
        <p:spPr>
          <a:xfrm>
            <a:off x="423400" y="817200"/>
            <a:ext cx="8409000" cy="809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After a comfortable life at the farm, a turkey is suddenly killed and eaten. From its perspective, this might be a black swan.</a:t>
            </a:r>
            <a:endParaRPr sz="2000" b="0" i="0" u="none" strike="noStrike" cap="none">
              <a:solidFill>
                <a:schemeClr val="dk1"/>
              </a:solidFill>
              <a:latin typeface="Nunito"/>
              <a:ea typeface="Nunito"/>
              <a:cs typeface="Nunito"/>
              <a:sym typeface="Nunito"/>
            </a:endParaRPr>
          </a:p>
        </p:txBody>
      </p:sp>
      <p:sp>
        <p:nvSpPr>
          <p:cNvPr id="953" name="Google Shape;953;p8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54" name="Google Shape;954;p8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57</a:t>
            </a:fld>
            <a:endParaRPr sz="1300" b="0" i="0" u="none" strike="noStrike" cap="none">
              <a:solidFill>
                <a:srgbClr val="FFFFFF"/>
              </a:solidFill>
              <a:latin typeface="Nunito"/>
              <a:ea typeface="Nunito"/>
              <a:cs typeface="Nunito"/>
              <a:sym typeface="Nunito"/>
            </a:endParaRPr>
          </a:p>
        </p:txBody>
      </p:sp>
      <p:sp>
        <p:nvSpPr>
          <p:cNvPr id="955" name="Google Shape;955;p8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56" name="Google Shape;956;p84"/>
          <p:cNvSpPr txBox="1"/>
          <p:nvPr/>
        </p:nvSpPr>
        <p:spPr>
          <a:xfrm>
            <a:off x="423400" y="1775250"/>
            <a:ext cx="2829000" cy="1656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Black swans in AI:</a:t>
            </a:r>
            <a:endParaRPr sz="2000" b="0" i="0" u="none" strike="noStrike" cap="none">
              <a:solidFill>
                <a:schemeClr val="dk1"/>
              </a:solidFill>
              <a:latin typeface="Nunito"/>
              <a:ea typeface="Nunito"/>
              <a:cs typeface="Nunito"/>
              <a:sym typeface="Nunito"/>
            </a:endParaRPr>
          </a:p>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AI wellbeing</a:t>
            </a: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Autonomous economy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AI companions</a:t>
            </a:r>
            <a:endParaRPr sz="2000">
              <a:solidFill>
                <a:schemeClr val="dk1"/>
              </a:solidFill>
              <a:latin typeface="Nunito"/>
              <a:ea typeface="Nunito"/>
              <a:cs typeface="Nunito"/>
              <a:sym typeface="Nunito"/>
            </a:endParaRPr>
          </a:p>
        </p:txBody>
      </p:sp>
      <p:pic>
        <p:nvPicPr>
          <p:cNvPr id="957" name="Google Shape;957;p84"/>
          <p:cNvPicPr preferRelativeResize="0"/>
          <p:nvPr/>
        </p:nvPicPr>
        <p:blipFill rotWithShape="1">
          <a:blip r:embed="rId3">
            <a:alphaModFix/>
          </a:blip>
          <a:srcRect/>
          <a:stretch/>
        </p:blipFill>
        <p:spPr>
          <a:xfrm>
            <a:off x="5627304" y="1738375"/>
            <a:ext cx="2213231" cy="1962150"/>
          </a:xfrm>
          <a:prstGeom prst="rect">
            <a:avLst/>
          </a:prstGeom>
          <a:noFill/>
          <a:ln>
            <a:noFill/>
          </a:ln>
        </p:spPr>
      </p:pic>
      <p:pic>
        <p:nvPicPr>
          <p:cNvPr id="958" name="Google Shape;958;p84"/>
          <p:cNvPicPr preferRelativeResize="0"/>
          <p:nvPr/>
        </p:nvPicPr>
        <p:blipFill rotWithShape="1">
          <a:blip r:embed="rId4">
            <a:alphaModFix/>
          </a:blip>
          <a:srcRect/>
          <a:stretch/>
        </p:blipFill>
        <p:spPr>
          <a:xfrm>
            <a:off x="6011735" y="2073325"/>
            <a:ext cx="2232129" cy="1961285"/>
          </a:xfrm>
          <a:prstGeom prst="rect">
            <a:avLst/>
          </a:prstGeom>
          <a:noFill/>
          <a:ln>
            <a:noFill/>
          </a:ln>
        </p:spPr>
      </p:pic>
      <p:pic>
        <p:nvPicPr>
          <p:cNvPr id="959" name="Google Shape;959;p84"/>
          <p:cNvPicPr preferRelativeResize="0"/>
          <p:nvPr/>
        </p:nvPicPr>
        <p:blipFill rotWithShape="1">
          <a:blip r:embed="rId4">
            <a:alphaModFix/>
          </a:blip>
          <a:srcRect/>
          <a:stretch/>
        </p:blipFill>
        <p:spPr>
          <a:xfrm>
            <a:off x="6410314" y="2447925"/>
            <a:ext cx="2182744" cy="1917892"/>
          </a:xfrm>
          <a:prstGeom prst="rect">
            <a:avLst/>
          </a:prstGeom>
          <a:noFill/>
          <a:ln>
            <a:noFill/>
          </a:ln>
        </p:spPr>
      </p:pic>
      <p:pic>
        <p:nvPicPr>
          <p:cNvPr id="960" name="Google Shape;960;p84"/>
          <p:cNvPicPr preferRelativeResize="0"/>
          <p:nvPr/>
        </p:nvPicPr>
        <p:blipFill rotWithShape="1">
          <a:blip r:embed="rId5">
            <a:alphaModFix/>
          </a:blip>
          <a:srcRect/>
          <a:stretch/>
        </p:blipFill>
        <p:spPr>
          <a:xfrm>
            <a:off x="6602325" y="2716612"/>
            <a:ext cx="2381250" cy="2077833"/>
          </a:xfrm>
          <a:prstGeom prst="rect">
            <a:avLst/>
          </a:prstGeom>
          <a:noFill/>
          <a:ln>
            <a:noFill/>
          </a:ln>
        </p:spPr>
      </p:pic>
      <p:sp>
        <p:nvSpPr>
          <p:cNvPr id="961" name="Google Shape;961;p84"/>
          <p:cNvSpPr txBox="1"/>
          <p:nvPr/>
        </p:nvSpPr>
        <p:spPr>
          <a:xfrm>
            <a:off x="3616850" y="1965250"/>
            <a:ext cx="470700" cy="1508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600"/>
              <a:t>🦃</a:t>
            </a:r>
            <a:endParaRPr sz="8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2"/>
                                        </p:tgtEl>
                                        <p:attrNameLst>
                                          <p:attrName>style.visibility</p:attrName>
                                        </p:attrNameLst>
                                      </p:cBhvr>
                                      <p:to>
                                        <p:strVal val="visible"/>
                                      </p:to>
                                    </p:set>
                                    <p:animEffect transition="in" filter="fade">
                                      <p:cBhvr>
                                        <p:cTn id="7" dur="300"/>
                                        <p:tgtEl>
                                          <p:spTgt spid="9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7"/>
                                        </p:tgtEl>
                                        <p:attrNameLst>
                                          <p:attrName>style.visibility</p:attrName>
                                        </p:attrNameLst>
                                      </p:cBhvr>
                                      <p:to>
                                        <p:strVal val="visible"/>
                                      </p:to>
                                    </p:set>
                                    <p:animEffect transition="in" filter="fade">
                                      <p:cBhvr>
                                        <p:cTn id="12" dur="300"/>
                                        <p:tgtEl>
                                          <p:spTgt spid="9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58"/>
                                        </p:tgtEl>
                                        <p:attrNameLst>
                                          <p:attrName>style.visibility</p:attrName>
                                        </p:attrNameLst>
                                      </p:cBhvr>
                                      <p:to>
                                        <p:strVal val="visible"/>
                                      </p:to>
                                    </p:set>
                                    <p:animEffect transition="in" filter="fade">
                                      <p:cBhvr>
                                        <p:cTn id="17" dur="300"/>
                                        <p:tgtEl>
                                          <p:spTgt spid="9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9"/>
                                        </p:tgtEl>
                                        <p:attrNameLst>
                                          <p:attrName>style.visibility</p:attrName>
                                        </p:attrNameLst>
                                      </p:cBhvr>
                                      <p:to>
                                        <p:strVal val="visible"/>
                                      </p:to>
                                    </p:set>
                                    <p:animEffect transition="in" filter="fade">
                                      <p:cBhvr>
                                        <p:cTn id="22" dur="300"/>
                                        <p:tgtEl>
                                          <p:spTgt spid="95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60"/>
                                        </p:tgtEl>
                                        <p:attrNameLst>
                                          <p:attrName>style.visibility</p:attrName>
                                        </p:attrNameLst>
                                      </p:cBhvr>
                                      <p:to>
                                        <p:strVal val="visible"/>
                                      </p:to>
                                    </p:set>
                                    <p:animEffect transition="in" filter="fade">
                                      <p:cBhvr>
                                        <p:cTn id="27" dur="300"/>
                                        <p:tgtEl>
                                          <p:spTgt spid="96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56">
                                            <p:txEl>
                                              <p:pRg st="0" end="0"/>
                                            </p:txEl>
                                          </p:spTgt>
                                        </p:tgtEl>
                                        <p:attrNameLst>
                                          <p:attrName>style.visibility</p:attrName>
                                        </p:attrNameLst>
                                      </p:cBhvr>
                                      <p:to>
                                        <p:strVal val="visible"/>
                                      </p:to>
                                    </p:set>
                                    <p:animEffect transition="in" filter="fade">
                                      <p:cBhvr>
                                        <p:cTn id="32" dur="300"/>
                                        <p:tgtEl>
                                          <p:spTgt spid="95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56">
                                            <p:txEl>
                                              <p:pRg st="1" end="1"/>
                                            </p:txEl>
                                          </p:spTgt>
                                        </p:tgtEl>
                                        <p:attrNameLst>
                                          <p:attrName>style.visibility</p:attrName>
                                        </p:attrNameLst>
                                      </p:cBhvr>
                                      <p:to>
                                        <p:strVal val="visible"/>
                                      </p:to>
                                    </p:set>
                                    <p:animEffect transition="in" filter="fade">
                                      <p:cBhvr>
                                        <p:cTn id="37" dur="300"/>
                                        <p:tgtEl>
                                          <p:spTgt spid="95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56">
                                            <p:txEl>
                                              <p:pRg st="2" end="2"/>
                                            </p:txEl>
                                          </p:spTgt>
                                        </p:tgtEl>
                                        <p:attrNameLst>
                                          <p:attrName>style.visibility</p:attrName>
                                        </p:attrNameLst>
                                      </p:cBhvr>
                                      <p:to>
                                        <p:strVal val="visible"/>
                                      </p:to>
                                    </p:set>
                                    <p:animEffect transition="in" filter="fade">
                                      <p:cBhvr>
                                        <p:cTn id="42" dur="300"/>
                                        <p:tgtEl>
                                          <p:spTgt spid="956">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56">
                                            <p:txEl>
                                              <p:pRg st="3" end="3"/>
                                            </p:txEl>
                                          </p:spTgt>
                                        </p:tgtEl>
                                        <p:attrNameLst>
                                          <p:attrName>style.visibility</p:attrName>
                                        </p:attrNameLst>
                                      </p:cBhvr>
                                      <p:to>
                                        <p:strVal val="visible"/>
                                      </p:to>
                                    </p:set>
                                    <p:animEffect transition="in" filter="fade">
                                      <p:cBhvr>
                                        <p:cTn id="47" dur="300"/>
                                        <p:tgtEl>
                                          <p:spTgt spid="9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85"/>
          <p:cNvSpPr txBox="1">
            <a:spLocks noGrp="1"/>
          </p:cNvSpPr>
          <p:nvPr>
            <p:ph type="title"/>
          </p:nvPr>
        </p:nvSpPr>
        <p:spPr>
          <a:xfrm>
            <a:off x="423450" y="15418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Black Swans: </a:t>
            </a:r>
            <a:br>
              <a:rPr lang="en"/>
            </a:br>
            <a:r>
              <a:rPr lang="en"/>
              <a:t>Implications for Risk Analysis</a:t>
            </a:r>
            <a:endParaRPr sz="3600">
              <a:latin typeface="Nunito"/>
              <a:ea typeface="Nunito"/>
              <a:cs typeface="Nunito"/>
              <a:sym typeface="Nunito"/>
            </a:endParaRPr>
          </a:p>
        </p:txBody>
      </p:sp>
      <p:sp>
        <p:nvSpPr>
          <p:cNvPr id="967" name="Google Shape;967;p8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68" name="Google Shape;968;p8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58</a:t>
            </a:fld>
            <a:endParaRPr sz="1300" b="0" i="0" u="none" strike="noStrike" cap="none">
              <a:solidFill>
                <a:srgbClr val="FFFFFF"/>
              </a:solidFill>
              <a:latin typeface="Nunito"/>
              <a:ea typeface="Nunito"/>
              <a:cs typeface="Nunito"/>
              <a:sym typeface="Nunito"/>
            </a:endParaRPr>
          </a:p>
        </p:txBody>
      </p:sp>
      <p:sp>
        <p:nvSpPr>
          <p:cNvPr id="969" name="Google Shape;969;p8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70" name="Google Shape;970;p85"/>
          <p:cNvSpPr txBox="1"/>
          <p:nvPr/>
        </p:nvSpPr>
        <p:spPr>
          <a:xfrm>
            <a:off x="367675" y="28538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1" u="none" strike="noStrike" cap="none">
                <a:solidFill>
                  <a:schemeClr val="dk1"/>
                </a:solidFill>
                <a:latin typeface="Nunito"/>
                <a:ea typeface="Nunito"/>
                <a:cs typeface="Nunito"/>
                <a:sym typeface="Nunito"/>
              </a:rPr>
              <a:t>How to defend against risks we can’t anticipate</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0"/>
                                        </p:tgtEl>
                                        <p:attrNameLst>
                                          <p:attrName>style.visibility</p:attrName>
                                        </p:attrNameLst>
                                      </p:cBhvr>
                                      <p:to>
                                        <p:strVal val="visible"/>
                                      </p:to>
                                    </p:set>
                                    <p:animEffect transition="in" filter="fade">
                                      <p:cBhvr>
                                        <p:cTn id="7" dur="300"/>
                                        <p:tgtEl>
                                          <p:spTgt spid="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8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76" name="Google Shape;976;p8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59</a:t>
            </a:fld>
            <a:endParaRPr sz="1300" b="0" i="0" u="none" strike="noStrike" cap="none">
              <a:solidFill>
                <a:srgbClr val="FFFFFF"/>
              </a:solidFill>
              <a:latin typeface="Nunito"/>
              <a:ea typeface="Nunito"/>
              <a:cs typeface="Nunito"/>
              <a:sym typeface="Nunito"/>
            </a:endParaRPr>
          </a:p>
        </p:txBody>
      </p:sp>
      <p:sp>
        <p:nvSpPr>
          <p:cNvPr id="977" name="Google Shape;977;p8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78" name="Google Shape;978;p86"/>
          <p:cNvSpPr txBox="1"/>
          <p:nvPr/>
        </p:nvSpPr>
        <p:spPr>
          <a:xfrm>
            <a:off x="175" y="-12175"/>
            <a:ext cx="91440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1:</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Typical Risk Estimation Breaks Down </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pic>
        <p:nvPicPr>
          <p:cNvPr id="979" name="Google Shape;979;p86"/>
          <p:cNvPicPr preferRelativeResize="0"/>
          <p:nvPr/>
        </p:nvPicPr>
        <p:blipFill rotWithShape="1">
          <a:blip r:embed="rId3">
            <a:alphaModFix/>
          </a:blip>
          <a:srcRect/>
          <a:stretch/>
        </p:blipFill>
        <p:spPr>
          <a:xfrm>
            <a:off x="1017525" y="2022763"/>
            <a:ext cx="6992423" cy="8180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87"/>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Explicit cost-benefit analysis is strained under long tails, so often requires highly accurate estimates.</a:t>
            </a:r>
            <a:endParaRPr sz="2000" b="0" i="0" u="none" strike="noStrike" cap="none">
              <a:solidFill>
                <a:schemeClr val="dk1"/>
              </a:solidFill>
              <a:latin typeface="Nunito"/>
              <a:ea typeface="Nunito"/>
              <a:cs typeface="Nunito"/>
              <a:sym typeface="Nunito"/>
            </a:endParaRPr>
          </a:p>
        </p:txBody>
      </p:sp>
      <p:sp>
        <p:nvSpPr>
          <p:cNvPr id="985" name="Google Shape;985;p8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86" name="Google Shape;986;p8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60</a:t>
            </a:fld>
            <a:endParaRPr sz="1300" b="0" i="0" u="none" strike="noStrike" cap="none">
              <a:solidFill>
                <a:srgbClr val="FFFFFF"/>
              </a:solidFill>
              <a:latin typeface="Nunito"/>
              <a:ea typeface="Nunito"/>
              <a:cs typeface="Nunito"/>
              <a:sym typeface="Nunito"/>
            </a:endParaRPr>
          </a:p>
        </p:txBody>
      </p:sp>
      <p:sp>
        <p:nvSpPr>
          <p:cNvPr id="987" name="Google Shape;987;p8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88" name="Google Shape;988;p87"/>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2:</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Cost-Benefit Analysis Breaks Down</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989" name="Google Shape;989;p87"/>
          <p:cNvSpPr txBox="1"/>
          <p:nvPr/>
        </p:nvSpPr>
        <p:spPr>
          <a:xfrm>
            <a:off x="423400" y="21443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lottery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Lottery 1: (99.9% x $15) + (0.1% x -$10,000) = </a:t>
            </a:r>
            <a:r>
              <a:rPr lang="en" sz="2000" b="1" i="0" u="none" strike="noStrike" cap="none">
                <a:solidFill>
                  <a:srgbClr val="00D407"/>
                </a:solidFill>
                <a:latin typeface="Nunito"/>
                <a:ea typeface="Nunito"/>
                <a:cs typeface="Nunito"/>
                <a:sym typeface="Nunito"/>
              </a:rPr>
              <a:t>$4.985</a:t>
            </a:r>
            <a:endParaRPr sz="2000" b="1" i="0" u="none" strike="noStrike" cap="none">
              <a:solidFill>
                <a:srgbClr val="00D407"/>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Lottery 2: (99.7% x $15) + (0.3% x -$10,000) = </a:t>
            </a:r>
            <a:r>
              <a:rPr lang="en" sz="2000" b="1" i="0" u="none" strike="noStrike" cap="none">
                <a:solidFill>
                  <a:srgbClr val="FF0000"/>
                </a:solidFill>
                <a:latin typeface="Nunito"/>
                <a:ea typeface="Nunito"/>
                <a:cs typeface="Nunito"/>
                <a:sym typeface="Nunito"/>
              </a:rPr>
              <a:t>-$15.045</a:t>
            </a:r>
            <a:endParaRPr sz="2000" b="1" i="0" u="none" strike="noStrike" cap="none">
              <a:solidFill>
                <a:srgbClr val="FF0000"/>
              </a:solidFill>
              <a:latin typeface="Nunito"/>
              <a:ea typeface="Nunito"/>
              <a:cs typeface="Nunito"/>
              <a:sym typeface="Nunito"/>
            </a:endParaRPr>
          </a:p>
        </p:txBody>
      </p:sp>
      <p:sp>
        <p:nvSpPr>
          <p:cNvPr id="990" name="Google Shape;990;p87"/>
          <p:cNvSpPr txBox="1"/>
          <p:nvPr/>
        </p:nvSpPr>
        <p:spPr>
          <a:xfrm>
            <a:off x="423400" y="36060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For black swans, estimating probability is even more challenging.</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4"/>
                                        </p:tgtEl>
                                        <p:attrNameLst>
                                          <p:attrName>style.visibility</p:attrName>
                                        </p:attrNameLst>
                                      </p:cBhvr>
                                      <p:to>
                                        <p:strVal val="visible"/>
                                      </p:to>
                                    </p:set>
                                    <p:animEffect transition="in" filter="fade">
                                      <p:cBhvr>
                                        <p:cTn id="7" dur="300"/>
                                        <p:tgtEl>
                                          <p:spTgt spid="9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9">
                                            <p:txEl>
                                              <p:pRg st="0" end="0"/>
                                            </p:txEl>
                                          </p:spTgt>
                                        </p:tgtEl>
                                        <p:attrNameLst>
                                          <p:attrName>style.visibility</p:attrName>
                                        </p:attrNameLst>
                                      </p:cBhvr>
                                      <p:to>
                                        <p:strVal val="visible"/>
                                      </p:to>
                                    </p:set>
                                    <p:animEffect transition="in" filter="fade">
                                      <p:cBhvr>
                                        <p:cTn id="12" dur="300"/>
                                        <p:tgtEl>
                                          <p:spTgt spid="98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9">
                                            <p:txEl>
                                              <p:pRg st="1" end="1"/>
                                            </p:txEl>
                                          </p:spTgt>
                                        </p:tgtEl>
                                        <p:attrNameLst>
                                          <p:attrName>style.visibility</p:attrName>
                                        </p:attrNameLst>
                                      </p:cBhvr>
                                      <p:to>
                                        <p:strVal val="visible"/>
                                      </p:to>
                                    </p:set>
                                    <p:animEffect transition="in" filter="fade">
                                      <p:cBhvr>
                                        <p:cTn id="17" dur="300"/>
                                        <p:tgtEl>
                                          <p:spTgt spid="98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89">
                                            <p:txEl>
                                              <p:pRg st="2" end="2"/>
                                            </p:txEl>
                                          </p:spTgt>
                                        </p:tgtEl>
                                        <p:attrNameLst>
                                          <p:attrName>style.visibility</p:attrName>
                                        </p:attrNameLst>
                                      </p:cBhvr>
                                      <p:to>
                                        <p:strVal val="visible"/>
                                      </p:to>
                                    </p:set>
                                    <p:animEffect transition="in" filter="fade">
                                      <p:cBhvr>
                                        <p:cTn id="22" dur="300"/>
                                        <p:tgtEl>
                                          <p:spTgt spid="98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0"/>
                                        </p:tgtEl>
                                        <p:attrNameLst>
                                          <p:attrName>style.visibility</p:attrName>
                                        </p:attrNameLst>
                                      </p:cBhvr>
                                      <p:to>
                                        <p:strVal val="visible"/>
                                      </p:to>
                                    </p:set>
                                    <p:animEffect transition="in" filter="fade">
                                      <p:cBhvr>
                                        <p:cTn id="27" dur="300"/>
                                        <p:tgtEl>
                                          <p:spTgt spid="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88"/>
          <p:cNvSpPr txBox="1"/>
          <p:nvPr/>
        </p:nvSpPr>
        <p:spPr>
          <a:xfrm>
            <a:off x="423400" y="94125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Milton Friedman: “Never try to walk across a river just because it has an average depth of four feet.”</a:t>
            </a:r>
            <a:endParaRPr sz="2000" b="0" i="0" u="none" strike="noStrike" cap="none">
              <a:solidFill>
                <a:schemeClr val="dk1"/>
              </a:solidFill>
              <a:latin typeface="Nunito"/>
              <a:ea typeface="Nunito"/>
              <a:cs typeface="Nunito"/>
              <a:sym typeface="Nunito"/>
            </a:endParaRPr>
          </a:p>
        </p:txBody>
      </p:sp>
      <p:sp>
        <p:nvSpPr>
          <p:cNvPr id="996" name="Google Shape;996;p8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97" name="Google Shape;997;p8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61</a:t>
            </a:fld>
            <a:endParaRPr sz="1300" b="0" i="0" u="none" strike="noStrike" cap="none">
              <a:solidFill>
                <a:srgbClr val="FFFFFF"/>
              </a:solidFill>
              <a:latin typeface="Nunito"/>
              <a:ea typeface="Nunito"/>
              <a:cs typeface="Nunito"/>
              <a:sym typeface="Nunito"/>
            </a:endParaRPr>
          </a:p>
        </p:txBody>
      </p:sp>
      <p:sp>
        <p:nvSpPr>
          <p:cNvPr id="998" name="Google Shape;998;p8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99" name="Google Shape;999;p88"/>
          <p:cNvSpPr txBox="1"/>
          <p:nvPr/>
        </p:nvSpPr>
        <p:spPr>
          <a:xfrm>
            <a:off x="100" y="-12175"/>
            <a:ext cx="91440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3:</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We Must Consider Extremes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1000" name="Google Shape;1000;p88"/>
          <p:cNvSpPr txBox="1"/>
          <p:nvPr/>
        </p:nvSpPr>
        <p:spPr>
          <a:xfrm>
            <a:off x="423400" y="1760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When making risk-related decisions, we should consider extremes, not only the average.</a:t>
            </a:r>
            <a:endParaRPr sz="2000" b="0" i="0" u="none" strike="noStrike" cap="none">
              <a:solidFill>
                <a:schemeClr val="dk1"/>
              </a:solidFill>
              <a:latin typeface="Nunito"/>
              <a:ea typeface="Nunito"/>
              <a:cs typeface="Nunito"/>
              <a:sym typeface="Nunito"/>
            </a:endParaRPr>
          </a:p>
        </p:txBody>
      </p:sp>
      <p:pic>
        <p:nvPicPr>
          <p:cNvPr id="1001" name="Google Shape;1001;p88"/>
          <p:cNvPicPr preferRelativeResize="0"/>
          <p:nvPr/>
        </p:nvPicPr>
        <p:blipFill rotWithShape="1">
          <a:blip r:embed="rId3">
            <a:alphaModFix/>
          </a:blip>
          <a:srcRect/>
          <a:stretch/>
        </p:blipFill>
        <p:spPr>
          <a:xfrm>
            <a:off x="1190025" y="2704025"/>
            <a:ext cx="3158848" cy="2090424"/>
          </a:xfrm>
          <a:prstGeom prst="rect">
            <a:avLst/>
          </a:prstGeom>
          <a:noFill/>
          <a:ln>
            <a:noFill/>
          </a:ln>
        </p:spPr>
      </p:pic>
      <p:pic>
        <p:nvPicPr>
          <p:cNvPr id="1002" name="Google Shape;1002;p88"/>
          <p:cNvPicPr preferRelativeResize="0"/>
          <p:nvPr/>
        </p:nvPicPr>
        <p:blipFill rotWithShape="1">
          <a:blip r:embed="rId4">
            <a:alphaModFix/>
          </a:blip>
          <a:srcRect/>
          <a:stretch/>
        </p:blipFill>
        <p:spPr>
          <a:xfrm>
            <a:off x="4800825" y="2704025"/>
            <a:ext cx="3163596" cy="20904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5"/>
                                        </p:tgtEl>
                                        <p:attrNameLst>
                                          <p:attrName>style.visibility</p:attrName>
                                        </p:attrNameLst>
                                      </p:cBhvr>
                                      <p:to>
                                        <p:strVal val="visible"/>
                                      </p:to>
                                    </p:set>
                                    <p:animEffect transition="in" filter="fade">
                                      <p:cBhvr>
                                        <p:cTn id="7" dur="300"/>
                                        <p:tgtEl>
                                          <p:spTgt spid="9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1"/>
                                        </p:tgtEl>
                                        <p:attrNameLst>
                                          <p:attrName>style.visibility</p:attrName>
                                        </p:attrNameLst>
                                      </p:cBhvr>
                                      <p:to>
                                        <p:strVal val="visible"/>
                                      </p:to>
                                    </p:set>
                                    <p:animEffect transition="in" filter="fade">
                                      <p:cBhvr>
                                        <p:cTn id="12" dur="300"/>
                                        <p:tgtEl>
                                          <p:spTgt spid="10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2"/>
                                        </p:tgtEl>
                                        <p:attrNameLst>
                                          <p:attrName>style.visibility</p:attrName>
                                        </p:attrNameLst>
                                      </p:cBhvr>
                                      <p:to>
                                        <p:strVal val="visible"/>
                                      </p:to>
                                    </p:set>
                                    <p:animEffect transition="in" filter="fade">
                                      <p:cBhvr>
                                        <p:cTn id="17" dur="300"/>
                                        <p:tgtEl>
                                          <p:spTgt spid="1002"/>
                                        </p:tgtEl>
                                      </p:cBhvr>
                                    </p:animEffect>
                                  </p:childTnLst>
                                </p:cTn>
                              </p:par>
                              <p:par>
                                <p:cTn id="18" presetID="10" presetClass="entr" presetSubtype="0" fill="hold" nodeType="withEffect">
                                  <p:stCondLst>
                                    <p:cond delay="0"/>
                                  </p:stCondLst>
                                  <p:childTnLst>
                                    <p:set>
                                      <p:cBhvr>
                                        <p:cTn id="19" dur="1" fill="hold">
                                          <p:stCondLst>
                                            <p:cond delay="0"/>
                                          </p:stCondLst>
                                        </p:cTn>
                                        <p:tgtEl>
                                          <p:spTgt spid="1000"/>
                                        </p:tgtEl>
                                        <p:attrNameLst>
                                          <p:attrName>style.visibility</p:attrName>
                                        </p:attrNameLst>
                                      </p:cBhvr>
                                      <p:to>
                                        <p:strVal val="visible"/>
                                      </p:to>
                                    </p:set>
                                    <p:animEffect transition="in" filter="fade">
                                      <p:cBhvr>
                                        <p:cTn id="20" dur="300"/>
                                        <p:tgtEl>
                                          <p:spTgt spid="1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89"/>
          <p:cNvSpPr txBox="1"/>
          <p:nvPr/>
        </p:nvSpPr>
        <p:spPr>
          <a:xfrm>
            <a:off x="423400" y="969600"/>
            <a:ext cx="8811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should delay making our decision to gather more information.”</a:t>
            </a:r>
            <a:endParaRPr sz="2000" b="0" i="0" u="none" strike="noStrike" cap="none">
              <a:solidFill>
                <a:schemeClr val="dk1"/>
              </a:solidFill>
              <a:latin typeface="Nunito"/>
              <a:ea typeface="Nunito"/>
              <a:cs typeface="Nunito"/>
              <a:sym typeface="Nunito"/>
            </a:endParaRPr>
          </a:p>
        </p:txBody>
      </p:sp>
      <p:sp>
        <p:nvSpPr>
          <p:cNvPr id="1008" name="Google Shape;1008;p8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09" name="Google Shape;1009;p8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62</a:t>
            </a:fld>
            <a:endParaRPr sz="1300" b="0" i="0" u="none" strike="noStrike" cap="none">
              <a:solidFill>
                <a:srgbClr val="FFFFFF"/>
              </a:solidFill>
              <a:latin typeface="Nunito"/>
              <a:ea typeface="Nunito"/>
              <a:cs typeface="Nunito"/>
              <a:sym typeface="Nunito"/>
            </a:endParaRPr>
          </a:p>
        </p:txBody>
      </p:sp>
      <p:sp>
        <p:nvSpPr>
          <p:cNvPr id="1010" name="Google Shape;1010;p8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11" name="Google Shape;1011;p89"/>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4:</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The Delay Fallacy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1012" name="Google Shape;1012;p89"/>
          <p:cNvSpPr txBox="1"/>
          <p:nvPr/>
        </p:nvSpPr>
        <p:spPr>
          <a:xfrm>
            <a:off x="423400" y="1668825"/>
            <a:ext cx="8811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This works for thin-tailed scenarios, but not for long-tailed ones.</a:t>
            </a:r>
            <a:endParaRPr sz="2000" b="0" i="0" u="none" strike="noStrike" cap="none">
              <a:solidFill>
                <a:schemeClr val="dk1"/>
              </a:solidFill>
              <a:latin typeface="Nunito"/>
              <a:ea typeface="Nunito"/>
              <a:cs typeface="Nunito"/>
              <a:sym typeface="Nunito"/>
            </a:endParaRPr>
          </a:p>
        </p:txBody>
      </p:sp>
      <p:sp>
        <p:nvSpPr>
          <p:cNvPr id="1013" name="Google Shape;1013;p89"/>
          <p:cNvSpPr txBox="1"/>
          <p:nvPr/>
        </p:nvSpPr>
        <p:spPr>
          <a:xfrm>
            <a:off x="423400" y="2431638"/>
            <a:ext cx="8811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In long-tailed scenarios, waiting for more information can mean waiting until it is too late.</a:t>
            </a:r>
            <a:endParaRPr sz="2000" b="0" i="0" u="none" strike="noStrike" cap="none">
              <a:solidFill>
                <a:schemeClr val="dk1"/>
              </a:solidFill>
              <a:latin typeface="Nunito"/>
              <a:ea typeface="Nunito"/>
              <a:cs typeface="Nunito"/>
              <a:sym typeface="Nunito"/>
            </a:endParaRPr>
          </a:p>
        </p:txBody>
      </p:sp>
      <p:sp>
        <p:nvSpPr>
          <p:cNvPr id="1014" name="Google Shape;1014;p89"/>
          <p:cNvSpPr txBox="1"/>
          <p:nvPr/>
        </p:nvSpPr>
        <p:spPr>
          <a:xfrm>
            <a:off x="423400" y="3460638"/>
            <a:ext cx="8811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With black swans, waiting may yield no useful information at all. Large-scale black swans with catastrophic effects must not be allowed to happen even once</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7"/>
                                        </p:tgtEl>
                                        <p:attrNameLst>
                                          <p:attrName>style.visibility</p:attrName>
                                        </p:attrNameLst>
                                      </p:cBhvr>
                                      <p:to>
                                        <p:strVal val="visible"/>
                                      </p:to>
                                    </p:set>
                                    <p:animEffect transition="in" filter="fade">
                                      <p:cBhvr>
                                        <p:cTn id="7" dur="300"/>
                                        <p:tgtEl>
                                          <p:spTgt spid="10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2"/>
                                        </p:tgtEl>
                                        <p:attrNameLst>
                                          <p:attrName>style.visibility</p:attrName>
                                        </p:attrNameLst>
                                      </p:cBhvr>
                                      <p:to>
                                        <p:strVal val="visible"/>
                                      </p:to>
                                    </p:set>
                                    <p:animEffect transition="in" filter="fade">
                                      <p:cBhvr>
                                        <p:cTn id="12" dur="300"/>
                                        <p:tgtEl>
                                          <p:spTgt spid="10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3"/>
                                        </p:tgtEl>
                                        <p:attrNameLst>
                                          <p:attrName>style.visibility</p:attrName>
                                        </p:attrNameLst>
                                      </p:cBhvr>
                                      <p:to>
                                        <p:strVal val="visible"/>
                                      </p:to>
                                    </p:set>
                                    <p:animEffect transition="in" filter="fade">
                                      <p:cBhvr>
                                        <p:cTn id="17" dur="300"/>
                                        <p:tgtEl>
                                          <p:spTgt spid="10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14"/>
                                        </p:tgtEl>
                                        <p:attrNameLst>
                                          <p:attrName>style.visibility</p:attrName>
                                        </p:attrNameLst>
                                      </p:cBhvr>
                                      <p:to>
                                        <p:strVal val="visible"/>
                                      </p:to>
                                    </p:set>
                                    <p:animEffect transition="in" filter="fade">
                                      <p:cBhvr>
                                        <p:cTn id="22" dur="300"/>
                                        <p:tgtEl>
                                          <p:spTgt spid="1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90"/>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An absence of evidence is not strong evidence of absence.</a:t>
            </a:r>
            <a:endParaRPr sz="2000" b="0" i="0" u="none" strike="noStrike" cap="none">
              <a:solidFill>
                <a:schemeClr val="dk1"/>
              </a:solidFill>
              <a:latin typeface="Nunito"/>
              <a:ea typeface="Nunito"/>
              <a:cs typeface="Nunito"/>
              <a:sym typeface="Nunito"/>
            </a:endParaRPr>
          </a:p>
        </p:txBody>
      </p:sp>
      <p:sp>
        <p:nvSpPr>
          <p:cNvPr id="1020" name="Google Shape;1020;p9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21" name="Google Shape;1021;p9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63</a:t>
            </a:fld>
            <a:endParaRPr sz="1300" b="0" i="0" u="none" strike="noStrike" cap="none">
              <a:solidFill>
                <a:srgbClr val="FFFFFF"/>
              </a:solidFill>
              <a:latin typeface="Nunito"/>
              <a:ea typeface="Nunito"/>
              <a:cs typeface="Nunito"/>
              <a:sym typeface="Nunito"/>
            </a:endParaRPr>
          </a:p>
        </p:txBody>
      </p:sp>
      <p:sp>
        <p:nvSpPr>
          <p:cNvPr id="1022" name="Google Shape;1022;p9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23" name="Google Shape;1023;p90"/>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5:</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Absence of Evidence</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9"/>
                                        </p:tgtEl>
                                        <p:attrNameLst>
                                          <p:attrName>style.visibility</p:attrName>
                                        </p:attrNameLst>
                                      </p:cBhvr>
                                      <p:to>
                                        <p:strVal val="visible"/>
                                      </p:to>
                                    </p:set>
                                    <p:animEffect transition="in" filter="fade">
                                      <p:cBhvr>
                                        <p:cTn id="7" dur="300"/>
                                        <p:tgtEl>
                                          <p:spTgt spid="1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91"/>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Safety measures that successfully prevent harm can seem redundant.</a:t>
            </a:r>
            <a:endParaRPr sz="2000" b="0" i="0" u="none" strike="noStrike" cap="none">
              <a:solidFill>
                <a:schemeClr val="dk1"/>
              </a:solidFill>
              <a:latin typeface="Nunito"/>
              <a:ea typeface="Nunito"/>
              <a:cs typeface="Nunito"/>
              <a:sym typeface="Nunito"/>
            </a:endParaRPr>
          </a:p>
        </p:txBody>
      </p:sp>
      <p:sp>
        <p:nvSpPr>
          <p:cNvPr id="1029" name="Google Shape;1029;p9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30" name="Google Shape;1030;p9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64</a:t>
            </a:fld>
            <a:endParaRPr sz="1300" b="0" i="0" u="none" strike="noStrike" cap="none">
              <a:solidFill>
                <a:srgbClr val="FFFFFF"/>
              </a:solidFill>
              <a:latin typeface="Nunito"/>
              <a:ea typeface="Nunito"/>
              <a:cs typeface="Nunito"/>
              <a:sym typeface="Nunito"/>
            </a:endParaRPr>
          </a:p>
        </p:txBody>
      </p:sp>
      <p:sp>
        <p:nvSpPr>
          <p:cNvPr id="1031" name="Google Shape;1031;p9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32" name="Google Shape;1032;p91"/>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6:</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The Preparedness Paradox</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pic>
        <p:nvPicPr>
          <p:cNvPr id="1033" name="Google Shape;1033;p91"/>
          <p:cNvPicPr preferRelativeResize="0"/>
          <p:nvPr/>
        </p:nvPicPr>
        <p:blipFill rotWithShape="1">
          <a:blip r:embed="rId3">
            <a:alphaModFix/>
          </a:blip>
          <a:srcRect b="51167"/>
          <a:stretch/>
        </p:blipFill>
        <p:spPr>
          <a:xfrm>
            <a:off x="2343100" y="1487650"/>
            <a:ext cx="4626401" cy="1595101"/>
          </a:xfrm>
          <a:prstGeom prst="rect">
            <a:avLst/>
          </a:prstGeom>
          <a:noFill/>
          <a:ln>
            <a:noFill/>
          </a:ln>
        </p:spPr>
      </p:pic>
      <p:pic>
        <p:nvPicPr>
          <p:cNvPr id="1034" name="Google Shape;1034;p91"/>
          <p:cNvPicPr preferRelativeResize="0"/>
          <p:nvPr/>
        </p:nvPicPr>
        <p:blipFill rotWithShape="1">
          <a:blip r:embed="rId3">
            <a:alphaModFix/>
          </a:blip>
          <a:srcRect t="50863" r="645" b="1569"/>
          <a:stretch/>
        </p:blipFill>
        <p:spPr>
          <a:xfrm>
            <a:off x="2287150" y="3082750"/>
            <a:ext cx="4569600" cy="1611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3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3"/>
                                        </p:tgtEl>
                                        <p:attrNameLst>
                                          <p:attrName>style.visibility</p:attrName>
                                        </p:attrNameLst>
                                      </p:cBhvr>
                                      <p:to>
                                        <p:strVal val="visible"/>
                                      </p:to>
                                    </p:set>
                                    <p:animEffect transition="in" filter="fade">
                                      <p:cBhvr>
                                        <p:cTn id="12" dur="300"/>
                                        <p:tgtEl>
                                          <p:spTgt spid="10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300"/>
                                        <p:tgtEl>
                                          <p:spTgt spid="1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9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Reducing Tail Risks </a:t>
            </a:r>
            <a:endParaRPr/>
          </a:p>
        </p:txBody>
      </p:sp>
      <p:sp>
        <p:nvSpPr>
          <p:cNvPr id="1051" name="Google Shape;1051;p93"/>
          <p:cNvSpPr txBox="1"/>
          <p:nvPr/>
        </p:nvSpPr>
        <p:spPr>
          <a:xfrm>
            <a:off x="423400" y="817200"/>
            <a:ext cx="88269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Find potential black swans: turn them into </a:t>
            </a:r>
            <a:r>
              <a:rPr lang="en" sz="2000" b="0" i="1" u="none" strike="noStrike" cap="none">
                <a:solidFill>
                  <a:schemeClr val="dk1"/>
                </a:solidFill>
                <a:latin typeface="Nunito"/>
                <a:ea typeface="Nunito"/>
                <a:cs typeface="Nunito"/>
                <a:sym typeface="Nunito"/>
              </a:rPr>
              <a:t>known</a:t>
            </a:r>
            <a:r>
              <a:rPr lang="en" sz="2000" b="0" i="0" u="none" strike="noStrike" cap="none">
                <a:solidFill>
                  <a:schemeClr val="dk1"/>
                </a:solidFill>
                <a:latin typeface="Nunito"/>
                <a:ea typeface="Nunito"/>
                <a:cs typeface="Nunito"/>
                <a:sym typeface="Nunito"/>
              </a:rPr>
              <a:t> unknowns</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Incorporate safe design principles</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Improve systemic factors, such as risk awareness and safety culture</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Reduce our exposure to risk: follow the precautionary principle</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Improve policymakers’ decisions about AI</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Change researchers’ incentives: internalize externalities</a:t>
            </a:r>
            <a:endParaRPr sz="2000" b="0" i="0" u="none" strike="noStrike" cap="none">
              <a:solidFill>
                <a:schemeClr val="dk1"/>
              </a:solidFill>
              <a:latin typeface="Nunito"/>
              <a:ea typeface="Nunito"/>
              <a:cs typeface="Nunito"/>
              <a:sym typeface="Nunito"/>
            </a:endParaRPr>
          </a:p>
        </p:txBody>
      </p:sp>
      <p:sp>
        <p:nvSpPr>
          <p:cNvPr id="1052" name="Google Shape;1052;p9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53" name="Google Shape;1053;p9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65</a:t>
            </a:fld>
            <a:endParaRPr sz="1300" b="0" i="0" u="none" strike="noStrike" cap="none">
              <a:solidFill>
                <a:srgbClr val="FFFFFF"/>
              </a:solidFill>
              <a:latin typeface="Nunito"/>
              <a:ea typeface="Nunito"/>
              <a:cs typeface="Nunito"/>
              <a:sym typeface="Nunito"/>
            </a:endParaRPr>
          </a:p>
        </p:txBody>
      </p:sp>
      <p:sp>
        <p:nvSpPr>
          <p:cNvPr id="1054" name="Google Shape;1054;p9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1">
                                            <p:txEl>
                                              <p:pRg st="0" end="0"/>
                                            </p:txEl>
                                          </p:spTgt>
                                        </p:tgtEl>
                                        <p:attrNameLst>
                                          <p:attrName>style.visibility</p:attrName>
                                        </p:attrNameLst>
                                      </p:cBhvr>
                                      <p:to>
                                        <p:strVal val="visible"/>
                                      </p:to>
                                    </p:set>
                                    <p:animEffect transition="in" filter="fade">
                                      <p:cBhvr>
                                        <p:cTn id="7" dur="300"/>
                                        <p:tgtEl>
                                          <p:spTgt spid="1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1">
                                            <p:txEl>
                                              <p:pRg st="1" end="1"/>
                                            </p:txEl>
                                          </p:spTgt>
                                        </p:tgtEl>
                                        <p:attrNameLst>
                                          <p:attrName>style.visibility</p:attrName>
                                        </p:attrNameLst>
                                      </p:cBhvr>
                                      <p:to>
                                        <p:strVal val="visible"/>
                                      </p:to>
                                    </p:set>
                                    <p:animEffect transition="in" filter="fade">
                                      <p:cBhvr>
                                        <p:cTn id="12" dur="300"/>
                                        <p:tgtEl>
                                          <p:spTgt spid="10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51">
                                            <p:txEl>
                                              <p:pRg st="2" end="2"/>
                                            </p:txEl>
                                          </p:spTgt>
                                        </p:tgtEl>
                                        <p:attrNameLst>
                                          <p:attrName>style.visibility</p:attrName>
                                        </p:attrNameLst>
                                      </p:cBhvr>
                                      <p:to>
                                        <p:strVal val="visible"/>
                                      </p:to>
                                    </p:set>
                                    <p:animEffect transition="in" filter="fade">
                                      <p:cBhvr>
                                        <p:cTn id="17" dur="300"/>
                                        <p:tgtEl>
                                          <p:spTgt spid="10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51">
                                            <p:txEl>
                                              <p:pRg st="3" end="3"/>
                                            </p:txEl>
                                          </p:spTgt>
                                        </p:tgtEl>
                                        <p:attrNameLst>
                                          <p:attrName>style.visibility</p:attrName>
                                        </p:attrNameLst>
                                      </p:cBhvr>
                                      <p:to>
                                        <p:strVal val="visible"/>
                                      </p:to>
                                    </p:set>
                                    <p:animEffect transition="in" filter="fade">
                                      <p:cBhvr>
                                        <p:cTn id="22" dur="300"/>
                                        <p:tgtEl>
                                          <p:spTgt spid="10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51">
                                            <p:txEl>
                                              <p:pRg st="4" end="4"/>
                                            </p:txEl>
                                          </p:spTgt>
                                        </p:tgtEl>
                                        <p:attrNameLst>
                                          <p:attrName>style.visibility</p:attrName>
                                        </p:attrNameLst>
                                      </p:cBhvr>
                                      <p:to>
                                        <p:strVal val="visible"/>
                                      </p:to>
                                    </p:set>
                                    <p:animEffect transition="in" filter="fade">
                                      <p:cBhvr>
                                        <p:cTn id="27" dur="300"/>
                                        <p:tgtEl>
                                          <p:spTgt spid="10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51">
                                            <p:txEl>
                                              <p:pRg st="5" end="5"/>
                                            </p:txEl>
                                          </p:spTgt>
                                        </p:tgtEl>
                                        <p:attrNameLst>
                                          <p:attrName>style.visibility</p:attrName>
                                        </p:attrNameLst>
                                      </p:cBhvr>
                                      <p:to>
                                        <p:strVal val="visible"/>
                                      </p:to>
                                    </p:set>
                                    <p:animEffect transition="in" filter="fade">
                                      <p:cBhvr>
                                        <p:cTn id="32" dur="300"/>
                                        <p:tgtEl>
                                          <p:spTgt spid="10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94"/>
          <p:cNvSpPr txBox="1">
            <a:spLocks noGrp="1"/>
          </p:cNvSpPr>
          <p:nvPr>
            <p:ph type="title"/>
          </p:nvPr>
        </p:nvSpPr>
        <p:spPr>
          <a:xfrm>
            <a:off x="398825" y="1330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Section Recap</a:t>
            </a:r>
            <a:endParaRPr/>
          </a:p>
          <a:p>
            <a:pPr marL="0" lvl="0" indent="0" algn="ctr" rtl="0">
              <a:lnSpc>
                <a:spcPct val="100000"/>
              </a:lnSpc>
              <a:spcBef>
                <a:spcPts val="0"/>
              </a:spcBef>
              <a:spcAft>
                <a:spcPts val="0"/>
              </a:spcAft>
              <a:buSzPts val="3600"/>
              <a:buNone/>
            </a:pPr>
            <a:endParaRPr/>
          </a:p>
        </p:txBody>
      </p:sp>
      <p:sp>
        <p:nvSpPr>
          <p:cNvPr id="1060" name="Google Shape;1060;p94"/>
          <p:cNvSpPr txBox="1"/>
          <p:nvPr/>
        </p:nvSpPr>
        <p:spPr>
          <a:xfrm>
            <a:off x="354450" y="817200"/>
            <a:ext cx="8531400" cy="3607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000" b="0" i="0" u="none" strike="noStrike" cap="none">
                <a:solidFill>
                  <a:schemeClr val="dk1"/>
                </a:solidFill>
                <a:latin typeface="Nunito"/>
                <a:ea typeface="Nunito"/>
                <a:cs typeface="Nunito"/>
                <a:sym typeface="Nunito"/>
              </a:rPr>
              <a:t>Tail events are low-probability but high-impact occurrences.</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r>
              <a:rPr lang="en" sz="2000" b="0" i="0" u="none" strike="noStrike" cap="none">
                <a:solidFill>
                  <a:schemeClr val="dk1"/>
                </a:solidFill>
                <a:latin typeface="Nunito"/>
                <a:ea typeface="Nunito"/>
                <a:cs typeface="Nunito"/>
                <a:sym typeface="Nunito"/>
              </a:rPr>
              <a:t>Tail events render common statistical measures (e.g. </a:t>
            </a:r>
            <a:r>
              <a:rPr lang="en" sz="2000">
                <a:solidFill>
                  <a:schemeClr val="dk1"/>
                </a:solidFill>
                <a:latin typeface="Nunito"/>
                <a:ea typeface="Nunito"/>
                <a:cs typeface="Nunito"/>
                <a:sym typeface="Nunito"/>
              </a:rPr>
              <a:t>expected values</a:t>
            </a:r>
            <a:r>
              <a:rPr lang="en" sz="2000" b="0" i="0" u="none" strike="noStrike" cap="none">
                <a:solidFill>
                  <a:schemeClr val="dk1"/>
                </a:solidFill>
                <a:latin typeface="Nunito"/>
                <a:ea typeface="Nunito"/>
                <a:cs typeface="Nunito"/>
                <a:sym typeface="Nunito"/>
              </a:rPr>
              <a:t>) inadequate.</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r>
              <a:rPr lang="en" sz="2000" b="0" i="0" u="none" strike="noStrike" cap="none">
                <a:solidFill>
                  <a:schemeClr val="dk1"/>
                </a:solidFill>
                <a:latin typeface="Nunito"/>
                <a:ea typeface="Nunito"/>
                <a:cs typeface="Nunito"/>
                <a:sym typeface="Nunito"/>
              </a:rPr>
              <a:t>Black swans are unanticipated tail events (often “unknown unknowns”).</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Dealing with black swans requires approaches </a:t>
            </a:r>
            <a:r>
              <a:rPr lang="en" sz="2000">
                <a:solidFill>
                  <a:schemeClr val="dk1"/>
                </a:solidFill>
                <a:latin typeface="Nunito"/>
                <a:ea typeface="Nunito"/>
                <a:cs typeface="Nunito"/>
                <a:sym typeface="Nunito"/>
              </a:rPr>
              <a:t>such as</a:t>
            </a:r>
            <a:r>
              <a:rPr lang="en" sz="2000" b="0" i="0" u="none" strike="noStrike" cap="none">
                <a:solidFill>
                  <a:schemeClr val="dk1"/>
                </a:solidFill>
                <a:latin typeface="Nunito"/>
                <a:ea typeface="Nunito"/>
                <a:cs typeface="Nunito"/>
                <a:sym typeface="Nunito"/>
              </a:rPr>
              <a:t> horizon scanning.</a:t>
            </a:r>
            <a:endParaRPr sz="2000" b="0" i="0" u="none" strike="noStrike" cap="none">
              <a:solidFill>
                <a:schemeClr val="dk1"/>
              </a:solidFill>
              <a:latin typeface="Nunito"/>
              <a:ea typeface="Nunito"/>
              <a:cs typeface="Nunito"/>
              <a:sym typeface="Nunito"/>
            </a:endParaRPr>
          </a:p>
        </p:txBody>
      </p:sp>
      <p:sp>
        <p:nvSpPr>
          <p:cNvPr id="1061" name="Google Shape;1061;p9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62" name="Google Shape;1062;p9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66</a:t>
            </a:fld>
            <a:endParaRPr sz="1300" b="0" i="0" u="none" strike="noStrike" cap="none">
              <a:solidFill>
                <a:srgbClr val="FFFFFF"/>
              </a:solidFill>
              <a:latin typeface="Nunito"/>
              <a:ea typeface="Nunito"/>
              <a:cs typeface="Nunito"/>
              <a:sym typeface="Nunito"/>
            </a:endParaRPr>
          </a:p>
        </p:txBody>
      </p:sp>
      <p:sp>
        <p:nvSpPr>
          <p:cNvPr id="1063" name="Google Shape;1063;p9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0"/>
                                        </p:tgtEl>
                                        <p:attrNameLst>
                                          <p:attrName>style.visibility</p:attrName>
                                        </p:attrNameLst>
                                      </p:cBhvr>
                                      <p:to>
                                        <p:strVal val="visible"/>
                                      </p:to>
                                    </p:set>
                                    <p:animEffect transition="in" filter="fade">
                                      <p:cBhvr>
                                        <p:cTn id="7" dur="1000"/>
                                        <p:tgtEl>
                                          <p:spTgt spid="1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95"/>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Chapter Recap</a:t>
            </a:r>
            <a:endParaRPr/>
          </a:p>
        </p:txBody>
      </p:sp>
      <p:sp>
        <p:nvSpPr>
          <p:cNvPr id="1069" name="Google Shape;1069;p9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70" name="Google Shape;1070;p9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67</a:t>
            </a:fld>
            <a:endParaRPr sz="1300" b="0" i="0" u="none" strike="noStrike" cap="none">
              <a:solidFill>
                <a:srgbClr val="FFFFFF"/>
              </a:solidFill>
              <a:latin typeface="Nunito"/>
              <a:ea typeface="Nunito"/>
              <a:cs typeface="Nunito"/>
              <a:sym typeface="Nunito"/>
            </a:endParaRPr>
          </a:p>
        </p:txBody>
      </p:sp>
      <p:sp>
        <p:nvSpPr>
          <p:cNvPr id="1071" name="Google Shape;1071;p9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72" name="Google Shape;1072;p95"/>
          <p:cNvSpPr txBox="1"/>
          <p:nvPr/>
        </p:nvSpPr>
        <p:spPr>
          <a:xfrm>
            <a:off x="251650" y="742650"/>
            <a:ext cx="8892300" cy="3869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How to</a:t>
            </a:r>
            <a:r>
              <a:rPr lang="en" sz="2000" b="0" i="0" u="none" strike="noStrike" cap="non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mathematically discuss risks</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 "nines of reliability." </a:t>
            </a:r>
            <a:endParaRPr sz="2000">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a:t>
            </a:r>
            <a:r>
              <a:rPr lang="en" sz="2000" b="0" i="0" u="none" strike="noStrike" cap="none">
                <a:solidFill>
                  <a:schemeClr val="dk1"/>
                </a:solidFill>
                <a:latin typeface="Nunito"/>
                <a:ea typeface="Nunito"/>
                <a:cs typeface="Nunito"/>
                <a:sym typeface="Nunito"/>
              </a:rPr>
              <a:t> Safe Design Principles </a:t>
            </a:r>
            <a:r>
              <a:rPr lang="en" sz="2000">
                <a:solidFill>
                  <a:schemeClr val="dk1"/>
                </a:solidFill>
                <a:latin typeface="Nunito"/>
                <a:ea typeface="Nunito"/>
                <a:cs typeface="Nunito"/>
                <a:sym typeface="Nunito"/>
              </a:rPr>
              <a:t>for</a:t>
            </a:r>
            <a:r>
              <a:rPr lang="en" sz="2000" b="0" i="0" u="none" strike="noStrike" cap="none">
                <a:solidFill>
                  <a:schemeClr val="dk1"/>
                </a:solidFill>
                <a:latin typeface="Nunito"/>
                <a:ea typeface="Nunito"/>
                <a:cs typeface="Nunito"/>
                <a:sym typeface="Nunito"/>
              </a:rPr>
              <a:t> improv</a:t>
            </a:r>
            <a:r>
              <a:rPr lang="en" sz="2000">
                <a:solidFill>
                  <a:schemeClr val="dk1"/>
                </a:solidFill>
                <a:latin typeface="Nunito"/>
                <a:ea typeface="Nunito"/>
                <a:cs typeface="Nunito"/>
                <a:sym typeface="Nunito"/>
              </a:rPr>
              <a:t>ing</a:t>
            </a:r>
            <a:r>
              <a:rPr lang="en" sz="2000" b="0" i="0" u="none" strike="noStrike" cap="none">
                <a:solidFill>
                  <a:schemeClr val="dk1"/>
                </a:solidFill>
                <a:latin typeface="Nunito"/>
                <a:ea typeface="Nunito"/>
                <a:cs typeface="Nunito"/>
                <a:sym typeface="Nunito"/>
              </a:rPr>
              <a:t> system safety.</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Why t</a:t>
            </a:r>
            <a:r>
              <a:rPr lang="en" sz="2000" b="0" i="0" u="none" strike="noStrike" cap="none">
                <a:solidFill>
                  <a:schemeClr val="dk1"/>
                </a:solidFill>
                <a:latin typeface="Nunito"/>
                <a:ea typeface="Nunito"/>
                <a:cs typeface="Nunito"/>
                <a:sym typeface="Nunito"/>
              </a:rPr>
              <a:t>raditional risk analysis sometimes fails in complex systems.</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More holistic alternatives, such as systemic accident models</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Tail events are rare, but important. Many AI risks are tail events.</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Black swans are high-impact tail events.</a:t>
            </a:r>
            <a:endParaRPr sz="2000">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Tail events and black swans can pose particular challenges for some traditional approaches to evaluating and managing risk.</a:t>
            </a:r>
            <a:endParaRPr sz="2000">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AI technologies may pose such a risk.</a:t>
            </a:r>
            <a:endParaRPr sz="2000">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2">
                                            <p:txEl>
                                              <p:pRg st="0" end="0"/>
                                            </p:txEl>
                                          </p:spTgt>
                                        </p:tgtEl>
                                        <p:attrNameLst>
                                          <p:attrName>style.visibility</p:attrName>
                                        </p:attrNameLst>
                                      </p:cBhvr>
                                      <p:to>
                                        <p:strVal val="visible"/>
                                      </p:to>
                                    </p:set>
                                    <p:animEffect transition="in" filter="fade">
                                      <p:cBhvr>
                                        <p:cTn id="7" dur="300"/>
                                        <p:tgtEl>
                                          <p:spTgt spid="10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2">
                                            <p:txEl>
                                              <p:pRg st="1" end="1"/>
                                            </p:txEl>
                                          </p:spTgt>
                                        </p:tgtEl>
                                        <p:attrNameLst>
                                          <p:attrName>style.visibility</p:attrName>
                                        </p:attrNameLst>
                                      </p:cBhvr>
                                      <p:to>
                                        <p:strVal val="visible"/>
                                      </p:to>
                                    </p:set>
                                    <p:animEffect transition="in" filter="fade">
                                      <p:cBhvr>
                                        <p:cTn id="12" dur="300"/>
                                        <p:tgtEl>
                                          <p:spTgt spid="10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72">
                                            <p:txEl>
                                              <p:pRg st="2" end="2"/>
                                            </p:txEl>
                                          </p:spTgt>
                                        </p:tgtEl>
                                        <p:attrNameLst>
                                          <p:attrName>style.visibility</p:attrName>
                                        </p:attrNameLst>
                                      </p:cBhvr>
                                      <p:to>
                                        <p:strVal val="visible"/>
                                      </p:to>
                                    </p:set>
                                    <p:animEffect transition="in" filter="fade">
                                      <p:cBhvr>
                                        <p:cTn id="17" dur="300"/>
                                        <p:tgtEl>
                                          <p:spTgt spid="107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72">
                                            <p:txEl>
                                              <p:pRg st="3" end="3"/>
                                            </p:txEl>
                                          </p:spTgt>
                                        </p:tgtEl>
                                        <p:attrNameLst>
                                          <p:attrName>style.visibility</p:attrName>
                                        </p:attrNameLst>
                                      </p:cBhvr>
                                      <p:to>
                                        <p:strVal val="visible"/>
                                      </p:to>
                                    </p:set>
                                    <p:animEffect transition="in" filter="fade">
                                      <p:cBhvr>
                                        <p:cTn id="22" dur="300"/>
                                        <p:tgtEl>
                                          <p:spTgt spid="107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72">
                                            <p:txEl>
                                              <p:pRg st="4" end="4"/>
                                            </p:txEl>
                                          </p:spTgt>
                                        </p:tgtEl>
                                        <p:attrNameLst>
                                          <p:attrName>style.visibility</p:attrName>
                                        </p:attrNameLst>
                                      </p:cBhvr>
                                      <p:to>
                                        <p:strVal val="visible"/>
                                      </p:to>
                                    </p:set>
                                    <p:animEffect transition="in" filter="fade">
                                      <p:cBhvr>
                                        <p:cTn id="27" dur="300"/>
                                        <p:tgtEl>
                                          <p:spTgt spid="107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72">
                                            <p:txEl>
                                              <p:pRg st="5" end="5"/>
                                            </p:txEl>
                                          </p:spTgt>
                                        </p:tgtEl>
                                        <p:attrNameLst>
                                          <p:attrName>style.visibility</p:attrName>
                                        </p:attrNameLst>
                                      </p:cBhvr>
                                      <p:to>
                                        <p:strVal val="visible"/>
                                      </p:to>
                                    </p:set>
                                    <p:animEffect transition="in" filter="fade">
                                      <p:cBhvr>
                                        <p:cTn id="32" dur="300"/>
                                        <p:tgtEl>
                                          <p:spTgt spid="107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72">
                                            <p:txEl>
                                              <p:pRg st="6" end="6"/>
                                            </p:txEl>
                                          </p:spTgt>
                                        </p:tgtEl>
                                        <p:attrNameLst>
                                          <p:attrName>style.visibility</p:attrName>
                                        </p:attrNameLst>
                                      </p:cBhvr>
                                      <p:to>
                                        <p:strVal val="visible"/>
                                      </p:to>
                                    </p:set>
                                    <p:animEffect transition="in" filter="fade">
                                      <p:cBhvr>
                                        <p:cTn id="37" dur="300"/>
                                        <p:tgtEl>
                                          <p:spTgt spid="107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72">
                                            <p:txEl>
                                              <p:pRg st="7" end="7"/>
                                            </p:txEl>
                                          </p:spTgt>
                                        </p:tgtEl>
                                        <p:attrNameLst>
                                          <p:attrName>style.visibility</p:attrName>
                                        </p:attrNameLst>
                                      </p:cBhvr>
                                      <p:to>
                                        <p:strVal val="visible"/>
                                      </p:to>
                                    </p:set>
                                    <p:animEffect transition="in" filter="fade">
                                      <p:cBhvr>
                                        <p:cTn id="42" dur="300"/>
                                        <p:tgtEl>
                                          <p:spTgt spid="107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72">
                                            <p:txEl>
                                              <p:pRg st="8" end="8"/>
                                            </p:txEl>
                                          </p:spTgt>
                                        </p:tgtEl>
                                        <p:attrNameLst>
                                          <p:attrName>style.visibility</p:attrName>
                                        </p:attrNameLst>
                                      </p:cBhvr>
                                      <p:to>
                                        <p:strVal val="visible"/>
                                      </p:to>
                                    </p:set>
                                    <p:animEffect transition="in" filter="fade">
                                      <p:cBhvr>
                                        <p:cTn id="47" dur="300"/>
                                        <p:tgtEl>
                                          <p:spTgt spid="107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72">
                                            <p:txEl>
                                              <p:pRg st="9" end="9"/>
                                            </p:txEl>
                                          </p:spTgt>
                                        </p:tgtEl>
                                        <p:attrNameLst>
                                          <p:attrName>style.visibility</p:attrName>
                                        </p:attrNameLst>
                                      </p:cBhvr>
                                      <p:to>
                                        <p:strVal val="visible"/>
                                      </p:to>
                                    </p:set>
                                    <p:animEffect transition="in" filter="fade">
                                      <p:cBhvr>
                                        <p:cTn id="52" dur="300"/>
                                        <p:tgtEl>
                                          <p:spTgt spid="107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72">
                                            <p:txEl>
                                              <p:pRg st="10" end="10"/>
                                            </p:txEl>
                                          </p:spTgt>
                                        </p:tgtEl>
                                        <p:attrNameLst>
                                          <p:attrName>style.visibility</p:attrName>
                                        </p:attrNameLst>
                                      </p:cBhvr>
                                      <p:to>
                                        <p:strVal val="visible"/>
                                      </p:to>
                                    </p:set>
                                    <p:animEffect transition="in" filter="fade">
                                      <p:cBhvr>
                                        <p:cTn id="57" dur="300"/>
                                        <p:tgtEl>
                                          <p:spTgt spid="107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4694</Words>
  <Application>Microsoft Office PowerPoint</Application>
  <PresentationFormat>On-screen Show (16:9)</PresentationFormat>
  <Paragraphs>585</Paragraphs>
  <Slides>67</Slides>
  <Notes>67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Nunito Light</vt:lpstr>
      <vt:lpstr>Arial</vt:lpstr>
      <vt:lpstr>Nunito</vt:lpstr>
      <vt:lpstr>Port Lligat Sans</vt:lpstr>
      <vt:lpstr>Telex</vt:lpstr>
      <vt:lpstr>Calibri</vt:lpstr>
      <vt:lpstr>Roboto</vt:lpstr>
      <vt:lpstr>Simple Light</vt:lpstr>
      <vt:lpstr>PowerPoint Presentation</vt:lpstr>
      <vt:lpstr>Introduction</vt:lpstr>
      <vt:lpstr>Roadmap</vt:lpstr>
      <vt:lpstr>Risk Decomposition and  Measuring Reliability</vt:lpstr>
      <vt:lpstr>Failure Modes, Hazards, and Threats </vt:lpstr>
      <vt:lpstr>The Two-Factor Risk Equation </vt:lpstr>
      <vt:lpstr>Detailed Disaster Risk Equation </vt:lpstr>
      <vt:lpstr>Detailed Disaster Risk Equation </vt:lpstr>
      <vt:lpstr>Detailed Disaster Risk Equation </vt:lpstr>
      <vt:lpstr>Nines of Reliability </vt:lpstr>
      <vt:lpstr>Nines of Reliability </vt:lpstr>
      <vt:lpstr>Nines of Reliability </vt:lpstr>
      <vt:lpstr>Nines of Reliability </vt:lpstr>
      <vt:lpstr>Nines of Reliability </vt:lpstr>
      <vt:lpstr>Nines of Reliability </vt:lpstr>
      <vt:lpstr>Recap </vt:lpstr>
      <vt:lpstr>Roadmap</vt:lpstr>
      <vt:lpstr>Safe Design Principles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Recap: Eight Safe Design Principles </vt:lpstr>
      <vt:lpstr>Roadmap</vt:lpstr>
      <vt:lpstr>Component Failure Accident Models</vt:lpstr>
      <vt:lpstr>Swiss Cheese Model</vt:lpstr>
      <vt:lpstr>Swiss Cheese Model</vt:lpstr>
      <vt:lpstr>Swiss Cheese Model</vt:lpstr>
      <vt:lpstr>Fault Tree Analysis </vt:lpstr>
      <vt:lpstr>Limitations</vt:lpstr>
      <vt:lpstr>Systemic Accident Models</vt:lpstr>
      <vt:lpstr>Understanding Adverse Events: Human Factors</vt:lpstr>
      <vt:lpstr>Understanding Adverse Events: Human Factors</vt:lpstr>
      <vt:lpstr>Understanding Adverse Events: Human Factors</vt:lpstr>
      <vt:lpstr>Sociotechnical Systems</vt:lpstr>
      <vt:lpstr>Drift into Failure</vt:lpstr>
      <vt:lpstr>Drift into Failure</vt:lpstr>
      <vt:lpstr>Drift into Failure</vt:lpstr>
      <vt:lpstr>Drift into Failure</vt:lpstr>
      <vt:lpstr>Recap </vt:lpstr>
      <vt:lpstr>Roadmap</vt:lpstr>
      <vt:lpstr>Tail Events</vt:lpstr>
      <vt:lpstr>Defining Our Terms</vt:lpstr>
      <vt:lpstr>Introduction to Tail Events</vt:lpstr>
      <vt:lpstr>Mediocristan vs Extremistan</vt:lpstr>
      <vt:lpstr>Black Swans</vt:lpstr>
      <vt:lpstr>Introduction to Black Swans</vt:lpstr>
      <vt:lpstr>“Known vs Unknown” Unknowns</vt:lpstr>
      <vt:lpstr>Turkey Problem</vt:lpstr>
      <vt:lpstr>Black Swans:  Implications for Risk Analysis</vt:lpstr>
      <vt:lpstr>PowerPoint Presentation</vt:lpstr>
      <vt:lpstr>PowerPoint Presentation</vt:lpstr>
      <vt:lpstr>PowerPoint Presentation</vt:lpstr>
      <vt:lpstr>PowerPoint Presentation</vt:lpstr>
      <vt:lpstr>PowerPoint Presentation</vt:lpstr>
      <vt:lpstr>PowerPoint Presentation</vt:lpstr>
      <vt:lpstr>Reducing Tail Risks </vt:lpstr>
      <vt:lpstr>Section Recap </vt:lpstr>
      <vt:lpstr>Chapter Recap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Zonghua Gu</cp:lastModifiedBy>
  <cp:revision>3</cp:revision>
  <dcterms:modified xsi:type="dcterms:W3CDTF">2026-10-16T18:12:18Z</dcterms:modified>
</cp:coreProperties>
</file>