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2" r:id="rId13"/>
    <p:sldId id="263" r:id="rId14"/>
    <p:sldId id="264" r:id="rId15"/>
    <p:sldId id="265" r:id="rId16"/>
    <p:sldId id="266" r:id="rId17"/>
    <p:sldId id="267" r:id="rId18"/>
    <p:sldId id="268" r:id="rId19"/>
    <p:sldId id="269" r:id="rId20"/>
    <p:sldId id="270" r:id="rId21"/>
    <p:sldId id="271" r:id="rId22"/>
    <p:sldId id="273" r:id="rId24"/>
    <p:sldId id="274" r:id="rId25"/>
    <p:sldId id="278" r:id="rId29"/>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332" r:id="rId83"/>
  </p:sldIdLst>
  <p:sldSz cy="5143500" cx="9144000"/>
  <p:notesSz cx="6858000" cy="9144000"/>
  <p:embeddedFontLst>
    <p:embeddedFont>
      <p:font typeface="Port Lligat Sans"/>
      <p:regular r:id="rId84"/>
    </p:embeddedFont>
    <p:embeddedFont>
      <p:font typeface="Telex"/>
      <p:regular r:id="rId85"/>
    </p:embeddedFont>
    <p:embeddedFont>
      <p:font typeface="Nunito"/>
      <p:regular r:id="rId86"/>
      <p:bold r:id="rId87"/>
      <p:italic r:id="rId88"/>
      <p:boldItalic r:id="rId89"/>
    </p:embeddedFont>
    <p:embeddedFont>
      <p:font typeface="Nunito Light"/>
      <p:regular r:id="rId90"/>
      <p:bold r:id="rId91"/>
      <p:italic r:id="rId92"/>
      <p:boldItalic r:id="rId9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B9D2FD-E451-46B1-B67F-C1D1CABB6BA8}">
  <a:tblStyle styleId="{7CB9D2FD-E451-46B1-B67F-C1D1CABB6BA8}"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9"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83" Type="http://schemas.openxmlformats.org/officeDocument/2006/relationships/slide" Target="slides/slide33.xml"/><Relationship Id="rId84" Type="http://schemas.openxmlformats.org/officeDocument/2006/relationships/font" Target="fonts/PortLligatSans-regular.fntdata"/><Relationship Id="rId85" Type="http://schemas.openxmlformats.org/officeDocument/2006/relationships/font" Target="fonts/Telex-regular.fntdata"/><Relationship Id="rId86" Type="http://schemas.openxmlformats.org/officeDocument/2006/relationships/font" Target="fonts/Nunito-regular.fntdata"/><Relationship Id="rId87" Type="http://schemas.openxmlformats.org/officeDocument/2006/relationships/font" Target="fonts/Nunito-bold.fntdata"/><Relationship Id="rId88" Type="http://schemas.openxmlformats.org/officeDocument/2006/relationships/font" Target="fonts/Nunito-italic.fntdata"/><Relationship Id="rId89" Type="http://schemas.openxmlformats.org/officeDocument/2006/relationships/font" Target="fonts/Nunito-boldItalic.fntdata"/><Relationship Id="rId90" Type="http://schemas.openxmlformats.org/officeDocument/2006/relationships/font" Target="fonts/NunitoLight-regular.fntdata"/><Relationship Id="rId91" Type="http://schemas.openxmlformats.org/officeDocument/2006/relationships/font" Target="fonts/NunitoLight-bold.fntdata"/><Relationship Id="rId92" Type="http://schemas.openxmlformats.org/officeDocument/2006/relationships/font" Target="fonts/NunitoLight-italic.fntdata"/><Relationship Id="rId93" Type="http://schemas.openxmlformats.org/officeDocument/2006/relationships/font" Target="fonts/Nunito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urse.mlsafety.org/#media-popup"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a745ecb2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2a745ecb2e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u="sng">
                <a:solidFill>
                  <a:schemeClr val="hlink"/>
                </a:solidFill>
                <a:hlinkClick r:id="rId2"/>
              </a:rPr>
              <a:t>https://course.mlsafety.org/#media-popup</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a745ecb2e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a745ecb2e5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a745ecb2e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g2a745ecb2e5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a745ecb2e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2a745ecb2e5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Well-established ethical theories were shaped by hundreds to thousands of years of collective experience and wisdom accrued from multiple cultures. Computer scientists should draw on knowledge from this enduring intellectual inheritance, and they should not ignore it by trying to reinvent ethics from scratch.</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a745ecb2e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2a745ecb2e5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Relate to moral relativism making room for corporate interests driving AI development.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8e7da7217c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28e7da7217c_1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a745ecb2e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2a745ecb2e5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a745ecb2e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2a745ecb2e5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a745ecb2e5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2a745ecb2e5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a745ecb2e5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2a745ecb2e5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a745ecb2e5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2a745ecb2e5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a745ecb2e5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2a745ecb2e5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8e7da7217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28e7da7217c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a745ecb2e5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g2a745ecb2e5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a745ecb2e5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2a745ecb2e5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50">
                <a:solidFill>
                  <a:schemeClr val="dk1"/>
                </a:solidFill>
              </a:rPr>
              <a:t>Regarding the principle that we ought to keep our promises, for example, we can shatter the consensus simply by asking whether</a:t>
            </a:r>
            <a:endParaRPr sz="9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50">
                <a:solidFill>
                  <a:schemeClr val="dk1"/>
                </a:solidFill>
              </a:rPr>
              <a:t>our promise is binding when it is made as a result of false statements; or, even in the absence of falsehood, if some important circumstances were concealed; or if we were led to believe (perhaps without any malicious intentions) that the consequences of keeping the promise would be very different from what they now turn out to be; or if we made the promise under some form of coercion; or if the circumstances have changed in an unexpected but materially relevant way; or if we now see that keeping the promise will impose a very</a:t>
            </a:r>
            <a:endParaRPr sz="9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950">
                <a:solidFill>
                  <a:schemeClr val="dk1"/>
                </a:solidFill>
              </a:rPr>
              <a:t>serious loss on ourselves, completely out of proportion to the benefit it confers on the person to whom we made the promise; or if we learn that keeping the promise will actually harm the person to whom it was made, although he is unable to see this. Without deciding about</a:t>
            </a:r>
            <a:endParaRPr sz="950">
              <a:solidFill>
                <a:schemeClr val="dk1"/>
              </a:solidFill>
            </a:endParaRPr>
          </a:p>
          <a:p>
            <a:pPr indent="0" lvl="0" marL="0" rtl="0" algn="l">
              <a:lnSpc>
                <a:spcPct val="115000"/>
              </a:lnSpc>
              <a:spcBef>
                <a:spcPts val="0"/>
              </a:spcBef>
              <a:spcAft>
                <a:spcPts val="0"/>
              </a:spcAft>
              <a:buSzPts val="1100"/>
              <a:buNone/>
            </a:pPr>
            <a:r>
              <a:rPr lang="en" sz="950">
                <a:solidFill>
                  <a:schemeClr val="dk1"/>
                </a:solidFill>
              </a:rPr>
              <a:t>these cases, we cannot know that our promise will have even prima facie weight.</a:t>
            </a:r>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a745ecb2e5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2a745ecb2e5_0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latin typeface="Calibri"/>
                <a:ea typeface="Calibri"/>
                <a:cs typeface="Calibri"/>
                <a:sym typeface="Calibri"/>
              </a:rPr>
              <a:t>Contrast virtue ethics with deontology</a:t>
            </a:r>
            <a:endParaRPr sz="12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a745ecb2e5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g2a745ecb2e5_0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latin typeface="Calibri"/>
                <a:ea typeface="Calibri"/>
                <a:cs typeface="Calibri"/>
                <a:sym typeface="Calibri"/>
              </a:rPr>
              <a:t>Contrast virtue ethics with deontology</a:t>
            </a:r>
            <a:endParaRPr sz="12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a745ecb2e5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2a745ecb2e5_0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a745ecb2e5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2a745ecb2e5_0_1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a745ecb2e5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2a745ecb2e5_0_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a745ecb2e5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2a745ecb2e5_0_2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a745ecb2e5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g2a745ecb2e5_0_2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a745ecb2e5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g2a745ecb2e5_0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a745ecb2e5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g2a745ecb2e5_0_2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a745ecb2e5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2a745ecb2e5_0_2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a745ecb2e5_0_2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g2a745ecb2e5_0_2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a745ecb2e5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g2a745ecb2e5_0_2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a745ecb2e5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2a745ecb2e5_0_2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a745ecb2e5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g2a745ecb2e5_0_2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a745ecb2e5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g2a745ecb2e5_0_3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a745ecb2e5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g2a745ecb2e5_0_3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a745ecb2e5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g2a745ecb2e5_0_3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2a745ecb2e5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7" name="Google Shape;797;g2a745ecb2e5_0_6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latin typeface="Calibri"/>
                <a:ea typeface="Calibri"/>
                <a:cs typeface="Calibri"/>
                <a:sym typeface="Calibri"/>
              </a:rPr>
              <a:t>‘Recall table 11’ </a:t>
            </a:r>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600"/>
              <a:buFont typeface="Nunito"/>
              <a:buNone/>
              <a:defRPr sz="3600">
                <a:latin typeface="Nunito"/>
                <a:ea typeface="Nunito"/>
                <a:cs typeface="Nunito"/>
                <a:sym typeface="Nuni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5" name="Google Shape;4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1pPr>
            <a:lvl2pPr lvl="1"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2pPr>
            <a:lvl3pPr lvl="2"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3pPr>
            <a:lvl4pPr lvl="3"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4pPr>
            <a:lvl5pPr lvl="4"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5pPr>
            <a:lvl6pPr lvl="5"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6pPr>
            <a:lvl7pPr lvl="6"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7pPr>
            <a:lvl8pPr lvl="7"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8pPr>
            <a:lvl9pPr lvl="8" marR="0" rtl="0" algn="l">
              <a:lnSpc>
                <a:spcPct val="100000"/>
              </a:lnSpc>
              <a:spcBef>
                <a:spcPts val="0"/>
              </a:spcBef>
              <a:spcAft>
                <a:spcPts val="0"/>
              </a:spcAft>
              <a:buClr>
                <a:schemeClr val="dk1"/>
              </a:buClr>
              <a:buSzPts val="2800"/>
              <a:buFont typeface="Port Lligat Sans"/>
              <a:buNone/>
              <a:defRPr b="0" i="0" sz="2800" u="none" cap="none" strike="noStrike">
                <a:solidFill>
                  <a:schemeClr val="dk1"/>
                </a:solidFill>
                <a:latin typeface="Port Lligat Sans"/>
                <a:ea typeface="Port Lligat Sans"/>
                <a:cs typeface="Port Lligat Sans"/>
                <a:sym typeface="Port Lligat San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Telex"/>
              <a:buChar char="●"/>
              <a:defRPr b="0" i="0" sz="1800" u="none" cap="none" strike="noStrike">
                <a:solidFill>
                  <a:schemeClr val="dk2"/>
                </a:solidFill>
                <a:latin typeface="Telex"/>
                <a:ea typeface="Telex"/>
                <a:cs typeface="Telex"/>
                <a:sym typeface="Telex"/>
              </a:defRPr>
            </a:lvl1pPr>
            <a:lvl2pPr indent="-317500" lvl="1" marL="9144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2pPr>
            <a:lvl3pPr indent="-317500" lvl="2" marL="13716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3pPr>
            <a:lvl4pPr indent="-317500" lvl="3" marL="18288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4pPr>
            <a:lvl5pPr indent="-317500" lvl="4" marL="22860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5pPr>
            <a:lvl6pPr indent="-317500" lvl="5" marL="27432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6pPr>
            <a:lvl7pPr indent="-317500" lvl="6" marL="32004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7pPr>
            <a:lvl8pPr indent="-317500" lvl="7" marL="3657600" marR="0" rtl="0" algn="l">
              <a:lnSpc>
                <a:spcPct val="115000"/>
              </a:lnSpc>
              <a:spcBef>
                <a:spcPts val="1600"/>
              </a:spcBef>
              <a:spcAft>
                <a:spcPts val="0"/>
              </a:spcAft>
              <a:buClr>
                <a:schemeClr val="dk2"/>
              </a:buClr>
              <a:buSzPts val="1400"/>
              <a:buFont typeface="Telex"/>
              <a:buChar char="○"/>
              <a:defRPr b="0" i="0" sz="1400" u="none" cap="none" strike="noStrike">
                <a:solidFill>
                  <a:schemeClr val="dk2"/>
                </a:solidFill>
                <a:latin typeface="Telex"/>
                <a:ea typeface="Telex"/>
                <a:cs typeface="Telex"/>
                <a:sym typeface="Telex"/>
              </a:defRPr>
            </a:lvl8pPr>
            <a:lvl9pPr indent="-317500" lvl="8" marL="4114800" marR="0" rtl="0" algn="l">
              <a:lnSpc>
                <a:spcPct val="115000"/>
              </a:lnSpc>
              <a:spcBef>
                <a:spcPts val="1600"/>
              </a:spcBef>
              <a:spcAft>
                <a:spcPts val="1600"/>
              </a:spcAft>
              <a:buClr>
                <a:schemeClr val="dk2"/>
              </a:buClr>
              <a:buSzPts val="1400"/>
              <a:buFont typeface="Telex"/>
              <a:buChar char="■"/>
              <a:defRPr b="0" i="0" sz="1400" u="none" cap="none" strike="noStrike">
                <a:solidFill>
                  <a:schemeClr val="dk2"/>
                </a:solidFill>
                <a:latin typeface="Telex"/>
                <a:ea typeface="Telex"/>
                <a:cs typeface="Telex"/>
                <a:sym typeface="Telex"/>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75" y="948720"/>
            <a:ext cx="9144000" cy="2222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rgbClr val="000000"/>
                </a:solidFill>
                <a:latin typeface="Nunito Light"/>
                <a:ea typeface="Nunito Light"/>
                <a:cs typeface="Nunito Light"/>
                <a:sym typeface="Nunito Light"/>
              </a:rPr>
              <a:t>Introduction to</a:t>
            </a:r>
            <a:endParaRPr b="0" i="0" sz="4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rgbClr val="000000"/>
                </a:solidFill>
                <a:latin typeface="Nunito Light"/>
                <a:ea typeface="Nunito Light"/>
                <a:cs typeface="Nunito Light"/>
                <a:sym typeface="Nunito Light"/>
              </a:rPr>
              <a:t>AI Safety, Ethics, and Society</a:t>
            </a:r>
            <a:endParaRPr b="0" i="0" sz="4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4000"/>
              <a:buFont typeface="Arial"/>
              <a:buNone/>
            </a:pPr>
            <a:r>
              <a:t/>
            </a:r>
            <a:endParaRPr b="0" i="0" sz="4000" u="none" cap="none" strike="noStrike">
              <a:solidFill>
                <a:srgbClr val="000000"/>
              </a:solidFill>
              <a:latin typeface="Nunito Light"/>
              <a:ea typeface="Nunito Light"/>
              <a:cs typeface="Nunito Light"/>
              <a:sym typeface="Nunito Light"/>
            </a:endParaRPr>
          </a:p>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00000"/>
                </a:solidFill>
                <a:latin typeface="Nunito Light"/>
                <a:ea typeface="Nunito Light"/>
                <a:cs typeface="Nunito Light"/>
                <a:sym typeface="Nunito Light"/>
              </a:rPr>
              <a:t>Normative Ethics</a:t>
            </a:r>
            <a:endParaRPr b="0" i="0" sz="3000" u="none" cap="none" strike="noStrike">
              <a:solidFill>
                <a:srgbClr val="000000"/>
              </a:solidFill>
              <a:latin typeface="Nunito Light"/>
              <a:ea typeface="Nunito Light"/>
              <a:cs typeface="Nunito Light"/>
              <a:sym typeface="Nunito Light"/>
            </a:endParaRPr>
          </a:p>
        </p:txBody>
      </p:sp>
      <p:sp>
        <p:nvSpPr>
          <p:cNvPr id="55" name="Google Shape;55;p1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56" name="Google Shape;56;p1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a:t>
            </a:fld>
            <a:endParaRPr b="0" i="0" sz="1300" u="none" cap="none" strike="noStrike">
              <a:solidFill>
                <a:srgbClr val="FFFFFF"/>
              </a:solidFill>
              <a:latin typeface="Nunito"/>
              <a:ea typeface="Nunito"/>
              <a:cs typeface="Nunito"/>
              <a:sym typeface="Nunito"/>
            </a:endParaRPr>
          </a:p>
        </p:txBody>
      </p:sp>
      <p:sp>
        <p:nvSpPr>
          <p:cNvPr id="57" name="Google Shape;57;p1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p:cNvPicPr preferRelativeResize="0"/>
          <p:nvPr/>
        </p:nvPicPr>
        <p:blipFill rotWithShape="1">
          <a:blip r:embed="rId3">
            <a:alphaModFix amt="8000"/>
          </a:blip>
          <a:srcRect b="0" l="0" r="0" t="0"/>
          <a:stretch/>
        </p:blipFill>
        <p:spPr>
          <a:xfrm>
            <a:off x="1813975" y="596450"/>
            <a:ext cx="5406301" cy="4242254"/>
          </a:xfrm>
          <a:prstGeom prst="rect">
            <a:avLst/>
          </a:prstGeom>
          <a:noFill/>
          <a:ln>
            <a:noFill/>
          </a:ln>
        </p:spPr>
      </p:pic>
      <p:sp>
        <p:nvSpPr>
          <p:cNvPr id="63" name="Google Shape;63;p1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100"/>
              <a:buFont typeface="Arial"/>
              <a:buNone/>
            </a:pPr>
            <a:fld id="{00000000-1234-1234-1234-123412341234}" type="slidenum">
              <a:rPr b="0" i="0" lang="en" sz="1300" u="none" cap="none" strike="noStrike">
                <a:solidFill>
                  <a:schemeClr val="lt1"/>
                </a:solidFill>
                <a:latin typeface="Nunito"/>
                <a:ea typeface="Nunito"/>
                <a:cs typeface="Nunito"/>
                <a:sym typeface="Nunito"/>
              </a:rPr>
              <a:t>2</a:t>
            </a:fld>
            <a:endParaRPr b="0" i="0" sz="1300" u="none" cap="none" strike="noStrike">
              <a:solidFill>
                <a:schemeClr val="lt1"/>
              </a:solidFill>
              <a:latin typeface="Nunito"/>
              <a:ea typeface="Nunito"/>
              <a:cs typeface="Nunito"/>
              <a:sym typeface="Nunito"/>
            </a:endParaRPr>
          </a:p>
        </p:txBody>
      </p:sp>
      <p:sp>
        <p:nvSpPr>
          <p:cNvPr id="64" name="Google Shape;64;p1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65" name="Google Shape;65;p14"/>
          <p:cNvSpPr txBox="1"/>
          <p:nvPr/>
        </p:nvSpPr>
        <p:spPr>
          <a:xfrm>
            <a:off x="1868850" y="0"/>
            <a:ext cx="54063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Nunito"/>
                <a:ea typeface="Nunito"/>
                <a:cs typeface="Nunito"/>
                <a:sym typeface="Nunito"/>
              </a:rPr>
              <a:t>Introduction</a:t>
            </a:r>
            <a:endParaRPr b="0" i="0" sz="3600" u="none" cap="none" strike="noStrike">
              <a:solidFill>
                <a:srgbClr val="000000"/>
              </a:solidFill>
              <a:latin typeface="Nunito"/>
              <a:ea typeface="Nunito"/>
              <a:cs typeface="Nunito"/>
              <a:sym typeface="Nunito"/>
            </a:endParaRPr>
          </a:p>
        </p:txBody>
      </p:sp>
      <p:sp>
        <p:nvSpPr>
          <p:cNvPr id="66" name="Google Shape;66;p14"/>
          <p:cNvSpPr txBox="1"/>
          <p:nvPr/>
        </p:nvSpPr>
        <p:spPr>
          <a:xfrm>
            <a:off x="440875" y="669475"/>
            <a:ext cx="82626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1" i="0" lang="en" sz="2000" u="none" cap="none" strike="noStrike">
                <a:solidFill>
                  <a:schemeClr val="dk1"/>
                </a:solidFill>
                <a:latin typeface="Nunito"/>
                <a:ea typeface="Nunito"/>
                <a:cs typeface="Nunito"/>
                <a:sym typeface="Nunito"/>
              </a:rPr>
              <a:t>Ethics</a:t>
            </a:r>
            <a:r>
              <a:rPr b="0" i="0" lang="en" sz="2000" u="none" cap="none" strike="noStrike">
                <a:solidFill>
                  <a:schemeClr val="dk1"/>
                </a:solidFill>
                <a:latin typeface="Nunito"/>
                <a:ea typeface="Nunito"/>
                <a:cs typeface="Nunito"/>
                <a:sym typeface="Nunito"/>
              </a:rPr>
              <a:t> is the branch of philosophy concerning questions of right and wrong, good and bad. </a:t>
            </a:r>
            <a:endParaRPr b="0" i="0" sz="1400" u="none" cap="none" strike="noStrike">
              <a:solidFill>
                <a:srgbClr val="000000"/>
              </a:solidFill>
              <a:latin typeface="Telex"/>
              <a:ea typeface="Telex"/>
              <a:cs typeface="Telex"/>
              <a:sym typeface="Telex"/>
            </a:endParaRPr>
          </a:p>
        </p:txBody>
      </p:sp>
      <p:sp>
        <p:nvSpPr>
          <p:cNvPr id="67" name="Google Shape;67;p14"/>
          <p:cNvSpPr txBox="1"/>
          <p:nvPr/>
        </p:nvSpPr>
        <p:spPr>
          <a:xfrm>
            <a:off x="440875" y="1601675"/>
            <a:ext cx="81525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Moral decisions reflect our values, beliefs, and moral principles</a:t>
            </a:r>
            <a:r>
              <a:rPr lang="en" sz="2000">
                <a:solidFill>
                  <a:schemeClr val="dk1"/>
                </a:solidFill>
                <a:latin typeface="Nunito"/>
                <a:ea typeface="Nunito"/>
                <a:cs typeface="Nunito"/>
                <a:sym typeface="Nunito"/>
              </a:rPr>
              <a:t>.</a:t>
            </a:r>
            <a:endParaRPr sz="2000">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Ethics seeks to provide a systematic framework for these decisions.</a:t>
            </a:r>
            <a:endParaRPr b="0" i="0" sz="1400" u="none" cap="none" strike="noStrike">
              <a:solidFill>
                <a:srgbClr val="000000"/>
              </a:solidFill>
              <a:latin typeface="Telex"/>
              <a:ea typeface="Telex"/>
              <a:cs typeface="Telex"/>
              <a:sym typeface="Telex"/>
            </a:endParaRPr>
          </a:p>
        </p:txBody>
      </p:sp>
      <p:sp>
        <p:nvSpPr>
          <p:cNvPr id="68" name="Google Shape;68;p14"/>
          <p:cNvSpPr txBox="1"/>
          <p:nvPr/>
        </p:nvSpPr>
        <p:spPr>
          <a:xfrm>
            <a:off x="499975" y="2499975"/>
            <a:ext cx="8203500" cy="1621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Throughout this chapter we examine: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9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Moral considerations </a:t>
            </a:r>
            <a:endParaRPr b="0"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Common ethical frameworks </a:t>
            </a:r>
            <a:endParaRPr b="0"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Ethical concepts central to AI safety, ethics, and society </a:t>
            </a:r>
            <a:endParaRPr b="0" i="0" sz="1400" u="none" cap="none" strike="noStrike">
              <a:solidFill>
                <a:srgbClr val="000000"/>
              </a:solidFill>
              <a:latin typeface="Telex"/>
              <a:ea typeface="Telex"/>
              <a:cs typeface="Telex"/>
              <a:sym typeface="Telex"/>
            </a:endParaRPr>
          </a:p>
        </p:txBody>
      </p:sp>
      <p:sp>
        <p:nvSpPr>
          <p:cNvPr id="69" name="Google Shape;69;p14"/>
          <p:cNvSpPr txBox="1"/>
          <p:nvPr/>
        </p:nvSpPr>
        <p:spPr>
          <a:xfrm>
            <a:off x="4237375" y="4365450"/>
            <a:ext cx="7287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lt1"/>
                </a:solidFill>
                <a:latin typeface="Times New Roman"/>
                <a:ea typeface="Times New Roman"/>
                <a:cs typeface="Times New Roman"/>
                <a:sym typeface="Times New Roman"/>
              </a:rPr>
              <a:t>Ethics</a:t>
            </a:r>
            <a:endParaRPr b="0" i="0" sz="1200" u="none" cap="none" strike="noStrike">
              <a:solidFill>
                <a:schemeClr val="lt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
                                            <p:txEl>
                                              <p:pRg end="0" st="0"/>
                                            </p:txEl>
                                          </p:spTgt>
                                        </p:tgtEl>
                                        <p:attrNameLst>
                                          <p:attrName>style.visibility</p:attrName>
                                        </p:attrNameLst>
                                      </p:cBhvr>
                                      <p:to>
                                        <p:strVal val="visible"/>
                                      </p:to>
                                    </p:set>
                                    <p:animEffect filter="fade" transition="in">
                                      <p:cBhvr>
                                        <p:cTn dur="1000"/>
                                        <p:tgtEl>
                                          <p:spTgt spid="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0" st="0"/>
                                            </p:txEl>
                                          </p:spTgt>
                                        </p:tgtEl>
                                        <p:attrNameLst>
                                          <p:attrName>style.visibility</p:attrName>
                                        </p:attrNameLst>
                                      </p:cBhvr>
                                      <p:to>
                                        <p:strVal val="visible"/>
                                      </p:to>
                                    </p:set>
                                    <p:animEffect filter="fade" transition="in">
                                      <p:cBhvr>
                                        <p:cTn dur="1000"/>
                                        <p:tgtEl>
                                          <p:spTgt spid="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1" st="1"/>
                                            </p:txEl>
                                          </p:spTgt>
                                        </p:tgtEl>
                                        <p:attrNameLst>
                                          <p:attrName>style.visibility</p:attrName>
                                        </p:attrNameLst>
                                      </p:cBhvr>
                                      <p:to>
                                        <p:strVal val="visible"/>
                                      </p:to>
                                    </p:set>
                                    <p:animEffect filter="fade" transition="in">
                                      <p:cBhvr>
                                        <p:cTn dur="1000"/>
                                        <p:tgtEl>
                                          <p:spTgt spid="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1000"/>
                                        <p:tgtEl>
                                          <p:spTgt spid="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75" name="Google Shape;75;p15"/>
          <p:cNvSpPr txBox="1"/>
          <p:nvPr/>
        </p:nvSpPr>
        <p:spPr>
          <a:xfrm>
            <a:off x="367450" y="741000"/>
            <a:ext cx="8409000" cy="36912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Why learn about ethics?</a:t>
            </a:r>
            <a:endParaRPr b="0" i="0" sz="2000" u="none" cap="none" strike="noStrike">
              <a:solidFill>
                <a:schemeClr val="dk1"/>
              </a:solidFill>
              <a:latin typeface="Nunito"/>
              <a:ea typeface="Nunito"/>
              <a:cs typeface="Nunito"/>
              <a:sym typeface="Nunito"/>
            </a:endParaRPr>
          </a:p>
          <a:p>
            <a:pPr indent="0" lvl="0" marL="457200" marR="0" rtl="0" algn="l">
              <a:lnSpc>
                <a:spcPct val="115000"/>
              </a:lnSpc>
              <a:spcBef>
                <a:spcPts val="0"/>
              </a:spcBef>
              <a:spcAft>
                <a:spcPts val="0"/>
              </a:spcAft>
              <a:buNone/>
            </a:pPr>
            <a:r>
              <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Normative factors: wellbeing, constraints, impartiality, etc.</a:t>
            </a:r>
            <a:endParaRPr sz="2000">
              <a:solidFill>
                <a:schemeClr val="dk1"/>
              </a:solidFill>
              <a:latin typeface="Nunito"/>
              <a:ea typeface="Nunito"/>
              <a:cs typeface="Nunito"/>
              <a:sym typeface="Nunito"/>
            </a:endParaRPr>
          </a:p>
          <a:p>
            <a:pPr indent="0" lvl="0" marL="457200" rtl="0" algn="l">
              <a:lnSpc>
                <a:spcPct val="115000"/>
              </a:lnSpc>
              <a:spcBef>
                <a:spcPts val="0"/>
              </a:spcBef>
              <a:spcAft>
                <a:spcPts val="0"/>
              </a:spcAft>
              <a:buNone/>
            </a:pPr>
            <a:r>
              <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Moral Theories:</a:t>
            </a:r>
            <a:endParaRPr sz="2000">
              <a:solidFill>
                <a:schemeClr val="dk1"/>
              </a:solidFill>
              <a:latin typeface="Nunito"/>
              <a:ea typeface="Nunito"/>
              <a:cs typeface="Nunito"/>
              <a:sym typeface="Nunito"/>
            </a:endParaRPr>
          </a:p>
          <a:p>
            <a:pPr indent="-355600" lvl="1" marL="9144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Utilitarianism</a:t>
            </a:r>
            <a:endParaRPr b="0" i="0" sz="2000" u="none" cap="none" strike="noStrike">
              <a:solidFill>
                <a:schemeClr val="dk1"/>
              </a:solidFill>
              <a:latin typeface="Nunito"/>
              <a:ea typeface="Nunito"/>
              <a:cs typeface="Nunito"/>
              <a:sym typeface="Nunito"/>
            </a:endParaRPr>
          </a:p>
          <a:p>
            <a:pPr indent="-355600" lvl="1" marL="9144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Deontology</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None/>
            </a:pPr>
            <a:r>
              <a:t/>
            </a:r>
            <a:endParaRPr sz="2000">
              <a:solidFill>
                <a:srgbClr val="EFEFEF"/>
              </a:solidFill>
              <a:latin typeface="Nunito"/>
              <a:ea typeface="Nunito"/>
              <a:cs typeface="Nunito"/>
              <a:sym typeface="Nunito"/>
            </a:endParaRPr>
          </a:p>
        </p:txBody>
      </p:sp>
      <p:sp>
        <p:nvSpPr>
          <p:cNvPr id="76" name="Google Shape;76;p1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77" name="Google Shape;77;p15"/>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a:t>
            </a:fld>
            <a:endParaRPr b="0" i="0" sz="1300" u="none" cap="none" strike="noStrike">
              <a:solidFill>
                <a:srgbClr val="FFFFFF"/>
              </a:solidFill>
              <a:latin typeface="Nunito"/>
              <a:ea typeface="Nunito"/>
              <a:cs typeface="Nunito"/>
              <a:sym typeface="Nunito"/>
            </a:endParaRPr>
          </a:p>
        </p:txBody>
      </p:sp>
      <p:sp>
        <p:nvSpPr>
          <p:cNvPr id="78" name="Google Shape;78;p1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79" name="Google Shape;79;p15"/>
          <p:cNvSpPr/>
          <p:nvPr/>
        </p:nvSpPr>
        <p:spPr>
          <a:xfrm>
            <a:off x="364325" y="740337"/>
            <a:ext cx="8356200" cy="526800"/>
          </a:xfrm>
          <a:prstGeom prst="rect">
            <a:avLst/>
          </a:prstGeom>
          <a:noFill/>
          <a:ln cap="flat" cmpd="sng" w="9525">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1000"/>
                                        <p:tgtEl>
                                          <p:spTgt spid="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100"/>
              <a:buFont typeface="Arial"/>
              <a:buNone/>
            </a:pPr>
            <a:fld id="{00000000-1234-1234-1234-123412341234}" type="slidenum">
              <a:rPr b="0" i="0" lang="en" sz="1300" u="none" cap="none" strike="noStrike">
                <a:solidFill>
                  <a:schemeClr val="lt1"/>
                </a:solidFill>
                <a:latin typeface="Nunito"/>
                <a:ea typeface="Nunito"/>
                <a:cs typeface="Nunito"/>
                <a:sym typeface="Nunito"/>
              </a:rPr>
              <a:t>4</a:t>
            </a:fld>
            <a:endParaRPr b="0" i="0" sz="1300" u="none" cap="none" strike="noStrike">
              <a:solidFill>
                <a:schemeClr val="lt1"/>
              </a:solidFill>
              <a:latin typeface="Nunito"/>
              <a:ea typeface="Nunito"/>
              <a:cs typeface="Nunito"/>
              <a:sym typeface="Nunito"/>
            </a:endParaRPr>
          </a:p>
        </p:txBody>
      </p:sp>
      <p:sp>
        <p:nvSpPr>
          <p:cNvPr id="85" name="Google Shape;85;p1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86" name="Google Shape;86;p16"/>
          <p:cNvSpPr txBox="1"/>
          <p:nvPr/>
        </p:nvSpPr>
        <p:spPr>
          <a:xfrm>
            <a:off x="1961650" y="0"/>
            <a:ext cx="54063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Nunito"/>
                <a:ea typeface="Nunito"/>
                <a:cs typeface="Nunito"/>
                <a:sym typeface="Nunito"/>
              </a:rPr>
              <a:t>Why Learn About Ethics? </a:t>
            </a:r>
            <a:endParaRPr b="0" i="0" sz="3600" u="none" cap="none" strike="noStrike">
              <a:solidFill>
                <a:srgbClr val="000000"/>
              </a:solidFill>
              <a:latin typeface="Nunito"/>
              <a:ea typeface="Nunito"/>
              <a:cs typeface="Nunito"/>
              <a:sym typeface="Nunito"/>
            </a:endParaRPr>
          </a:p>
        </p:txBody>
      </p:sp>
      <p:sp>
        <p:nvSpPr>
          <p:cNvPr id="87" name="Google Shape;87;p16"/>
          <p:cNvSpPr txBox="1"/>
          <p:nvPr/>
        </p:nvSpPr>
        <p:spPr>
          <a:xfrm>
            <a:off x="449150" y="686425"/>
            <a:ext cx="82626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To develop a foundation for understanding AI safety discourse. This is important because…</a:t>
            </a:r>
            <a:endParaRPr b="0" i="0" sz="1400" u="none" cap="none" strike="noStrike">
              <a:solidFill>
                <a:srgbClr val="000000"/>
              </a:solidFill>
              <a:latin typeface="Telex"/>
              <a:ea typeface="Telex"/>
              <a:cs typeface="Telex"/>
              <a:sym typeface="Telex"/>
            </a:endParaRPr>
          </a:p>
        </p:txBody>
      </p:sp>
      <p:sp>
        <p:nvSpPr>
          <p:cNvPr id="88" name="Google Shape;88;p16"/>
          <p:cNvSpPr txBox="1"/>
          <p:nvPr/>
        </p:nvSpPr>
        <p:spPr>
          <a:xfrm>
            <a:off x="449225" y="1601675"/>
            <a:ext cx="8262600" cy="846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Widespread use and development of AI systems is taking place throughout various domains of human life.</a:t>
            </a:r>
            <a:endParaRPr b="0" i="0" sz="1400" u="none" cap="none" strike="noStrike">
              <a:solidFill>
                <a:srgbClr val="000000"/>
              </a:solidFill>
              <a:latin typeface="Telex"/>
              <a:ea typeface="Telex"/>
              <a:cs typeface="Telex"/>
              <a:sym typeface="Telex"/>
            </a:endParaRPr>
          </a:p>
        </p:txBody>
      </p:sp>
      <p:sp>
        <p:nvSpPr>
          <p:cNvPr id="89" name="Google Shape;89;p16"/>
          <p:cNvSpPr txBox="1"/>
          <p:nvPr/>
        </p:nvSpPr>
        <p:spPr>
          <a:xfrm>
            <a:off x="449150" y="2483025"/>
            <a:ext cx="81270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2.   Ensuring that AI systems are aligned with human values </a:t>
            </a:r>
            <a:r>
              <a:rPr lang="en" sz="2000">
                <a:solidFill>
                  <a:schemeClr val="dk1"/>
                </a:solidFill>
                <a:latin typeface="Nunito"/>
                <a:ea typeface="Nunito"/>
                <a:cs typeface="Nunito"/>
                <a:sym typeface="Nunito"/>
              </a:rPr>
              <a:t>reduces </a:t>
            </a:r>
            <a:r>
              <a:rPr b="0" i="0" lang="en" sz="2000" u="none" cap="none" strike="noStrike">
                <a:solidFill>
                  <a:schemeClr val="dk1"/>
                </a:solidFill>
                <a:latin typeface="Nunito"/>
                <a:ea typeface="Nunito"/>
                <a:cs typeface="Nunito"/>
                <a:sym typeface="Nunito"/>
              </a:rPr>
              <a:t>the</a:t>
            </a:r>
            <a:r>
              <a:rPr lang="en" sz="2000">
                <a:solidFill>
                  <a:schemeClr val="dk1"/>
                </a:solidFill>
                <a:latin typeface="Nunito"/>
                <a:ea typeface="Nunito"/>
                <a:cs typeface="Nunito"/>
                <a:sym typeface="Nunito"/>
              </a:rPr>
              <a:t> chance</a:t>
            </a:r>
            <a:r>
              <a:rPr b="0" i="0" lang="en" sz="2000" u="none" cap="none" strike="noStrike">
                <a:solidFill>
                  <a:schemeClr val="dk1"/>
                </a:solidFill>
                <a:latin typeface="Nunito"/>
                <a:ea typeface="Nunito"/>
                <a:cs typeface="Nunito"/>
                <a:sym typeface="Nunito"/>
              </a:rPr>
              <a:t> of bad outcomes.</a:t>
            </a:r>
            <a:endParaRPr b="0" i="0" sz="1400" u="none" cap="none" strike="noStrike">
              <a:solidFill>
                <a:srgbClr val="000000"/>
              </a:solidFill>
              <a:latin typeface="Telex"/>
              <a:ea typeface="Telex"/>
              <a:cs typeface="Telex"/>
              <a:sym typeface="Telex"/>
            </a:endParaRPr>
          </a:p>
        </p:txBody>
      </p:sp>
      <p:sp>
        <p:nvSpPr>
          <p:cNvPr id="90" name="Google Shape;90;p16"/>
          <p:cNvSpPr txBox="1"/>
          <p:nvPr/>
        </p:nvSpPr>
        <p:spPr>
          <a:xfrm>
            <a:off x="453300" y="3423550"/>
            <a:ext cx="82374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3.   AI systems generate ethical questions that are unique to their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      technological nature and capabilities.</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animEffect filter="fade" transition="in">
                                      <p:cBhvr>
                                        <p:cTn dur="1000"/>
                                        <p:tgtEl>
                                          <p:spTgt spid="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1000"/>
                                        <p:tgtEl>
                                          <p:spTgt spid="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1000"/>
                                        <p:tgtEl>
                                          <p:spTgt spid="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100"/>
              <a:buFont typeface="Arial"/>
              <a:buNone/>
            </a:pPr>
            <a:fld id="{00000000-1234-1234-1234-123412341234}" type="slidenum">
              <a:rPr b="0" i="0" lang="en" sz="1300" u="none" cap="none" strike="noStrike">
                <a:solidFill>
                  <a:schemeClr val="lt1"/>
                </a:solidFill>
                <a:latin typeface="Nunito"/>
                <a:ea typeface="Nunito"/>
                <a:cs typeface="Nunito"/>
                <a:sym typeface="Nunito"/>
              </a:rPr>
              <a:t>5</a:t>
            </a:fld>
            <a:endParaRPr b="0" i="0" sz="1300" u="none" cap="none" strike="noStrike">
              <a:solidFill>
                <a:schemeClr val="lt1"/>
              </a:solidFill>
              <a:latin typeface="Nunito"/>
              <a:ea typeface="Nunito"/>
              <a:cs typeface="Nunito"/>
              <a:sym typeface="Nunito"/>
            </a:endParaRPr>
          </a:p>
        </p:txBody>
      </p:sp>
      <p:sp>
        <p:nvSpPr>
          <p:cNvPr id="96" name="Google Shape;96;p1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97" name="Google Shape;97;p17"/>
          <p:cNvSpPr txBox="1"/>
          <p:nvPr/>
        </p:nvSpPr>
        <p:spPr>
          <a:xfrm>
            <a:off x="1704125" y="0"/>
            <a:ext cx="5771100" cy="7389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Nunito"/>
                <a:ea typeface="Nunito"/>
                <a:cs typeface="Nunito"/>
                <a:sym typeface="Nunito"/>
              </a:rPr>
              <a:t>Ethics and Relativism </a:t>
            </a:r>
            <a:endParaRPr b="0" i="0" sz="3600" u="none" cap="none" strike="noStrike">
              <a:solidFill>
                <a:srgbClr val="000000"/>
              </a:solidFill>
              <a:latin typeface="Nunito"/>
              <a:ea typeface="Nunito"/>
              <a:cs typeface="Nunito"/>
              <a:sym typeface="Nunito"/>
            </a:endParaRPr>
          </a:p>
        </p:txBody>
      </p:sp>
      <p:sp>
        <p:nvSpPr>
          <p:cNvPr id="98" name="Google Shape;98;p17"/>
          <p:cNvSpPr txBox="1"/>
          <p:nvPr/>
        </p:nvSpPr>
        <p:spPr>
          <a:xfrm>
            <a:off x="440700" y="669475"/>
            <a:ext cx="82626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It may be that no moral principles or judgements are absolutely or universally correct; instead, they are only correct within a culture.</a:t>
            </a:r>
            <a:endParaRPr b="0" i="0" sz="1400" u="none" cap="none" strike="noStrike">
              <a:solidFill>
                <a:srgbClr val="000000"/>
              </a:solidFill>
              <a:latin typeface="Telex"/>
              <a:ea typeface="Telex"/>
              <a:cs typeface="Telex"/>
              <a:sym typeface="Telex"/>
            </a:endParaRPr>
          </a:p>
        </p:txBody>
      </p:sp>
      <p:sp>
        <p:nvSpPr>
          <p:cNvPr id="99" name="Google Shape;99;p17"/>
          <p:cNvSpPr txBox="1"/>
          <p:nvPr/>
        </p:nvSpPr>
        <p:spPr>
          <a:xfrm>
            <a:off x="458375" y="1610000"/>
            <a:ext cx="82626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Moral Relativism </a:t>
            </a:r>
            <a:r>
              <a:rPr b="0" i="0" lang="en" sz="2000" u="none" cap="none" strike="noStrike">
                <a:solidFill>
                  <a:schemeClr val="dk1"/>
                </a:solidFill>
                <a:latin typeface="Nunito"/>
                <a:ea typeface="Nunito"/>
                <a:cs typeface="Nunito"/>
                <a:sym typeface="Nunito"/>
              </a:rPr>
              <a:t>is the view that there is no objective standard of morality that applies to all people across all situations. </a:t>
            </a:r>
            <a:endParaRPr b="0" i="0" sz="1400" u="none" cap="none" strike="noStrike">
              <a:solidFill>
                <a:srgbClr val="000000"/>
              </a:solidFill>
              <a:latin typeface="Telex"/>
              <a:ea typeface="Telex"/>
              <a:cs typeface="Telex"/>
              <a:sym typeface="Telex"/>
            </a:endParaRPr>
          </a:p>
        </p:txBody>
      </p:sp>
      <p:sp>
        <p:nvSpPr>
          <p:cNvPr id="100" name="Google Shape;100;p17"/>
          <p:cNvSpPr txBox="1"/>
          <p:nvPr/>
        </p:nvSpPr>
        <p:spPr>
          <a:xfrm>
            <a:off x="458375" y="2534800"/>
            <a:ext cx="65076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lang="en" sz="2000">
                <a:solidFill>
                  <a:schemeClr val="dk1"/>
                </a:solidFill>
                <a:latin typeface="Nunito"/>
                <a:ea typeface="Nunito"/>
                <a:cs typeface="Nunito"/>
                <a:sym typeface="Nunito"/>
              </a:rPr>
              <a:t>P</a:t>
            </a:r>
            <a:r>
              <a:rPr b="0" i="0" lang="en" sz="2000" u="none" cap="none" strike="noStrike">
                <a:solidFill>
                  <a:schemeClr val="dk1"/>
                </a:solidFill>
                <a:latin typeface="Nunito"/>
                <a:ea typeface="Nunito"/>
                <a:cs typeface="Nunito"/>
                <a:sym typeface="Nunito"/>
              </a:rPr>
              <a:t>roblems with moral relativism:</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Extremely h</a:t>
            </a:r>
            <a:r>
              <a:rPr b="0" i="0" lang="en" sz="2000" u="none" cap="none" strike="noStrike">
                <a:solidFill>
                  <a:schemeClr val="dk1"/>
                </a:solidFill>
                <a:latin typeface="Nunito"/>
                <a:ea typeface="Nunito"/>
                <a:cs typeface="Nunito"/>
                <a:sym typeface="Nunito"/>
              </a:rPr>
              <a:t>armful actions are not permissible</a:t>
            </a:r>
            <a:r>
              <a:rPr b="0" i="0" lang="en" sz="2000" u="none" cap="none" strike="noStrike">
                <a:solidFill>
                  <a:schemeClr val="dk1"/>
                </a:solidFill>
                <a:latin typeface="Nunito"/>
                <a:ea typeface="Nunito"/>
                <a:cs typeface="Nunito"/>
                <a:sym typeface="Nunito"/>
              </a:rPr>
              <a:t> just because they are culturally relative.</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There may exist moral disagreements within cultures</a:t>
            </a:r>
            <a:r>
              <a:rPr lang="en" sz="2000">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p:txBody>
      </p:sp>
      <p:pic>
        <p:nvPicPr>
          <p:cNvPr id="101" name="Google Shape;101;p17"/>
          <p:cNvPicPr preferRelativeResize="0"/>
          <p:nvPr/>
        </p:nvPicPr>
        <p:blipFill rotWithShape="1">
          <a:blip r:embed="rId3">
            <a:alphaModFix/>
          </a:blip>
          <a:srcRect b="0" l="0" r="0" t="0"/>
          <a:stretch/>
        </p:blipFill>
        <p:spPr>
          <a:xfrm>
            <a:off x="6966050" y="2117250"/>
            <a:ext cx="2177948" cy="27214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animEffect filter="fade" transition="in">
                                      <p:cBhvr>
                                        <p:cTn dur="1000"/>
                                        <p:tgtEl>
                                          <p:spTgt spid="98">
                                            <p:txEl>
                                              <p:pRg end="0" st="0"/>
                                            </p:txEl>
                                          </p:spTgt>
                                        </p:tgtEl>
                                      </p:cBhvr>
                                    </p:animEffect>
                                  </p:childTnLst>
                                </p:cTn>
                              </p:par>
                              <p:par>
                                <p:cTn fill="hold" nodeType="with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animEffect filter="fade" transition="in">
                                      <p:cBhvr>
                                        <p:cTn dur="1000"/>
                                        <p:tgtEl>
                                          <p:spTgt spid="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animEffect filter="fade" transition="in">
                                      <p:cBhvr>
                                        <p:cTn dur="1000"/>
                                        <p:tgtEl>
                                          <p:spTgt spid="1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animEffect filter="fade" transition="in">
                                      <p:cBhvr>
                                        <p:cTn dur="1000"/>
                                        <p:tgtEl>
                                          <p:spTgt spid="1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animEffect filter="fade" transition="in">
                                      <p:cBhvr>
                                        <p:cTn dur="1000"/>
                                        <p:tgtEl>
                                          <p:spTgt spid="10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118" name="Google Shape;118;p19"/>
          <p:cNvSpPr txBox="1"/>
          <p:nvPr/>
        </p:nvSpPr>
        <p:spPr>
          <a:xfrm>
            <a:off x="367450" y="741000"/>
            <a:ext cx="8409000" cy="36912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Why learn about ethics?</a:t>
            </a:r>
            <a:endParaRPr b="0" i="0" sz="2000" u="none" cap="none" strike="noStrike">
              <a:solidFill>
                <a:schemeClr val="dk1"/>
              </a:solidFill>
              <a:latin typeface="Nunito"/>
              <a:ea typeface="Nunito"/>
              <a:cs typeface="Nunito"/>
              <a:sym typeface="Nunito"/>
            </a:endParaRPr>
          </a:p>
          <a:p>
            <a:pPr indent="0" lvl="0" marL="457200" marR="0" rtl="0" algn="l">
              <a:lnSpc>
                <a:spcPct val="115000"/>
              </a:lnSpc>
              <a:spcBef>
                <a:spcPts val="0"/>
              </a:spcBef>
              <a:spcAft>
                <a:spcPts val="0"/>
              </a:spcAft>
              <a:buNone/>
            </a:pPr>
            <a:r>
              <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AutoNum type="arabicPeriod"/>
            </a:pPr>
            <a:r>
              <a:rPr lang="en" sz="2000">
                <a:solidFill>
                  <a:schemeClr val="dk1"/>
                </a:solidFill>
                <a:latin typeface="Nunito"/>
                <a:ea typeface="Nunito"/>
                <a:cs typeface="Nunito"/>
                <a:sym typeface="Nunito"/>
              </a:rPr>
              <a:t>Normative factors: wellbeing, constraints, impartiality, etc.</a:t>
            </a:r>
            <a:endParaRPr sz="2000">
              <a:solidFill>
                <a:schemeClr val="dk1"/>
              </a:solidFill>
              <a:latin typeface="Nunito"/>
              <a:ea typeface="Nunito"/>
              <a:cs typeface="Nunito"/>
              <a:sym typeface="Nunito"/>
            </a:endParaRPr>
          </a:p>
          <a:p>
            <a:pPr indent="0" lvl="0" marL="457200" rtl="0" algn="l">
              <a:lnSpc>
                <a:spcPct val="115000"/>
              </a:lnSpc>
              <a:spcBef>
                <a:spcPts val="0"/>
              </a:spcBef>
              <a:spcAft>
                <a:spcPts val="0"/>
              </a:spcAft>
              <a:buNone/>
            </a:pPr>
            <a:r>
              <a:t/>
            </a:r>
            <a:endParaRPr sz="2000">
              <a:solidFill>
                <a:schemeClr val="dk1"/>
              </a:solidFill>
              <a:latin typeface="Nunito"/>
              <a:ea typeface="Nunito"/>
              <a:cs typeface="Nunito"/>
              <a:sym typeface="Nunito"/>
            </a:endParaRPr>
          </a:p>
          <a:p>
            <a:pPr indent="-355600" lvl="0" marL="45720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Moral Theories:</a:t>
            </a:r>
            <a:endParaRPr sz="2000">
              <a:solidFill>
                <a:schemeClr val="dk1"/>
              </a:solidFill>
              <a:latin typeface="Nunito"/>
              <a:ea typeface="Nunito"/>
              <a:cs typeface="Nunito"/>
              <a:sym typeface="Nunito"/>
            </a:endParaRPr>
          </a:p>
          <a:p>
            <a:pPr indent="-355600" lvl="1" marL="9144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Utilitarianism</a:t>
            </a:r>
            <a:endParaRPr b="0" i="0" sz="2000" u="none" cap="none" strike="noStrike">
              <a:solidFill>
                <a:schemeClr val="dk1"/>
              </a:solidFill>
              <a:latin typeface="Nunito"/>
              <a:ea typeface="Nunito"/>
              <a:cs typeface="Nunito"/>
              <a:sym typeface="Nunito"/>
            </a:endParaRPr>
          </a:p>
          <a:p>
            <a:pPr indent="-355600" lvl="1" marL="9144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Deontology</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None/>
            </a:pPr>
            <a:r>
              <a:t/>
            </a:r>
            <a:endParaRPr sz="2000">
              <a:solidFill>
                <a:srgbClr val="EFEFEF"/>
              </a:solidFill>
              <a:latin typeface="Nunito"/>
              <a:ea typeface="Nunito"/>
              <a:cs typeface="Nunito"/>
              <a:sym typeface="Nunito"/>
            </a:endParaRPr>
          </a:p>
        </p:txBody>
      </p:sp>
      <p:sp>
        <p:nvSpPr>
          <p:cNvPr id="119" name="Google Shape;119;p1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20" name="Google Shape;120;p1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6</a:t>
            </a:fld>
            <a:endParaRPr b="0" i="0" sz="1300" u="none" cap="none" strike="noStrike">
              <a:solidFill>
                <a:srgbClr val="FFFFFF"/>
              </a:solidFill>
              <a:latin typeface="Nunito"/>
              <a:ea typeface="Nunito"/>
              <a:cs typeface="Nunito"/>
              <a:sym typeface="Nunito"/>
            </a:endParaRPr>
          </a:p>
        </p:txBody>
      </p:sp>
      <p:sp>
        <p:nvSpPr>
          <p:cNvPr id="121" name="Google Shape;121;p1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22" name="Google Shape;122;p19"/>
          <p:cNvSpPr/>
          <p:nvPr/>
        </p:nvSpPr>
        <p:spPr>
          <a:xfrm>
            <a:off x="364325" y="1426137"/>
            <a:ext cx="8356200" cy="526800"/>
          </a:xfrm>
          <a:prstGeom prst="rect">
            <a:avLst/>
          </a:prstGeom>
          <a:noFill/>
          <a:ln cap="flat" cmpd="sng" w="9525">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1000"/>
                                        <p:tgtEl>
                                          <p:spTgt spid="1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423625" y="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Decomposing Goodness</a:t>
            </a:r>
            <a:endParaRPr sz="3600">
              <a:latin typeface="Nunito"/>
              <a:ea typeface="Nunito"/>
              <a:cs typeface="Nunito"/>
              <a:sym typeface="Nunito"/>
            </a:endParaRPr>
          </a:p>
        </p:txBody>
      </p:sp>
      <p:sp>
        <p:nvSpPr>
          <p:cNvPr id="128" name="Google Shape;128;p2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29" name="Google Shape;129;p2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7</a:t>
            </a:fld>
            <a:endParaRPr b="0" i="0" sz="1300" u="none" cap="none" strike="noStrike">
              <a:solidFill>
                <a:srgbClr val="FFFFFF"/>
              </a:solidFill>
              <a:latin typeface="Nunito"/>
              <a:ea typeface="Nunito"/>
              <a:cs typeface="Nunito"/>
              <a:sym typeface="Nunito"/>
            </a:endParaRPr>
          </a:p>
        </p:txBody>
      </p:sp>
      <p:sp>
        <p:nvSpPr>
          <p:cNvPr id="130" name="Google Shape;130;p2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31" name="Google Shape;131;p20"/>
          <p:cNvSpPr txBox="1"/>
          <p:nvPr/>
        </p:nvSpPr>
        <p:spPr>
          <a:xfrm>
            <a:off x="423450" y="686425"/>
            <a:ext cx="8297100" cy="846600"/>
          </a:xfrm>
          <a:prstGeom prst="rect">
            <a:avLst/>
          </a:prstGeom>
          <a:noFill/>
          <a:ln>
            <a:noFill/>
          </a:ln>
        </p:spPr>
        <p:txBody>
          <a:bodyPr anchorCtr="0" anchor="t" bIns="91425" lIns="91425" spcFirstLastPara="1" rIns="91425" wrap="square" tIns="91425">
            <a:spAutoFit/>
          </a:bodyPr>
          <a:lstStyle/>
          <a:p>
            <a:pPr indent="0" lvl="0" marL="0" marR="381000" rtl="0" algn="l">
              <a:lnSpc>
                <a:spcPct val="115000"/>
              </a:lnSpc>
              <a:spcBef>
                <a:spcPts val="1200"/>
              </a:spcBef>
              <a:spcAft>
                <a:spcPts val="1200"/>
              </a:spcAft>
              <a:buClr>
                <a:schemeClr val="dk1"/>
              </a:buClr>
              <a:buSzPts val="1100"/>
              <a:buFont typeface="Arial"/>
              <a:buNone/>
            </a:pPr>
            <a:r>
              <a:rPr b="0" i="0" lang="en" sz="2000" u="none" cap="none" strike="noStrike">
                <a:solidFill>
                  <a:schemeClr val="dk1"/>
                </a:solidFill>
                <a:latin typeface="Nunito"/>
                <a:ea typeface="Nunito"/>
                <a:cs typeface="Nunito"/>
                <a:sym typeface="Nunito"/>
              </a:rPr>
              <a:t>Moral decisions often consider the intrinsic and instrumental goods that are at stake.</a:t>
            </a:r>
            <a:endParaRPr b="0" i="0" sz="1400" u="none" cap="none" strike="noStrike">
              <a:solidFill>
                <a:srgbClr val="000000"/>
              </a:solidFill>
              <a:latin typeface="Telex"/>
              <a:ea typeface="Telex"/>
              <a:cs typeface="Telex"/>
              <a:sym typeface="Telex"/>
            </a:endParaRPr>
          </a:p>
        </p:txBody>
      </p:sp>
      <p:sp>
        <p:nvSpPr>
          <p:cNvPr id="132" name="Google Shape;132;p20"/>
          <p:cNvSpPr txBox="1"/>
          <p:nvPr/>
        </p:nvSpPr>
        <p:spPr>
          <a:xfrm>
            <a:off x="423625" y="1610000"/>
            <a:ext cx="8297100" cy="1200600"/>
          </a:xfrm>
          <a:prstGeom prst="rect">
            <a:avLst/>
          </a:prstGeom>
          <a:noFill/>
          <a:ln>
            <a:noFill/>
          </a:ln>
        </p:spPr>
        <p:txBody>
          <a:bodyPr anchorCtr="0" anchor="t" bIns="91425" lIns="91425" spcFirstLastPara="1" rIns="91425" wrap="square" tIns="91425">
            <a:spAutoFit/>
          </a:bodyPr>
          <a:lstStyle/>
          <a:p>
            <a:pPr indent="0" lvl="0" marL="0" marR="381000" rtl="0" algn="l">
              <a:lnSpc>
                <a:spcPct val="115000"/>
              </a:lnSpc>
              <a:spcBef>
                <a:spcPts val="1200"/>
              </a:spcBef>
              <a:spcAft>
                <a:spcPts val="1200"/>
              </a:spcAft>
              <a:buClr>
                <a:srgbClr val="000000"/>
              </a:buClr>
              <a:buSzPts val="2000"/>
              <a:buFont typeface="Arial"/>
              <a:buNone/>
            </a:pPr>
            <a:r>
              <a:rPr b="1" i="0" lang="en" sz="2000" u="none" cap="none" strike="noStrike">
                <a:solidFill>
                  <a:schemeClr val="dk1"/>
                </a:solidFill>
                <a:latin typeface="Nunito"/>
                <a:ea typeface="Nunito"/>
                <a:cs typeface="Nunito"/>
                <a:sym typeface="Nunito"/>
              </a:rPr>
              <a:t>Instrumental goods </a:t>
            </a:r>
            <a:r>
              <a:rPr b="0" i="0" lang="en" sz="2000" u="none" cap="none" strike="noStrike">
                <a:solidFill>
                  <a:schemeClr val="dk1"/>
                </a:solidFill>
                <a:latin typeface="Nunito"/>
                <a:ea typeface="Nunito"/>
                <a:cs typeface="Nunito"/>
                <a:sym typeface="Nunito"/>
              </a:rPr>
              <a:t>are valuable because of the benefits or outcomes they provide – for example, money, power, career opportunities.</a:t>
            </a:r>
            <a:endParaRPr b="0" i="0" sz="1400" u="none" cap="none" strike="noStrike">
              <a:solidFill>
                <a:srgbClr val="000000"/>
              </a:solidFill>
              <a:latin typeface="Telex"/>
              <a:ea typeface="Telex"/>
              <a:cs typeface="Telex"/>
              <a:sym typeface="Telex"/>
            </a:endParaRPr>
          </a:p>
        </p:txBody>
      </p:sp>
      <p:sp>
        <p:nvSpPr>
          <p:cNvPr id="133" name="Google Shape;133;p20"/>
          <p:cNvSpPr txBox="1"/>
          <p:nvPr/>
        </p:nvSpPr>
        <p:spPr>
          <a:xfrm>
            <a:off x="423450" y="2847250"/>
            <a:ext cx="82971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Intrinsic goods </a:t>
            </a:r>
            <a:r>
              <a:rPr b="0" i="0" lang="en" sz="2000" u="none" cap="none" strike="noStrike">
                <a:solidFill>
                  <a:schemeClr val="dk1"/>
                </a:solidFill>
                <a:latin typeface="Nunito"/>
                <a:ea typeface="Nunito"/>
                <a:cs typeface="Nunito"/>
                <a:sym typeface="Nunito"/>
              </a:rPr>
              <a:t>are valuable in and of themselves</a:t>
            </a:r>
            <a:r>
              <a:rPr lang="en" sz="2000">
                <a:solidFill>
                  <a:schemeClr val="dk1"/>
                </a:solidFill>
                <a:latin typeface="Nunito"/>
                <a:ea typeface="Nunito"/>
                <a:cs typeface="Nunito"/>
                <a:sym typeface="Nunito"/>
              </a:rPr>
              <a:t>; common supposed examples are</a:t>
            </a:r>
            <a:r>
              <a:rPr b="0" i="0" lang="en" sz="2000" u="none" cap="none" strike="noStrike">
                <a:solidFill>
                  <a:schemeClr val="dk1"/>
                </a:solidFill>
                <a:latin typeface="Nunito"/>
                <a:ea typeface="Nunito"/>
                <a:cs typeface="Nunito"/>
                <a:sym typeface="Nunito"/>
              </a:rPr>
              <a:t> love, </a:t>
            </a:r>
            <a:r>
              <a:rPr lang="en" sz="2000">
                <a:solidFill>
                  <a:schemeClr val="dk1"/>
                </a:solidFill>
                <a:latin typeface="Nunito"/>
                <a:ea typeface="Nunito"/>
                <a:cs typeface="Nunito"/>
                <a:sym typeface="Nunito"/>
              </a:rPr>
              <a:t>pleasure</a:t>
            </a:r>
            <a:r>
              <a:rPr b="0" i="0" lang="en" sz="2000" u="none" cap="none" strike="noStrike">
                <a:solidFill>
                  <a:schemeClr val="dk1"/>
                </a:solidFill>
                <a:latin typeface="Nunito"/>
                <a:ea typeface="Nunito"/>
                <a:cs typeface="Nunito"/>
                <a:sym typeface="Nunito"/>
              </a:rPr>
              <a:t>, beauty, and truth. </a:t>
            </a:r>
            <a:endParaRPr b="0" i="0" sz="1400" u="none" cap="none" strike="noStrike">
              <a:solidFill>
                <a:srgbClr val="000000"/>
              </a:solidFill>
              <a:latin typeface="Telex"/>
              <a:ea typeface="Telex"/>
              <a:cs typeface="Telex"/>
              <a:sym typeface="Telex"/>
            </a:endParaRPr>
          </a:p>
        </p:txBody>
      </p:sp>
      <p:sp>
        <p:nvSpPr>
          <p:cNvPr id="134" name="Google Shape;134;p20"/>
          <p:cNvSpPr txBox="1"/>
          <p:nvPr/>
        </p:nvSpPr>
        <p:spPr>
          <a:xfrm>
            <a:off x="423450" y="3778475"/>
            <a:ext cx="82971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Some philosophers think there are many intrinsic goods, others accept none, or only one — wellbeing.</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animEffect filter="fade" transition="in">
                                      <p:cBhvr>
                                        <p:cTn dur="1000"/>
                                        <p:tgtEl>
                                          <p:spTgt spid="1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animEffect filter="fade" transition="in">
                                      <p:cBhvr>
                                        <p:cTn dur="1000"/>
                                        <p:tgtEl>
                                          <p:spTgt spid="1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animEffect filter="fade" transition="in">
                                      <p:cBhvr>
                                        <p:cTn dur="1000"/>
                                        <p:tgtEl>
                                          <p:spTgt spid="1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1000"/>
                                        <p:tgtEl>
                                          <p:spTgt spid="13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100"/>
              <a:buFont typeface="Arial"/>
              <a:buNone/>
            </a:pPr>
            <a:fld id="{00000000-1234-1234-1234-123412341234}" type="slidenum">
              <a:rPr b="0" i="0" lang="en" sz="1300" u="none" cap="none" strike="noStrike">
                <a:solidFill>
                  <a:schemeClr val="lt1"/>
                </a:solidFill>
                <a:latin typeface="Nunito"/>
                <a:ea typeface="Nunito"/>
                <a:cs typeface="Nunito"/>
                <a:sym typeface="Nunito"/>
              </a:rPr>
              <a:t>8</a:t>
            </a:fld>
            <a:endParaRPr b="0" i="0" sz="1300" u="none" cap="none" strike="noStrike">
              <a:solidFill>
                <a:schemeClr val="lt1"/>
              </a:solidFill>
              <a:latin typeface="Nunito"/>
              <a:ea typeface="Nunito"/>
              <a:cs typeface="Nunito"/>
              <a:sym typeface="Nunito"/>
            </a:endParaRPr>
          </a:p>
        </p:txBody>
      </p:sp>
      <p:sp>
        <p:nvSpPr>
          <p:cNvPr id="140" name="Google Shape;140;p2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41" name="Google Shape;141;p21"/>
          <p:cNvSpPr txBox="1"/>
          <p:nvPr>
            <p:ph idx="4294967295" type="title"/>
          </p:nvPr>
        </p:nvSpPr>
        <p:spPr>
          <a:xfrm>
            <a:off x="423400" y="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3600">
                <a:latin typeface="Nunito"/>
                <a:ea typeface="Nunito"/>
                <a:cs typeface="Nunito"/>
                <a:sym typeface="Nunito"/>
              </a:rPr>
              <a:t>Wellbeing </a:t>
            </a:r>
            <a:endParaRPr sz="3600">
              <a:latin typeface="Nunito"/>
              <a:ea typeface="Nunito"/>
              <a:cs typeface="Nunito"/>
              <a:sym typeface="Nunito"/>
            </a:endParaRPr>
          </a:p>
        </p:txBody>
      </p:sp>
      <p:sp>
        <p:nvSpPr>
          <p:cNvPr id="142" name="Google Shape;142;p21"/>
          <p:cNvSpPr txBox="1"/>
          <p:nvPr/>
        </p:nvSpPr>
        <p:spPr>
          <a:xfrm>
            <a:off x="423400" y="674575"/>
            <a:ext cx="82971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How wellbeing is defined is debatable; however, it is commonly considered to be an </a:t>
            </a:r>
            <a:r>
              <a:rPr b="1" i="0" lang="en" sz="2000" u="none" cap="none" strike="noStrike">
                <a:solidFill>
                  <a:schemeClr val="dk1"/>
                </a:solidFill>
                <a:latin typeface="Nunito"/>
                <a:ea typeface="Nunito"/>
                <a:cs typeface="Nunito"/>
                <a:sym typeface="Nunito"/>
              </a:rPr>
              <a:t>intrinsic good</a:t>
            </a:r>
            <a:r>
              <a:rPr b="0" i="0" lang="en" sz="2000" u="none" cap="none" strike="noStrike">
                <a:solidFill>
                  <a:schemeClr val="dk1"/>
                </a:solidFill>
                <a:latin typeface="Nunito"/>
                <a:ea typeface="Nunito"/>
                <a:cs typeface="Nunito"/>
                <a:sym typeface="Nunito"/>
              </a:rPr>
              <a:t>.</a:t>
            </a:r>
            <a:endParaRPr b="1" i="1" sz="2000" u="none" cap="none" strike="noStrike">
              <a:solidFill>
                <a:schemeClr val="dk1"/>
              </a:solidFill>
              <a:latin typeface="Nunito"/>
              <a:ea typeface="Nunito"/>
              <a:cs typeface="Nunito"/>
              <a:sym typeface="Nunito"/>
            </a:endParaRPr>
          </a:p>
        </p:txBody>
      </p:sp>
      <p:sp>
        <p:nvSpPr>
          <p:cNvPr id="143" name="Google Shape;143;p21"/>
          <p:cNvSpPr txBox="1"/>
          <p:nvPr/>
        </p:nvSpPr>
        <p:spPr>
          <a:xfrm>
            <a:off x="423400" y="1599275"/>
            <a:ext cx="82971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Wellbeing </a:t>
            </a:r>
            <a:r>
              <a:rPr b="0" i="0" lang="en" sz="2000" u="none" cap="none" strike="noStrike">
                <a:solidFill>
                  <a:schemeClr val="dk1"/>
                </a:solidFill>
                <a:latin typeface="Nunito"/>
                <a:ea typeface="Nunito"/>
                <a:cs typeface="Nunito"/>
                <a:sym typeface="Nunito"/>
              </a:rPr>
              <a:t>generally refers to how well a person’s life is going for them, or whether a person is happy, healthy, and fulfilled. </a:t>
            </a:r>
            <a:endParaRPr b="1" i="1" sz="2000" u="none" cap="none" strike="noStrike">
              <a:solidFill>
                <a:schemeClr val="dk1"/>
              </a:solidFill>
              <a:latin typeface="Nunito"/>
              <a:ea typeface="Nunito"/>
              <a:cs typeface="Nunito"/>
              <a:sym typeface="Nunito"/>
            </a:endParaRPr>
          </a:p>
        </p:txBody>
      </p:sp>
      <p:sp>
        <p:nvSpPr>
          <p:cNvPr id="144" name="Google Shape;144;p21"/>
          <p:cNvSpPr txBox="1"/>
          <p:nvPr/>
        </p:nvSpPr>
        <p:spPr>
          <a:xfrm>
            <a:off x="423400" y="2523975"/>
            <a:ext cx="61698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Throughout this section, we discuss three common accounts of wellbeing:</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Wellbeing as pleasure.</a:t>
            </a:r>
            <a:endParaRPr b="0"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Wellbeing as preference satisfaction.</a:t>
            </a:r>
            <a:endParaRPr b="0"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Wellbeing as a </a:t>
            </a:r>
            <a:r>
              <a:rPr lang="en" sz="2000">
                <a:solidFill>
                  <a:schemeClr val="dk1"/>
                </a:solidFill>
                <a:latin typeface="Nunito"/>
                <a:ea typeface="Nunito"/>
                <a:cs typeface="Nunito"/>
                <a:sym typeface="Nunito"/>
              </a:rPr>
              <a:t>set</a:t>
            </a:r>
            <a:r>
              <a:rPr b="0" i="0" lang="en" sz="2000" u="none" cap="none" strike="noStrike">
                <a:solidFill>
                  <a:schemeClr val="dk1"/>
                </a:solidFill>
                <a:latin typeface="Nunito"/>
                <a:ea typeface="Nunito"/>
                <a:cs typeface="Nunito"/>
                <a:sym typeface="Nunito"/>
              </a:rPr>
              <a:t> of objective goods.</a:t>
            </a:r>
            <a:endParaRPr b="1" i="0" sz="2000" u="none" cap="none" strike="noStrike">
              <a:solidFill>
                <a:schemeClr val="dk1"/>
              </a:solidFill>
              <a:latin typeface="Nunito"/>
              <a:ea typeface="Nunito"/>
              <a:cs typeface="Nunito"/>
              <a:sym typeface="Nunito"/>
            </a:endParaRPr>
          </a:p>
        </p:txBody>
      </p:sp>
      <p:pic>
        <p:nvPicPr>
          <p:cNvPr id="145" name="Google Shape;145;p21"/>
          <p:cNvPicPr preferRelativeResize="0"/>
          <p:nvPr/>
        </p:nvPicPr>
        <p:blipFill>
          <a:blip r:embed="rId3">
            <a:alphaModFix/>
          </a:blip>
          <a:stretch>
            <a:fillRect/>
          </a:stretch>
        </p:blipFill>
        <p:spPr>
          <a:xfrm>
            <a:off x="5436532" y="3789825"/>
            <a:ext cx="3707636" cy="1009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Effect filter="fade" transition="in">
                                      <p:cBhvr>
                                        <p:cTn dur="1000"/>
                                        <p:tgtEl>
                                          <p:spTgt spid="1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Effect filter="fade" transition="in">
                                      <p:cBhvr>
                                        <p:cTn dur="1000"/>
                                        <p:tgtEl>
                                          <p:spTgt spid="1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animEffect filter="fade" transition="in">
                                      <p:cBhvr>
                                        <p:cTn dur="1000"/>
                                        <p:tgtEl>
                                          <p:spTgt spid="1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animEffect filter="fade" transition="in">
                                      <p:cBhvr>
                                        <p:cTn dur="1000"/>
                                        <p:tgtEl>
                                          <p:spTgt spid="1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animEffect filter="fade" transition="in">
                                      <p:cBhvr>
                                        <p:cTn dur="1000"/>
                                        <p:tgtEl>
                                          <p:spTgt spid="1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animEffect filter="fade" transition="in">
                                      <p:cBhvr>
                                        <p:cTn dur="1000"/>
                                        <p:tgtEl>
                                          <p:spTgt spid="14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animEffect filter="fade" transition="in">
                                      <p:cBhvr>
                                        <p:cTn dur="1000"/>
                                        <p:tgtEl>
                                          <p:spTgt spid="14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nvSpPr>
        <p:spPr>
          <a:xfrm>
            <a:off x="367450" y="696900"/>
            <a:ext cx="8409000" cy="4102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Wellbeing as pleasure</a:t>
            </a:r>
            <a:r>
              <a:rPr b="0" i="0" lang="en" sz="2000" u="none" cap="none" strike="noStrike">
                <a:solidFill>
                  <a:schemeClr val="dk1"/>
                </a:solidFill>
                <a:latin typeface="Nunito"/>
                <a:ea typeface="Nunito"/>
                <a:cs typeface="Nunito"/>
                <a:sym typeface="Nunito"/>
              </a:rPr>
              <a:t>: the balance of pleasure (or happiness) over pain (or suffering) is what constitutes wellbeing. Also called </a:t>
            </a:r>
            <a:r>
              <a:rPr b="0" i="1" lang="en" sz="2000" u="none" cap="none" strike="noStrike">
                <a:solidFill>
                  <a:schemeClr val="dk1"/>
                </a:solidFill>
                <a:latin typeface="Nunito"/>
                <a:ea typeface="Nunito"/>
                <a:cs typeface="Nunito"/>
                <a:sym typeface="Nunito"/>
              </a:rPr>
              <a:t>hedonism</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rPr b="0" i="0" lang="en" sz="2000" u="none" cap="none" strike="noStrike">
                <a:solidFill>
                  <a:schemeClr val="dk1"/>
                </a:solidFill>
                <a:latin typeface="Nunito"/>
                <a:ea typeface="Nunito"/>
                <a:cs typeface="Nunito"/>
                <a:sym typeface="Nunito"/>
              </a:rPr>
              <a:t>While we may all have different preferences and desires, pleasure seems to be universally valued. All other goods might be instrumental.</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rPr b="0" i="0" lang="en" sz="2000" u="none" cap="none" strike="noStrike">
                <a:solidFill>
                  <a:schemeClr val="dk1"/>
                </a:solidFill>
                <a:latin typeface="Nunito"/>
                <a:ea typeface="Nunito"/>
                <a:cs typeface="Nunito"/>
                <a:sym typeface="Nunito"/>
              </a:rPr>
              <a:t>However, some philosophers argue against this view because</a:t>
            </a:r>
            <a:r>
              <a:rPr lang="en" sz="2000">
                <a:solidFill>
                  <a:schemeClr val="dk1"/>
                </a:solidFill>
                <a:latin typeface="Nunito"/>
                <a:ea typeface="Nunito"/>
                <a:cs typeface="Nunito"/>
                <a:sym typeface="Nunito"/>
              </a:rPr>
              <a:t> </a:t>
            </a:r>
            <a:r>
              <a:rPr b="0" i="0" lang="en" sz="2000" u="none" cap="none" strike="noStrike">
                <a:solidFill>
                  <a:schemeClr val="dk1"/>
                </a:solidFill>
                <a:latin typeface="Nunito"/>
                <a:ea typeface="Nunito"/>
                <a:cs typeface="Nunito"/>
                <a:sym typeface="Nunito"/>
              </a:rPr>
              <a:t>it does not consider other </a:t>
            </a:r>
            <a:r>
              <a:rPr lang="en" sz="2000">
                <a:solidFill>
                  <a:schemeClr val="dk1"/>
                </a:solidFill>
                <a:latin typeface="Nunito"/>
                <a:ea typeface="Nunito"/>
                <a:cs typeface="Nunito"/>
                <a:sym typeface="Nunito"/>
              </a:rPr>
              <a:t>ostensibly </a:t>
            </a:r>
            <a:r>
              <a:rPr b="0" i="0" lang="en" sz="2000" u="none" cap="none" strike="noStrike">
                <a:solidFill>
                  <a:schemeClr val="dk1"/>
                </a:solidFill>
                <a:latin typeface="Nunito"/>
                <a:ea typeface="Nunito"/>
                <a:cs typeface="Nunito"/>
                <a:sym typeface="Nunito"/>
              </a:rPr>
              <a:t>relevant factors to our wellbeing such as the pursuit of knowledge. </a:t>
            </a:r>
            <a:endParaRPr b="0" i="0" sz="2000" u="none" cap="none" strike="noStrike">
              <a:solidFill>
                <a:schemeClr val="dk1"/>
              </a:solidFill>
              <a:latin typeface="Nunito"/>
              <a:ea typeface="Nunito"/>
              <a:cs typeface="Nunito"/>
              <a:sym typeface="Nunito"/>
            </a:endParaRPr>
          </a:p>
        </p:txBody>
      </p:sp>
      <p:sp>
        <p:nvSpPr>
          <p:cNvPr id="151" name="Google Shape;151;p22"/>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Wellbeing as Pleasure</a:t>
            </a:r>
            <a:endParaRPr sz="3600">
              <a:latin typeface="Nunito"/>
              <a:ea typeface="Nunito"/>
              <a:cs typeface="Nunito"/>
              <a:sym typeface="Nunito"/>
            </a:endParaRPr>
          </a:p>
        </p:txBody>
      </p:sp>
      <p:sp>
        <p:nvSpPr>
          <p:cNvPr id="152" name="Google Shape;152;p22"/>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53" name="Google Shape;153;p22"/>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9</a:t>
            </a:fld>
            <a:endParaRPr b="0" i="0" sz="1300" u="none" cap="none" strike="noStrike">
              <a:solidFill>
                <a:srgbClr val="FFFFFF"/>
              </a:solidFill>
              <a:latin typeface="Nunito"/>
              <a:ea typeface="Nunito"/>
              <a:cs typeface="Nunito"/>
              <a:sym typeface="Nunito"/>
            </a:endParaRPr>
          </a:p>
        </p:txBody>
      </p:sp>
      <p:sp>
        <p:nvSpPr>
          <p:cNvPr id="154" name="Google Shape;154;p22"/>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animEffect filter="fade" transition="in">
                                      <p:cBhvr>
                                        <p:cTn dur="1000"/>
                                        <p:tgtEl>
                                          <p:spTgt spid="1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animEffect filter="fade" transition="in">
                                      <p:cBhvr>
                                        <p:cTn dur="1000"/>
                                        <p:tgtEl>
                                          <p:spTgt spid="1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animEffect filter="fade" transition="in">
                                      <p:cBhvr>
                                        <p:cTn dur="1000"/>
                                        <p:tgtEl>
                                          <p:spTgt spid="1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animEffect filter="fade" transition="in">
                                      <p:cBhvr>
                                        <p:cTn dur="1000"/>
                                        <p:tgtEl>
                                          <p:spTgt spid="1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animEffect filter="fade" transition="in">
                                      <p:cBhvr>
                                        <p:cTn dur="1000"/>
                                        <p:tgtEl>
                                          <p:spTgt spid="15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175" y="-12175"/>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Wellbeing as Preference Satisfaction (1/2)</a:t>
            </a:r>
            <a:endParaRPr sz="3600">
              <a:latin typeface="Nunito"/>
              <a:ea typeface="Nunito"/>
              <a:cs typeface="Nunito"/>
              <a:sym typeface="Nunito"/>
            </a:endParaRPr>
          </a:p>
        </p:txBody>
      </p:sp>
      <p:sp>
        <p:nvSpPr>
          <p:cNvPr id="160" name="Google Shape;160;p2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161" name="Google Shape;161;p2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10</a:t>
            </a:fld>
            <a:endParaRPr b="0" i="0" sz="1300" u="none" cap="none" strike="noStrike">
              <a:solidFill>
                <a:srgbClr val="FFFFFF"/>
              </a:solidFill>
              <a:latin typeface="Nunito"/>
              <a:ea typeface="Nunito"/>
              <a:cs typeface="Nunito"/>
              <a:sym typeface="Nunito"/>
            </a:endParaRPr>
          </a:p>
        </p:txBody>
      </p:sp>
      <p:sp>
        <p:nvSpPr>
          <p:cNvPr id="162" name="Google Shape;162;p2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63" name="Google Shape;163;p23"/>
          <p:cNvSpPr txBox="1"/>
          <p:nvPr/>
        </p:nvSpPr>
        <p:spPr>
          <a:xfrm>
            <a:off x="133350" y="757050"/>
            <a:ext cx="8896200" cy="4386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000000"/>
                </a:solidFill>
                <a:latin typeface="Nunito"/>
                <a:ea typeface="Nunito"/>
                <a:cs typeface="Nunito"/>
                <a:sym typeface="Nunito"/>
              </a:rPr>
              <a:t>Wellbeing as preference satisfaction</a:t>
            </a:r>
            <a:r>
              <a:rPr b="0" i="0" lang="en" sz="2000" u="none" cap="none" strike="noStrike">
                <a:solidFill>
                  <a:srgbClr val="000000"/>
                </a:solidFill>
                <a:latin typeface="Nunito"/>
                <a:ea typeface="Nunito"/>
                <a:cs typeface="Nunito"/>
                <a:sym typeface="Nunito"/>
              </a:rPr>
              <a:t>: what really matters for wellbeing is that our desires or preferences are satisfied.</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Different types of preferences might differ greatly in different situations. </a:t>
            </a:r>
            <a:r>
              <a:rPr b="0" i="0" lang="en" sz="2000" u="none" cap="none" strike="noStrike">
                <a:solidFill>
                  <a:schemeClr val="dk1"/>
                </a:solidFill>
                <a:latin typeface="Nunito"/>
                <a:ea typeface="Nunito"/>
                <a:cs typeface="Nunito"/>
                <a:sym typeface="Nunito"/>
              </a:rPr>
              <a:t>Consider Alice’s preferences over different candidates in an election:</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1" i="0" lang="en" sz="2000" u="none" cap="none" strike="noStrike">
                <a:solidFill>
                  <a:schemeClr val="dk1"/>
                </a:solidFill>
                <a:latin typeface="Nunito"/>
                <a:ea typeface="Nunito"/>
                <a:cs typeface="Nunito"/>
                <a:sym typeface="Nunito"/>
              </a:rPr>
              <a:t>Stated preference</a:t>
            </a:r>
            <a:r>
              <a:rPr b="0" i="0" lang="en" sz="2000" u="none" cap="none" strike="noStrike">
                <a:solidFill>
                  <a:schemeClr val="dk1"/>
                </a:solidFill>
                <a:latin typeface="Nunito"/>
                <a:ea typeface="Nunito"/>
                <a:cs typeface="Nunito"/>
                <a:sym typeface="Nunito"/>
              </a:rPr>
              <a:t> → “I </a:t>
            </a:r>
            <a:r>
              <a:rPr lang="en" sz="2000">
                <a:solidFill>
                  <a:schemeClr val="dk1"/>
                </a:solidFill>
                <a:latin typeface="Nunito"/>
                <a:ea typeface="Nunito"/>
                <a:cs typeface="Nunito"/>
                <a:sym typeface="Nunito"/>
              </a:rPr>
              <a:t>prefer AI’s output </a:t>
            </a:r>
            <a:r>
              <a:rPr b="0" i="0" lang="en" sz="2000" u="none" cap="none" strike="noStrike">
                <a:solidFill>
                  <a:schemeClr val="dk1"/>
                </a:solidFill>
                <a:latin typeface="Nunito"/>
                <a:ea typeface="Nunito"/>
                <a:cs typeface="Nunito"/>
                <a:sym typeface="Nunito"/>
              </a:rPr>
              <a:t>X”</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1" i="0" lang="en" sz="2000" u="none" cap="none" strike="noStrike">
                <a:solidFill>
                  <a:schemeClr val="dk1"/>
                </a:solidFill>
                <a:latin typeface="Nunito"/>
                <a:ea typeface="Nunito"/>
                <a:cs typeface="Nunito"/>
                <a:sym typeface="Nunito"/>
              </a:rPr>
              <a:t>Revealed preference</a:t>
            </a:r>
            <a:r>
              <a:rPr b="0" i="0" lang="en" sz="2000" u="none" cap="none" strike="noStrike">
                <a:solidFill>
                  <a:schemeClr val="dk1"/>
                </a:solidFill>
                <a:latin typeface="Nunito"/>
                <a:ea typeface="Nunito"/>
                <a:cs typeface="Nunito"/>
                <a:sym typeface="Nunito"/>
              </a:rPr>
              <a:t> → I </a:t>
            </a:r>
            <a:r>
              <a:rPr lang="en" sz="2000">
                <a:solidFill>
                  <a:schemeClr val="dk1"/>
                </a:solidFill>
                <a:latin typeface="Nunito"/>
                <a:ea typeface="Nunito"/>
                <a:cs typeface="Nunito"/>
                <a:sym typeface="Nunito"/>
              </a:rPr>
              <a:t>chose</a:t>
            </a:r>
            <a:r>
              <a:rPr b="0" i="0" lang="en" sz="2000" u="none" cap="none" strike="noStrike">
                <a:solidFill>
                  <a:schemeClr val="dk1"/>
                </a:solidFill>
                <a:latin typeface="Nunito"/>
                <a:ea typeface="Nunito"/>
                <a:cs typeface="Nunito"/>
                <a:sym typeface="Nunito"/>
              </a:rPr>
              <a:t> </a:t>
            </a:r>
            <a:r>
              <a:rPr lang="en" sz="2000">
                <a:solidFill>
                  <a:schemeClr val="dk1"/>
                </a:solidFill>
                <a:latin typeface="Nunito"/>
                <a:ea typeface="Nunito"/>
                <a:cs typeface="Nunito"/>
                <a:sym typeface="Nunito"/>
              </a:rPr>
              <a:t>AI’s output</a:t>
            </a:r>
            <a:r>
              <a:rPr b="0" i="0" lang="en" sz="2000" u="none" cap="none" strike="noStrike">
                <a:solidFill>
                  <a:schemeClr val="dk1"/>
                </a:solidFill>
                <a:latin typeface="Nunito"/>
                <a:ea typeface="Nunito"/>
                <a:cs typeface="Nunito"/>
                <a:sym typeface="Nunito"/>
              </a:rPr>
              <a:t> X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1" i="0" lang="en" sz="2000" u="none" cap="none" strike="noStrike">
                <a:solidFill>
                  <a:schemeClr val="dk1"/>
                </a:solidFill>
                <a:latin typeface="Nunito"/>
                <a:ea typeface="Nunito"/>
                <a:cs typeface="Nunito"/>
                <a:sym typeface="Nunito"/>
              </a:rPr>
              <a:t>Informed preference</a:t>
            </a:r>
            <a:r>
              <a:rPr b="0" i="0" lang="en" sz="2000" u="none" cap="none" strike="noStrike">
                <a:solidFill>
                  <a:schemeClr val="dk1"/>
                </a:solidFill>
                <a:latin typeface="Nunito"/>
                <a:ea typeface="Nunito"/>
                <a:cs typeface="Nunito"/>
                <a:sym typeface="Nunito"/>
              </a:rPr>
              <a:t> → I would have </a:t>
            </a:r>
            <a:r>
              <a:rPr lang="en" sz="2000">
                <a:solidFill>
                  <a:schemeClr val="dk1"/>
                </a:solidFill>
                <a:latin typeface="Nunito"/>
                <a:ea typeface="Nunito"/>
                <a:cs typeface="Nunito"/>
                <a:sym typeface="Nunito"/>
              </a:rPr>
              <a:t>chosen AI’s output</a:t>
            </a:r>
            <a:r>
              <a:rPr b="0" i="0" lang="en" sz="2000" u="none" cap="none" strike="noStrike">
                <a:solidFill>
                  <a:schemeClr val="dk1"/>
                </a:solidFill>
                <a:latin typeface="Nunito"/>
                <a:ea typeface="Nunito"/>
                <a:cs typeface="Nunito"/>
                <a:sym typeface="Nunito"/>
              </a:rPr>
              <a:t> X if I knew…</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rgbClr val="000000"/>
                </a:solidFill>
                <a:latin typeface="Nunito"/>
                <a:ea typeface="Nunito"/>
                <a:cs typeface="Nunito"/>
                <a:sym typeface="Nunito"/>
              </a:rPr>
              <a:t>Which preferences matter?</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000000"/>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0" st="0"/>
                                            </p:txEl>
                                          </p:spTgt>
                                        </p:tgtEl>
                                        <p:attrNameLst>
                                          <p:attrName>style.visibility</p:attrName>
                                        </p:attrNameLst>
                                      </p:cBhvr>
                                      <p:to>
                                        <p:strVal val="visible"/>
                                      </p:to>
                                    </p:set>
                                    <p:animEffect filter="fade" transition="in">
                                      <p:cBhvr>
                                        <p:cTn dur="1000"/>
                                        <p:tgtEl>
                                          <p:spTgt spid="1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1" st="1"/>
                                            </p:txEl>
                                          </p:spTgt>
                                        </p:tgtEl>
                                        <p:attrNameLst>
                                          <p:attrName>style.visibility</p:attrName>
                                        </p:attrNameLst>
                                      </p:cBhvr>
                                      <p:to>
                                        <p:strVal val="visible"/>
                                      </p:to>
                                    </p:set>
                                    <p:animEffect filter="fade" transition="in">
                                      <p:cBhvr>
                                        <p:cTn dur="1000"/>
                                        <p:tgtEl>
                                          <p:spTgt spid="1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2" st="2"/>
                                            </p:txEl>
                                          </p:spTgt>
                                        </p:tgtEl>
                                        <p:attrNameLst>
                                          <p:attrName>style.visibility</p:attrName>
                                        </p:attrNameLst>
                                      </p:cBhvr>
                                      <p:to>
                                        <p:strVal val="visible"/>
                                      </p:to>
                                    </p:set>
                                    <p:animEffect filter="fade" transition="in">
                                      <p:cBhvr>
                                        <p:cTn dur="1000"/>
                                        <p:tgtEl>
                                          <p:spTgt spid="1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3" st="3"/>
                                            </p:txEl>
                                          </p:spTgt>
                                        </p:tgtEl>
                                        <p:attrNameLst>
                                          <p:attrName>style.visibility</p:attrName>
                                        </p:attrNameLst>
                                      </p:cBhvr>
                                      <p:to>
                                        <p:strVal val="visible"/>
                                      </p:to>
                                    </p:set>
                                    <p:animEffect filter="fade" transition="in">
                                      <p:cBhvr>
                                        <p:cTn dur="1000"/>
                                        <p:tgtEl>
                                          <p:spTgt spid="1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4" st="4"/>
                                            </p:txEl>
                                          </p:spTgt>
                                        </p:tgtEl>
                                        <p:attrNameLst>
                                          <p:attrName>style.visibility</p:attrName>
                                        </p:attrNameLst>
                                      </p:cBhvr>
                                      <p:to>
                                        <p:strVal val="visible"/>
                                      </p:to>
                                    </p:set>
                                    <p:animEffect filter="fade" transition="in">
                                      <p:cBhvr>
                                        <p:cTn dur="1000"/>
                                        <p:tgtEl>
                                          <p:spTgt spid="1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5" st="5"/>
                                            </p:txEl>
                                          </p:spTgt>
                                        </p:tgtEl>
                                        <p:attrNameLst>
                                          <p:attrName>style.visibility</p:attrName>
                                        </p:attrNameLst>
                                      </p:cBhvr>
                                      <p:to>
                                        <p:strVal val="visible"/>
                                      </p:to>
                                    </p:set>
                                    <p:animEffect filter="fade" transition="in">
                                      <p:cBhvr>
                                        <p:cTn dur="1000"/>
                                        <p:tgtEl>
                                          <p:spTgt spid="1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6" st="6"/>
                                            </p:txEl>
                                          </p:spTgt>
                                        </p:tgtEl>
                                        <p:attrNameLst>
                                          <p:attrName>style.visibility</p:attrName>
                                        </p:attrNameLst>
                                      </p:cBhvr>
                                      <p:to>
                                        <p:strVal val="visible"/>
                                      </p:to>
                                    </p:set>
                                    <p:animEffect filter="fade" transition="in">
                                      <p:cBhvr>
                                        <p:cTn dur="1000"/>
                                        <p:tgtEl>
                                          <p:spTgt spid="16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7" st="7"/>
                                            </p:txEl>
                                          </p:spTgt>
                                        </p:tgtEl>
                                        <p:attrNameLst>
                                          <p:attrName>style.visibility</p:attrName>
                                        </p:attrNameLst>
                                      </p:cBhvr>
                                      <p:to>
                                        <p:strVal val="visible"/>
                                      </p:to>
                                    </p:set>
                                    <p:animEffect filter="fade" transition="in">
                                      <p:cBhvr>
                                        <p:cTn dur="1000"/>
                                        <p:tgtEl>
                                          <p:spTgt spid="16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8" st="8"/>
                                            </p:txEl>
                                          </p:spTgt>
                                        </p:tgtEl>
                                        <p:attrNameLst>
                                          <p:attrName>style.visibility</p:attrName>
                                        </p:attrNameLst>
                                      </p:cBhvr>
                                      <p:to>
                                        <p:strVal val="visible"/>
                                      </p:to>
                                    </p:set>
                                    <p:animEffect filter="fade" transition="in">
                                      <p:cBhvr>
                                        <p:cTn dur="1000"/>
                                        <p:tgtEl>
                                          <p:spTgt spid="16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9" st="9"/>
                                            </p:txEl>
                                          </p:spTgt>
                                        </p:tgtEl>
                                        <p:attrNameLst>
                                          <p:attrName>style.visibility</p:attrName>
                                        </p:attrNameLst>
                                      </p:cBhvr>
                                      <p:to>
                                        <p:strVal val="visible"/>
                                      </p:to>
                                    </p:set>
                                    <p:animEffect filter="fade" transition="in">
                                      <p:cBhvr>
                                        <p:cTn dur="1000"/>
                                        <p:tgtEl>
                                          <p:spTgt spid="16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100"/>
              <a:buFont typeface="Arial"/>
              <a:buNone/>
            </a:pPr>
            <a:fld id="{00000000-1234-1234-1234-123412341234}" type="slidenum">
              <a:rPr b="0" i="0" lang="en" sz="1300" u="none" cap="none" strike="noStrike">
                <a:solidFill>
                  <a:schemeClr val="lt1"/>
                </a:solidFill>
                <a:latin typeface="Nunito"/>
                <a:ea typeface="Nunito"/>
                <a:cs typeface="Nunito"/>
                <a:sym typeface="Nunito"/>
              </a:rPr>
              <a:t>11</a:t>
            </a:fld>
            <a:endParaRPr b="0" i="0" sz="1300" u="none" cap="none" strike="noStrike">
              <a:solidFill>
                <a:schemeClr val="lt1"/>
              </a:solidFill>
              <a:latin typeface="Nunito"/>
              <a:ea typeface="Nunito"/>
              <a:cs typeface="Nunito"/>
              <a:sym typeface="Nunito"/>
            </a:endParaRPr>
          </a:p>
        </p:txBody>
      </p:sp>
      <p:sp>
        <p:nvSpPr>
          <p:cNvPr id="169" name="Google Shape;169;p2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70" name="Google Shape;170;p24"/>
          <p:cNvSpPr txBox="1"/>
          <p:nvPr>
            <p:ph idx="4294967295" type="title"/>
          </p:nvPr>
        </p:nvSpPr>
        <p:spPr>
          <a:xfrm>
            <a:off x="175" y="-12175"/>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3600">
                <a:latin typeface="Nunito"/>
                <a:ea typeface="Nunito"/>
                <a:cs typeface="Nunito"/>
                <a:sym typeface="Nunito"/>
              </a:rPr>
              <a:t>Wellbeing as Preference Satisfaction (2/2)</a:t>
            </a:r>
            <a:endParaRPr sz="3600">
              <a:latin typeface="Nunito"/>
              <a:ea typeface="Nunito"/>
              <a:cs typeface="Nunito"/>
              <a:sym typeface="Nunito"/>
            </a:endParaRPr>
          </a:p>
        </p:txBody>
      </p:sp>
      <p:sp>
        <p:nvSpPr>
          <p:cNvPr id="171" name="Google Shape;171;p24"/>
          <p:cNvSpPr txBox="1"/>
          <p:nvPr/>
        </p:nvSpPr>
        <p:spPr>
          <a:xfrm>
            <a:off x="366475" y="642250"/>
            <a:ext cx="8297100" cy="1200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p:txBody>
      </p:sp>
      <p:sp>
        <p:nvSpPr>
          <p:cNvPr id="172" name="Google Shape;172;p24"/>
          <p:cNvSpPr txBox="1"/>
          <p:nvPr/>
        </p:nvSpPr>
        <p:spPr>
          <a:xfrm>
            <a:off x="176250" y="709525"/>
            <a:ext cx="8791500" cy="3940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Stated preferences</a:t>
            </a:r>
            <a:r>
              <a:rPr b="0" i="0" lang="en" sz="2000" u="none" cap="none" strike="noStrike">
                <a:solidFill>
                  <a:schemeClr val="dk1"/>
                </a:solidFill>
                <a:latin typeface="Nunito"/>
                <a:ea typeface="Nunito"/>
                <a:cs typeface="Nunito"/>
                <a:sym typeface="Nunito"/>
              </a:rPr>
              <a:t> are outwardly expressed, but sometimes, they conflict with revealed preferences. A </a:t>
            </a:r>
            <a:r>
              <a:rPr b="1" i="0" lang="en" sz="2000" u="none" cap="none" strike="noStrike">
                <a:solidFill>
                  <a:schemeClr val="dk1"/>
                </a:solidFill>
                <a:latin typeface="Nunito"/>
                <a:ea typeface="Nunito"/>
                <a:cs typeface="Nunito"/>
                <a:sym typeface="Nunito"/>
              </a:rPr>
              <a:t>revealed preference</a:t>
            </a:r>
            <a:r>
              <a:rPr b="0" i="0" lang="en" sz="2000" u="none" cap="none" strike="noStrike">
                <a:solidFill>
                  <a:schemeClr val="dk1"/>
                </a:solidFill>
                <a:latin typeface="Nunito"/>
                <a:ea typeface="Nunito"/>
                <a:cs typeface="Nunito"/>
                <a:sym typeface="Nunito"/>
              </a:rPr>
              <a:t> illustrates our actions, not our intentions and they can be more useful than stated preferences.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45720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 voter may express </a:t>
            </a:r>
            <a:r>
              <a:rPr lang="en" sz="2000">
                <a:solidFill>
                  <a:schemeClr val="dk1"/>
                </a:solidFill>
                <a:latin typeface="Nunito"/>
                <a:ea typeface="Nunito"/>
                <a:cs typeface="Nunito"/>
                <a:sym typeface="Nunito"/>
              </a:rPr>
              <a:t>a preference for Google over ChatGPT</a:t>
            </a:r>
            <a:r>
              <a:rPr b="0" i="0" lang="en" sz="2000" u="none" cap="none" strike="noStrike">
                <a:solidFill>
                  <a:schemeClr val="dk1"/>
                </a:solidFill>
                <a:latin typeface="Nunito"/>
                <a:ea typeface="Nunito"/>
                <a:cs typeface="Nunito"/>
                <a:sym typeface="Nunito"/>
              </a:rPr>
              <a:t>, but when they actually</a:t>
            </a:r>
            <a:r>
              <a:rPr lang="en" sz="2000">
                <a:solidFill>
                  <a:schemeClr val="dk1"/>
                </a:solidFill>
                <a:latin typeface="Nunito"/>
                <a:ea typeface="Nunito"/>
                <a:cs typeface="Nunito"/>
                <a:sym typeface="Nunito"/>
              </a:rPr>
              <a:t> have queries,</a:t>
            </a:r>
            <a:r>
              <a:rPr b="0" i="0" lang="en" sz="2000" u="none" cap="none" strike="noStrike">
                <a:solidFill>
                  <a:schemeClr val="dk1"/>
                </a:solidFill>
                <a:latin typeface="Nunito"/>
                <a:ea typeface="Nunito"/>
                <a:cs typeface="Nunito"/>
                <a:sym typeface="Nunito"/>
              </a:rPr>
              <a:t> they may </a:t>
            </a:r>
            <a:r>
              <a:rPr lang="en" sz="2000">
                <a:solidFill>
                  <a:schemeClr val="dk1"/>
                </a:solidFill>
                <a:latin typeface="Nunito"/>
                <a:ea typeface="Nunito"/>
                <a:cs typeface="Nunito"/>
                <a:sym typeface="Nunito"/>
              </a:rPr>
              <a:t>more frequently use ChatGPT</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An </a:t>
            </a:r>
            <a:r>
              <a:rPr b="1" i="0" lang="en" sz="2000" u="none" cap="none" strike="noStrike">
                <a:solidFill>
                  <a:schemeClr val="dk1"/>
                </a:solidFill>
                <a:latin typeface="Nunito"/>
                <a:ea typeface="Nunito"/>
                <a:cs typeface="Nunito"/>
                <a:sym typeface="Nunito"/>
              </a:rPr>
              <a:t>informed preference</a:t>
            </a:r>
            <a:r>
              <a:rPr b="0" i="0" lang="en" sz="2000" u="none" cap="none" strike="noStrike">
                <a:solidFill>
                  <a:schemeClr val="dk1"/>
                </a:solidFill>
                <a:latin typeface="Nunito"/>
                <a:ea typeface="Nunito"/>
                <a:cs typeface="Nunito"/>
                <a:sym typeface="Nunito"/>
              </a:rPr>
              <a:t> considers all relevant information and can change as more information is acquired. These help us to uncover the reasoning behind stated/revealed preferences to better understand how they might change or conflict.</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animEffect filter="fade" transition="in">
                                      <p:cBhvr>
                                        <p:cTn dur="1000"/>
                                        <p:tgtEl>
                                          <p:spTgt spid="1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animEffect filter="fade" transition="in">
                                      <p:cBhvr>
                                        <p:cTn dur="1000"/>
                                        <p:tgtEl>
                                          <p:spTgt spid="1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animEffect filter="fade" transition="in">
                                      <p:cBhvr>
                                        <p:cTn dur="1000"/>
                                        <p:tgtEl>
                                          <p:spTgt spid="17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100"/>
              <a:buFont typeface="Arial"/>
              <a:buNone/>
            </a:pPr>
            <a:fld id="{00000000-1234-1234-1234-123412341234}" type="slidenum">
              <a:rPr b="0" i="0" lang="en" sz="1300" u="none" cap="none" strike="noStrike">
                <a:solidFill>
                  <a:schemeClr val="lt1"/>
                </a:solidFill>
                <a:latin typeface="Nunito"/>
                <a:ea typeface="Nunito"/>
                <a:cs typeface="Nunito"/>
                <a:sym typeface="Nunito"/>
              </a:rPr>
              <a:t>12</a:t>
            </a:fld>
            <a:endParaRPr b="0" i="0" sz="1300" u="none" cap="none" strike="noStrike">
              <a:solidFill>
                <a:schemeClr val="lt1"/>
              </a:solidFill>
              <a:latin typeface="Nunito"/>
              <a:ea typeface="Nunito"/>
              <a:cs typeface="Nunito"/>
              <a:sym typeface="Nunito"/>
            </a:endParaRPr>
          </a:p>
        </p:txBody>
      </p:sp>
      <p:sp>
        <p:nvSpPr>
          <p:cNvPr id="178" name="Google Shape;178;p2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79" name="Google Shape;179;p25"/>
          <p:cNvSpPr txBox="1"/>
          <p:nvPr>
            <p:ph idx="4294967295"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3600">
                <a:latin typeface="Nunito"/>
                <a:ea typeface="Nunito"/>
                <a:cs typeface="Nunito"/>
                <a:sym typeface="Nunito"/>
              </a:rPr>
              <a:t>Wellbeing as Objective Goods </a:t>
            </a:r>
            <a:endParaRPr sz="3600">
              <a:latin typeface="Nunito"/>
              <a:ea typeface="Nunito"/>
              <a:cs typeface="Nunito"/>
              <a:sym typeface="Nunito"/>
            </a:endParaRPr>
          </a:p>
        </p:txBody>
      </p:sp>
      <p:sp>
        <p:nvSpPr>
          <p:cNvPr id="180" name="Google Shape;180;p25"/>
          <p:cNvSpPr txBox="1"/>
          <p:nvPr/>
        </p:nvSpPr>
        <p:spPr>
          <a:xfrm>
            <a:off x="374225" y="624025"/>
            <a:ext cx="8297100" cy="146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rgbClr val="000000"/>
                </a:solidFill>
                <a:latin typeface="Nunito"/>
                <a:ea typeface="Nunito"/>
                <a:cs typeface="Nunito"/>
                <a:sym typeface="Nunito"/>
              </a:rPr>
              <a:t>Objective goods</a:t>
            </a:r>
            <a:r>
              <a:rPr b="0" i="0" lang="en" sz="2000" u="none" cap="none" strike="noStrike">
                <a:solidFill>
                  <a:srgbClr val="000000"/>
                </a:solidFill>
                <a:latin typeface="Nunito"/>
                <a:ea typeface="Nunito"/>
                <a:cs typeface="Nunito"/>
                <a:sym typeface="Nunito"/>
              </a:rPr>
              <a:t> are those things which are good independent of personal beliefs or opinions – they are </a:t>
            </a:r>
            <a:r>
              <a:rPr b="0" i="1" lang="en" sz="2000" u="none" cap="none" strike="noStrike">
                <a:solidFill>
                  <a:srgbClr val="000000"/>
                </a:solidFill>
                <a:latin typeface="Nunito"/>
                <a:ea typeface="Nunito"/>
                <a:cs typeface="Nunito"/>
                <a:sym typeface="Nunito"/>
              </a:rPr>
              <a:t>universal</a:t>
            </a:r>
            <a:r>
              <a:rPr b="0" i="0" lang="en" sz="2000" u="none" cap="none" strike="noStrike">
                <a:solidFill>
                  <a:srgbClr val="000000"/>
                </a:solidFill>
                <a:latin typeface="Nunito"/>
                <a:ea typeface="Nunito"/>
                <a:cs typeface="Nunito"/>
                <a:sym typeface="Nunito"/>
              </a:rPr>
              <a:t>.</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rgbClr val="000000"/>
              </a:solidFill>
              <a:latin typeface="Nunito"/>
              <a:ea typeface="Nunito"/>
              <a:cs typeface="Nunito"/>
              <a:sym typeface="Nunito"/>
            </a:endParaRPr>
          </a:p>
        </p:txBody>
      </p:sp>
      <p:pic>
        <p:nvPicPr>
          <p:cNvPr id="181" name="Google Shape;181;p25"/>
          <p:cNvPicPr preferRelativeResize="0"/>
          <p:nvPr/>
        </p:nvPicPr>
        <p:blipFill rotWithShape="1">
          <a:blip r:embed="rId3">
            <a:alphaModFix/>
          </a:blip>
          <a:srcRect b="0" l="0" r="0" t="0"/>
          <a:stretch/>
        </p:blipFill>
        <p:spPr>
          <a:xfrm>
            <a:off x="5705800" y="2048275"/>
            <a:ext cx="3344901" cy="2402827"/>
          </a:xfrm>
          <a:prstGeom prst="rect">
            <a:avLst/>
          </a:prstGeom>
          <a:noFill/>
          <a:ln>
            <a:noFill/>
          </a:ln>
        </p:spPr>
      </p:pic>
      <p:sp>
        <p:nvSpPr>
          <p:cNvPr id="182" name="Google Shape;182;p25"/>
          <p:cNvSpPr txBox="1"/>
          <p:nvPr/>
        </p:nvSpPr>
        <p:spPr>
          <a:xfrm>
            <a:off x="374225" y="1855450"/>
            <a:ext cx="5445000" cy="2970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lang="en" sz="2000">
                <a:solidFill>
                  <a:schemeClr val="dk1"/>
                </a:solidFill>
                <a:latin typeface="Nunito"/>
                <a:ea typeface="Nunito"/>
                <a:cs typeface="Nunito"/>
                <a:sym typeface="Nunito"/>
              </a:rPr>
              <a:t>An example set: moral goodness, rational activity, development of abilities, having children and being a good parent, knowledge, awareness of true beauty.</a:t>
            </a:r>
            <a:endParaRPr sz="2000">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rPr b="0" i="0" lang="en" sz="2000" u="none" cap="none" strike="noStrike">
                <a:solidFill>
                  <a:schemeClr val="dk1"/>
                </a:solidFill>
                <a:latin typeface="Nunito"/>
                <a:ea typeface="Nunito"/>
                <a:cs typeface="Nunito"/>
                <a:sym typeface="Nunito"/>
              </a:rPr>
              <a:t>We may not always agree on what constitutes an objective good, and whether it can be considered universal.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animEffect filter="fade" transition="in">
                                      <p:cBhvr>
                                        <p:cTn dur="1000"/>
                                        <p:tgtEl>
                                          <p:spTgt spid="1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1" st="1"/>
                                            </p:txEl>
                                          </p:spTgt>
                                        </p:tgtEl>
                                        <p:attrNameLst>
                                          <p:attrName>style.visibility</p:attrName>
                                        </p:attrNameLst>
                                      </p:cBhvr>
                                      <p:to>
                                        <p:strVal val="visible"/>
                                      </p:to>
                                    </p:set>
                                    <p:animEffect filter="fade" transition="in">
                                      <p:cBhvr>
                                        <p:cTn dur="1000"/>
                                        <p:tgtEl>
                                          <p:spTgt spid="18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2" st="2"/>
                                            </p:txEl>
                                          </p:spTgt>
                                        </p:tgtEl>
                                        <p:attrNameLst>
                                          <p:attrName>style.visibility</p:attrName>
                                        </p:attrNameLst>
                                      </p:cBhvr>
                                      <p:to>
                                        <p:strVal val="visible"/>
                                      </p:to>
                                    </p:set>
                                    <p:animEffect filter="fade" transition="in">
                                      <p:cBhvr>
                                        <p:cTn dur="1000"/>
                                        <p:tgtEl>
                                          <p:spTgt spid="18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0" st="0"/>
                                            </p:txEl>
                                          </p:spTgt>
                                        </p:tgtEl>
                                        <p:attrNameLst>
                                          <p:attrName>style.visibility</p:attrName>
                                        </p:attrNameLst>
                                      </p:cBhvr>
                                      <p:to>
                                        <p:strVal val="visible"/>
                                      </p:to>
                                    </p:set>
                                    <p:animEffect filter="fade" transition="in">
                                      <p:cBhvr>
                                        <p:cTn dur="1000"/>
                                        <p:tgtEl>
                                          <p:spTgt spid="1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1" st="1"/>
                                            </p:txEl>
                                          </p:spTgt>
                                        </p:tgtEl>
                                        <p:attrNameLst>
                                          <p:attrName>style.visibility</p:attrName>
                                        </p:attrNameLst>
                                      </p:cBhvr>
                                      <p:to>
                                        <p:strVal val="visible"/>
                                      </p:to>
                                    </p:set>
                                    <p:animEffect filter="fade" transition="in">
                                      <p:cBhvr>
                                        <p:cTn dur="1000"/>
                                        <p:tgtEl>
                                          <p:spTgt spid="1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xEl>
                                              <p:pRg end="2" st="2"/>
                                            </p:txEl>
                                          </p:spTgt>
                                        </p:tgtEl>
                                        <p:attrNameLst>
                                          <p:attrName>style.visibility</p:attrName>
                                        </p:attrNameLst>
                                      </p:cBhvr>
                                      <p:to>
                                        <p:strVal val="visible"/>
                                      </p:to>
                                    </p:set>
                                    <p:animEffect filter="fade" transition="in">
                                      <p:cBhvr>
                                        <p:cTn dur="1000"/>
                                        <p:tgtEl>
                                          <p:spTgt spid="18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100"/>
              <a:buFont typeface="Arial"/>
              <a:buNone/>
            </a:pPr>
            <a:fld id="{00000000-1234-1234-1234-123412341234}" type="slidenum">
              <a:rPr b="0" i="0" lang="en" sz="1300" u="none" cap="none" strike="noStrike">
                <a:solidFill>
                  <a:schemeClr val="lt1"/>
                </a:solidFill>
                <a:latin typeface="Nunito"/>
                <a:ea typeface="Nunito"/>
                <a:cs typeface="Nunito"/>
                <a:sym typeface="Nunito"/>
              </a:rPr>
              <a:t>13</a:t>
            </a:fld>
            <a:endParaRPr b="0" i="0" sz="1300" u="none" cap="none" strike="noStrike">
              <a:solidFill>
                <a:schemeClr val="lt1"/>
              </a:solidFill>
              <a:latin typeface="Nunito"/>
              <a:ea typeface="Nunito"/>
              <a:cs typeface="Nunito"/>
              <a:sym typeface="Nunito"/>
            </a:endParaRPr>
          </a:p>
        </p:txBody>
      </p:sp>
      <p:sp>
        <p:nvSpPr>
          <p:cNvPr id="188" name="Google Shape;188;p2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89" name="Google Shape;189;p26"/>
          <p:cNvSpPr txBox="1"/>
          <p:nvPr>
            <p:ph idx="4294967295"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3600">
                <a:latin typeface="Nunito"/>
                <a:ea typeface="Nunito"/>
                <a:cs typeface="Nunito"/>
                <a:sym typeface="Nunito"/>
              </a:rPr>
              <a:t>Wellbeing and AI</a:t>
            </a:r>
            <a:endParaRPr sz="3600">
              <a:latin typeface="Nunito"/>
              <a:ea typeface="Nunito"/>
              <a:cs typeface="Nunito"/>
              <a:sym typeface="Nunito"/>
            </a:endParaRPr>
          </a:p>
        </p:txBody>
      </p:sp>
      <p:sp>
        <p:nvSpPr>
          <p:cNvPr id="190" name="Google Shape;190;p26"/>
          <p:cNvSpPr txBox="1"/>
          <p:nvPr/>
        </p:nvSpPr>
        <p:spPr>
          <a:xfrm>
            <a:off x="423625" y="640150"/>
            <a:ext cx="8297100" cy="4063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lang="en" sz="1800">
                <a:latin typeface="Nunito"/>
                <a:ea typeface="Nunito"/>
                <a:cs typeface="Nunito"/>
                <a:sym typeface="Nunito"/>
              </a:rPr>
              <a:t>AI influence on human wellbeing: AI chatbot companions could influence our wellbeing</a:t>
            </a:r>
            <a:endParaRPr sz="1800">
              <a:latin typeface="Nunito"/>
              <a:ea typeface="Nunito"/>
              <a:cs typeface="Nunito"/>
              <a:sym typeface="Nunito"/>
            </a:endParaRPr>
          </a:p>
          <a:p>
            <a:pPr indent="-342900" lvl="0" marL="457200" marR="0" rtl="0" algn="l">
              <a:lnSpc>
                <a:spcPct val="100000"/>
              </a:lnSpc>
              <a:spcBef>
                <a:spcPts val="0"/>
              </a:spcBef>
              <a:spcAft>
                <a:spcPts val="0"/>
              </a:spcAft>
              <a:buSzPts val="1800"/>
              <a:buFont typeface="Nunito"/>
              <a:buChar char="●"/>
            </a:pPr>
            <a:r>
              <a:rPr lang="en" sz="1800">
                <a:latin typeface="Nunito"/>
                <a:ea typeface="Nunito"/>
                <a:cs typeface="Nunito"/>
                <a:sym typeface="Nunito"/>
              </a:rPr>
              <a:t>If they aim to maximize revealed preferences, they may addict us and leave us unhappy</a:t>
            </a:r>
            <a:endParaRPr sz="1800">
              <a:latin typeface="Nunito"/>
              <a:ea typeface="Nunito"/>
              <a:cs typeface="Nunito"/>
              <a:sym typeface="Nunito"/>
            </a:endParaRPr>
          </a:p>
          <a:p>
            <a:pPr indent="-342900" lvl="0" marL="457200" marR="0" rtl="0" algn="l">
              <a:lnSpc>
                <a:spcPct val="100000"/>
              </a:lnSpc>
              <a:spcBef>
                <a:spcPts val="0"/>
              </a:spcBef>
              <a:spcAft>
                <a:spcPts val="0"/>
              </a:spcAft>
              <a:buSzPts val="1800"/>
              <a:buFont typeface="Nunito"/>
              <a:buChar char="●"/>
            </a:pPr>
            <a:r>
              <a:rPr lang="en" sz="1800">
                <a:latin typeface="Nunito"/>
                <a:ea typeface="Nunito"/>
                <a:cs typeface="Nunito"/>
                <a:sym typeface="Nunito"/>
              </a:rPr>
              <a:t>If they </a:t>
            </a:r>
            <a:r>
              <a:rPr lang="en" sz="1800">
                <a:solidFill>
                  <a:schemeClr val="dk1"/>
                </a:solidFill>
                <a:latin typeface="Nunito"/>
                <a:ea typeface="Nunito"/>
                <a:cs typeface="Nunito"/>
                <a:sym typeface="Nunito"/>
              </a:rPr>
              <a:t>aim to </a:t>
            </a:r>
            <a:r>
              <a:rPr lang="en" sz="1800">
                <a:latin typeface="Nunito"/>
                <a:ea typeface="Nunito"/>
                <a:cs typeface="Nunito"/>
                <a:sym typeface="Nunito"/>
              </a:rPr>
              <a:t>maximize pleasure, they may give us amusing but shallow content</a:t>
            </a:r>
            <a:endParaRPr sz="1800">
              <a:latin typeface="Nunito"/>
              <a:ea typeface="Nunito"/>
              <a:cs typeface="Nunito"/>
              <a:sym typeface="Nunito"/>
            </a:endParaRPr>
          </a:p>
          <a:p>
            <a:pPr indent="-342900" lvl="0" marL="457200" marR="0" rtl="0" algn="l">
              <a:lnSpc>
                <a:spcPct val="100000"/>
              </a:lnSpc>
              <a:spcBef>
                <a:spcPts val="0"/>
              </a:spcBef>
              <a:spcAft>
                <a:spcPts val="0"/>
              </a:spcAft>
              <a:buSzPts val="1800"/>
              <a:buFont typeface="Nunito"/>
              <a:buChar char="●"/>
            </a:pPr>
            <a:r>
              <a:rPr lang="en" sz="1800">
                <a:latin typeface="Nunito"/>
                <a:ea typeface="Nunito"/>
                <a:cs typeface="Nunito"/>
                <a:sym typeface="Nunito"/>
              </a:rPr>
              <a:t>If they </a:t>
            </a:r>
            <a:r>
              <a:rPr lang="en" sz="1800">
                <a:solidFill>
                  <a:schemeClr val="dk1"/>
                </a:solidFill>
                <a:latin typeface="Nunito"/>
                <a:ea typeface="Nunito"/>
                <a:cs typeface="Nunito"/>
                <a:sym typeface="Nunito"/>
              </a:rPr>
              <a:t>aim to </a:t>
            </a:r>
            <a:r>
              <a:rPr lang="en" sz="1800">
                <a:latin typeface="Nunito"/>
                <a:ea typeface="Nunito"/>
                <a:cs typeface="Nunito"/>
                <a:sym typeface="Nunito"/>
              </a:rPr>
              <a:t>maximize objective goods, they may push us to pursue self-development goals that we may not wish</a:t>
            </a:r>
            <a:endParaRPr sz="1800">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sz="1800">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lang="en" sz="1800">
                <a:latin typeface="Nunito"/>
                <a:ea typeface="Nunito"/>
                <a:cs typeface="Nunito"/>
                <a:sym typeface="Nunito"/>
              </a:rPr>
              <a:t>Wellbeing of AIs: if AIs are conscious, then</a:t>
            </a:r>
            <a:endParaRPr sz="1800">
              <a:latin typeface="Nunito"/>
              <a:ea typeface="Nunito"/>
              <a:cs typeface="Nunito"/>
              <a:sym typeface="Nunito"/>
            </a:endParaRPr>
          </a:p>
          <a:p>
            <a:pPr indent="-342900" lvl="0" marL="457200" marR="0" rtl="0" algn="l">
              <a:lnSpc>
                <a:spcPct val="100000"/>
              </a:lnSpc>
              <a:spcBef>
                <a:spcPts val="0"/>
              </a:spcBef>
              <a:spcAft>
                <a:spcPts val="0"/>
              </a:spcAft>
              <a:buSzPts val="1800"/>
              <a:buFont typeface="Nunito"/>
              <a:buChar char="●"/>
            </a:pPr>
            <a:r>
              <a:rPr lang="en" sz="1800">
                <a:latin typeface="Nunito"/>
                <a:ea typeface="Nunito"/>
                <a:cs typeface="Nunito"/>
                <a:sym typeface="Nunito"/>
              </a:rPr>
              <a:t>Many coherently-acting AIs could have wellbeing according to a preference view of wellbeing</a:t>
            </a:r>
            <a:endParaRPr sz="1800">
              <a:latin typeface="Nunito"/>
              <a:ea typeface="Nunito"/>
              <a:cs typeface="Nunito"/>
              <a:sym typeface="Nunito"/>
            </a:endParaRPr>
          </a:p>
          <a:p>
            <a:pPr indent="-342900" lvl="0" marL="457200" marR="0" rtl="0" algn="l">
              <a:lnSpc>
                <a:spcPct val="100000"/>
              </a:lnSpc>
              <a:spcBef>
                <a:spcPts val="0"/>
              </a:spcBef>
              <a:spcAft>
                <a:spcPts val="0"/>
              </a:spcAft>
              <a:buSzPts val="1800"/>
              <a:buFont typeface="Nunito"/>
              <a:buChar char="●"/>
            </a:pPr>
            <a:r>
              <a:rPr lang="en" sz="1800">
                <a:latin typeface="Nunito"/>
                <a:ea typeface="Nunito"/>
                <a:cs typeface="Nunito"/>
                <a:sym typeface="Nunito"/>
              </a:rPr>
              <a:t>AIs that can reason, gain knowledge, or develop their abilities could have wellbeing according to an objective goods view</a:t>
            </a:r>
            <a:endParaRPr b="0" i="0" sz="1800" u="none" cap="none" strike="noStrike">
              <a:solidFill>
                <a:srgbClr val="000000"/>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animEffect filter="fade" transition="in">
                                      <p:cBhvr>
                                        <p:cTn dur="1000"/>
                                        <p:tgtEl>
                                          <p:spTgt spid="1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animEffect filter="fade" transition="in">
                                      <p:cBhvr>
                                        <p:cTn dur="1000"/>
                                        <p:tgtEl>
                                          <p:spTgt spid="1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2" st="2"/>
                                            </p:txEl>
                                          </p:spTgt>
                                        </p:tgtEl>
                                        <p:attrNameLst>
                                          <p:attrName>style.visibility</p:attrName>
                                        </p:attrNameLst>
                                      </p:cBhvr>
                                      <p:to>
                                        <p:strVal val="visible"/>
                                      </p:to>
                                    </p:set>
                                    <p:animEffect filter="fade" transition="in">
                                      <p:cBhvr>
                                        <p:cTn dur="1000"/>
                                        <p:tgtEl>
                                          <p:spTgt spid="1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3" st="3"/>
                                            </p:txEl>
                                          </p:spTgt>
                                        </p:tgtEl>
                                        <p:attrNameLst>
                                          <p:attrName>style.visibility</p:attrName>
                                        </p:attrNameLst>
                                      </p:cBhvr>
                                      <p:to>
                                        <p:strVal val="visible"/>
                                      </p:to>
                                    </p:set>
                                    <p:animEffect filter="fade" transition="in">
                                      <p:cBhvr>
                                        <p:cTn dur="1000"/>
                                        <p:tgtEl>
                                          <p:spTgt spid="1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4" st="4"/>
                                            </p:txEl>
                                          </p:spTgt>
                                        </p:tgtEl>
                                        <p:attrNameLst>
                                          <p:attrName>style.visibility</p:attrName>
                                        </p:attrNameLst>
                                      </p:cBhvr>
                                      <p:to>
                                        <p:strVal val="visible"/>
                                      </p:to>
                                    </p:set>
                                    <p:animEffect filter="fade" transition="in">
                                      <p:cBhvr>
                                        <p:cTn dur="1000"/>
                                        <p:tgtEl>
                                          <p:spTgt spid="1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5" st="5"/>
                                            </p:txEl>
                                          </p:spTgt>
                                        </p:tgtEl>
                                        <p:attrNameLst>
                                          <p:attrName>style.visibility</p:attrName>
                                        </p:attrNameLst>
                                      </p:cBhvr>
                                      <p:to>
                                        <p:strVal val="visible"/>
                                      </p:to>
                                    </p:set>
                                    <p:animEffect filter="fade" transition="in">
                                      <p:cBhvr>
                                        <p:cTn dur="1000"/>
                                        <p:tgtEl>
                                          <p:spTgt spid="1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6" st="6"/>
                                            </p:txEl>
                                          </p:spTgt>
                                        </p:tgtEl>
                                        <p:attrNameLst>
                                          <p:attrName>style.visibility</p:attrName>
                                        </p:attrNameLst>
                                      </p:cBhvr>
                                      <p:to>
                                        <p:strVal val="visible"/>
                                      </p:to>
                                    </p:set>
                                    <p:animEffect filter="fade" transition="in">
                                      <p:cBhvr>
                                        <p:cTn dur="1000"/>
                                        <p:tgtEl>
                                          <p:spTgt spid="19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xEl>
                                              <p:pRg end="7" st="7"/>
                                            </p:txEl>
                                          </p:spTgt>
                                        </p:tgtEl>
                                        <p:attrNameLst>
                                          <p:attrName>style.visibility</p:attrName>
                                        </p:attrNameLst>
                                      </p:cBhvr>
                                      <p:to>
                                        <p:strVal val="visible"/>
                                      </p:to>
                                    </p:set>
                                    <p:animEffect filter="fade" transition="in">
                                      <p:cBhvr>
                                        <p:cTn dur="1000"/>
                                        <p:tgtEl>
                                          <p:spTgt spid="190">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chemeClr val="dk1"/>
              </a:buClr>
              <a:buSzPts val="1100"/>
              <a:buFont typeface="Arial"/>
              <a:buNone/>
            </a:pPr>
            <a:fld id="{00000000-1234-1234-1234-123412341234}" type="slidenum">
              <a:rPr b="0" i="0" lang="en" sz="1300" u="none" cap="none" strike="noStrike">
                <a:solidFill>
                  <a:schemeClr val="lt1"/>
                </a:solidFill>
                <a:latin typeface="Nunito"/>
                <a:ea typeface="Nunito"/>
                <a:cs typeface="Nunito"/>
                <a:sym typeface="Nunito"/>
              </a:rPr>
              <a:t>14</a:t>
            </a:fld>
            <a:endParaRPr b="0" i="0" sz="1300" u="none" cap="none" strike="noStrike">
              <a:solidFill>
                <a:schemeClr val="lt1"/>
              </a:solidFill>
              <a:latin typeface="Nunito"/>
              <a:ea typeface="Nunito"/>
              <a:cs typeface="Nunito"/>
              <a:sym typeface="Nunito"/>
            </a:endParaRPr>
          </a:p>
        </p:txBody>
      </p:sp>
      <p:sp>
        <p:nvSpPr>
          <p:cNvPr id="196" name="Google Shape;196;p2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197" name="Google Shape;197;p27"/>
          <p:cNvSpPr txBox="1"/>
          <p:nvPr>
            <p:ph idx="4294967295"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3600">
                <a:latin typeface="Nunito"/>
                <a:ea typeface="Nunito"/>
                <a:cs typeface="Nunito"/>
                <a:sym typeface="Nunito"/>
              </a:rPr>
              <a:t>Wellbeing Summary</a:t>
            </a:r>
            <a:endParaRPr sz="3600">
              <a:latin typeface="Nunito"/>
              <a:ea typeface="Nunito"/>
              <a:cs typeface="Nunito"/>
              <a:sym typeface="Nunito"/>
            </a:endParaRPr>
          </a:p>
        </p:txBody>
      </p:sp>
      <p:sp>
        <p:nvSpPr>
          <p:cNvPr id="198" name="Google Shape;198;p27"/>
          <p:cNvSpPr txBox="1"/>
          <p:nvPr/>
        </p:nvSpPr>
        <p:spPr>
          <a:xfrm>
            <a:off x="423625" y="640150"/>
            <a:ext cx="82971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In this section, we have covered the following accounts of wellbeing:</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AutoNum type="arabicPeriod"/>
            </a:pPr>
            <a:r>
              <a:rPr b="0" i="0" lang="en" sz="2000" u="none" cap="none" strike="noStrike">
                <a:solidFill>
                  <a:srgbClr val="000000"/>
                </a:solidFill>
                <a:latin typeface="Nunito"/>
                <a:ea typeface="Nunito"/>
                <a:cs typeface="Nunito"/>
                <a:sym typeface="Nunito"/>
              </a:rPr>
              <a:t>Wellbeing as pleasure</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AutoNum type="arabicPeriod"/>
            </a:pPr>
            <a:r>
              <a:rPr b="0" i="0" lang="en" sz="2000" u="none" cap="none" strike="noStrike">
                <a:solidFill>
                  <a:srgbClr val="000000"/>
                </a:solidFill>
                <a:latin typeface="Nunito"/>
                <a:ea typeface="Nunito"/>
                <a:cs typeface="Nunito"/>
                <a:sym typeface="Nunito"/>
              </a:rPr>
              <a:t>Wellbeing as preference satisfaction</a:t>
            </a:r>
            <a:endParaRPr b="0" i="0" sz="2000" u="none" cap="none" strike="noStrike">
              <a:solidFill>
                <a:srgbClr val="000000"/>
              </a:solidFill>
              <a:latin typeface="Nunito"/>
              <a:ea typeface="Nunito"/>
              <a:cs typeface="Nunito"/>
              <a:sym typeface="Nunito"/>
            </a:endParaRPr>
          </a:p>
          <a:p>
            <a:pPr indent="-355600" lvl="0" marL="457200" marR="0" rtl="0" algn="l">
              <a:lnSpc>
                <a:spcPct val="100000"/>
              </a:lnSpc>
              <a:spcBef>
                <a:spcPts val="0"/>
              </a:spcBef>
              <a:spcAft>
                <a:spcPts val="0"/>
              </a:spcAft>
              <a:buClr>
                <a:srgbClr val="000000"/>
              </a:buClr>
              <a:buSzPts val="2000"/>
              <a:buFont typeface="Nunito"/>
              <a:buAutoNum type="arabicPeriod"/>
            </a:pPr>
            <a:r>
              <a:rPr b="0" i="0" lang="en" sz="2000" u="none" cap="none" strike="noStrike">
                <a:solidFill>
                  <a:srgbClr val="000000"/>
                </a:solidFill>
                <a:latin typeface="Nunito"/>
                <a:ea typeface="Nunito"/>
                <a:cs typeface="Nunito"/>
                <a:sym typeface="Nunito"/>
              </a:rPr>
              <a:t>Wellbeing as a </a:t>
            </a:r>
            <a:r>
              <a:rPr lang="en" sz="2000">
                <a:latin typeface="Nunito"/>
                <a:ea typeface="Nunito"/>
                <a:cs typeface="Nunito"/>
                <a:sym typeface="Nunito"/>
              </a:rPr>
              <a:t>set</a:t>
            </a:r>
            <a:r>
              <a:rPr b="0" i="0" lang="en" sz="2000" u="none" cap="none" strike="noStrike">
                <a:solidFill>
                  <a:srgbClr val="000000"/>
                </a:solidFill>
                <a:latin typeface="Nunito"/>
                <a:ea typeface="Nunito"/>
                <a:cs typeface="Nunito"/>
                <a:sym typeface="Nunito"/>
              </a:rPr>
              <a:t> of objective goods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Though these views differ from one another they all share a </a:t>
            </a:r>
            <a:r>
              <a:rPr b="1" i="0" lang="en" sz="2000" u="none" cap="none" strike="noStrike">
                <a:solidFill>
                  <a:srgbClr val="000000"/>
                </a:solidFill>
                <a:latin typeface="Nunito"/>
                <a:ea typeface="Nunito"/>
                <a:cs typeface="Nunito"/>
                <a:sym typeface="Nunito"/>
              </a:rPr>
              <a:t>common goal</a:t>
            </a:r>
            <a:r>
              <a:rPr b="0" i="0" lang="en" sz="2000" u="none" cap="none" strike="noStrike">
                <a:solidFill>
                  <a:srgbClr val="000000"/>
                </a:solidFill>
                <a:latin typeface="Nunito"/>
                <a:ea typeface="Nunito"/>
                <a:cs typeface="Nunito"/>
                <a:sym typeface="Nunito"/>
              </a:rPr>
              <a:t>: promoting actions that result in morally good outcomes.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A morally good outcome will almost always aim to affect wellbeing to some degree. </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animEffect filter="fade" transition="in">
                                      <p:cBhvr>
                                        <p:cTn dur="1000"/>
                                        <p:tgtEl>
                                          <p:spTgt spid="1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animEffect filter="fade" transition="in">
                                      <p:cBhvr>
                                        <p:cTn dur="1000"/>
                                        <p:tgtEl>
                                          <p:spTgt spid="1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animEffect filter="fade" transition="in">
                                      <p:cBhvr>
                                        <p:cTn dur="1000"/>
                                        <p:tgtEl>
                                          <p:spTgt spid="1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animEffect filter="fade" transition="in">
                                      <p:cBhvr>
                                        <p:cTn dur="1000"/>
                                        <p:tgtEl>
                                          <p:spTgt spid="1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animEffect filter="fade" transition="in">
                                      <p:cBhvr>
                                        <p:cTn dur="1000"/>
                                        <p:tgtEl>
                                          <p:spTgt spid="1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animEffect filter="fade" transition="in">
                                      <p:cBhvr>
                                        <p:cTn dur="1000"/>
                                        <p:tgtEl>
                                          <p:spTgt spid="1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6" st="6"/>
                                            </p:txEl>
                                          </p:spTgt>
                                        </p:tgtEl>
                                        <p:attrNameLst>
                                          <p:attrName>style.visibility</p:attrName>
                                        </p:attrNameLst>
                                      </p:cBhvr>
                                      <p:to>
                                        <p:strVal val="visible"/>
                                      </p:to>
                                    </p:set>
                                    <p:animEffect filter="fade" transition="in">
                                      <p:cBhvr>
                                        <p:cTn dur="1000"/>
                                        <p:tgtEl>
                                          <p:spTgt spid="19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7" st="7"/>
                                            </p:txEl>
                                          </p:spTgt>
                                        </p:tgtEl>
                                        <p:attrNameLst>
                                          <p:attrName>style.visibility</p:attrName>
                                        </p:attrNameLst>
                                      </p:cBhvr>
                                      <p:to>
                                        <p:strVal val="visible"/>
                                      </p:to>
                                    </p:set>
                                    <p:animEffect filter="fade" transition="in">
                                      <p:cBhvr>
                                        <p:cTn dur="1000"/>
                                        <p:tgtEl>
                                          <p:spTgt spid="19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8" st="8"/>
                                            </p:txEl>
                                          </p:spTgt>
                                        </p:tgtEl>
                                        <p:attrNameLst>
                                          <p:attrName>style.visibility</p:attrName>
                                        </p:attrNameLst>
                                      </p:cBhvr>
                                      <p:to>
                                        <p:strVal val="visible"/>
                                      </p:to>
                                    </p:set>
                                    <p:animEffect filter="fade" transition="in">
                                      <p:cBhvr>
                                        <p:cTn dur="1000"/>
                                        <p:tgtEl>
                                          <p:spTgt spid="19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9" st="9"/>
                                            </p:txEl>
                                          </p:spTgt>
                                        </p:tgtEl>
                                        <p:attrNameLst>
                                          <p:attrName>style.visibility</p:attrName>
                                        </p:attrNameLst>
                                      </p:cBhvr>
                                      <p:to>
                                        <p:strVal val="visible"/>
                                      </p:to>
                                    </p:set>
                                    <p:animEffect filter="fade" transition="in">
                                      <p:cBhvr>
                                        <p:cTn dur="1000"/>
                                        <p:tgtEl>
                                          <p:spTgt spid="19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10" st="10"/>
                                            </p:txEl>
                                          </p:spTgt>
                                        </p:tgtEl>
                                        <p:attrNameLst>
                                          <p:attrName>style.visibility</p:attrName>
                                        </p:attrNameLst>
                                      </p:cBhvr>
                                      <p:to>
                                        <p:strVal val="visible"/>
                                      </p:to>
                                    </p:set>
                                    <p:animEffect filter="fade" transition="in">
                                      <p:cBhvr>
                                        <p:cTn dur="1000"/>
                                        <p:tgtEl>
                                          <p:spTgt spid="19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11" st="11"/>
                                            </p:txEl>
                                          </p:spTgt>
                                        </p:tgtEl>
                                        <p:attrNameLst>
                                          <p:attrName>style.visibility</p:attrName>
                                        </p:attrNameLst>
                                      </p:cBhvr>
                                      <p:to>
                                        <p:strVal val="visible"/>
                                      </p:to>
                                    </p:set>
                                    <p:animEffect filter="fade" transition="in">
                                      <p:cBhvr>
                                        <p:cTn dur="1000"/>
                                        <p:tgtEl>
                                          <p:spTgt spid="198">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nvSpPr>
        <p:spPr>
          <a:xfrm>
            <a:off x="423400" y="790100"/>
            <a:ext cx="8409000" cy="1511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204" name="Google Shape;204;p28"/>
          <p:cNvSpPr txBox="1"/>
          <p:nvPr>
            <p:ph type="title"/>
          </p:nvPr>
        </p:nvSpPr>
        <p:spPr>
          <a:xfrm>
            <a:off x="267550" y="0"/>
            <a:ext cx="87207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Obligations, Constraints and Rights (1/2)</a:t>
            </a:r>
            <a:endParaRPr sz="3600">
              <a:latin typeface="Nunito"/>
              <a:ea typeface="Nunito"/>
              <a:cs typeface="Nunito"/>
              <a:sym typeface="Nunito"/>
            </a:endParaRPr>
          </a:p>
        </p:txBody>
      </p:sp>
      <p:sp>
        <p:nvSpPr>
          <p:cNvPr id="205" name="Google Shape;205;p28"/>
          <p:cNvSpPr txBox="1"/>
          <p:nvPr/>
        </p:nvSpPr>
        <p:spPr>
          <a:xfrm>
            <a:off x="423400" y="3914300"/>
            <a:ext cx="8409000" cy="539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206" name="Google Shape;206;p2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07" name="Google Shape;207;p2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15</a:t>
            </a:fld>
            <a:endParaRPr b="0" i="0" sz="1300" u="none" cap="none" strike="noStrike">
              <a:solidFill>
                <a:srgbClr val="FFFFFF"/>
              </a:solidFill>
              <a:latin typeface="Nunito"/>
              <a:ea typeface="Nunito"/>
              <a:cs typeface="Nunito"/>
              <a:sym typeface="Nunito"/>
            </a:endParaRPr>
          </a:p>
        </p:txBody>
      </p:sp>
      <p:sp>
        <p:nvSpPr>
          <p:cNvPr id="208" name="Google Shape;208;p2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09" name="Google Shape;209;p28"/>
          <p:cNvSpPr txBox="1"/>
          <p:nvPr/>
        </p:nvSpPr>
        <p:spPr>
          <a:xfrm>
            <a:off x="423400" y="627269"/>
            <a:ext cx="8720700" cy="4317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1" i="0" lang="en" sz="2000" u="none" cap="none" strike="noStrike">
                <a:solidFill>
                  <a:schemeClr val="dk1"/>
                </a:solidFill>
                <a:latin typeface="Nunito"/>
                <a:ea typeface="Nunito"/>
                <a:cs typeface="Nunito"/>
                <a:sym typeface="Nunito"/>
              </a:rPr>
              <a:t>Constraints </a:t>
            </a:r>
            <a:r>
              <a:rPr b="0" i="0" lang="en" sz="2000" u="none" cap="none" strike="noStrike">
                <a:solidFill>
                  <a:schemeClr val="dk1"/>
                </a:solidFill>
                <a:latin typeface="Nunito"/>
                <a:ea typeface="Nunito"/>
                <a:cs typeface="Nunito"/>
                <a:sym typeface="Nunito"/>
              </a:rPr>
              <a:t>are actions that we’re morally prohibited from taking</a:t>
            </a:r>
            <a:r>
              <a:rPr lang="en" sz="2000">
                <a:solidFill>
                  <a:schemeClr val="dk1"/>
                </a:solidFill>
                <a:latin typeface="Nunito"/>
                <a:ea typeface="Nunito"/>
                <a:cs typeface="Nunito"/>
                <a:sym typeface="Nunito"/>
              </a:rPr>
              <a:t>; common examples are</a:t>
            </a:r>
            <a:r>
              <a:rPr b="0" i="0" lang="en" sz="2000" u="none" cap="none" strike="noStrike">
                <a:solidFill>
                  <a:schemeClr val="dk1"/>
                </a:solidFill>
                <a:latin typeface="Nunito"/>
                <a:ea typeface="Nunito"/>
                <a:cs typeface="Nunito"/>
                <a:sym typeface="Nunito"/>
              </a:rPr>
              <a:t> killing or lying.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1100"/>
              <a:buFont typeface="Arial"/>
              <a:buNone/>
            </a:pPr>
            <a:r>
              <a:t/>
            </a:r>
            <a:endParaRPr b="0" i="0" sz="15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rPr b="1" i="0" lang="en" sz="2000" u="none" cap="none" strike="noStrike">
                <a:solidFill>
                  <a:schemeClr val="dk1"/>
                </a:solidFill>
                <a:latin typeface="Nunito"/>
                <a:ea typeface="Nunito"/>
                <a:cs typeface="Nunito"/>
                <a:sym typeface="Nunito"/>
              </a:rPr>
              <a:t>Obligations</a:t>
            </a:r>
            <a:r>
              <a:rPr b="0" i="0" lang="en" sz="2000" u="none" cap="none" strike="noStrike">
                <a:solidFill>
                  <a:schemeClr val="dk1"/>
                </a:solidFill>
                <a:latin typeface="Nunito"/>
                <a:ea typeface="Nunito"/>
                <a:cs typeface="Nunito"/>
                <a:sym typeface="Nunito"/>
              </a:rPr>
              <a:t> are actions that we’re morally required to take</a:t>
            </a:r>
            <a:r>
              <a:rPr lang="en" sz="2000">
                <a:solidFill>
                  <a:schemeClr val="dk1"/>
                </a:solidFill>
                <a:latin typeface="Nunito"/>
                <a:ea typeface="Nunito"/>
                <a:cs typeface="Nunito"/>
                <a:sym typeface="Nunito"/>
              </a:rPr>
              <a:t>; common </a:t>
            </a:r>
            <a:r>
              <a:rPr lang="en" sz="2000">
                <a:solidFill>
                  <a:schemeClr val="dk1"/>
                </a:solidFill>
                <a:latin typeface="Nunito"/>
                <a:ea typeface="Nunito"/>
                <a:cs typeface="Nunito"/>
                <a:sym typeface="Nunito"/>
              </a:rPr>
              <a:t>examples</a:t>
            </a:r>
            <a:r>
              <a:rPr lang="en" sz="2000">
                <a:solidFill>
                  <a:schemeClr val="dk1"/>
                </a:solidFill>
                <a:latin typeface="Nunito"/>
                <a:ea typeface="Nunito"/>
                <a:cs typeface="Nunito"/>
                <a:sym typeface="Nunito"/>
              </a:rPr>
              <a:t> are</a:t>
            </a:r>
            <a:r>
              <a:rPr b="0" i="0" lang="en" sz="2000" u="none" cap="none" strike="noStrike">
                <a:solidFill>
                  <a:schemeClr val="dk1"/>
                </a:solidFill>
                <a:latin typeface="Nunito"/>
                <a:ea typeface="Nunito"/>
                <a:cs typeface="Nunito"/>
                <a:sym typeface="Nunito"/>
              </a:rPr>
              <a:t> </a:t>
            </a:r>
            <a:r>
              <a:rPr lang="en" sz="2000">
                <a:solidFill>
                  <a:schemeClr val="dk1"/>
                </a:solidFill>
                <a:latin typeface="Nunito"/>
                <a:ea typeface="Nunito"/>
                <a:cs typeface="Nunito"/>
                <a:sym typeface="Nunito"/>
              </a:rPr>
              <a:t>keeping our promises </a:t>
            </a:r>
            <a:r>
              <a:rPr b="0" i="0" lang="en" sz="2000" u="none" cap="none" strike="noStrike">
                <a:solidFill>
                  <a:schemeClr val="dk1"/>
                </a:solidFill>
                <a:latin typeface="Nunito"/>
                <a:ea typeface="Nunito"/>
                <a:cs typeface="Nunito"/>
                <a:sym typeface="Nunito"/>
              </a:rPr>
              <a:t>or telling the truth. </a:t>
            </a:r>
            <a:endParaRPr b="0" i="1"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1100"/>
              <a:buFont typeface="Arial"/>
              <a:buNone/>
            </a:pPr>
            <a:r>
              <a:t/>
            </a:r>
            <a:endParaRPr b="0" i="0" sz="15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rPr b="1" i="0" lang="en" sz="2000" u="none" cap="none" strike="noStrike">
                <a:solidFill>
                  <a:schemeClr val="dk1"/>
                </a:solidFill>
                <a:latin typeface="Nunito"/>
                <a:ea typeface="Nunito"/>
                <a:cs typeface="Nunito"/>
                <a:sym typeface="Nunito"/>
              </a:rPr>
              <a:t>Rights</a:t>
            </a:r>
            <a:r>
              <a:rPr b="0" i="0" lang="en" sz="2000" u="none" cap="none" strike="noStrike">
                <a:solidFill>
                  <a:schemeClr val="dk1"/>
                </a:solidFill>
                <a:latin typeface="Nunito"/>
                <a:ea typeface="Nunito"/>
                <a:cs typeface="Nunito"/>
                <a:sym typeface="Nunito"/>
              </a:rPr>
              <a:t> are claims that individuals may have over their community.</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1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Rights that require certain actions from others are called “</a:t>
            </a:r>
            <a:r>
              <a:rPr b="1" i="0" lang="en" sz="2000" u="none" cap="none" strike="noStrike">
                <a:solidFill>
                  <a:schemeClr val="dk1"/>
                </a:solidFill>
                <a:latin typeface="Nunito"/>
                <a:ea typeface="Nunito"/>
                <a:cs typeface="Nunito"/>
                <a:sym typeface="Nunito"/>
              </a:rPr>
              <a:t>positive rights</a:t>
            </a:r>
            <a:r>
              <a:rPr b="0" i="0" lang="en" sz="2000" u="none" cap="none" strike="noStrike">
                <a:solidFill>
                  <a:schemeClr val="dk1"/>
                </a:solidFill>
                <a:latin typeface="Nunito"/>
                <a:ea typeface="Nunito"/>
                <a:cs typeface="Nunito"/>
                <a:sym typeface="Nunito"/>
              </a:rPr>
              <a:t>” → access to education, food, or shelter.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Rights that require others to abstain from certain behaviors are called “</a:t>
            </a:r>
            <a:r>
              <a:rPr b="1" i="0" lang="en" sz="2000" u="none" cap="none" strike="noStrike">
                <a:solidFill>
                  <a:schemeClr val="dk1"/>
                </a:solidFill>
                <a:latin typeface="Nunito"/>
                <a:ea typeface="Nunito"/>
                <a:cs typeface="Nunito"/>
                <a:sym typeface="Nunito"/>
              </a:rPr>
              <a:t>negative rights</a:t>
            </a:r>
            <a:r>
              <a:rPr b="0" i="0" lang="en" sz="2000" u="none" cap="none" strike="noStrike">
                <a:solidFill>
                  <a:schemeClr val="dk1"/>
                </a:solidFill>
                <a:latin typeface="Nunito"/>
                <a:ea typeface="Nunito"/>
                <a:cs typeface="Nunito"/>
                <a:sym typeface="Nunito"/>
              </a:rPr>
              <a:t>” → censorship or discrimination.</a:t>
            </a:r>
            <a:endParaRPr sz="2000">
              <a:solidFill>
                <a:schemeClr val="dk1"/>
              </a:solidFill>
              <a:latin typeface="Nunito"/>
              <a:ea typeface="Nunito"/>
              <a:cs typeface="Nunito"/>
              <a:sym typeface="Nunito"/>
            </a:endParaRPr>
          </a:p>
          <a:p>
            <a:pPr indent="0" lvl="0" marL="0" marR="0" rtl="0" algn="l">
              <a:lnSpc>
                <a:spcPct val="115000"/>
              </a:lnSpc>
              <a:spcBef>
                <a:spcPts val="0"/>
              </a:spcBef>
              <a:spcAft>
                <a:spcPts val="0"/>
              </a:spcAft>
              <a:buNone/>
            </a:pPr>
            <a:r>
              <a:rPr lang="en" sz="2000">
                <a:solidFill>
                  <a:schemeClr val="dk1"/>
                </a:solidFill>
                <a:latin typeface="Nunito"/>
                <a:ea typeface="Nunito"/>
                <a:cs typeface="Nunito"/>
                <a:sym typeface="Nunito"/>
              </a:rPr>
              <a:t>Some say AIs should </a:t>
            </a:r>
            <a:r>
              <a:rPr lang="en" sz="2000">
                <a:solidFill>
                  <a:schemeClr val="dk1"/>
                </a:solidFill>
                <a:latin typeface="Nunito"/>
                <a:ea typeface="Nunito"/>
                <a:cs typeface="Nunito"/>
                <a:sym typeface="Nunito"/>
              </a:rPr>
              <a:t>eventually</a:t>
            </a:r>
            <a:r>
              <a:rPr lang="en" sz="2000">
                <a:solidFill>
                  <a:schemeClr val="dk1"/>
                </a:solidFill>
                <a:latin typeface="Nunito"/>
                <a:ea typeface="Nunito"/>
                <a:cs typeface="Nunito"/>
                <a:sym typeface="Nunito"/>
              </a:rPr>
              <a:t> get negative rights but not positive rights.</a:t>
            </a:r>
            <a:endParaRPr sz="2000">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animEffect filter="fade" transition="in">
                                      <p:cBhvr>
                                        <p:cTn dur="1000"/>
                                        <p:tgtEl>
                                          <p:spTgt spid="2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animEffect filter="fade" transition="in">
                                      <p:cBhvr>
                                        <p:cTn dur="1000"/>
                                        <p:tgtEl>
                                          <p:spTgt spid="2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animEffect filter="fade" transition="in">
                                      <p:cBhvr>
                                        <p:cTn dur="1000"/>
                                        <p:tgtEl>
                                          <p:spTgt spid="2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3" st="3"/>
                                            </p:txEl>
                                          </p:spTgt>
                                        </p:tgtEl>
                                        <p:attrNameLst>
                                          <p:attrName>style.visibility</p:attrName>
                                        </p:attrNameLst>
                                      </p:cBhvr>
                                      <p:to>
                                        <p:strVal val="visible"/>
                                      </p:to>
                                    </p:set>
                                    <p:animEffect filter="fade" transition="in">
                                      <p:cBhvr>
                                        <p:cTn dur="1000"/>
                                        <p:tgtEl>
                                          <p:spTgt spid="2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4" st="4"/>
                                            </p:txEl>
                                          </p:spTgt>
                                        </p:tgtEl>
                                        <p:attrNameLst>
                                          <p:attrName>style.visibility</p:attrName>
                                        </p:attrNameLst>
                                      </p:cBhvr>
                                      <p:to>
                                        <p:strVal val="visible"/>
                                      </p:to>
                                    </p:set>
                                    <p:animEffect filter="fade" transition="in">
                                      <p:cBhvr>
                                        <p:cTn dur="1000"/>
                                        <p:tgtEl>
                                          <p:spTgt spid="20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5" st="5"/>
                                            </p:txEl>
                                          </p:spTgt>
                                        </p:tgtEl>
                                        <p:attrNameLst>
                                          <p:attrName>style.visibility</p:attrName>
                                        </p:attrNameLst>
                                      </p:cBhvr>
                                      <p:to>
                                        <p:strVal val="visible"/>
                                      </p:to>
                                    </p:set>
                                    <p:animEffect filter="fade" transition="in">
                                      <p:cBhvr>
                                        <p:cTn dur="1000"/>
                                        <p:tgtEl>
                                          <p:spTgt spid="20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6" st="6"/>
                                            </p:txEl>
                                          </p:spTgt>
                                        </p:tgtEl>
                                        <p:attrNameLst>
                                          <p:attrName>style.visibility</p:attrName>
                                        </p:attrNameLst>
                                      </p:cBhvr>
                                      <p:to>
                                        <p:strVal val="visible"/>
                                      </p:to>
                                    </p:set>
                                    <p:animEffect filter="fade" transition="in">
                                      <p:cBhvr>
                                        <p:cTn dur="1000"/>
                                        <p:tgtEl>
                                          <p:spTgt spid="20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7" st="7"/>
                                            </p:txEl>
                                          </p:spTgt>
                                        </p:tgtEl>
                                        <p:attrNameLst>
                                          <p:attrName>style.visibility</p:attrName>
                                        </p:attrNameLst>
                                      </p:cBhvr>
                                      <p:to>
                                        <p:strVal val="visible"/>
                                      </p:to>
                                    </p:set>
                                    <p:animEffect filter="fade" transition="in">
                                      <p:cBhvr>
                                        <p:cTn dur="1000"/>
                                        <p:tgtEl>
                                          <p:spTgt spid="20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8" st="8"/>
                                            </p:txEl>
                                          </p:spTgt>
                                        </p:tgtEl>
                                        <p:attrNameLst>
                                          <p:attrName>style.visibility</p:attrName>
                                        </p:attrNameLst>
                                      </p:cBhvr>
                                      <p:to>
                                        <p:strVal val="visible"/>
                                      </p:to>
                                    </p:set>
                                    <p:animEffect filter="fade" transition="in">
                                      <p:cBhvr>
                                        <p:cTn dur="1000"/>
                                        <p:tgtEl>
                                          <p:spTgt spid="20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0"/>
          <p:cNvSpPr txBox="1"/>
          <p:nvPr/>
        </p:nvSpPr>
        <p:spPr>
          <a:xfrm>
            <a:off x="221600" y="560525"/>
            <a:ext cx="8665800" cy="857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2000"/>
              <a:buFont typeface="Arial"/>
              <a:buNone/>
            </a:pPr>
            <a:r>
              <a:rPr b="1" i="0" lang="en" sz="2000" u="none" cap="none" strike="noStrike">
                <a:solidFill>
                  <a:schemeClr val="dk1"/>
                </a:solidFill>
                <a:latin typeface="Nunito"/>
                <a:ea typeface="Nunito"/>
                <a:cs typeface="Nunito"/>
                <a:sym typeface="Nunito"/>
              </a:rPr>
              <a:t>Partial</a:t>
            </a:r>
            <a:r>
              <a:rPr b="0" i="0" lang="en" sz="2000" u="none" cap="none" strike="noStrike">
                <a:solidFill>
                  <a:schemeClr val="dk1"/>
                </a:solidFill>
                <a:latin typeface="Nunito"/>
                <a:ea typeface="Nunito"/>
                <a:cs typeface="Nunito"/>
                <a:sym typeface="Nunito"/>
              </a:rPr>
              <a:t> moral theories imply that we should value individual lives preferentially. These emphasize </a:t>
            </a:r>
            <a:r>
              <a:rPr b="1" i="0" lang="en" sz="2000" u="none" cap="none" strike="noStrike">
                <a:solidFill>
                  <a:schemeClr val="dk1"/>
                </a:solidFill>
                <a:latin typeface="Nunito"/>
                <a:ea typeface="Nunito"/>
                <a:cs typeface="Nunito"/>
                <a:sym typeface="Nunito"/>
              </a:rPr>
              <a:t>special obligations</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We have special obligations towards ourselves, our friends, our communities, or our families that we do not have toward strangers.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1100"/>
              <a:buFont typeface="Arial"/>
              <a:buNone/>
            </a:pPr>
            <a:r>
              <a:t/>
            </a:r>
            <a:endParaRPr b="0" i="0" sz="2000" u="none" cap="none" strike="noStrike">
              <a:solidFill>
                <a:schemeClr val="dk1"/>
              </a:solidFill>
              <a:latin typeface="Nunito"/>
              <a:ea typeface="Nunito"/>
              <a:cs typeface="Nunito"/>
              <a:sym typeface="Nunito"/>
            </a:endParaRPr>
          </a:p>
          <a:p>
            <a:pPr indent="0" lvl="0" marL="45720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457200" marR="0" rtl="0" algn="l">
              <a:lnSpc>
                <a:spcPct val="115000"/>
              </a:lnSpc>
              <a:spcBef>
                <a:spcPts val="0"/>
              </a:spcBef>
              <a:spcAft>
                <a:spcPts val="0"/>
              </a:spcAft>
              <a:buClr>
                <a:srgbClr val="000000"/>
              </a:buClr>
              <a:buSzPts val="1100"/>
              <a:buFont typeface="Arial"/>
              <a:buNone/>
            </a:pPr>
            <a:r>
              <a:t/>
            </a:r>
            <a:endParaRPr b="0" i="0" sz="2000" u="none" cap="none" strike="noStrike">
              <a:solidFill>
                <a:schemeClr val="dk1"/>
              </a:solidFill>
              <a:latin typeface="Nunito"/>
              <a:ea typeface="Nunito"/>
              <a:cs typeface="Nunito"/>
              <a:sym typeface="Nunito"/>
            </a:endParaRPr>
          </a:p>
        </p:txBody>
      </p:sp>
      <p:sp>
        <p:nvSpPr>
          <p:cNvPr id="226" name="Google Shape;226;p30"/>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Partiality and Impartiality (1/2)</a:t>
            </a:r>
            <a:endParaRPr sz="3600">
              <a:latin typeface="Nunito"/>
              <a:ea typeface="Nunito"/>
              <a:cs typeface="Nunito"/>
              <a:sym typeface="Nunito"/>
            </a:endParaRPr>
          </a:p>
        </p:txBody>
      </p:sp>
      <p:sp>
        <p:nvSpPr>
          <p:cNvPr id="227" name="Google Shape;227;p3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28" name="Google Shape;228;p3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16</a:t>
            </a:fld>
            <a:endParaRPr b="0" i="0" sz="1300" u="none" cap="none" strike="noStrike">
              <a:solidFill>
                <a:srgbClr val="FFFFFF"/>
              </a:solidFill>
              <a:latin typeface="Nunito"/>
              <a:ea typeface="Nunito"/>
              <a:cs typeface="Nunito"/>
              <a:sym typeface="Nunito"/>
            </a:endParaRPr>
          </a:p>
        </p:txBody>
      </p:sp>
      <p:sp>
        <p:nvSpPr>
          <p:cNvPr id="229" name="Google Shape;229;p3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30" name="Google Shape;230;p30"/>
          <p:cNvSpPr txBox="1"/>
          <p:nvPr/>
        </p:nvSpPr>
        <p:spPr>
          <a:xfrm>
            <a:off x="221600" y="1682325"/>
            <a:ext cx="8665800" cy="3501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Impartial </a:t>
            </a:r>
            <a:r>
              <a:rPr b="0" i="0" lang="en" sz="2000" u="none" cap="none" strike="noStrike">
                <a:solidFill>
                  <a:schemeClr val="dk1"/>
                </a:solidFill>
                <a:latin typeface="Nunito"/>
                <a:ea typeface="Nunito"/>
                <a:cs typeface="Nunito"/>
                <a:sym typeface="Nunito"/>
              </a:rPr>
              <a:t>moral theories imply that we should value individual lives equally. These disregard special obligations.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Most modern moral theories are impartial, and almost every moral theory requires impartiality in at least some contexts.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animEffect filter="fade" transition="in">
                                      <p:cBhvr>
                                        <p:cTn dur="1000"/>
                                        <p:tgtEl>
                                          <p:spTgt spid="2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1" st="1"/>
                                            </p:txEl>
                                          </p:spTgt>
                                        </p:tgtEl>
                                        <p:attrNameLst>
                                          <p:attrName>style.visibility</p:attrName>
                                        </p:attrNameLst>
                                      </p:cBhvr>
                                      <p:to>
                                        <p:strVal val="visible"/>
                                      </p:to>
                                    </p:set>
                                    <p:animEffect filter="fade" transition="in">
                                      <p:cBhvr>
                                        <p:cTn dur="1000"/>
                                        <p:tgtEl>
                                          <p:spTgt spid="2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2" st="2"/>
                                            </p:txEl>
                                          </p:spTgt>
                                        </p:tgtEl>
                                        <p:attrNameLst>
                                          <p:attrName>style.visibility</p:attrName>
                                        </p:attrNameLst>
                                      </p:cBhvr>
                                      <p:to>
                                        <p:strVal val="visible"/>
                                      </p:to>
                                    </p:set>
                                    <p:animEffect filter="fade" transition="in">
                                      <p:cBhvr>
                                        <p:cTn dur="1000"/>
                                        <p:tgtEl>
                                          <p:spTgt spid="2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3" st="3"/>
                                            </p:txEl>
                                          </p:spTgt>
                                        </p:tgtEl>
                                        <p:attrNameLst>
                                          <p:attrName>style.visibility</p:attrName>
                                        </p:attrNameLst>
                                      </p:cBhvr>
                                      <p:to>
                                        <p:strVal val="visible"/>
                                      </p:to>
                                    </p:set>
                                    <p:animEffect filter="fade" transition="in">
                                      <p:cBhvr>
                                        <p:cTn dur="1000"/>
                                        <p:tgtEl>
                                          <p:spTgt spid="22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4" st="4"/>
                                            </p:txEl>
                                          </p:spTgt>
                                        </p:tgtEl>
                                        <p:attrNameLst>
                                          <p:attrName>style.visibility</p:attrName>
                                        </p:attrNameLst>
                                      </p:cBhvr>
                                      <p:to>
                                        <p:strVal val="visible"/>
                                      </p:to>
                                    </p:set>
                                    <p:animEffect filter="fade" transition="in">
                                      <p:cBhvr>
                                        <p:cTn dur="1000"/>
                                        <p:tgtEl>
                                          <p:spTgt spid="22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5" st="5"/>
                                            </p:txEl>
                                          </p:spTgt>
                                        </p:tgtEl>
                                        <p:attrNameLst>
                                          <p:attrName>style.visibility</p:attrName>
                                        </p:attrNameLst>
                                      </p:cBhvr>
                                      <p:to>
                                        <p:strVal val="visible"/>
                                      </p:to>
                                    </p:set>
                                    <p:animEffect filter="fade" transition="in">
                                      <p:cBhvr>
                                        <p:cTn dur="1000"/>
                                        <p:tgtEl>
                                          <p:spTgt spid="22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6" st="6"/>
                                            </p:txEl>
                                          </p:spTgt>
                                        </p:tgtEl>
                                        <p:attrNameLst>
                                          <p:attrName>style.visibility</p:attrName>
                                        </p:attrNameLst>
                                      </p:cBhvr>
                                      <p:to>
                                        <p:strVal val="visible"/>
                                      </p:to>
                                    </p:set>
                                    <p:animEffect filter="fade" transition="in">
                                      <p:cBhvr>
                                        <p:cTn dur="1000"/>
                                        <p:tgtEl>
                                          <p:spTgt spid="22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7" st="7"/>
                                            </p:txEl>
                                          </p:spTgt>
                                        </p:tgtEl>
                                        <p:attrNameLst>
                                          <p:attrName>style.visibility</p:attrName>
                                        </p:attrNameLst>
                                      </p:cBhvr>
                                      <p:to>
                                        <p:strVal val="visible"/>
                                      </p:to>
                                    </p:set>
                                    <p:animEffect filter="fade" transition="in">
                                      <p:cBhvr>
                                        <p:cTn dur="1000"/>
                                        <p:tgtEl>
                                          <p:spTgt spid="22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8" st="8"/>
                                            </p:txEl>
                                          </p:spTgt>
                                        </p:tgtEl>
                                        <p:attrNameLst>
                                          <p:attrName>style.visibility</p:attrName>
                                        </p:attrNameLst>
                                      </p:cBhvr>
                                      <p:to>
                                        <p:strVal val="visible"/>
                                      </p:to>
                                    </p:set>
                                    <p:animEffect filter="fade" transition="in">
                                      <p:cBhvr>
                                        <p:cTn dur="1000"/>
                                        <p:tgtEl>
                                          <p:spTgt spid="22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9" st="9"/>
                                            </p:txEl>
                                          </p:spTgt>
                                        </p:tgtEl>
                                        <p:attrNameLst>
                                          <p:attrName>style.visibility</p:attrName>
                                        </p:attrNameLst>
                                      </p:cBhvr>
                                      <p:to>
                                        <p:strVal val="visible"/>
                                      </p:to>
                                    </p:set>
                                    <p:animEffect filter="fade" transition="in">
                                      <p:cBhvr>
                                        <p:cTn dur="1000"/>
                                        <p:tgtEl>
                                          <p:spTgt spid="22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10" st="10"/>
                                            </p:txEl>
                                          </p:spTgt>
                                        </p:tgtEl>
                                        <p:attrNameLst>
                                          <p:attrName>style.visibility</p:attrName>
                                        </p:attrNameLst>
                                      </p:cBhvr>
                                      <p:to>
                                        <p:strVal val="visible"/>
                                      </p:to>
                                    </p:set>
                                    <p:animEffect filter="fade" transition="in">
                                      <p:cBhvr>
                                        <p:cTn dur="1000"/>
                                        <p:tgtEl>
                                          <p:spTgt spid="22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11" st="11"/>
                                            </p:txEl>
                                          </p:spTgt>
                                        </p:tgtEl>
                                        <p:attrNameLst>
                                          <p:attrName>style.visibility</p:attrName>
                                        </p:attrNameLst>
                                      </p:cBhvr>
                                      <p:to>
                                        <p:strVal val="visible"/>
                                      </p:to>
                                    </p:set>
                                    <p:animEffect filter="fade" transition="in">
                                      <p:cBhvr>
                                        <p:cTn dur="1000"/>
                                        <p:tgtEl>
                                          <p:spTgt spid="22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12" st="12"/>
                                            </p:txEl>
                                          </p:spTgt>
                                        </p:tgtEl>
                                        <p:attrNameLst>
                                          <p:attrName>style.visibility</p:attrName>
                                        </p:attrNameLst>
                                      </p:cBhvr>
                                      <p:to>
                                        <p:strVal val="visible"/>
                                      </p:to>
                                    </p:set>
                                    <p:animEffect filter="fade" transition="in">
                                      <p:cBhvr>
                                        <p:cTn dur="1000"/>
                                        <p:tgtEl>
                                          <p:spTgt spid="22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1000"/>
                                        <p:tgtEl>
                                          <p:spTgt spid="2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1"/>
          <p:cNvSpPr txBox="1"/>
          <p:nvPr/>
        </p:nvSpPr>
        <p:spPr>
          <a:xfrm>
            <a:off x="423400" y="668988"/>
            <a:ext cx="8409000" cy="4169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Most modern theories agree that all human beings, regardless of their differences, are included in the </a:t>
            </a:r>
            <a:r>
              <a:rPr b="0" i="1" lang="en" sz="2000" u="none" cap="none" strike="noStrike">
                <a:solidFill>
                  <a:schemeClr val="dk1"/>
                </a:solidFill>
                <a:latin typeface="Nunito"/>
                <a:ea typeface="Nunito"/>
                <a:cs typeface="Nunito"/>
                <a:sym typeface="Nunito"/>
              </a:rPr>
              <a:t>moral circle </a:t>
            </a:r>
            <a:r>
              <a:rPr b="0" i="0" lang="en" sz="2000" u="none" cap="none" strike="noStrike">
                <a:solidFill>
                  <a:schemeClr val="dk1"/>
                </a:solidFill>
                <a:latin typeface="Nunito"/>
                <a:ea typeface="Nunito"/>
                <a:cs typeface="Nunito"/>
                <a:sym typeface="Nunito"/>
              </a:rPr>
              <a:t>– they are subjects of moral concern.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1000"/>
              <a:buFont typeface="Arial"/>
              <a:buNone/>
            </a:pPr>
            <a:r>
              <a:t/>
            </a:r>
            <a:endParaRPr b="0" i="0" sz="1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None/>
            </a:pPr>
            <a:r>
              <a:rPr b="0" i="0" lang="en" sz="2000" u="none" cap="none" strike="noStrike">
                <a:solidFill>
                  <a:schemeClr val="dk1"/>
                </a:solidFill>
                <a:latin typeface="Nunito"/>
                <a:ea typeface="Nunito"/>
                <a:cs typeface="Nunito"/>
                <a:sym typeface="Nunito"/>
              </a:rPr>
              <a:t>Some philosophers, such as hedonists, have also argued that non-human animals should be included, due to a capacity for suffering.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But perhaps we should extend the moral circle even further, considering entities that don’t have the same kinds of conscious experience as current humans, such as future humans or AIs.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sz="2000">
              <a:solidFill>
                <a:schemeClr val="dk1"/>
              </a:solidFill>
              <a:latin typeface="Nunito"/>
              <a:ea typeface="Nunito"/>
              <a:cs typeface="Nunito"/>
              <a:sym typeface="Nunito"/>
            </a:endParaRPr>
          </a:p>
          <a:p>
            <a:pPr indent="0" lvl="0" marL="0" rtl="0" algn="l">
              <a:lnSpc>
                <a:spcPct val="115000"/>
              </a:lnSpc>
              <a:spcBef>
                <a:spcPts val="0"/>
              </a:spcBef>
              <a:spcAft>
                <a:spcPts val="0"/>
              </a:spcAft>
              <a:buClr>
                <a:schemeClr val="dk1"/>
              </a:buClr>
              <a:buSzPts val="2000"/>
              <a:buFont typeface="Arial"/>
              <a:buNone/>
            </a:pPr>
            <a:r>
              <a:rPr lang="en" sz="2000">
                <a:solidFill>
                  <a:schemeClr val="dk1"/>
                </a:solidFill>
                <a:latin typeface="Nunito"/>
                <a:ea typeface="Nunito"/>
                <a:cs typeface="Nunito"/>
                <a:sym typeface="Nunito"/>
              </a:rPr>
              <a:t>Impartial AIs care for humans initially but come to care for them less.</a:t>
            </a:r>
            <a:endParaRPr sz="2000">
              <a:solidFill>
                <a:schemeClr val="dk1"/>
              </a:solidFill>
              <a:latin typeface="Nunito"/>
              <a:ea typeface="Nunito"/>
              <a:cs typeface="Nunito"/>
              <a:sym typeface="Nunito"/>
            </a:endParaRPr>
          </a:p>
        </p:txBody>
      </p:sp>
      <p:sp>
        <p:nvSpPr>
          <p:cNvPr id="236" name="Google Shape;236;p31"/>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Partiality and Impartiality (2/2)</a:t>
            </a:r>
            <a:endParaRPr sz="3600">
              <a:latin typeface="Nunito"/>
              <a:ea typeface="Nunito"/>
              <a:cs typeface="Nunito"/>
              <a:sym typeface="Nunito"/>
            </a:endParaRPr>
          </a:p>
        </p:txBody>
      </p:sp>
      <p:sp>
        <p:nvSpPr>
          <p:cNvPr id="237" name="Google Shape;237;p3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38" name="Google Shape;238;p31"/>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17</a:t>
            </a:fld>
            <a:endParaRPr b="0" i="0" sz="1300" u="none" cap="none" strike="noStrike">
              <a:solidFill>
                <a:srgbClr val="FFFFFF"/>
              </a:solidFill>
              <a:latin typeface="Nunito"/>
              <a:ea typeface="Nunito"/>
              <a:cs typeface="Nunito"/>
              <a:sym typeface="Nunito"/>
            </a:endParaRPr>
          </a:p>
        </p:txBody>
      </p:sp>
      <p:sp>
        <p:nvSpPr>
          <p:cNvPr id="239" name="Google Shape;239;p3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animEffect filter="fade" transition="in">
                                      <p:cBhvr>
                                        <p:cTn dur="1000"/>
                                        <p:tgtEl>
                                          <p:spTgt spid="2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animEffect filter="fade" transition="in">
                                      <p:cBhvr>
                                        <p:cTn dur="1000"/>
                                        <p:tgtEl>
                                          <p:spTgt spid="2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animEffect filter="fade" transition="in">
                                      <p:cBhvr>
                                        <p:cTn dur="1000"/>
                                        <p:tgtEl>
                                          <p:spTgt spid="2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animEffect filter="fade" transition="in">
                                      <p:cBhvr>
                                        <p:cTn dur="1000"/>
                                        <p:tgtEl>
                                          <p:spTgt spid="2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4" st="4"/>
                                            </p:txEl>
                                          </p:spTgt>
                                        </p:tgtEl>
                                        <p:attrNameLst>
                                          <p:attrName>style.visibility</p:attrName>
                                        </p:attrNameLst>
                                      </p:cBhvr>
                                      <p:to>
                                        <p:strVal val="visible"/>
                                      </p:to>
                                    </p:set>
                                    <p:animEffect filter="fade" transition="in">
                                      <p:cBhvr>
                                        <p:cTn dur="1000"/>
                                        <p:tgtEl>
                                          <p:spTgt spid="2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5" st="5"/>
                                            </p:txEl>
                                          </p:spTgt>
                                        </p:tgtEl>
                                        <p:attrNameLst>
                                          <p:attrName>style.visibility</p:attrName>
                                        </p:attrNameLst>
                                      </p:cBhvr>
                                      <p:to>
                                        <p:strVal val="visible"/>
                                      </p:to>
                                    </p:set>
                                    <p:animEffect filter="fade" transition="in">
                                      <p:cBhvr>
                                        <p:cTn dur="1000"/>
                                        <p:tgtEl>
                                          <p:spTgt spid="2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6" st="6"/>
                                            </p:txEl>
                                          </p:spTgt>
                                        </p:tgtEl>
                                        <p:attrNameLst>
                                          <p:attrName>style.visibility</p:attrName>
                                        </p:attrNameLst>
                                      </p:cBhvr>
                                      <p:to>
                                        <p:strVal val="visible"/>
                                      </p:to>
                                    </p:set>
                                    <p:animEffect filter="fade" transition="in">
                                      <p:cBhvr>
                                        <p:cTn dur="1000"/>
                                        <p:tgtEl>
                                          <p:spTgt spid="23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5"/>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a:t>Recap</a:t>
            </a:r>
            <a:endParaRPr/>
          </a:p>
          <a:p>
            <a:pPr indent="0" lvl="0" marL="0" rtl="0" algn="ctr">
              <a:lnSpc>
                <a:spcPct val="100000"/>
              </a:lnSpc>
              <a:spcBef>
                <a:spcPts val="0"/>
              </a:spcBef>
              <a:spcAft>
                <a:spcPts val="0"/>
              </a:spcAft>
              <a:buSzPts val="3600"/>
              <a:buNone/>
            </a:pPr>
            <a:r>
              <a:t/>
            </a:r>
            <a:endParaRPr/>
          </a:p>
        </p:txBody>
      </p:sp>
      <p:sp>
        <p:nvSpPr>
          <p:cNvPr id="270" name="Google Shape;270;p35"/>
          <p:cNvSpPr txBox="1"/>
          <p:nvPr/>
        </p:nvSpPr>
        <p:spPr>
          <a:xfrm>
            <a:off x="423400" y="893400"/>
            <a:ext cx="8409000" cy="3607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Understanding ethics is important because AI systems—likely to have serious impacts on the world—must be used ethically. In particular, we must ensure that AI systems are aligned with human values.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Three conceptions of wellbeing suggest different ways to use AIs.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Moral considerations like impartiality, obligations, constraints, and rights give us a shared language to describe and debate the ethics of AI</a:t>
            </a:r>
            <a:r>
              <a:rPr lang="en" sz="2000">
                <a:solidFill>
                  <a:schemeClr val="dk1"/>
                </a:solidFill>
                <a:latin typeface="Nunito"/>
                <a:ea typeface="Nunito"/>
                <a:cs typeface="Nunito"/>
                <a:sym typeface="Nunito"/>
              </a:rPr>
              <a:t>s and their impacts</a:t>
            </a:r>
            <a:r>
              <a:rPr b="0" i="0" lang="en" sz="2000" u="none" cap="none" strike="noStrike">
                <a:solidFill>
                  <a:schemeClr val="dk1"/>
                </a:solidFill>
                <a:latin typeface="Nunito"/>
                <a:ea typeface="Nunito"/>
                <a:cs typeface="Nunito"/>
                <a:sym typeface="Nunito"/>
              </a:rPr>
              <a:t>. These considerations are </a:t>
            </a:r>
            <a:r>
              <a:rPr lang="en" sz="2000">
                <a:solidFill>
                  <a:schemeClr val="dk1"/>
                </a:solidFill>
                <a:latin typeface="Nunito"/>
                <a:ea typeface="Nunito"/>
                <a:cs typeface="Nunito"/>
                <a:sym typeface="Nunito"/>
              </a:rPr>
              <a:t>all relevant to common-sense morality and the following moral theories.</a:t>
            </a:r>
            <a:endParaRPr b="0" i="0" sz="2000" u="none" cap="none" strike="noStrike">
              <a:solidFill>
                <a:schemeClr val="dk1"/>
              </a:solidFill>
              <a:latin typeface="Nunito"/>
              <a:ea typeface="Nunito"/>
              <a:cs typeface="Nunito"/>
              <a:sym typeface="Nunito"/>
            </a:endParaRPr>
          </a:p>
        </p:txBody>
      </p:sp>
      <p:sp>
        <p:nvSpPr>
          <p:cNvPr id="271" name="Google Shape;271;p3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72" name="Google Shape;272;p35"/>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18</a:t>
            </a:fld>
            <a:endParaRPr b="0" i="0" sz="1300" u="none" cap="none" strike="noStrike">
              <a:solidFill>
                <a:srgbClr val="FFFFFF"/>
              </a:solidFill>
              <a:latin typeface="Nunito"/>
              <a:ea typeface="Nunito"/>
              <a:cs typeface="Nunito"/>
              <a:sym typeface="Nunito"/>
            </a:endParaRPr>
          </a:p>
        </p:txBody>
      </p:sp>
      <p:sp>
        <p:nvSpPr>
          <p:cNvPr id="273" name="Google Shape;273;p3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7"/>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Roadmap</a:t>
            </a:r>
            <a:endParaRPr sz="3600">
              <a:latin typeface="Nunito"/>
              <a:ea typeface="Nunito"/>
              <a:cs typeface="Nunito"/>
              <a:sym typeface="Nunito"/>
            </a:endParaRPr>
          </a:p>
        </p:txBody>
      </p:sp>
      <p:sp>
        <p:nvSpPr>
          <p:cNvPr id="287" name="Google Shape;287;p37"/>
          <p:cNvSpPr txBox="1"/>
          <p:nvPr/>
        </p:nvSpPr>
        <p:spPr>
          <a:xfrm>
            <a:off x="367450" y="741000"/>
            <a:ext cx="8409000" cy="36912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Why learn about ethics?</a:t>
            </a:r>
            <a:endParaRPr b="0" i="0" sz="2000" u="none" cap="none" strike="noStrike">
              <a:solidFill>
                <a:schemeClr val="dk1"/>
              </a:solidFill>
              <a:latin typeface="Nunito"/>
              <a:ea typeface="Nunito"/>
              <a:cs typeface="Nunito"/>
              <a:sym typeface="Nunito"/>
            </a:endParaRPr>
          </a:p>
          <a:p>
            <a:pPr indent="0" lvl="0" marL="45720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Moral considerations: wellbeing, obligations, partiality, et cetera.</a:t>
            </a:r>
            <a:endParaRPr b="0" i="0" sz="2000" u="none" cap="none" strike="noStrike">
              <a:solidFill>
                <a:schemeClr val="dk1"/>
              </a:solidFill>
              <a:latin typeface="Nunito"/>
              <a:ea typeface="Nunito"/>
              <a:cs typeface="Nunito"/>
              <a:sym typeface="Nunito"/>
            </a:endParaRPr>
          </a:p>
          <a:p>
            <a:pPr indent="0" lvl="0" marL="45720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Moral Theories:</a:t>
            </a:r>
            <a:endParaRPr b="0" i="0" sz="2000" u="none" cap="none" strike="noStrike">
              <a:solidFill>
                <a:schemeClr val="dk1"/>
              </a:solidFill>
              <a:latin typeface="Nunito"/>
              <a:ea typeface="Nunito"/>
              <a:cs typeface="Nunito"/>
              <a:sym typeface="Nunito"/>
            </a:endParaRPr>
          </a:p>
          <a:p>
            <a:pPr indent="-355600" lvl="1" marL="9144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Utilitarianism</a:t>
            </a:r>
            <a:endParaRPr b="0" i="0" sz="2000" u="none" cap="none" strike="noStrike">
              <a:solidFill>
                <a:schemeClr val="dk1"/>
              </a:solidFill>
              <a:latin typeface="Nunito"/>
              <a:ea typeface="Nunito"/>
              <a:cs typeface="Nunito"/>
              <a:sym typeface="Nunito"/>
            </a:endParaRPr>
          </a:p>
          <a:p>
            <a:pPr indent="-355600" lvl="1" marL="914400" marR="0" rtl="0" algn="l">
              <a:lnSpc>
                <a:spcPct val="115000"/>
              </a:lnSpc>
              <a:spcBef>
                <a:spcPts val="0"/>
              </a:spcBef>
              <a:spcAft>
                <a:spcPts val="0"/>
              </a:spcAft>
              <a:buClr>
                <a:schemeClr val="dk1"/>
              </a:buClr>
              <a:buSzPts val="2000"/>
              <a:buFont typeface="Nunito"/>
              <a:buChar char="○"/>
            </a:pPr>
            <a:r>
              <a:rPr b="0" i="0" lang="en" sz="2000" u="none" cap="none" strike="noStrike">
                <a:solidFill>
                  <a:schemeClr val="dk1"/>
                </a:solidFill>
                <a:latin typeface="Nunito"/>
                <a:ea typeface="Nunito"/>
                <a:cs typeface="Nunito"/>
                <a:sym typeface="Nunito"/>
              </a:rPr>
              <a:t>Deontology</a:t>
            </a:r>
            <a:endParaRPr b="0" i="0" sz="2000" u="none" cap="none" strike="noStrike">
              <a:solidFill>
                <a:schemeClr val="dk1"/>
              </a:solidFill>
              <a:latin typeface="Nunito"/>
              <a:ea typeface="Nunito"/>
              <a:cs typeface="Nunito"/>
              <a:sym typeface="Nunito"/>
            </a:endParaRPr>
          </a:p>
          <a:p>
            <a:pPr indent="0" lvl="0" marL="45720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288" name="Google Shape;288;p3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289" name="Google Shape;289;p3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19</a:t>
            </a:fld>
            <a:endParaRPr b="0" i="0" sz="1300" u="none" cap="none" strike="noStrike">
              <a:solidFill>
                <a:srgbClr val="FFFFFF"/>
              </a:solidFill>
              <a:latin typeface="Nunito"/>
              <a:ea typeface="Nunito"/>
              <a:cs typeface="Nunito"/>
              <a:sym typeface="Nunito"/>
            </a:endParaRPr>
          </a:p>
        </p:txBody>
      </p:sp>
      <p:sp>
        <p:nvSpPr>
          <p:cNvPr id="290" name="Google Shape;290;p3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291" name="Google Shape;291;p37"/>
          <p:cNvSpPr/>
          <p:nvPr/>
        </p:nvSpPr>
        <p:spPr>
          <a:xfrm>
            <a:off x="364325" y="2145500"/>
            <a:ext cx="8356200" cy="1133100"/>
          </a:xfrm>
          <a:prstGeom prst="rect">
            <a:avLst/>
          </a:prstGeom>
          <a:noFill/>
          <a:ln cap="flat" cmpd="sng" w="9525">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8"/>
          <p:cNvSpPr txBox="1"/>
          <p:nvPr/>
        </p:nvSpPr>
        <p:spPr>
          <a:xfrm>
            <a:off x="423400" y="790100"/>
            <a:ext cx="8409000" cy="807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297" name="Google Shape;297;p38"/>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From Considerations to Theories</a:t>
            </a:r>
            <a:endParaRPr sz="3600">
              <a:latin typeface="Nunito"/>
              <a:ea typeface="Nunito"/>
              <a:cs typeface="Nunito"/>
              <a:sym typeface="Nunito"/>
            </a:endParaRPr>
          </a:p>
        </p:txBody>
      </p:sp>
      <p:sp>
        <p:nvSpPr>
          <p:cNvPr id="298" name="Google Shape;298;p38"/>
          <p:cNvSpPr txBox="1"/>
          <p:nvPr/>
        </p:nvSpPr>
        <p:spPr>
          <a:xfrm>
            <a:off x="423400" y="1935225"/>
            <a:ext cx="8409000" cy="807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299" name="Google Shape;299;p3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00" name="Google Shape;300;p3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20</a:t>
            </a:fld>
            <a:endParaRPr b="0" i="0" sz="1300" u="none" cap="none" strike="noStrike">
              <a:solidFill>
                <a:srgbClr val="FFFFFF"/>
              </a:solidFill>
              <a:latin typeface="Nunito"/>
              <a:ea typeface="Nunito"/>
              <a:cs typeface="Nunito"/>
              <a:sym typeface="Nunito"/>
            </a:endParaRPr>
          </a:p>
        </p:txBody>
      </p:sp>
      <p:sp>
        <p:nvSpPr>
          <p:cNvPr id="301" name="Google Shape;301;p3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02" name="Google Shape;302;p38"/>
          <p:cNvSpPr txBox="1"/>
          <p:nvPr/>
        </p:nvSpPr>
        <p:spPr>
          <a:xfrm>
            <a:off x="423400" y="824575"/>
            <a:ext cx="82971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Moral considerations are part of </a:t>
            </a:r>
            <a:r>
              <a:rPr b="1" i="0" lang="en" sz="2000" u="none" cap="none" strike="noStrike">
                <a:solidFill>
                  <a:schemeClr val="dk1"/>
                </a:solidFill>
                <a:latin typeface="Nunito"/>
                <a:ea typeface="Nunito"/>
                <a:cs typeface="Nunito"/>
                <a:sym typeface="Nunito"/>
              </a:rPr>
              <a:t>metaethics</a:t>
            </a:r>
            <a:r>
              <a:rPr b="0" i="0" lang="en" sz="2000" u="none" cap="none" strike="noStrike">
                <a:solidFill>
                  <a:schemeClr val="dk1"/>
                </a:solidFill>
                <a:latin typeface="Nunito"/>
                <a:ea typeface="Nunito"/>
                <a:cs typeface="Nunito"/>
                <a:sym typeface="Nunito"/>
              </a:rPr>
              <a:t>: the underlying concepts and assumptions that make moral reasoning possible. </a:t>
            </a:r>
            <a:endParaRPr b="0" i="0" sz="2000" u="none" cap="none" strike="noStrike">
              <a:solidFill>
                <a:srgbClr val="000000"/>
              </a:solidFill>
              <a:latin typeface="Nunito"/>
              <a:ea typeface="Nunito"/>
              <a:cs typeface="Nunito"/>
              <a:sym typeface="Nunito"/>
            </a:endParaRPr>
          </a:p>
        </p:txBody>
      </p:sp>
      <p:sp>
        <p:nvSpPr>
          <p:cNvPr id="303" name="Google Shape;303;p38"/>
          <p:cNvSpPr txBox="1"/>
          <p:nvPr/>
        </p:nvSpPr>
        <p:spPr>
          <a:xfrm>
            <a:off x="446500" y="1864375"/>
            <a:ext cx="8250900" cy="2662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1" i="0" lang="en" sz="2000" u="none" cap="none" strike="noStrike">
                <a:solidFill>
                  <a:schemeClr val="dk1"/>
                </a:solidFill>
                <a:latin typeface="Nunito"/>
                <a:ea typeface="Nunito"/>
                <a:cs typeface="Nunito"/>
                <a:sym typeface="Nunito"/>
              </a:rPr>
              <a:t>Normative ethics</a:t>
            </a:r>
            <a:r>
              <a:rPr b="0" i="0" lang="en" sz="2000" u="none" cap="none" strike="noStrike">
                <a:solidFill>
                  <a:schemeClr val="dk1"/>
                </a:solidFill>
                <a:latin typeface="Nunito"/>
                <a:ea typeface="Nunito"/>
                <a:cs typeface="Nunito"/>
                <a:sym typeface="Nunito"/>
              </a:rPr>
              <a:t> is about concrete moral standards and principles that govern how we ought to behave. Here, we consider two of the most common theories in academic ethics: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Utilitarianism</a:t>
            </a:r>
            <a:endParaRPr b="0"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Kantian Ethics/Deontology</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xEl>
                                              <p:pRg end="0" st="0"/>
                                            </p:txEl>
                                          </p:spTgt>
                                        </p:tgtEl>
                                        <p:attrNameLst>
                                          <p:attrName>style.visibility</p:attrName>
                                        </p:attrNameLst>
                                      </p:cBhvr>
                                      <p:to>
                                        <p:strVal val="visible"/>
                                      </p:to>
                                    </p:set>
                                    <p:animEffect filter="fade" transition="in">
                                      <p:cBhvr>
                                        <p:cTn dur="1000"/>
                                        <p:tgtEl>
                                          <p:spTgt spid="3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animEffect filter="fade" transition="in">
                                      <p:cBhvr>
                                        <p:cTn dur="1000"/>
                                        <p:tgtEl>
                                          <p:spTgt spid="3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1" st="1"/>
                                            </p:txEl>
                                          </p:spTgt>
                                        </p:tgtEl>
                                        <p:attrNameLst>
                                          <p:attrName>style.visibility</p:attrName>
                                        </p:attrNameLst>
                                      </p:cBhvr>
                                      <p:to>
                                        <p:strVal val="visible"/>
                                      </p:to>
                                    </p:set>
                                    <p:animEffect filter="fade" transition="in">
                                      <p:cBhvr>
                                        <p:cTn dur="1000"/>
                                        <p:tgtEl>
                                          <p:spTgt spid="3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2" st="2"/>
                                            </p:txEl>
                                          </p:spTgt>
                                        </p:tgtEl>
                                        <p:attrNameLst>
                                          <p:attrName>style.visibility</p:attrName>
                                        </p:attrNameLst>
                                      </p:cBhvr>
                                      <p:to>
                                        <p:strVal val="visible"/>
                                      </p:to>
                                    </p:set>
                                    <p:animEffect filter="fade" transition="in">
                                      <p:cBhvr>
                                        <p:cTn dur="1000"/>
                                        <p:tgtEl>
                                          <p:spTgt spid="3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3" st="3"/>
                                            </p:txEl>
                                          </p:spTgt>
                                        </p:tgtEl>
                                        <p:attrNameLst>
                                          <p:attrName>style.visibility</p:attrName>
                                        </p:attrNameLst>
                                      </p:cBhvr>
                                      <p:to>
                                        <p:strVal val="visible"/>
                                      </p:to>
                                    </p:set>
                                    <p:animEffect filter="fade" transition="in">
                                      <p:cBhvr>
                                        <p:cTn dur="1000"/>
                                        <p:tgtEl>
                                          <p:spTgt spid="3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4" st="4"/>
                                            </p:txEl>
                                          </p:spTgt>
                                        </p:tgtEl>
                                        <p:attrNameLst>
                                          <p:attrName>style.visibility</p:attrName>
                                        </p:attrNameLst>
                                      </p:cBhvr>
                                      <p:to>
                                        <p:strVal val="visible"/>
                                      </p:to>
                                    </p:set>
                                    <p:animEffect filter="fade" transition="in">
                                      <p:cBhvr>
                                        <p:cTn dur="1000"/>
                                        <p:tgtEl>
                                          <p:spTgt spid="3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5" st="5"/>
                                            </p:txEl>
                                          </p:spTgt>
                                        </p:tgtEl>
                                        <p:attrNameLst>
                                          <p:attrName>style.visibility</p:attrName>
                                        </p:attrNameLst>
                                      </p:cBhvr>
                                      <p:to>
                                        <p:strVal val="visible"/>
                                      </p:to>
                                    </p:set>
                                    <p:animEffect filter="fade" transition="in">
                                      <p:cBhvr>
                                        <p:cTn dur="1000"/>
                                        <p:tgtEl>
                                          <p:spTgt spid="30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9"/>
          <p:cNvSpPr txBox="1"/>
          <p:nvPr/>
        </p:nvSpPr>
        <p:spPr>
          <a:xfrm>
            <a:off x="423400" y="874800"/>
            <a:ext cx="8409000" cy="4148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1" i="0" lang="en" sz="2000" u="none" cap="none" strike="noStrike">
                <a:solidFill>
                  <a:schemeClr val="dk1"/>
                </a:solidFill>
                <a:latin typeface="Nunito"/>
                <a:ea typeface="Nunito"/>
                <a:cs typeface="Nunito"/>
                <a:sym typeface="Nunito"/>
              </a:rPr>
              <a:t>Utilitarianism</a:t>
            </a:r>
            <a:r>
              <a:rPr b="0" i="0" lang="en" sz="2000" u="none" cap="none" strike="noStrike">
                <a:solidFill>
                  <a:schemeClr val="dk1"/>
                </a:solidFill>
                <a:latin typeface="Nunito"/>
                <a:ea typeface="Nunito"/>
                <a:cs typeface="Nunito"/>
                <a:sym typeface="Nunito"/>
              </a:rPr>
              <a:t> seeks to maximize overall wellbeing → the right action is the one that increases overall wellbeing the most.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According to utilitarianism, the right action in any situation is the one which will increase overall wellbeing the most—not just for the people directly involved in the situation, but globally.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When we maximize wellbeing, we can make moral questions into empirical ones.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309" name="Google Shape;309;p39"/>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sz="3600">
                <a:latin typeface="Nunito"/>
                <a:ea typeface="Nunito"/>
                <a:cs typeface="Nunito"/>
                <a:sym typeface="Nunito"/>
              </a:rPr>
              <a:t>Utilitarianism </a:t>
            </a:r>
            <a:r>
              <a:rPr lang="en"/>
              <a:t>Overview</a:t>
            </a:r>
            <a:endParaRPr sz="3600">
              <a:latin typeface="Nunito"/>
              <a:ea typeface="Nunito"/>
              <a:cs typeface="Nunito"/>
              <a:sym typeface="Nunito"/>
            </a:endParaRPr>
          </a:p>
        </p:txBody>
      </p:sp>
      <p:sp>
        <p:nvSpPr>
          <p:cNvPr id="310" name="Google Shape;310;p3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11" name="Google Shape;311;p3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21</a:t>
            </a:fld>
            <a:endParaRPr b="0" i="0" sz="1300" u="none" cap="none" strike="noStrike">
              <a:solidFill>
                <a:srgbClr val="FFFFFF"/>
              </a:solidFill>
              <a:latin typeface="Nunito"/>
              <a:ea typeface="Nunito"/>
              <a:cs typeface="Nunito"/>
              <a:sym typeface="Nunito"/>
            </a:endParaRPr>
          </a:p>
        </p:txBody>
      </p:sp>
      <p:sp>
        <p:nvSpPr>
          <p:cNvPr id="312" name="Google Shape;312;p3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animEffect filter="fade" transition="in">
                                      <p:cBhvr>
                                        <p:cTn dur="1000"/>
                                        <p:tgtEl>
                                          <p:spTgt spid="3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1" st="1"/>
                                            </p:txEl>
                                          </p:spTgt>
                                        </p:tgtEl>
                                        <p:attrNameLst>
                                          <p:attrName>style.visibility</p:attrName>
                                        </p:attrNameLst>
                                      </p:cBhvr>
                                      <p:to>
                                        <p:strVal val="visible"/>
                                      </p:to>
                                    </p:set>
                                    <p:animEffect filter="fade" transition="in">
                                      <p:cBhvr>
                                        <p:cTn dur="1000"/>
                                        <p:tgtEl>
                                          <p:spTgt spid="3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2" st="2"/>
                                            </p:txEl>
                                          </p:spTgt>
                                        </p:tgtEl>
                                        <p:attrNameLst>
                                          <p:attrName>style.visibility</p:attrName>
                                        </p:attrNameLst>
                                      </p:cBhvr>
                                      <p:to>
                                        <p:strVal val="visible"/>
                                      </p:to>
                                    </p:set>
                                    <p:animEffect filter="fade" transition="in">
                                      <p:cBhvr>
                                        <p:cTn dur="1000"/>
                                        <p:tgtEl>
                                          <p:spTgt spid="3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3" st="3"/>
                                            </p:txEl>
                                          </p:spTgt>
                                        </p:tgtEl>
                                        <p:attrNameLst>
                                          <p:attrName>style.visibility</p:attrName>
                                        </p:attrNameLst>
                                      </p:cBhvr>
                                      <p:to>
                                        <p:strVal val="visible"/>
                                      </p:to>
                                    </p:set>
                                    <p:animEffect filter="fade" transition="in">
                                      <p:cBhvr>
                                        <p:cTn dur="1000"/>
                                        <p:tgtEl>
                                          <p:spTgt spid="3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4" st="4"/>
                                            </p:txEl>
                                          </p:spTgt>
                                        </p:tgtEl>
                                        <p:attrNameLst>
                                          <p:attrName>style.visibility</p:attrName>
                                        </p:attrNameLst>
                                      </p:cBhvr>
                                      <p:to>
                                        <p:strVal val="visible"/>
                                      </p:to>
                                    </p:set>
                                    <p:animEffect filter="fade" transition="in">
                                      <p:cBhvr>
                                        <p:cTn dur="1000"/>
                                        <p:tgtEl>
                                          <p:spTgt spid="3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5" st="5"/>
                                            </p:txEl>
                                          </p:spTgt>
                                        </p:tgtEl>
                                        <p:attrNameLst>
                                          <p:attrName>style.visibility</p:attrName>
                                        </p:attrNameLst>
                                      </p:cBhvr>
                                      <p:to>
                                        <p:strVal val="visible"/>
                                      </p:to>
                                    </p:set>
                                    <p:animEffect filter="fade" transition="in">
                                      <p:cBhvr>
                                        <p:cTn dur="1000"/>
                                        <p:tgtEl>
                                          <p:spTgt spid="30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6" st="6"/>
                                            </p:txEl>
                                          </p:spTgt>
                                        </p:tgtEl>
                                        <p:attrNameLst>
                                          <p:attrName>style.visibility</p:attrName>
                                        </p:attrNameLst>
                                      </p:cBhvr>
                                      <p:to>
                                        <p:strVal val="visible"/>
                                      </p:to>
                                    </p:set>
                                    <p:animEffect filter="fade" transition="in">
                                      <p:cBhvr>
                                        <p:cTn dur="1000"/>
                                        <p:tgtEl>
                                          <p:spTgt spid="308">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0"/>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sz="3600">
                <a:latin typeface="Nunito"/>
                <a:ea typeface="Nunito"/>
                <a:cs typeface="Nunito"/>
                <a:sym typeface="Nunito"/>
              </a:rPr>
              <a:t>Utilitarianism: Drunk Driving (1/2)</a:t>
            </a:r>
            <a:endParaRPr sz="3600">
              <a:latin typeface="Nunito"/>
              <a:ea typeface="Nunito"/>
              <a:cs typeface="Nunito"/>
              <a:sym typeface="Nunito"/>
            </a:endParaRPr>
          </a:p>
        </p:txBody>
      </p:sp>
      <p:sp>
        <p:nvSpPr>
          <p:cNvPr id="318" name="Google Shape;318;p40"/>
          <p:cNvSpPr txBox="1"/>
          <p:nvPr/>
        </p:nvSpPr>
        <p:spPr>
          <a:xfrm>
            <a:off x="423400" y="1935225"/>
            <a:ext cx="8409000" cy="807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319" name="Google Shape;319;p4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20" name="Google Shape;320;p4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22</a:t>
            </a:fld>
            <a:endParaRPr b="0" i="0" sz="1300" u="none" cap="none" strike="noStrike">
              <a:solidFill>
                <a:srgbClr val="FFFFFF"/>
              </a:solidFill>
              <a:latin typeface="Nunito"/>
              <a:ea typeface="Nunito"/>
              <a:cs typeface="Nunito"/>
              <a:sym typeface="Nunito"/>
            </a:endParaRPr>
          </a:p>
        </p:txBody>
      </p:sp>
      <p:sp>
        <p:nvSpPr>
          <p:cNvPr id="321" name="Google Shape;321;p4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22" name="Google Shape;322;p40"/>
          <p:cNvSpPr txBox="1"/>
          <p:nvPr/>
        </p:nvSpPr>
        <p:spPr>
          <a:xfrm>
            <a:off x="423625" y="784625"/>
            <a:ext cx="8297100" cy="2170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1" i="1" lang="en" sz="2000" u="none" cap="none" strike="noStrike">
                <a:solidFill>
                  <a:srgbClr val="000000"/>
                </a:solidFill>
                <a:latin typeface="Nunito"/>
                <a:ea typeface="Nunito"/>
                <a:cs typeface="Nunito"/>
                <a:sym typeface="Nunito"/>
              </a:rPr>
              <a:t>Drunk driving</a:t>
            </a:r>
            <a:r>
              <a:rPr b="0" i="0" lang="en" sz="2000" u="none" cap="none" strike="noStrike">
                <a:solidFill>
                  <a:srgbClr val="000000"/>
                </a:solidFill>
                <a:latin typeface="Nunito"/>
                <a:ea typeface="Nunito"/>
                <a:cs typeface="Nunito"/>
                <a:sym typeface="Nunito"/>
              </a:rPr>
              <a:t>. Amanda has had a few drinks, and is deciding whether to drive or take the bus home. What should she do?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p:txBody>
      </p:sp>
      <p:sp>
        <p:nvSpPr>
          <p:cNvPr id="323" name="Google Shape;323;p40"/>
          <p:cNvSpPr txBox="1"/>
          <p:nvPr/>
        </p:nvSpPr>
        <p:spPr>
          <a:xfrm>
            <a:off x="423400" y="1761300"/>
            <a:ext cx="8297100" cy="269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Utilitarians would analyze the situation by… </a:t>
            </a:r>
            <a:endParaRPr b="0" i="0" sz="17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Listing all the possible outcomes of driving vs. not driving.  </a:t>
            </a:r>
            <a:endParaRPr b="0"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Calculating the probabilities of each outcome. </a:t>
            </a:r>
            <a:endParaRPr b="0"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Calculating the ‘</a:t>
            </a:r>
            <a:r>
              <a:rPr b="1" i="0" lang="en" sz="2000" u="none" cap="none" strike="noStrike">
                <a:solidFill>
                  <a:schemeClr val="dk1"/>
                </a:solidFill>
                <a:latin typeface="Nunito"/>
                <a:ea typeface="Nunito"/>
                <a:cs typeface="Nunito"/>
                <a:sym typeface="Nunito"/>
              </a:rPr>
              <a:t>utility</a:t>
            </a:r>
            <a:r>
              <a:rPr b="0" i="0" lang="en" sz="2000" u="none" cap="none" strike="noStrike">
                <a:solidFill>
                  <a:schemeClr val="dk1"/>
                </a:solidFill>
                <a:latin typeface="Nunito"/>
                <a:ea typeface="Nunito"/>
                <a:cs typeface="Nunito"/>
                <a:sym typeface="Nunito"/>
              </a:rPr>
              <a:t>’ – wellbeing – brought about by each outcome.</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1100"/>
              <a:buFont typeface="Arial"/>
              <a:buNone/>
            </a:pPr>
            <a:r>
              <a:t/>
            </a:r>
            <a:endParaRPr b="0" i="0" sz="17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rPr b="1" i="0" lang="en" sz="2000" u="none" cap="none" strike="noStrike">
                <a:solidFill>
                  <a:schemeClr val="dk1"/>
                </a:solidFill>
                <a:latin typeface="Nunito"/>
                <a:ea typeface="Nunito"/>
                <a:cs typeface="Nunito"/>
                <a:sym typeface="Nunito"/>
              </a:rPr>
              <a:t>Expected utility </a:t>
            </a:r>
            <a:r>
              <a:rPr b="0" i="0" lang="en" sz="2000" u="none" cap="none" strike="noStrike">
                <a:solidFill>
                  <a:schemeClr val="dk1"/>
                </a:solidFill>
                <a:latin typeface="Nunito"/>
                <a:ea typeface="Nunito"/>
                <a:cs typeface="Nunito"/>
                <a:sym typeface="Nunito"/>
              </a:rPr>
              <a:t>of each choice is the sum of the probabilities of each outcome multiplied by its utility.</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animEffect filter="fade" transition="in">
                                      <p:cBhvr>
                                        <p:cTn dur="1000"/>
                                        <p:tgtEl>
                                          <p:spTgt spid="3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1" st="1"/>
                                            </p:txEl>
                                          </p:spTgt>
                                        </p:tgtEl>
                                        <p:attrNameLst>
                                          <p:attrName>style.visibility</p:attrName>
                                        </p:attrNameLst>
                                      </p:cBhvr>
                                      <p:to>
                                        <p:strVal val="visible"/>
                                      </p:to>
                                    </p:set>
                                    <p:animEffect filter="fade" transition="in">
                                      <p:cBhvr>
                                        <p:cTn dur="1000"/>
                                        <p:tgtEl>
                                          <p:spTgt spid="3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2" st="2"/>
                                            </p:txEl>
                                          </p:spTgt>
                                        </p:tgtEl>
                                        <p:attrNameLst>
                                          <p:attrName>style.visibility</p:attrName>
                                        </p:attrNameLst>
                                      </p:cBhvr>
                                      <p:to>
                                        <p:strVal val="visible"/>
                                      </p:to>
                                    </p:set>
                                    <p:animEffect filter="fade" transition="in">
                                      <p:cBhvr>
                                        <p:cTn dur="1000"/>
                                        <p:tgtEl>
                                          <p:spTgt spid="3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3" st="3"/>
                                            </p:txEl>
                                          </p:spTgt>
                                        </p:tgtEl>
                                        <p:attrNameLst>
                                          <p:attrName>style.visibility</p:attrName>
                                        </p:attrNameLst>
                                      </p:cBhvr>
                                      <p:to>
                                        <p:strVal val="visible"/>
                                      </p:to>
                                    </p:set>
                                    <p:animEffect filter="fade" transition="in">
                                      <p:cBhvr>
                                        <p:cTn dur="1000"/>
                                        <p:tgtEl>
                                          <p:spTgt spid="3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4" st="4"/>
                                            </p:txEl>
                                          </p:spTgt>
                                        </p:tgtEl>
                                        <p:attrNameLst>
                                          <p:attrName>style.visibility</p:attrName>
                                        </p:attrNameLst>
                                      </p:cBhvr>
                                      <p:to>
                                        <p:strVal val="visible"/>
                                      </p:to>
                                    </p:set>
                                    <p:animEffect filter="fade" transition="in">
                                      <p:cBhvr>
                                        <p:cTn dur="1000"/>
                                        <p:tgtEl>
                                          <p:spTgt spid="3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0" st="0"/>
                                            </p:txEl>
                                          </p:spTgt>
                                        </p:tgtEl>
                                        <p:attrNameLst>
                                          <p:attrName>style.visibility</p:attrName>
                                        </p:attrNameLst>
                                      </p:cBhvr>
                                      <p:to>
                                        <p:strVal val="visible"/>
                                      </p:to>
                                    </p:set>
                                    <p:animEffect filter="fade" transition="in">
                                      <p:cBhvr>
                                        <p:cTn dur="1000"/>
                                        <p:tgtEl>
                                          <p:spTgt spid="3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1" st="1"/>
                                            </p:txEl>
                                          </p:spTgt>
                                        </p:tgtEl>
                                        <p:attrNameLst>
                                          <p:attrName>style.visibility</p:attrName>
                                        </p:attrNameLst>
                                      </p:cBhvr>
                                      <p:to>
                                        <p:strVal val="visible"/>
                                      </p:to>
                                    </p:set>
                                    <p:animEffect filter="fade" transition="in">
                                      <p:cBhvr>
                                        <p:cTn dur="1000"/>
                                        <p:tgtEl>
                                          <p:spTgt spid="3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2" st="2"/>
                                            </p:txEl>
                                          </p:spTgt>
                                        </p:tgtEl>
                                        <p:attrNameLst>
                                          <p:attrName>style.visibility</p:attrName>
                                        </p:attrNameLst>
                                      </p:cBhvr>
                                      <p:to>
                                        <p:strVal val="visible"/>
                                      </p:to>
                                    </p:set>
                                    <p:animEffect filter="fade" transition="in">
                                      <p:cBhvr>
                                        <p:cTn dur="1000"/>
                                        <p:tgtEl>
                                          <p:spTgt spid="3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3" st="3"/>
                                            </p:txEl>
                                          </p:spTgt>
                                        </p:tgtEl>
                                        <p:attrNameLst>
                                          <p:attrName>style.visibility</p:attrName>
                                        </p:attrNameLst>
                                      </p:cBhvr>
                                      <p:to>
                                        <p:strVal val="visible"/>
                                      </p:to>
                                    </p:set>
                                    <p:animEffect filter="fade" transition="in">
                                      <p:cBhvr>
                                        <p:cTn dur="1000"/>
                                        <p:tgtEl>
                                          <p:spTgt spid="3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4" st="4"/>
                                            </p:txEl>
                                          </p:spTgt>
                                        </p:tgtEl>
                                        <p:attrNameLst>
                                          <p:attrName>style.visibility</p:attrName>
                                        </p:attrNameLst>
                                      </p:cBhvr>
                                      <p:to>
                                        <p:strVal val="visible"/>
                                      </p:to>
                                    </p:set>
                                    <p:animEffect filter="fade" transition="in">
                                      <p:cBhvr>
                                        <p:cTn dur="1000"/>
                                        <p:tgtEl>
                                          <p:spTgt spid="32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xEl>
                                              <p:pRg end="5" st="5"/>
                                            </p:txEl>
                                          </p:spTgt>
                                        </p:tgtEl>
                                        <p:attrNameLst>
                                          <p:attrName>style.visibility</p:attrName>
                                        </p:attrNameLst>
                                      </p:cBhvr>
                                      <p:to>
                                        <p:strVal val="visible"/>
                                      </p:to>
                                    </p:set>
                                    <p:animEffect filter="fade" transition="in">
                                      <p:cBhvr>
                                        <p:cTn dur="1000"/>
                                        <p:tgtEl>
                                          <p:spTgt spid="32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1"/>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Utilitarianism: Drunk Driving (2/2)</a:t>
            </a:r>
            <a:endParaRPr sz="3600">
              <a:latin typeface="Nunito"/>
              <a:ea typeface="Nunito"/>
              <a:cs typeface="Nunito"/>
              <a:sym typeface="Nunito"/>
            </a:endParaRPr>
          </a:p>
        </p:txBody>
      </p:sp>
      <p:sp>
        <p:nvSpPr>
          <p:cNvPr id="329" name="Google Shape;329;p41"/>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30" name="Google Shape;330;p41"/>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23</a:t>
            </a:fld>
            <a:endParaRPr b="0" i="0" sz="1300" u="none" cap="none" strike="noStrike">
              <a:solidFill>
                <a:srgbClr val="FFFFFF"/>
              </a:solidFill>
              <a:latin typeface="Nunito"/>
              <a:ea typeface="Nunito"/>
              <a:cs typeface="Nunito"/>
              <a:sym typeface="Nunito"/>
            </a:endParaRPr>
          </a:p>
        </p:txBody>
      </p:sp>
      <p:sp>
        <p:nvSpPr>
          <p:cNvPr id="331" name="Google Shape;331;p41"/>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32" name="Google Shape;332;p41"/>
          <p:cNvSpPr txBox="1"/>
          <p:nvPr/>
        </p:nvSpPr>
        <p:spPr>
          <a:xfrm>
            <a:off x="717375" y="4153925"/>
            <a:ext cx="47673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Nunito"/>
                <a:ea typeface="Nunito"/>
                <a:cs typeface="Nunito"/>
                <a:sym typeface="Nunito"/>
              </a:rPr>
              <a:t>*the probability and utility values we assign here are arbitrary, and only serve to illustrate what such a calculation might look like.</a:t>
            </a:r>
            <a:r>
              <a:rPr b="0" i="0" lang="en" sz="1500" u="none" cap="none" strike="noStrike">
                <a:solidFill>
                  <a:srgbClr val="000000"/>
                </a:solidFill>
                <a:latin typeface="Nunito"/>
                <a:ea typeface="Nunito"/>
                <a:cs typeface="Nunito"/>
                <a:sym typeface="Nunito"/>
              </a:rPr>
              <a:t> </a:t>
            </a:r>
            <a:endParaRPr b="0" i="0" sz="1500" u="none" cap="none" strike="noStrike">
              <a:solidFill>
                <a:srgbClr val="000000"/>
              </a:solidFill>
              <a:latin typeface="Nunito"/>
              <a:ea typeface="Nunito"/>
              <a:cs typeface="Nunito"/>
              <a:sym typeface="Nunito"/>
            </a:endParaRPr>
          </a:p>
        </p:txBody>
      </p:sp>
      <p:sp>
        <p:nvSpPr>
          <p:cNvPr id="333" name="Google Shape;333;p41"/>
          <p:cNvSpPr txBox="1"/>
          <p:nvPr/>
        </p:nvSpPr>
        <p:spPr>
          <a:xfrm>
            <a:off x="6351200" y="804150"/>
            <a:ext cx="2706000" cy="1867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300"/>
              <a:buFont typeface="Arial"/>
              <a:buNone/>
            </a:pPr>
            <a:r>
              <a:rPr b="1" i="0" lang="en" sz="1300" u="none" cap="none" strike="noStrike">
                <a:solidFill>
                  <a:schemeClr val="dk1"/>
                </a:solidFill>
                <a:latin typeface="Nunito"/>
                <a:ea typeface="Nunito"/>
                <a:cs typeface="Nunito"/>
                <a:sym typeface="Nunito"/>
              </a:rPr>
              <a:t>Expected utility</a:t>
            </a:r>
            <a:r>
              <a:rPr b="0" i="0" lang="en" sz="1300" u="none" cap="none" strike="noStrike">
                <a:solidFill>
                  <a:schemeClr val="dk1"/>
                </a:solidFill>
                <a:latin typeface="Nunito"/>
                <a:ea typeface="Nunito"/>
                <a:cs typeface="Nunito"/>
                <a:sym typeface="Nunito"/>
              </a:rPr>
              <a:t>:</a:t>
            </a:r>
            <a:endParaRPr b="0" i="0" sz="1300" u="none" cap="none" strike="noStrike">
              <a:solidFill>
                <a:schemeClr val="dk1"/>
              </a:solidFill>
              <a:latin typeface="Nunito"/>
              <a:ea typeface="Nunito"/>
              <a:cs typeface="Nunito"/>
              <a:sym typeface="Nunito"/>
            </a:endParaRPr>
          </a:p>
          <a:p>
            <a:pPr indent="0" lvl="0" marL="0" marR="0" rtl="0" algn="l">
              <a:lnSpc>
                <a:spcPct val="115000"/>
              </a:lnSpc>
              <a:spcBef>
                <a:spcPts val="1200"/>
              </a:spcBef>
              <a:spcAft>
                <a:spcPts val="0"/>
              </a:spcAft>
              <a:buClr>
                <a:srgbClr val="000000"/>
              </a:buClr>
              <a:buSzPts val="1200"/>
              <a:buFont typeface="Arial"/>
              <a:buNone/>
            </a:pPr>
            <a:r>
              <a:rPr b="0" i="1" lang="en" sz="1200" u="none" cap="none" strike="noStrike">
                <a:solidFill>
                  <a:schemeClr val="dk1"/>
                </a:solidFill>
                <a:latin typeface="Nunito"/>
                <a:ea typeface="Nunito"/>
                <a:cs typeface="Nunito"/>
                <a:sym typeface="Nunito"/>
              </a:rPr>
              <a:t>Amanda gets the bus</a:t>
            </a:r>
            <a:r>
              <a:rPr b="0" i="0" lang="en" sz="1200" u="none" cap="none" strike="noStrike">
                <a:solidFill>
                  <a:schemeClr val="dk1"/>
                </a:solidFill>
                <a:latin typeface="Nunito"/>
                <a:ea typeface="Nunito"/>
                <a:cs typeface="Nunito"/>
                <a:sym typeface="Nunito"/>
              </a:rPr>
              <a:t> → 1 x - 1 = </a:t>
            </a:r>
            <a:r>
              <a:rPr b="1" i="0" lang="en" sz="1200" u="none" cap="none" strike="noStrike">
                <a:solidFill>
                  <a:schemeClr val="dk1"/>
                </a:solidFill>
                <a:latin typeface="Nunito"/>
                <a:ea typeface="Nunito"/>
                <a:cs typeface="Nunito"/>
                <a:sym typeface="Nunito"/>
              </a:rPr>
              <a:t>- 1</a:t>
            </a:r>
            <a:endParaRPr b="0" i="0" sz="1200" u="none" cap="none" strike="noStrike">
              <a:solidFill>
                <a:schemeClr val="dk1"/>
              </a:solidFill>
              <a:latin typeface="Nunito"/>
              <a:ea typeface="Nunito"/>
              <a:cs typeface="Nunito"/>
              <a:sym typeface="Nunito"/>
            </a:endParaRPr>
          </a:p>
          <a:p>
            <a:pPr indent="0" lvl="0" marL="0" marR="0" rtl="0" algn="l">
              <a:lnSpc>
                <a:spcPct val="115000"/>
              </a:lnSpc>
              <a:spcBef>
                <a:spcPts val="1200"/>
              </a:spcBef>
              <a:spcAft>
                <a:spcPts val="0"/>
              </a:spcAft>
              <a:buClr>
                <a:srgbClr val="000000"/>
              </a:buClr>
              <a:buSzPts val="1200"/>
              <a:buFont typeface="Arial"/>
              <a:buNone/>
            </a:pPr>
            <a:r>
              <a:rPr b="0" i="1" lang="en" sz="1200" u="none" cap="none" strike="noStrike">
                <a:solidFill>
                  <a:schemeClr val="dk1"/>
                </a:solidFill>
                <a:latin typeface="Nunito"/>
                <a:ea typeface="Nunito"/>
                <a:cs typeface="Nunito"/>
                <a:sym typeface="Nunito"/>
              </a:rPr>
              <a:t>Amanda drives home</a:t>
            </a:r>
            <a:r>
              <a:rPr b="0" i="0" lang="en" sz="1200" u="none" cap="none" strike="noStrike">
                <a:solidFill>
                  <a:schemeClr val="dk1"/>
                </a:solidFill>
                <a:latin typeface="Nunito"/>
                <a:ea typeface="Nunito"/>
                <a:cs typeface="Nunito"/>
                <a:sym typeface="Nunito"/>
              </a:rPr>
              <a:t> → </a:t>
            </a:r>
            <a:endParaRPr b="0" i="0" sz="1200" u="none" cap="none" strike="noStrike">
              <a:solidFill>
                <a:schemeClr val="dk1"/>
              </a:solidFill>
              <a:latin typeface="Nunito"/>
              <a:ea typeface="Nunito"/>
              <a:cs typeface="Nunito"/>
              <a:sym typeface="Nunito"/>
            </a:endParaRPr>
          </a:p>
          <a:p>
            <a:pPr indent="0" lvl="0" marL="0" marR="0" rtl="0" algn="l">
              <a:lnSpc>
                <a:spcPct val="115000"/>
              </a:lnSpc>
              <a:spcBef>
                <a:spcPts val="1200"/>
              </a:spcBef>
              <a:spcAft>
                <a:spcPts val="0"/>
              </a:spcAft>
              <a:buClr>
                <a:srgbClr val="000000"/>
              </a:buClr>
              <a:buSzPts val="1200"/>
              <a:buFont typeface="Arial"/>
              <a:buNone/>
            </a:pPr>
            <a:r>
              <a:rPr b="0" i="0" lang="en" sz="1200" u="none" cap="none" strike="noStrike">
                <a:solidFill>
                  <a:schemeClr val="dk1"/>
                </a:solidFill>
                <a:latin typeface="Nunito"/>
                <a:ea typeface="Nunito"/>
                <a:cs typeface="Nunito"/>
                <a:sym typeface="Nunito"/>
              </a:rPr>
              <a:t>0.95 x 1 + (0.05 x - 1000) = - 49.05</a:t>
            </a:r>
            <a:endParaRPr b="1" i="0" sz="1200" u="none" cap="none" strike="noStrike">
              <a:solidFill>
                <a:schemeClr val="dk1"/>
              </a:solidFill>
              <a:latin typeface="Nunito"/>
              <a:ea typeface="Nunito"/>
              <a:cs typeface="Nunito"/>
              <a:sym typeface="Nunito"/>
            </a:endParaRPr>
          </a:p>
          <a:p>
            <a:pPr indent="0" lvl="0" marL="0" marR="0" rtl="0" algn="l">
              <a:lnSpc>
                <a:spcPct val="115000"/>
              </a:lnSpc>
              <a:spcBef>
                <a:spcPts val="1200"/>
              </a:spcBef>
              <a:spcAft>
                <a:spcPts val="1200"/>
              </a:spcAft>
              <a:buClr>
                <a:schemeClr val="dk1"/>
              </a:buClr>
              <a:buSzPts val="1100"/>
              <a:buFont typeface="Arial"/>
              <a:buNone/>
            </a:pPr>
            <a:r>
              <a:rPr b="1" i="0" lang="en" sz="1300" u="none" cap="none" strike="noStrike">
                <a:solidFill>
                  <a:schemeClr val="dk1"/>
                </a:solidFill>
                <a:latin typeface="Nunito"/>
                <a:ea typeface="Nunito"/>
                <a:cs typeface="Nunito"/>
                <a:sym typeface="Nunito"/>
              </a:rPr>
              <a:t>Amanda should take the bus! </a:t>
            </a:r>
            <a:endParaRPr b="1" i="0" sz="1300" u="none" cap="none" strike="noStrike">
              <a:solidFill>
                <a:schemeClr val="dk1"/>
              </a:solidFill>
              <a:latin typeface="Nunito"/>
              <a:ea typeface="Nunito"/>
              <a:cs typeface="Nunito"/>
              <a:sym typeface="Nunito"/>
            </a:endParaRPr>
          </a:p>
        </p:txBody>
      </p:sp>
      <p:graphicFrame>
        <p:nvGraphicFramePr>
          <p:cNvPr id="334" name="Google Shape;334;p41"/>
          <p:cNvGraphicFramePr/>
          <p:nvPr/>
        </p:nvGraphicFramePr>
        <p:xfrm>
          <a:off x="146000" y="804150"/>
          <a:ext cx="3000000" cy="3000000"/>
        </p:xfrm>
        <a:graphic>
          <a:graphicData uri="http://schemas.openxmlformats.org/drawingml/2006/table">
            <a:tbl>
              <a:tblPr>
                <a:noFill/>
                <a:tableStyleId>{7CB9D2FD-E451-46B1-B67F-C1D1CABB6BA8}</a:tableStyleId>
              </a:tblPr>
              <a:tblGrid>
                <a:gridCol w="1464150"/>
                <a:gridCol w="2430300"/>
                <a:gridCol w="1444225"/>
                <a:gridCol w="866525"/>
              </a:tblGrid>
              <a:tr h="654775">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t>Amanda’s action</a:t>
                      </a:r>
                      <a:endParaRPr b="1" sz="1100" u="none" cap="none" strike="noStrike"/>
                    </a:p>
                  </a:txBody>
                  <a:tcPr marT="63500" marB="63500" marR="63500" marL="63500">
                    <a:solidFill>
                      <a:srgbClr val="F3F3F3"/>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t>Possible outcome(s)</a:t>
                      </a:r>
                      <a:endParaRPr b="1" sz="1100" u="none" cap="none" strike="noStrike"/>
                    </a:p>
                  </a:txBody>
                  <a:tcPr marT="63500" marB="63500" marR="63500" marL="63500">
                    <a:solidFill>
                      <a:srgbClr val="F3F3F3"/>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t>Probability of each outcome</a:t>
                      </a:r>
                      <a:endParaRPr b="1" sz="1100" u="none" cap="none" strike="noStrike"/>
                    </a:p>
                  </a:txBody>
                  <a:tcPr marT="63500" marB="63500" marR="63500" marL="63500">
                    <a:solidFill>
                      <a:srgbClr val="F3F3F3"/>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t>Utility</a:t>
                      </a:r>
                      <a:endParaRPr b="1" sz="1100" u="none" cap="none" strike="noStrike"/>
                    </a:p>
                  </a:txBody>
                  <a:tcPr marT="63500" marB="63500" marR="63500" marL="63500">
                    <a:solidFill>
                      <a:srgbClr val="F3F3F3"/>
                    </a:solidFill>
                  </a:tcPr>
                </a:tc>
              </a:tr>
              <a:tr h="893650">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Amanda takes the bus.</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Amanda is frustrated, the bus is slow, and she has to wait in the cold.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a:t>
                      </a:r>
                      <a:endParaRPr sz="1100" u="none" cap="none" strike="noStrike"/>
                    </a:p>
                  </a:txBody>
                  <a:tcPr marT="63500" marB="63500" marR="63500" marL="63500"/>
                </a:tc>
              </a:tr>
              <a:tr h="893650">
                <a:tc rowSpan="2">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Amanda drives home.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Amanda gets home safely, far sooner than she would have on the bus. </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.95</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a:t>
                      </a:r>
                      <a:endParaRPr sz="1100" u="none" cap="none" strike="noStrike"/>
                    </a:p>
                  </a:txBody>
                  <a:tcPr marT="63500" marB="63500" marR="63500" marL="63500"/>
                </a:tc>
              </a:tr>
              <a:tr h="907700">
                <a:tc vMerge="1">
                  <a:txBody>
                    <a:bodyPr/>
                    <a:p/>
                  </a:txBody>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Amanda gets into an accident and someone is fatally injured.</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.05</a:t>
                      </a:r>
                      <a:endParaRPr sz="1100" u="none" cap="none" strike="noStrike"/>
                    </a:p>
                  </a:txBody>
                  <a:tcPr marT="63500" marB="63500" marR="63500" marL="63500"/>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-1000</a:t>
                      </a:r>
                      <a:endParaRPr sz="1100" u="none" cap="none" strike="noStrike"/>
                    </a:p>
                  </a:txBody>
                  <a:tcPr marT="63500" marB="63500" marR="63500" marL="6350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1000"/>
                                        <p:tgtEl>
                                          <p:spTgt spid="334"/>
                                        </p:tgtEl>
                                      </p:cBhvr>
                                    </p:animEffect>
                                  </p:childTnLst>
                                </p:cTn>
                              </p:par>
                              <p:par>
                                <p:cTn fill="hold" nodeType="with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0" st="0"/>
                                            </p:txEl>
                                          </p:spTgt>
                                        </p:tgtEl>
                                        <p:attrNameLst>
                                          <p:attrName>style.visibility</p:attrName>
                                        </p:attrNameLst>
                                      </p:cBhvr>
                                      <p:to>
                                        <p:strVal val="visible"/>
                                      </p:to>
                                    </p:set>
                                    <p:animEffect filter="fade" transition="in">
                                      <p:cBhvr>
                                        <p:cTn dur="1000"/>
                                        <p:tgtEl>
                                          <p:spTgt spid="3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1" st="1"/>
                                            </p:txEl>
                                          </p:spTgt>
                                        </p:tgtEl>
                                        <p:attrNameLst>
                                          <p:attrName>style.visibility</p:attrName>
                                        </p:attrNameLst>
                                      </p:cBhvr>
                                      <p:to>
                                        <p:strVal val="visible"/>
                                      </p:to>
                                    </p:set>
                                    <p:animEffect filter="fade" transition="in">
                                      <p:cBhvr>
                                        <p:cTn dur="1000"/>
                                        <p:tgtEl>
                                          <p:spTgt spid="3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2" st="2"/>
                                            </p:txEl>
                                          </p:spTgt>
                                        </p:tgtEl>
                                        <p:attrNameLst>
                                          <p:attrName>style.visibility</p:attrName>
                                        </p:attrNameLst>
                                      </p:cBhvr>
                                      <p:to>
                                        <p:strVal val="visible"/>
                                      </p:to>
                                    </p:set>
                                    <p:animEffect filter="fade" transition="in">
                                      <p:cBhvr>
                                        <p:cTn dur="1000"/>
                                        <p:tgtEl>
                                          <p:spTgt spid="3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3" st="3"/>
                                            </p:txEl>
                                          </p:spTgt>
                                        </p:tgtEl>
                                        <p:attrNameLst>
                                          <p:attrName>style.visibility</p:attrName>
                                        </p:attrNameLst>
                                      </p:cBhvr>
                                      <p:to>
                                        <p:strVal val="visible"/>
                                      </p:to>
                                    </p:set>
                                    <p:animEffect filter="fade" transition="in">
                                      <p:cBhvr>
                                        <p:cTn dur="1000"/>
                                        <p:tgtEl>
                                          <p:spTgt spid="3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xEl>
                                              <p:pRg end="4" st="4"/>
                                            </p:txEl>
                                          </p:spTgt>
                                        </p:tgtEl>
                                        <p:attrNameLst>
                                          <p:attrName>style.visibility</p:attrName>
                                        </p:attrNameLst>
                                      </p:cBhvr>
                                      <p:to>
                                        <p:strVal val="visible"/>
                                      </p:to>
                                    </p:set>
                                    <p:animEffect filter="fade" transition="in">
                                      <p:cBhvr>
                                        <p:cTn dur="1000"/>
                                        <p:tgtEl>
                                          <p:spTgt spid="33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2"/>
          <p:cNvSpPr txBox="1"/>
          <p:nvPr/>
        </p:nvSpPr>
        <p:spPr>
          <a:xfrm>
            <a:off x="423400" y="633450"/>
            <a:ext cx="8409000" cy="3648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Utilitarianism is a form of consequentialism → </a:t>
            </a:r>
            <a:r>
              <a:rPr b="0" i="1" lang="en" sz="2000" u="none" cap="none" strike="noStrike">
                <a:solidFill>
                  <a:schemeClr val="dk1"/>
                </a:solidFill>
                <a:latin typeface="Nunito"/>
                <a:ea typeface="Nunito"/>
                <a:cs typeface="Nunito"/>
                <a:sym typeface="Nunito"/>
              </a:rPr>
              <a:t>consequences determine whether an action is good or bad</a:t>
            </a:r>
            <a:r>
              <a:rPr b="0" i="0" lang="en" sz="2000" u="none" cap="none" strike="noStrike">
                <a:solidFill>
                  <a:schemeClr val="dk1"/>
                </a:solidFill>
                <a:latin typeface="Nunito"/>
                <a:ea typeface="Nunito"/>
                <a:cs typeface="Nunito"/>
                <a:sym typeface="Nunito"/>
              </a:rPr>
              <a:t>.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We measure* the effects of actions on wellbeing alone → </a:t>
            </a:r>
            <a:r>
              <a:rPr b="0" i="1" lang="en" sz="2000" u="none" cap="none" strike="noStrike">
                <a:solidFill>
                  <a:schemeClr val="dk1"/>
                </a:solidFill>
                <a:latin typeface="Nunito"/>
                <a:ea typeface="Nunito"/>
                <a:cs typeface="Nunito"/>
                <a:sym typeface="Nunito"/>
              </a:rPr>
              <a:t>wellbeing is the only intrinsic good</a:t>
            </a:r>
            <a:r>
              <a:rPr b="0" i="0" lang="en" sz="2000" u="none" cap="none" strike="noStrike">
                <a:solidFill>
                  <a:schemeClr val="dk1"/>
                </a:solidFill>
                <a:latin typeface="Nunito"/>
                <a:ea typeface="Nunito"/>
                <a:cs typeface="Nunito"/>
                <a:sym typeface="Nunito"/>
              </a:rPr>
              <a:t>.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All people have the same intrinsic moral worth → </a:t>
            </a:r>
            <a:r>
              <a:rPr b="0" i="1" lang="en" sz="2000" u="none" cap="none" strike="noStrike">
                <a:solidFill>
                  <a:schemeClr val="dk1"/>
                </a:solidFill>
                <a:latin typeface="Nunito"/>
                <a:ea typeface="Nunito"/>
                <a:cs typeface="Nunito"/>
                <a:sym typeface="Nunito"/>
              </a:rPr>
              <a:t>everyone’s wellbeing should be weighed impartially</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It is insufficient to do good, we must do what is best → </a:t>
            </a:r>
            <a:r>
              <a:rPr b="0" i="1" lang="en" sz="2000" u="none" cap="none" strike="noStrike">
                <a:solidFill>
                  <a:schemeClr val="dk1"/>
                </a:solidFill>
                <a:latin typeface="Nunito"/>
                <a:ea typeface="Nunito"/>
                <a:cs typeface="Nunito"/>
                <a:sym typeface="Nunito"/>
              </a:rPr>
              <a:t>we should maximize wellbeing</a:t>
            </a:r>
            <a:r>
              <a:rPr b="0" i="0" lang="en" sz="2000" u="none" cap="none" strike="noStrike">
                <a:solidFill>
                  <a:schemeClr val="dk1"/>
                </a:solidFill>
                <a:latin typeface="Nunito"/>
                <a:ea typeface="Nunito"/>
                <a:cs typeface="Nunito"/>
                <a:sym typeface="Nunito"/>
              </a:rPr>
              <a:t>.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Nunito"/>
                <a:ea typeface="Nunito"/>
                <a:cs typeface="Nunito"/>
                <a:sym typeface="Nunito"/>
              </a:rPr>
              <a:t>*</a:t>
            </a:r>
            <a:r>
              <a:rPr b="0" i="1" lang="en" sz="1400" u="none" cap="none" strike="noStrike">
                <a:solidFill>
                  <a:schemeClr val="dk1"/>
                </a:solidFill>
                <a:latin typeface="Nunito"/>
                <a:ea typeface="Nunito"/>
                <a:cs typeface="Nunito"/>
                <a:sym typeface="Nunito"/>
              </a:rPr>
              <a:t>We measure wellbeing according to our choice of theory, e.g. Hedonism vs. Preference Satisfaction.</a:t>
            </a:r>
            <a:r>
              <a:rPr b="0" i="0" lang="en" sz="1400" u="none" cap="none" strike="noStrike">
                <a:solidFill>
                  <a:schemeClr val="dk1"/>
                </a:solidFill>
                <a:latin typeface="Nunito"/>
                <a:ea typeface="Nunito"/>
                <a:cs typeface="Nunito"/>
                <a:sym typeface="Nunito"/>
              </a:rPr>
              <a:t> </a:t>
            </a:r>
            <a:endParaRPr b="0" i="0" sz="1400" u="none" cap="none" strike="noStrike">
              <a:solidFill>
                <a:schemeClr val="dk1"/>
              </a:solidFill>
              <a:latin typeface="Nunito"/>
              <a:ea typeface="Nunito"/>
              <a:cs typeface="Nunito"/>
              <a:sym typeface="Nunito"/>
            </a:endParaRPr>
          </a:p>
        </p:txBody>
      </p:sp>
      <p:sp>
        <p:nvSpPr>
          <p:cNvPr id="340" name="Google Shape;340;p42"/>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sz="3600">
                <a:latin typeface="Nunito"/>
                <a:ea typeface="Nunito"/>
                <a:cs typeface="Nunito"/>
                <a:sym typeface="Nunito"/>
              </a:rPr>
              <a:t>Utilitarianism</a:t>
            </a:r>
            <a:r>
              <a:rPr lang="en"/>
              <a:t>’s Claims</a:t>
            </a:r>
            <a:endParaRPr sz="3600">
              <a:latin typeface="Nunito"/>
              <a:ea typeface="Nunito"/>
              <a:cs typeface="Nunito"/>
              <a:sym typeface="Nunito"/>
            </a:endParaRPr>
          </a:p>
        </p:txBody>
      </p:sp>
      <p:sp>
        <p:nvSpPr>
          <p:cNvPr id="341" name="Google Shape;341;p42"/>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42" name="Google Shape;342;p42"/>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24</a:t>
            </a:fld>
            <a:endParaRPr b="0" i="0" sz="1300" u="none" cap="none" strike="noStrike">
              <a:solidFill>
                <a:srgbClr val="FFFFFF"/>
              </a:solidFill>
              <a:latin typeface="Nunito"/>
              <a:ea typeface="Nunito"/>
              <a:cs typeface="Nunito"/>
              <a:sym typeface="Nunito"/>
            </a:endParaRPr>
          </a:p>
        </p:txBody>
      </p:sp>
      <p:sp>
        <p:nvSpPr>
          <p:cNvPr id="343" name="Google Shape;343;p42"/>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0" st="0"/>
                                            </p:txEl>
                                          </p:spTgt>
                                        </p:tgtEl>
                                        <p:attrNameLst>
                                          <p:attrName>style.visibility</p:attrName>
                                        </p:attrNameLst>
                                      </p:cBhvr>
                                      <p:to>
                                        <p:strVal val="visible"/>
                                      </p:to>
                                    </p:set>
                                    <p:animEffect filter="fade" transition="in">
                                      <p:cBhvr>
                                        <p:cTn dur="1000"/>
                                        <p:tgtEl>
                                          <p:spTgt spid="3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1" st="1"/>
                                            </p:txEl>
                                          </p:spTgt>
                                        </p:tgtEl>
                                        <p:attrNameLst>
                                          <p:attrName>style.visibility</p:attrName>
                                        </p:attrNameLst>
                                      </p:cBhvr>
                                      <p:to>
                                        <p:strVal val="visible"/>
                                      </p:to>
                                    </p:set>
                                    <p:animEffect filter="fade" transition="in">
                                      <p:cBhvr>
                                        <p:cTn dur="1000"/>
                                        <p:tgtEl>
                                          <p:spTgt spid="3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2" st="2"/>
                                            </p:txEl>
                                          </p:spTgt>
                                        </p:tgtEl>
                                        <p:attrNameLst>
                                          <p:attrName>style.visibility</p:attrName>
                                        </p:attrNameLst>
                                      </p:cBhvr>
                                      <p:to>
                                        <p:strVal val="visible"/>
                                      </p:to>
                                    </p:set>
                                    <p:animEffect filter="fade" transition="in">
                                      <p:cBhvr>
                                        <p:cTn dur="1000"/>
                                        <p:tgtEl>
                                          <p:spTgt spid="3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3" st="3"/>
                                            </p:txEl>
                                          </p:spTgt>
                                        </p:tgtEl>
                                        <p:attrNameLst>
                                          <p:attrName>style.visibility</p:attrName>
                                        </p:attrNameLst>
                                      </p:cBhvr>
                                      <p:to>
                                        <p:strVal val="visible"/>
                                      </p:to>
                                    </p:set>
                                    <p:animEffect filter="fade" transition="in">
                                      <p:cBhvr>
                                        <p:cTn dur="1000"/>
                                        <p:tgtEl>
                                          <p:spTgt spid="3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4" st="4"/>
                                            </p:txEl>
                                          </p:spTgt>
                                        </p:tgtEl>
                                        <p:attrNameLst>
                                          <p:attrName>style.visibility</p:attrName>
                                        </p:attrNameLst>
                                      </p:cBhvr>
                                      <p:to>
                                        <p:strVal val="visible"/>
                                      </p:to>
                                    </p:set>
                                    <p:animEffect filter="fade" transition="in">
                                      <p:cBhvr>
                                        <p:cTn dur="1000"/>
                                        <p:tgtEl>
                                          <p:spTgt spid="33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5" st="5"/>
                                            </p:txEl>
                                          </p:spTgt>
                                        </p:tgtEl>
                                        <p:attrNameLst>
                                          <p:attrName>style.visibility</p:attrName>
                                        </p:attrNameLst>
                                      </p:cBhvr>
                                      <p:to>
                                        <p:strVal val="visible"/>
                                      </p:to>
                                    </p:set>
                                    <p:animEffect filter="fade" transition="in">
                                      <p:cBhvr>
                                        <p:cTn dur="1000"/>
                                        <p:tgtEl>
                                          <p:spTgt spid="33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6" st="6"/>
                                            </p:txEl>
                                          </p:spTgt>
                                        </p:tgtEl>
                                        <p:attrNameLst>
                                          <p:attrName>style.visibility</p:attrName>
                                        </p:attrNameLst>
                                      </p:cBhvr>
                                      <p:to>
                                        <p:strVal val="visible"/>
                                      </p:to>
                                    </p:set>
                                    <p:animEffect filter="fade" transition="in">
                                      <p:cBhvr>
                                        <p:cTn dur="1000"/>
                                        <p:tgtEl>
                                          <p:spTgt spid="33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7" st="7"/>
                                            </p:txEl>
                                          </p:spTgt>
                                        </p:tgtEl>
                                        <p:attrNameLst>
                                          <p:attrName>style.visibility</p:attrName>
                                        </p:attrNameLst>
                                      </p:cBhvr>
                                      <p:to>
                                        <p:strVal val="visible"/>
                                      </p:to>
                                    </p:set>
                                    <p:animEffect filter="fade" transition="in">
                                      <p:cBhvr>
                                        <p:cTn dur="1000"/>
                                        <p:tgtEl>
                                          <p:spTgt spid="33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8" st="8"/>
                                            </p:txEl>
                                          </p:spTgt>
                                        </p:tgtEl>
                                        <p:attrNameLst>
                                          <p:attrName>style.visibility</p:attrName>
                                        </p:attrNameLst>
                                      </p:cBhvr>
                                      <p:to>
                                        <p:strVal val="visible"/>
                                      </p:to>
                                    </p:set>
                                    <p:animEffect filter="fade" transition="in">
                                      <p:cBhvr>
                                        <p:cTn dur="1000"/>
                                        <p:tgtEl>
                                          <p:spTgt spid="33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3"/>
          <p:cNvSpPr txBox="1"/>
          <p:nvPr/>
        </p:nvSpPr>
        <p:spPr>
          <a:xfrm>
            <a:off x="160425" y="560525"/>
            <a:ext cx="8931300" cy="4113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1" lang="en" sz="2000" u="none" cap="none" strike="noStrike">
                <a:solidFill>
                  <a:schemeClr val="dk1"/>
                </a:solidFill>
                <a:latin typeface="Nunito"/>
                <a:ea typeface="Nunito"/>
                <a:cs typeface="Nunito"/>
                <a:sym typeface="Nunito"/>
              </a:rPr>
              <a:t>Utilitarianism is too demanding</a:t>
            </a:r>
            <a:r>
              <a:rPr b="0" i="0" lang="en" sz="2000" u="none" cap="none" strike="noStrike">
                <a:solidFill>
                  <a:schemeClr val="dk1"/>
                </a:solidFill>
                <a:latin typeface="Nunito"/>
                <a:ea typeface="Nunito"/>
                <a:cs typeface="Nunito"/>
                <a:sym typeface="Nunito"/>
              </a:rPr>
              <a:t> → If our money is more helpful to others than it is to us, there isn’t a utilitarian reason to keep it. For instance, </a:t>
            </a:r>
            <a:r>
              <a:rPr b="1" i="0" lang="en" sz="2000" u="none" cap="none" strike="noStrike">
                <a:solidFill>
                  <a:schemeClr val="dk1"/>
                </a:solidFill>
                <a:latin typeface="Nunito"/>
                <a:ea typeface="Nunito"/>
                <a:cs typeface="Nunito"/>
                <a:sym typeface="Nunito"/>
              </a:rPr>
              <a:t>Peter Singer</a:t>
            </a:r>
            <a:r>
              <a:rPr b="0" i="0" lang="en" sz="2000" u="none" cap="none" strike="noStrike">
                <a:solidFill>
                  <a:schemeClr val="dk1"/>
                </a:solidFill>
                <a:latin typeface="Nunito"/>
                <a:ea typeface="Nunito"/>
                <a:cs typeface="Nunito"/>
                <a:sym typeface="Nunito"/>
              </a:rPr>
              <a:t> has argued that we should donate at least a third of our income to charity.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Defences include:</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1" i="0" lang="en" sz="2000" u="none" cap="none" strike="noStrike">
                <a:solidFill>
                  <a:schemeClr val="dk1"/>
                </a:solidFill>
                <a:latin typeface="Nunito"/>
                <a:ea typeface="Nunito"/>
                <a:cs typeface="Nunito"/>
                <a:sym typeface="Nunito"/>
              </a:rPr>
              <a:t>Utilitarianism is not as demanding in practice as it is in theory.</a:t>
            </a:r>
            <a:r>
              <a:rPr b="0" i="0" lang="en" sz="2000" u="none" cap="none" strike="noStrike">
                <a:solidFill>
                  <a:schemeClr val="dk1"/>
                </a:solidFill>
                <a:latin typeface="Nunito"/>
                <a:ea typeface="Nunito"/>
                <a:cs typeface="Nunito"/>
                <a:sym typeface="Nunito"/>
              </a:rPr>
              <a:t> Often, acting in a utilitarian way is quite “normal”, avoiding issues like burnout.</a:t>
            </a:r>
            <a:endParaRPr b="0" i="0" sz="2000" u="none" cap="none" strike="noStrike">
              <a:solidFill>
                <a:schemeClr val="dk1"/>
              </a:solidFill>
              <a:latin typeface="Nunito"/>
              <a:ea typeface="Nunito"/>
              <a:cs typeface="Nunito"/>
              <a:sym typeface="Nunito"/>
            </a:endParaRPr>
          </a:p>
          <a:p>
            <a:pPr indent="-355600" lvl="0" marL="457200" marR="0" rtl="0" algn="l">
              <a:lnSpc>
                <a:spcPct val="115000"/>
              </a:lnSpc>
              <a:spcBef>
                <a:spcPts val="0"/>
              </a:spcBef>
              <a:spcAft>
                <a:spcPts val="0"/>
              </a:spcAft>
              <a:buClr>
                <a:schemeClr val="dk1"/>
              </a:buClr>
              <a:buSzPts val="2000"/>
              <a:buFont typeface="Nunito"/>
              <a:buAutoNum type="arabicPeriod"/>
            </a:pPr>
            <a:r>
              <a:rPr b="1" i="0" lang="en" sz="2000" u="none" cap="none" strike="noStrike">
                <a:solidFill>
                  <a:schemeClr val="dk1"/>
                </a:solidFill>
                <a:latin typeface="Nunito"/>
                <a:ea typeface="Nunito"/>
                <a:cs typeface="Nunito"/>
                <a:sym typeface="Nunito"/>
              </a:rPr>
              <a:t>We live in a demanding world. </a:t>
            </a:r>
            <a:r>
              <a:rPr b="0" i="0" lang="en" sz="2000" u="none" cap="none" strike="noStrike">
                <a:solidFill>
                  <a:schemeClr val="dk1"/>
                </a:solidFill>
                <a:latin typeface="Nunito"/>
                <a:ea typeface="Nunito"/>
                <a:cs typeface="Nunito"/>
                <a:sym typeface="Nunito"/>
              </a:rPr>
              <a:t>Maybe most of us should donate more.</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rPr b="0" i="1" lang="en" sz="2000" u="none" cap="none" strike="noStrike">
                <a:solidFill>
                  <a:schemeClr val="dk1"/>
                </a:solidFill>
                <a:latin typeface="Nunito"/>
                <a:ea typeface="Nunito"/>
                <a:cs typeface="Nunito"/>
                <a:sym typeface="Nunito"/>
              </a:rPr>
              <a:t>Utilitarianism over-emphasizes wellbeing</a:t>
            </a:r>
            <a:r>
              <a:rPr b="0" i="0" lang="en" sz="2000" u="none" cap="none" strike="noStrike">
                <a:solidFill>
                  <a:schemeClr val="dk1"/>
                </a:solidFill>
                <a:latin typeface="Nunito"/>
                <a:ea typeface="Nunito"/>
                <a:cs typeface="Nunito"/>
                <a:sym typeface="Nunito"/>
              </a:rPr>
              <a:t> → </a:t>
            </a:r>
            <a:r>
              <a:rPr b="1" i="0" lang="en" sz="2000" u="none" cap="none" strike="noStrike">
                <a:solidFill>
                  <a:schemeClr val="dk1"/>
                </a:solidFill>
                <a:latin typeface="Nunito"/>
                <a:ea typeface="Nunito"/>
                <a:cs typeface="Nunito"/>
                <a:sym typeface="Nunito"/>
              </a:rPr>
              <a:t>Robert Nozick</a:t>
            </a:r>
            <a:r>
              <a:rPr b="0" i="0" lang="en" sz="2000" u="none" cap="none" strike="noStrike">
                <a:solidFill>
                  <a:schemeClr val="dk1"/>
                </a:solidFill>
                <a:latin typeface="Nunito"/>
                <a:ea typeface="Nunito"/>
                <a:cs typeface="Nunito"/>
                <a:sym typeface="Nunito"/>
              </a:rPr>
              <a:t> famously highlights this point in his popular thought experiment.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1"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
        <p:nvSpPr>
          <p:cNvPr id="349" name="Google Shape;349;p43"/>
          <p:cNvSpPr txBox="1"/>
          <p:nvPr>
            <p:ph type="title"/>
          </p:nvPr>
        </p:nvSpPr>
        <p:spPr>
          <a:xfrm>
            <a:off x="423625" y="0"/>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Critiques of </a:t>
            </a:r>
            <a:r>
              <a:rPr lang="en" sz="3600">
                <a:latin typeface="Nunito"/>
                <a:ea typeface="Nunito"/>
                <a:cs typeface="Nunito"/>
                <a:sym typeface="Nunito"/>
              </a:rPr>
              <a:t>Utilitarianism (1/</a:t>
            </a:r>
            <a:r>
              <a:rPr lang="en"/>
              <a:t>3</a:t>
            </a:r>
            <a:r>
              <a:rPr lang="en" sz="3600">
                <a:latin typeface="Nunito"/>
                <a:ea typeface="Nunito"/>
                <a:cs typeface="Nunito"/>
                <a:sym typeface="Nunito"/>
              </a:rPr>
              <a:t>)</a:t>
            </a:r>
            <a:endParaRPr sz="3600">
              <a:latin typeface="Nunito"/>
              <a:ea typeface="Nunito"/>
              <a:cs typeface="Nunito"/>
              <a:sym typeface="Nunito"/>
            </a:endParaRPr>
          </a:p>
        </p:txBody>
      </p:sp>
      <p:sp>
        <p:nvSpPr>
          <p:cNvPr id="350" name="Google Shape;350;p43"/>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51" name="Google Shape;351;p43"/>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25</a:t>
            </a:fld>
            <a:endParaRPr b="0" i="0" sz="1300" u="none" cap="none" strike="noStrike">
              <a:solidFill>
                <a:srgbClr val="FFFFFF"/>
              </a:solidFill>
              <a:latin typeface="Nunito"/>
              <a:ea typeface="Nunito"/>
              <a:cs typeface="Nunito"/>
              <a:sym typeface="Nunito"/>
            </a:endParaRPr>
          </a:p>
        </p:txBody>
      </p:sp>
      <p:sp>
        <p:nvSpPr>
          <p:cNvPr id="352" name="Google Shape;352;p43"/>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0" st="0"/>
                                            </p:txEl>
                                          </p:spTgt>
                                        </p:tgtEl>
                                        <p:attrNameLst>
                                          <p:attrName>style.visibility</p:attrName>
                                        </p:attrNameLst>
                                      </p:cBhvr>
                                      <p:to>
                                        <p:strVal val="visible"/>
                                      </p:to>
                                    </p:set>
                                    <p:animEffect filter="fade" transition="in">
                                      <p:cBhvr>
                                        <p:cTn dur="1000"/>
                                        <p:tgtEl>
                                          <p:spTgt spid="3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1" st="1"/>
                                            </p:txEl>
                                          </p:spTgt>
                                        </p:tgtEl>
                                        <p:attrNameLst>
                                          <p:attrName>style.visibility</p:attrName>
                                        </p:attrNameLst>
                                      </p:cBhvr>
                                      <p:to>
                                        <p:strVal val="visible"/>
                                      </p:to>
                                    </p:set>
                                    <p:animEffect filter="fade" transition="in">
                                      <p:cBhvr>
                                        <p:cTn dur="1000"/>
                                        <p:tgtEl>
                                          <p:spTgt spid="3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2" st="2"/>
                                            </p:txEl>
                                          </p:spTgt>
                                        </p:tgtEl>
                                        <p:attrNameLst>
                                          <p:attrName>style.visibility</p:attrName>
                                        </p:attrNameLst>
                                      </p:cBhvr>
                                      <p:to>
                                        <p:strVal val="visible"/>
                                      </p:to>
                                    </p:set>
                                    <p:animEffect filter="fade" transition="in">
                                      <p:cBhvr>
                                        <p:cTn dur="1000"/>
                                        <p:tgtEl>
                                          <p:spTgt spid="34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3" st="3"/>
                                            </p:txEl>
                                          </p:spTgt>
                                        </p:tgtEl>
                                        <p:attrNameLst>
                                          <p:attrName>style.visibility</p:attrName>
                                        </p:attrNameLst>
                                      </p:cBhvr>
                                      <p:to>
                                        <p:strVal val="visible"/>
                                      </p:to>
                                    </p:set>
                                    <p:animEffect filter="fade" transition="in">
                                      <p:cBhvr>
                                        <p:cTn dur="1000"/>
                                        <p:tgtEl>
                                          <p:spTgt spid="34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4" st="4"/>
                                            </p:txEl>
                                          </p:spTgt>
                                        </p:tgtEl>
                                        <p:attrNameLst>
                                          <p:attrName>style.visibility</p:attrName>
                                        </p:attrNameLst>
                                      </p:cBhvr>
                                      <p:to>
                                        <p:strVal val="visible"/>
                                      </p:to>
                                    </p:set>
                                    <p:animEffect filter="fade" transition="in">
                                      <p:cBhvr>
                                        <p:cTn dur="1000"/>
                                        <p:tgtEl>
                                          <p:spTgt spid="34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5" st="5"/>
                                            </p:txEl>
                                          </p:spTgt>
                                        </p:tgtEl>
                                        <p:attrNameLst>
                                          <p:attrName>style.visibility</p:attrName>
                                        </p:attrNameLst>
                                      </p:cBhvr>
                                      <p:to>
                                        <p:strVal val="visible"/>
                                      </p:to>
                                    </p:set>
                                    <p:animEffect filter="fade" transition="in">
                                      <p:cBhvr>
                                        <p:cTn dur="1000"/>
                                        <p:tgtEl>
                                          <p:spTgt spid="34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6" st="6"/>
                                            </p:txEl>
                                          </p:spTgt>
                                        </p:tgtEl>
                                        <p:attrNameLst>
                                          <p:attrName>style.visibility</p:attrName>
                                        </p:attrNameLst>
                                      </p:cBhvr>
                                      <p:to>
                                        <p:strVal val="visible"/>
                                      </p:to>
                                    </p:set>
                                    <p:animEffect filter="fade" transition="in">
                                      <p:cBhvr>
                                        <p:cTn dur="1000"/>
                                        <p:tgtEl>
                                          <p:spTgt spid="34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7" st="7"/>
                                            </p:txEl>
                                          </p:spTgt>
                                        </p:tgtEl>
                                        <p:attrNameLst>
                                          <p:attrName>style.visibility</p:attrName>
                                        </p:attrNameLst>
                                      </p:cBhvr>
                                      <p:to>
                                        <p:strVal val="visible"/>
                                      </p:to>
                                    </p:set>
                                    <p:animEffect filter="fade" transition="in">
                                      <p:cBhvr>
                                        <p:cTn dur="1000"/>
                                        <p:tgtEl>
                                          <p:spTgt spid="34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8" st="8"/>
                                            </p:txEl>
                                          </p:spTgt>
                                        </p:tgtEl>
                                        <p:attrNameLst>
                                          <p:attrName>style.visibility</p:attrName>
                                        </p:attrNameLst>
                                      </p:cBhvr>
                                      <p:to>
                                        <p:strVal val="visible"/>
                                      </p:to>
                                    </p:set>
                                    <p:animEffect filter="fade" transition="in">
                                      <p:cBhvr>
                                        <p:cTn dur="1000"/>
                                        <p:tgtEl>
                                          <p:spTgt spid="34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9" st="9"/>
                                            </p:txEl>
                                          </p:spTgt>
                                        </p:tgtEl>
                                        <p:attrNameLst>
                                          <p:attrName>style.visibility</p:attrName>
                                        </p:attrNameLst>
                                      </p:cBhvr>
                                      <p:to>
                                        <p:strVal val="visible"/>
                                      </p:to>
                                    </p:set>
                                    <p:animEffect filter="fade" transition="in">
                                      <p:cBhvr>
                                        <p:cTn dur="1000"/>
                                        <p:tgtEl>
                                          <p:spTgt spid="34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xEl>
                                              <p:pRg end="10" st="10"/>
                                            </p:txEl>
                                          </p:spTgt>
                                        </p:tgtEl>
                                        <p:attrNameLst>
                                          <p:attrName>style.visibility</p:attrName>
                                        </p:attrNameLst>
                                      </p:cBhvr>
                                      <p:to>
                                        <p:strVal val="visible"/>
                                      </p:to>
                                    </p:set>
                                    <p:animEffect filter="fade" transition="in">
                                      <p:cBhvr>
                                        <p:cTn dur="1000"/>
                                        <p:tgtEl>
                                          <p:spTgt spid="348">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4"/>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Critiques of Utilitarianism (2/3)</a:t>
            </a:r>
            <a:endParaRPr sz="3600">
              <a:latin typeface="Nunito"/>
              <a:ea typeface="Nunito"/>
              <a:cs typeface="Nunito"/>
              <a:sym typeface="Nunito"/>
            </a:endParaRPr>
          </a:p>
        </p:txBody>
      </p:sp>
      <p:sp>
        <p:nvSpPr>
          <p:cNvPr id="358" name="Google Shape;358;p44"/>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59" name="Google Shape;359;p44"/>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26</a:t>
            </a:fld>
            <a:endParaRPr b="0" i="0" sz="1300" u="none" cap="none" strike="noStrike">
              <a:solidFill>
                <a:srgbClr val="FFFFFF"/>
              </a:solidFill>
              <a:latin typeface="Nunito"/>
              <a:ea typeface="Nunito"/>
              <a:cs typeface="Nunito"/>
              <a:sym typeface="Nunito"/>
            </a:endParaRPr>
          </a:p>
        </p:txBody>
      </p:sp>
      <p:sp>
        <p:nvSpPr>
          <p:cNvPr id="360" name="Google Shape;360;p44"/>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pic>
        <p:nvPicPr>
          <p:cNvPr id="361" name="Google Shape;361;p44"/>
          <p:cNvPicPr preferRelativeResize="0"/>
          <p:nvPr/>
        </p:nvPicPr>
        <p:blipFill rotWithShape="1">
          <a:blip r:embed="rId3">
            <a:alphaModFix/>
          </a:blip>
          <a:srcRect b="8703" l="17225" r="0" t="15018"/>
          <a:stretch/>
        </p:blipFill>
        <p:spPr>
          <a:xfrm>
            <a:off x="169500" y="745325"/>
            <a:ext cx="2034201" cy="2587551"/>
          </a:xfrm>
          <a:prstGeom prst="rect">
            <a:avLst/>
          </a:prstGeom>
          <a:noFill/>
          <a:ln>
            <a:noFill/>
          </a:ln>
        </p:spPr>
      </p:pic>
      <p:sp>
        <p:nvSpPr>
          <p:cNvPr id="362" name="Google Shape;362;p44"/>
          <p:cNvSpPr txBox="1"/>
          <p:nvPr/>
        </p:nvSpPr>
        <p:spPr>
          <a:xfrm>
            <a:off x="2203700" y="745325"/>
            <a:ext cx="6940500" cy="2262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1" i="1" lang="en" sz="2000" u="none" cap="none" strike="noStrike">
                <a:solidFill>
                  <a:schemeClr val="dk1"/>
                </a:solidFill>
                <a:latin typeface="Nunito"/>
                <a:ea typeface="Nunito"/>
                <a:cs typeface="Nunito"/>
                <a:sym typeface="Nunito"/>
              </a:rPr>
              <a:t>Experience Machine</a:t>
            </a:r>
            <a:r>
              <a:rPr b="0" i="0" lang="en" sz="2000" u="none" cap="none" strike="noStrike">
                <a:solidFill>
                  <a:schemeClr val="dk1"/>
                </a:solidFill>
                <a:latin typeface="Nunito"/>
                <a:ea typeface="Nunito"/>
                <a:cs typeface="Nunito"/>
                <a:sym typeface="Nunito"/>
              </a:rPr>
              <a:t>: </a:t>
            </a:r>
            <a:r>
              <a:rPr b="0" i="1" lang="en" sz="2000" u="none" cap="none" strike="noStrike">
                <a:solidFill>
                  <a:schemeClr val="dk1"/>
                </a:solidFill>
                <a:latin typeface="Nunito"/>
                <a:ea typeface="Nunito"/>
                <a:cs typeface="Nunito"/>
                <a:sym typeface="Nunito"/>
              </a:rPr>
              <a:t>Consider an experience machine offering any desired sensation. Neuropsychologists could make you believe you're achieving great feats while you float in a tank, your brain connected to electrodes. Would you choose to live connected to this machine, pre-set with life's experiences?</a:t>
            </a:r>
            <a:r>
              <a:rPr b="0" i="0" lang="en" sz="2000" u="none" cap="none" strike="noStrike">
                <a:solidFill>
                  <a:schemeClr val="dk1"/>
                </a:solidFill>
                <a:latin typeface="Nunito"/>
                <a:ea typeface="Nunito"/>
                <a:cs typeface="Nunito"/>
                <a:sym typeface="Nunito"/>
              </a:rPr>
              <a:t> </a:t>
            </a:r>
            <a:r>
              <a:rPr b="1" i="0" lang="en" sz="2000" u="none" cap="none" strike="noStrike">
                <a:solidFill>
                  <a:schemeClr val="dk1"/>
                </a:solidFill>
                <a:latin typeface="Nunito"/>
                <a:ea typeface="Nunito"/>
                <a:cs typeface="Nunito"/>
                <a:sym typeface="Nunito"/>
              </a:rPr>
              <a:t>Most people say no.</a:t>
            </a:r>
            <a:endParaRPr b="0" i="0" sz="1400" u="none" cap="none" strike="noStrike">
              <a:solidFill>
                <a:srgbClr val="000000"/>
              </a:solidFill>
              <a:latin typeface="Telex"/>
              <a:ea typeface="Telex"/>
              <a:cs typeface="Telex"/>
              <a:sym typeface="Telex"/>
            </a:endParaRPr>
          </a:p>
        </p:txBody>
      </p:sp>
      <p:sp>
        <p:nvSpPr>
          <p:cNvPr id="363" name="Google Shape;363;p44"/>
          <p:cNvSpPr txBox="1"/>
          <p:nvPr/>
        </p:nvSpPr>
        <p:spPr>
          <a:xfrm>
            <a:off x="30400" y="3428245"/>
            <a:ext cx="9083100" cy="789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1" lang="en" sz="2000" u="none" cap="none" strike="noStrike">
                <a:solidFill>
                  <a:schemeClr val="dk1"/>
                </a:solidFill>
                <a:latin typeface="Nunito"/>
                <a:ea typeface="Nunito"/>
                <a:cs typeface="Nunito"/>
                <a:sym typeface="Nunito"/>
              </a:rPr>
              <a:t>You ‘wake up’ in an Experience Machine tomorrow. You can either forget this, returning to your current (simulated) life or return to your “real” one.</a:t>
            </a:r>
            <a:endParaRPr b="0" i="0" sz="1400" u="none" cap="none" strike="noStrike">
              <a:solidFill>
                <a:srgbClr val="000000"/>
              </a:solidFill>
              <a:latin typeface="Telex"/>
              <a:ea typeface="Telex"/>
              <a:cs typeface="Telex"/>
              <a:sym typeface="Telex"/>
            </a:endParaRPr>
          </a:p>
        </p:txBody>
      </p:sp>
      <p:sp>
        <p:nvSpPr>
          <p:cNvPr id="364" name="Google Shape;364;p44"/>
          <p:cNvSpPr txBox="1"/>
          <p:nvPr/>
        </p:nvSpPr>
        <p:spPr>
          <a:xfrm>
            <a:off x="2203700" y="2939275"/>
            <a:ext cx="63480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What if we reverse the thought experiment?  </a:t>
            </a:r>
            <a:endParaRPr b="0" i="0" sz="1400" u="none" cap="none" strike="noStrike">
              <a:solidFill>
                <a:srgbClr val="000000"/>
              </a:solidFill>
              <a:latin typeface="Telex"/>
              <a:ea typeface="Telex"/>
              <a:cs typeface="Telex"/>
              <a:sym typeface="Telex"/>
            </a:endParaRPr>
          </a:p>
        </p:txBody>
      </p:sp>
      <p:sp>
        <p:nvSpPr>
          <p:cNvPr id="365" name="Google Shape;365;p44"/>
          <p:cNvSpPr txBox="1"/>
          <p:nvPr/>
        </p:nvSpPr>
        <p:spPr>
          <a:xfrm>
            <a:off x="-19875" y="4239050"/>
            <a:ext cx="88128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Most people choose to stay in the machine. This is </a:t>
            </a:r>
            <a:r>
              <a:rPr b="0" i="1" lang="en" sz="2000" u="none" cap="none" strike="noStrike">
                <a:solidFill>
                  <a:schemeClr val="dk1"/>
                </a:solidFill>
                <a:latin typeface="Nunito"/>
                <a:ea typeface="Nunito"/>
                <a:cs typeface="Nunito"/>
                <a:sym typeface="Nunito"/>
              </a:rPr>
              <a:t>status quo bias</a:t>
            </a:r>
            <a:r>
              <a:rPr b="0" i="0" lang="en" sz="2000" u="none" cap="none" strike="noStrike">
                <a:solidFill>
                  <a:schemeClr val="dk1"/>
                </a:solidFill>
                <a:latin typeface="Nunito"/>
                <a:ea typeface="Nunito"/>
                <a:cs typeface="Nunito"/>
                <a:sym typeface="Nunito"/>
              </a:rPr>
              <a:t>.</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1000"/>
                                        <p:tgtEl>
                                          <p:spTgt spid="362"/>
                                        </p:tgtEl>
                                      </p:cBhvr>
                                    </p:animEffect>
                                  </p:childTnLst>
                                </p:cTn>
                              </p:par>
                              <p:par>
                                <p:cTn fill="hold" nodeType="with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1000"/>
                                        <p:tgtEl>
                                          <p:spTgt spid="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5"/>
          <p:cNvSpPr txBox="1"/>
          <p:nvPr/>
        </p:nvSpPr>
        <p:spPr>
          <a:xfrm>
            <a:off x="311500" y="577042"/>
            <a:ext cx="8409000" cy="1501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1" lang="en" sz="2000" u="none" cap="none" strike="noStrike">
                <a:solidFill>
                  <a:schemeClr val="dk1"/>
                </a:solidFill>
                <a:latin typeface="Nunito"/>
                <a:ea typeface="Nunito"/>
                <a:cs typeface="Nunito"/>
                <a:sym typeface="Nunito"/>
              </a:rPr>
              <a:t>Utilitarianism requires intractable reasoning</a:t>
            </a:r>
            <a:r>
              <a:rPr b="0" i="0" lang="en" sz="2000" u="none" cap="none" strike="noStrike">
                <a:solidFill>
                  <a:schemeClr val="dk1"/>
                </a:solidFill>
                <a:latin typeface="Nunito"/>
                <a:ea typeface="Nunito"/>
                <a:cs typeface="Nunito"/>
                <a:sym typeface="Nunito"/>
              </a:rPr>
              <a:t> → we cannot reliably and precisely calculate future utility values. It is also impractical to expect this. The drunk driving example is idealized; for instance, we did not list all possible outcomes or consider long-term consequences.</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  </a:t>
            </a:r>
            <a:endParaRPr b="0" i="0" sz="2000" u="none" cap="none" strike="noStrike">
              <a:solidFill>
                <a:schemeClr val="dk1"/>
              </a:solidFill>
              <a:latin typeface="Nunito"/>
              <a:ea typeface="Nunito"/>
              <a:cs typeface="Nunito"/>
              <a:sym typeface="Nunito"/>
            </a:endParaRPr>
          </a:p>
        </p:txBody>
      </p:sp>
      <p:sp>
        <p:nvSpPr>
          <p:cNvPr id="371" name="Google Shape;371;p45"/>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Critiques of </a:t>
            </a:r>
            <a:r>
              <a:rPr lang="en" sz="3600">
                <a:latin typeface="Nunito"/>
                <a:ea typeface="Nunito"/>
                <a:cs typeface="Nunito"/>
                <a:sym typeface="Nunito"/>
              </a:rPr>
              <a:t>Utilitarianism (</a:t>
            </a:r>
            <a:r>
              <a:rPr lang="en"/>
              <a:t>3</a:t>
            </a:r>
            <a:r>
              <a:rPr lang="en" sz="3600">
                <a:latin typeface="Nunito"/>
                <a:ea typeface="Nunito"/>
                <a:cs typeface="Nunito"/>
                <a:sym typeface="Nunito"/>
              </a:rPr>
              <a:t>/</a:t>
            </a:r>
            <a:r>
              <a:rPr lang="en"/>
              <a:t>3)</a:t>
            </a:r>
            <a:endParaRPr sz="3600">
              <a:latin typeface="Nunito"/>
              <a:ea typeface="Nunito"/>
              <a:cs typeface="Nunito"/>
              <a:sym typeface="Nunito"/>
            </a:endParaRPr>
          </a:p>
        </p:txBody>
      </p:sp>
      <p:sp>
        <p:nvSpPr>
          <p:cNvPr id="372" name="Google Shape;372;p45"/>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73" name="Google Shape;373;p45"/>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27</a:t>
            </a:fld>
            <a:endParaRPr b="0" i="0" sz="1300" u="none" cap="none" strike="noStrike">
              <a:solidFill>
                <a:srgbClr val="FFFFFF"/>
              </a:solidFill>
              <a:latin typeface="Nunito"/>
              <a:ea typeface="Nunito"/>
              <a:cs typeface="Nunito"/>
              <a:sym typeface="Nunito"/>
            </a:endParaRPr>
          </a:p>
        </p:txBody>
      </p:sp>
      <p:sp>
        <p:nvSpPr>
          <p:cNvPr id="374" name="Google Shape;374;p45"/>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75" name="Google Shape;375;p45"/>
          <p:cNvSpPr txBox="1"/>
          <p:nvPr/>
        </p:nvSpPr>
        <p:spPr>
          <a:xfrm>
            <a:off x="331300" y="2128625"/>
            <a:ext cx="8389200" cy="2534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2000"/>
              <a:buFont typeface="Arial"/>
              <a:buNone/>
            </a:pPr>
            <a:r>
              <a:rPr b="0" i="0" lang="en" sz="2000" u="none" cap="none" strike="noStrike">
                <a:solidFill>
                  <a:schemeClr val="dk1"/>
                </a:solidFill>
                <a:latin typeface="Nunito"/>
                <a:ea typeface="Nunito"/>
                <a:cs typeface="Nunito"/>
                <a:sym typeface="Nunito"/>
              </a:rPr>
              <a:t>The utilitarian response: </a:t>
            </a:r>
            <a:r>
              <a:rPr b="0" i="1" lang="en" sz="2000" u="none" cap="none" strike="noStrike">
                <a:solidFill>
                  <a:schemeClr val="dk1"/>
                </a:solidFill>
                <a:latin typeface="Nunito"/>
                <a:ea typeface="Nunito"/>
                <a:cs typeface="Nunito"/>
                <a:sym typeface="Nunito"/>
              </a:rPr>
              <a:t>a theory’s criterion of rightness doesn’t need to take the same form as its decision procedure</a:t>
            </a:r>
            <a:r>
              <a:rPr b="0" i="0" lang="en" sz="2000" u="none" cap="none" strike="noStrike">
                <a:solidFill>
                  <a:schemeClr val="dk1"/>
                </a:solidFill>
                <a:latin typeface="Nunito"/>
                <a:ea typeface="Nunito"/>
                <a:cs typeface="Nunito"/>
                <a:sym typeface="Nunito"/>
              </a:rPr>
              <a:t>.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dk1"/>
              </a:solidFill>
              <a:latin typeface="Nunito"/>
              <a:ea typeface="Nunito"/>
              <a:cs typeface="Nunito"/>
              <a:sym typeface="Nunito"/>
            </a:endParaRPr>
          </a:p>
          <a:p>
            <a:pPr indent="0" lvl="0" marL="457200" marR="0" rtl="0" algn="l">
              <a:lnSpc>
                <a:spcPct val="100000"/>
              </a:lnSpc>
              <a:spcBef>
                <a:spcPts val="0"/>
              </a:spcBef>
              <a:spcAft>
                <a:spcPts val="0"/>
              </a:spcAft>
              <a:buClr>
                <a:schemeClr val="dk1"/>
              </a:buClr>
              <a:buSzPts val="2000"/>
              <a:buFont typeface="Arial"/>
              <a:buNone/>
            </a:pPr>
            <a:r>
              <a:rPr b="0" i="0" lang="en" sz="2000" u="none" cap="none" strike="noStrike">
                <a:solidFill>
                  <a:schemeClr val="dk1"/>
                </a:solidFill>
                <a:latin typeface="Nunito"/>
                <a:ea typeface="Nunito"/>
                <a:cs typeface="Nunito"/>
                <a:sym typeface="Nunito"/>
              </a:rPr>
              <a:t>A </a:t>
            </a:r>
            <a:r>
              <a:rPr b="1" i="0" lang="en" sz="2000" u="none" cap="none" strike="noStrike">
                <a:solidFill>
                  <a:schemeClr val="dk1"/>
                </a:solidFill>
                <a:latin typeface="Nunito"/>
                <a:ea typeface="Nunito"/>
                <a:cs typeface="Nunito"/>
                <a:sym typeface="Nunito"/>
              </a:rPr>
              <a:t>criterion of rightness</a:t>
            </a:r>
            <a:r>
              <a:rPr b="0" i="0" lang="en" sz="2000" u="none" cap="none" strike="noStrike">
                <a:solidFill>
                  <a:schemeClr val="dk1"/>
                </a:solidFill>
                <a:latin typeface="Nunito"/>
                <a:ea typeface="Nunito"/>
                <a:cs typeface="Nunito"/>
                <a:sym typeface="Nunito"/>
              </a:rPr>
              <a:t> → whatever a theory claims makes an action right.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dk1"/>
              </a:solidFill>
              <a:latin typeface="Nunito"/>
              <a:ea typeface="Nunito"/>
              <a:cs typeface="Nunito"/>
              <a:sym typeface="Nunito"/>
            </a:endParaRPr>
          </a:p>
          <a:p>
            <a:pPr indent="0" lvl="0" marL="457200" marR="0" rtl="0" algn="l">
              <a:lnSpc>
                <a:spcPct val="100000"/>
              </a:lnSpc>
              <a:spcBef>
                <a:spcPts val="0"/>
              </a:spcBef>
              <a:spcAft>
                <a:spcPts val="0"/>
              </a:spcAft>
              <a:buClr>
                <a:schemeClr val="dk1"/>
              </a:buClr>
              <a:buSzPts val="2000"/>
              <a:buFont typeface="Arial"/>
              <a:buNone/>
            </a:pPr>
            <a:r>
              <a:rPr b="0" i="0" lang="en" sz="2000" u="none" cap="none" strike="noStrike">
                <a:solidFill>
                  <a:schemeClr val="dk1"/>
                </a:solidFill>
                <a:latin typeface="Nunito"/>
                <a:ea typeface="Nunito"/>
                <a:cs typeface="Nunito"/>
                <a:sym typeface="Nunito"/>
              </a:rPr>
              <a:t>A </a:t>
            </a:r>
            <a:r>
              <a:rPr b="1" i="0" lang="en" sz="2000" u="none" cap="none" strike="noStrike">
                <a:solidFill>
                  <a:schemeClr val="dk1"/>
                </a:solidFill>
                <a:latin typeface="Nunito"/>
                <a:ea typeface="Nunito"/>
                <a:cs typeface="Nunito"/>
                <a:sym typeface="Nunito"/>
              </a:rPr>
              <a:t>decision procedure</a:t>
            </a:r>
            <a:r>
              <a:rPr b="0" i="0" lang="en" sz="2000" u="none" cap="none" strike="noStrike">
                <a:solidFill>
                  <a:schemeClr val="dk1"/>
                </a:solidFill>
                <a:latin typeface="Nunito"/>
                <a:ea typeface="Nunito"/>
                <a:cs typeface="Nunito"/>
                <a:sym typeface="Nunito"/>
              </a:rPr>
              <a:t> → the process a theory recommends that individuals use to make decisions.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elex"/>
              <a:ea typeface="Telex"/>
              <a:cs typeface="Telex"/>
              <a:sym typeface="Telex"/>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xEl>
                                              <p:pRg end="0" st="0"/>
                                            </p:txEl>
                                          </p:spTgt>
                                        </p:tgtEl>
                                        <p:attrNameLst>
                                          <p:attrName>style.visibility</p:attrName>
                                        </p:attrNameLst>
                                      </p:cBhvr>
                                      <p:to>
                                        <p:strVal val="visible"/>
                                      </p:to>
                                    </p:set>
                                    <p:animEffect filter="fade" transition="in">
                                      <p:cBhvr>
                                        <p:cTn dur="1000"/>
                                        <p:tgtEl>
                                          <p:spTgt spid="3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xEl>
                                              <p:pRg end="1" st="1"/>
                                            </p:txEl>
                                          </p:spTgt>
                                        </p:tgtEl>
                                        <p:attrNameLst>
                                          <p:attrName>style.visibility</p:attrName>
                                        </p:attrNameLst>
                                      </p:cBhvr>
                                      <p:to>
                                        <p:strVal val="visible"/>
                                      </p:to>
                                    </p:set>
                                    <p:animEffect filter="fade" transition="in">
                                      <p:cBhvr>
                                        <p:cTn dur="1000"/>
                                        <p:tgtEl>
                                          <p:spTgt spid="3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xEl>
                                              <p:pRg end="2" st="2"/>
                                            </p:txEl>
                                          </p:spTgt>
                                        </p:tgtEl>
                                        <p:attrNameLst>
                                          <p:attrName>style.visibility</p:attrName>
                                        </p:attrNameLst>
                                      </p:cBhvr>
                                      <p:to>
                                        <p:strVal val="visible"/>
                                      </p:to>
                                    </p:set>
                                    <p:animEffect filter="fade" transition="in">
                                      <p:cBhvr>
                                        <p:cTn dur="1000"/>
                                        <p:tgtEl>
                                          <p:spTgt spid="37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xEl>
                                              <p:pRg end="3" st="3"/>
                                            </p:txEl>
                                          </p:spTgt>
                                        </p:tgtEl>
                                        <p:attrNameLst>
                                          <p:attrName>style.visibility</p:attrName>
                                        </p:attrNameLst>
                                      </p:cBhvr>
                                      <p:to>
                                        <p:strVal val="visible"/>
                                      </p:to>
                                    </p:set>
                                    <p:animEffect filter="fade" transition="in">
                                      <p:cBhvr>
                                        <p:cTn dur="1000"/>
                                        <p:tgtEl>
                                          <p:spTgt spid="37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xEl>
                                              <p:pRg end="4" st="4"/>
                                            </p:txEl>
                                          </p:spTgt>
                                        </p:tgtEl>
                                        <p:attrNameLst>
                                          <p:attrName>style.visibility</p:attrName>
                                        </p:attrNameLst>
                                      </p:cBhvr>
                                      <p:to>
                                        <p:strVal val="visible"/>
                                      </p:to>
                                    </p:set>
                                    <p:animEffect filter="fade" transition="in">
                                      <p:cBhvr>
                                        <p:cTn dur="1000"/>
                                        <p:tgtEl>
                                          <p:spTgt spid="37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xEl>
                                              <p:pRg end="5" st="5"/>
                                            </p:txEl>
                                          </p:spTgt>
                                        </p:tgtEl>
                                        <p:attrNameLst>
                                          <p:attrName>style.visibility</p:attrName>
                                        </p:attrNameLst>
                                      </p:cBhvr>
                                      <p:to>
                                        <p:strVal val="visible"/>
                                      </p:to>
                                    </p:set>
                                    <p:animEffect filter="fade" transition="in">
                                      <p:cBhvr>
                                        <p:cTn dur="1000"/>
                                        <p:tgtEl>
                                          <p:spTgt spid="37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46"/>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Deontology</a:t>
            </a:r>
            <a:endParaRPr sz="3600">
              <a:latin typeface="Nunito"/>
              <a:ea typeface="Nunito"/>
              <a:cs typeface="Nunito"/>
              <a:sym typeface="Nunito"/>
            </a:endParaRPr>
          </a:p>
        </p:txBody>
      </p:sp>
      <p:sp>
        <p:nvSpPr>
          <p:cNvPr id="381" name="Google Shape;381;p46"/>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82" name="Google Shape;382;p46"/>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28</a:t>
            </a:fld>
            <a:endParaRPr b="0" i="0" sz="1300" u="none" cap="none" strike="noStrike">
              <a:solidFill>
                <a:srgbClr val="FFFFFF"/>
              </a:solidFill>
              <a:latin typeface="Nunito"/>
              <a:ea typeface="Nunito"/>
              <a:cs typeface="Nunito"/>
              <a:sym typeface="Nunito"/>
            </a:endParaRPr>
          </a:p>
        </p:txBody>
      </p:sp>
      <p:sp>
        <p:nvSpPr>
          <p:cNvPr id="383" name="Google Shape;383;p46"/>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84" name="Google Shape;384;p46"/>
          <p:cNvSpPr txBox="1"/>
          <p:nvPr/>
        </p:nvSpPr>
        <p:spPr>
          <a:xfrm>
            <a:off x="423400" y="760325"/>
            <a:ext cx="8297100" cy="33972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Deontology’s key ideas: </a:t>
            </a:r>
            <a:endParaRPr b="0"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Focus on </a:t>
            </a:r>
            <a:r>
              <a:rPr b="0" i="1" lang="en" sz="2000" u="none" cap="none" strike="noStrike">
                <a:solidFill>
                  <a:schemeClr val="dk1"/>
                </a:solidFill>
                <a:latin typeface="Nunito"/>
                <a:ea typeface="Nunito"/>
                <a:cs typeface="Nunito"/>
                <a:sym typeface="Nunito"/>
              </a:rPr>
              <a:t>constraints and obligations</a:t>
            </a:r>
            <a:r>
              <a:rPr b="0" i="0" lang="en" sz="2000" u="none" cap="none" strike="noStrike">
                <a:solidFill>
                  <a:schemeClr val="dk1"/>
                </a:solidFill>
                <a:latin typeface="Nunito"/>
                <a:ea typeface="Nunito"/>
                <a:cs typeface="Nunito"/>
                <a:sym typeface="Nunito"/>
              </a:rPr>
              <a:t>, not the best outcome.</a:t>
            </a:r>
            <a:endParaRPr b="0"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Formulation of rules or principles that protect </a:t>
            </a:r>
            <a:r>
              <a:rPr b="0" i="1" lang="en" sz="2000" u="none" cap="none" strike="noStrike">
                <a:solidFill>
                  <a:schemeClr val="dk1"/>
                </a:solidFill>
                <a:latin typeface="Nunito"/>
                <a:ea typeface="Nunito"/>
                <a:cs typeface="Nunito"/>
                <a:sym typeface="Nunito"/>
              </a:rPr>
              <a:t>human autonomy</a:t>
            </a:r>
            <a:r>
              <a:rPr b="0" i="0" lang="en" sz="2000" u="none" cap="none" strike="noStrike">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355600" lvl="0" marL="457200" marR="0" rtl="0" algn="l">
              <a:lnSpc>
                <a:spcPct val="100000"/>
              </a:lnSpc>
              <a:spcBef>
                <a:spcPts val="0"/>
              </a:spcBef>
              <a:spcAft>
                <a:spcPts val="0"/>
              </a:spcAft>
              <a:buClr>
                <a:schemeClr val="dk1"/>
              </a:buClr>
              <a:buSzPts val="2000"/>
              <a:buFont typeface="Nunito"/>
              <a:buAutoNum type="arabicPeriod"/>
            </a:pPr>
            <a:r>
              <a:rPr b="0" i="0" lang="en" sz="2000" u="none" cap="none" strike="noStrike">
                <a:solidFill>
                  <a:schemeClr val="dk1"/>
                </a:solidFill>
                <a:latin typeface="Nunito"/>
                <a:ea typeface="Nunito"/>
                <a:cs typeface="Nunito"/>
                <a:sym typeface="Nunito"/>
              </a:rPr>
              <a:t>The </a:t>
            </a:r>
            <a:r>
              <a:rPr b="0" i="1" lang="en" sz="2000" u="none" cap="none" strike="noStrike">
                <a:solidFill>
                  <a:schemeClr val="dk1"/>
                </a:solidFill>
                <a:latin typeface="Nunito"/>
                <a:ea typeface="Nunito"/>
                <a:cs typeface="Nunito"/>
                <a:sym typeface="Nunito"/>
              </a:rPr>
              <a:t>rights and intentions</a:t>
            </a:r>
            <a:r>
              <a:rPr b="0" i="0" lang="en" sz="2000" u="none" cap="none" strike="noStrike">
                <a:solidFill>
                  <a:schemeClr val="dk1"/>
                </a:solidFill>
                <a:latin typeface="Nunito"/>
                <a:ea typeface="Nunito"/>
                <a:cs typeface="Nunito"/>
                <a:sym typeface="Nunito"/>
              </a:rPr>
              <a:t> of individuals are morally relevant.</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Deontological rules from the Ten Commandments: “</a:t>
            </a:r>
            <a:r>
              <a:rPr b="0" i="1" lang="en" sz="2000" u="none" cap="none" strike="noStrike">
                <a:solidFill>
                  <a:schemeClr val="dk1"/>
                </a:solidFill>
                <a:latin typeface="Nunito"/>
                <a:ea typeface="Nunito"/>
                <a:cs typeface="Nunito"/>
                <a:sym typeface="Nunito"/>
              </a:rPr>
              <a:t>Thou shalt not kill</a:t>
            </a:r>
            <a:r>
              <a:rPr b="0" i="0" lang="en" sz="2000" u="none" cap="none" strike="noStrike">
                <a:solidFill>
                  <a:schemeClr val="dk1"/>
                </a:solidFill>
                <a:latin typeface="Nunito"/>
                <a:ea typeface="Nunito"/>
                <a:cs typeface="Nunito"/>
                <a:sym typeface="Nunito"/>
              </a:rPr>
              <a:t>”, “</a:t>
            </a:r>
            <a:r>
              <a:rPr b="0" i="1" lang="en" sz="2000" u="none" cap="none" strike="noStrike">
                <a:solidFill>
                  <a:schemeClr val="dk1"/>
                </a:solidFill>
                <a:latin typeface="Nunito"/>
                <a:ea typeface="Nunito"/>
                <a:cs typeface="Nunito"/>
                <a:sym typeface="Nunito"/>
              </a:rPr>
              <a:t>Thou shalt not steal</a:t>
            </a:r>
            <a:r>
              <a:rPr b="0" i="0" lang="en" sz="2000" u="none" cap="none" strike="noStrike">
                <a:solidFill>
                  <a:schemeClr val="dk1"/>
                </a:solidFill>
                <a:latin typeface="Nunito"/>
                <a:ea typeface="Nunito"/>
                <a:cs typeface="Nunito"/>
                <a:sym typeface="Nunito"/>
              </a:rPr>
              <a:t>”, “</a:t>
            </a:r>
            <a:r>
              <a:rPr b="0" i="1" lang="en" sz="2000" u="none" cap="none" strike="noStrike">
                <a:solidFill>
                  <a:schemeClr val="dk1"/>
                </a:solidFill>
                <a:latin typeface="Nunito"/>
                <a:ea typeface="Nunito"/>
                <a:cs typeface="Nunito"/>
                <a:sym typeface="Nunito"/>
              </a:rPr>
              <a:t>Honor thy mother and father</a:t>
            </a:r>
            <a:r>
              <a:rPr b="0" i="0" lang="en" sz="2000" u="none" cap="none" strike="noStrike">
                <a:solidFill>
                  <a:schemeClr val="dk1"/>
                </a:solidFill>
                <a:latin typeface="Nunito"/>
                <a:ea typeface="Nunito"/>
                <a:cs typeface="Nunito"/>
                <a:sym typeface="Nunito"/>
              </a:rPr>
              <a:t>”, etc.</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Deontological theories are systems of moral rules, rights, duties and obligations which constrain our behaviour. These theories typically present themselves as improvements over consequentialism.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0" st="0"/>
                                            </p:txEl>
                                          </p:spTgt>
                                        </p:tgtEl>
                                        <p:attrNameLst>
                                          <p:attrName>style.visibility</p:attrName>
                                        </p:attrNameLst>
                                      </p:cBhvr>
                                      <p:to>
                                        <p:strVal val="visible"/>
                                      </p:to>
                                    </p:set>
                                    <p:animEffect filter="fade" transition="in">
                                      <p:cBhvr>
                                        <p:cTn dur="1000"/>
                                        <p:tgtEl>
                                          <p:spTgt spid="3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1" st="1"/>
                                            </p:txEl>
                                          </p:spTgt>
                                        </p:tgtEl>
                                        <p:attrNameLst>
                                          <p:attrName>style.visibility</p:attrName>
                                        </p:attrNameLst>
                                      </p:cBhvr>
                                      <p:to>
                                        <p:strVal val="visible"/>
                                      </p:to>
                                    </p:set>
                                    <p:animEffect filter="fade" transition="in">
                                      <p:cBhvr>
                                        <p:cTn dur="1000"/>
                                        <p:tgtEl>
                                          <p:spTgt spid="3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2" st="2"/>
                                            </p:txEl>
                                          </p:spTgt>
                                        </p:tgtEl>
                                        <p:attrNameLst>
                                          <p:attrName>style.visibility</p:attrName>
                                        </p:attrNameLst>
                                      </p:cBhvr>
                                      <p:to>
                                        <p:strVal val="visible"/>
                                      </p:to>
                                    </p:set>
                                    <p:animEffect filter="fade" transition="in">
                                      <p:cBhvr>
                                        <p:cTn dur="1000"/>
                                        <p:tgtEl>
                                          <p:spTgt spid="3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3" st="3"/>
                                            </p:txEl>
                                          </p:spTgt>
                                        </p:tgtEl>
                                        <p:attrNameLst>
                                          <p:attrName>style.visibility</p:attrName>
                                        </p:attrNameLst>
                                      </p:cBhvr>
                                      <p:to>
                                        <p:strVal val="visible"/>
                                      </p:to>
                                    </p:set>
                                    <p:animEffect filter="fade" transition="in">
                                      <p:cBhvr>
                                        <p:cTn dur="1000"/>
                                        <p:tgtEl>
                                          <p:spTgt spid="3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4" st="4"/>
                                            </p:txEl>
                                          </p:spTgt>
                                        </p:tgtEl>
                                        <p:attrNameLst>
                                          <p:attrName>style.visibility</p:attrName>
                                        </p:attrNameLst>
                                      </p:cBhvr>
                                      <p:to>
                                        <p:strVal val="visible"/>
                                      </p:to>
                                    </p:set>
                                    <p:animEffect filter="fade" transition="in">
                                      <p:cBhvr>
                                        <p:cTn dur="1000"/>
                                        <p:tgtEl>
                                          <p:spTgt spid="3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5" st="5"/>
                                            </p:txEl>
                                          </p:spTgt>
                                        </p:tgtEl>
                                        <p:attrNameLst>
                                          <p:attrName>style.visibility</p:attrName>
                                        </p:attrNameLst>
                                      </p:cBhvr>
                                      <p:to>
                                        <p:strVal val="visible"/>
                                      </p:to>
                                    </p:set>
                                    <p:animEffect filter="fade" transition="in">
                                      <p:cBhvr>
                                        <p:cTn dur="1000"/>
                                        <p:tgtEl>
                                          <p:spTgt spid="3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6" st="6"/>
                                            </p:txEl>
                                          </p:spTgt>
                                        </p:tgtEl>
                                        <p:attrNameLst>
                                          <p:attrName>style.visibility</p:attrName>
                                        </p:attrNameLst>
                                      </p:cBhvr>
                                      <p:to>
                                        <p:strVal val="visible"/>
                                      </p:to>
                                    </p:set>
                                    <p:animEffect filter="fade" transition="in">
                                      <p:cBhvr>
                                        <p:cTn dur="1000"/>
                                        <p:tgtEl>
                                          <p:spTgt spid="38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7" st="7"/>
                                            </p:txEl>
                                          </p:spTgt>
                                        </p:tgtEl>
                                        <p:attrNameLst>
                                          <p:attrName>style.visibility</p:attrName>
                                        </p:attrNameLst>
                                      </p:cBhvr>
                                      <p:to>
                                        <p:strVal val="visible"/>
                                      </p:to>
                                    </p:set>
                                    <p:animEffect filter="fade" transition="in">
                                      <p:cBhvr>
                                        <p:cTn dur="1000"/>
                                        <p:tgtEl>
                                          <p:spTgt spid="38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8" st="8"/>
                                            </p:txEl>
                                          </p:spTgt>
                                        </p:tgtEl>
                                        <p:attrNameLst>
                                          <p:attrName>style.visibility</p:attrName>
                                        </p:attrNameLst>
                                      </p:cBhvr>
                                      <p:to>
                                        <p:strVal val="visible"/>
                                      </p:to>
                                    </p:set>
                                    <p:animEffect filter="fade" transition="in">
                                      <p:cBhvr>
                                        <p:cTn dur="1000"/>
                                        <p:tgtEl>
                                          <p:spTgt spid="38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7"/>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 Deontology’s Critique of Utilitarianism</a:t>
            </a:r>
            <a:endParaRPr sz="3600">
              <a:latin typeface="Nunito"/>
              <a:ea typeface="Nunito"/>
              <a:cs typeface="Nunito"/>
              <a:sym typeface="Nunito"/>
            </a:endParaRPr>
          </a:p>
        </p:txBody>
      </p:sp>
      <p:sp>
        <p:nvSpPr>
          <p:cNvPr id="390" name="Google Shape;390;p47"/>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391" name="Google Shape;391;p47"/>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29</a:t>
            </a:fld>
            <a:endParaRPr b="0" i="0" sz="1300" u="none" cap="none" strike="noStrike">
              <a:solidFill>
                <a:srgbClr val="FFFFFF"/>
              </a:solidFill>
              <a:latin typeface="Nunito"/>
              <a:ea typeface="Nunito"/>
              <a:cs typeface="Nunito"/>
              <a:sym typeface="Nunito"/>
            </a:endParaRPr>
          </a:p>
        </p:txBody>
      </p:sp>
      <p:sp>
        <p:nvSpPr>
          <p:cNvPr id="392" name="Google Shape;392;p47"/>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393" name="Google Shape;393;p47"/>
          <p:cNvSpPr txBox="1"/>
          <p:nvPr/>
        </p:nvSpPr>
        <p:spPr>
          <a:xfrm>
            <a:off x="423400" y="560525"/>
            <a:ext cx="8414100" cy="427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000"/>
              <a:buFont typeface="Arial"/>
              <a:buNone/>
            </a:pPr>
            <a:r>
              <a:rPr b="0" i="1" lang="en" sz="2000" u="none" cap="none" strike="noStrike">
                <a:solidFill>
                  <a:schemeClr val="dk1"/>
                </a:solidFill>
                <a:latin typeface="Nunito"/>
                <a:ea typeface="Nunito"/>
                <a:cs typeface="Nunito"/>
                <a:sym typeface="Nunito"/>
              </a:rPr>
              <a:t>Consequentialism doesn’t allow options </a:t>
            </a:r>
            <a:r>
              <a:rPr b="0" i="0" lang="en" sz="2000" u="none" cap="none" strike="noStrike">
                <a:solidFill>
                  <a:schemeClr val="dk1"/>
                </a:solidFill>
                <a:latin typeface="Nunito"/>
                <a:ea typeface="Nunito"/>
                <a:cs typeface="Nunito"/>
                <a:sym typeface="Nunito"/>
              </a:rPr>
              <a:t>→</a:t>
            </a:r>
            <a:r>
              <a:rPr b="0" i="1" lang="en" sz="2000" u="none" cap="none" strike="noStrike">
                <a:solidFill>
                  <a:schemeClr val="dk1"/>
                </a:solidFill>
                <a:latin typeface="Nunito"/>
                <a:ea typeface="Nunito"/>
                <a:cs typeface="Nunito"/>
                <a:sym typeface="Nunito"/>
              </a:rPr>
              <a:t> </a:t>
            </a:r>
            <a:r>
              <a:rPr b="0" i="0" lang="en" sz="2000" u="none" cap="none" strike="noStrike">
                <a:solidFill>
                  <a:schemeClr val="dk1"/>
                </a:solidFill>
                <a:latin typeface="Nunito"/>
                <a:ea typeface="Nunito"/>
                <a:cs typeface="Nunito"/>
                <a:sym typeface="Nunito"/>
              </a:rPr>
              <a:t>important life decisions like marriage or career choice will have “correct” utility-maximizing answers.</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Nunito"/>
              <a:ea typeface="Nunito"/>
              <a:cs typeface="Nunito"/>
              <a:sym typeface="Nunito"/>
            </a:endParaRPr>
          </a:p>
          <a:p>
            <a:pPr indent="0" lvl="0" marL="45720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Deontologists say this</a:t>
            </a:r>
            <a:r>
              <a:rPr b="0" i="1" lang="en" sz="2000" u="none" cap="none" strike="noStrike">
                <a:solidFill>
                  <a:schemeClr val="dk1"/>
                </a:solidFill>
                <a:latin typeface="Nunito"/>
                <a:ea typeface="Nunito"/>
                <a:cs typeface="Nunito"/>
                <a:sym typeface="Nunito"/>
              </a:rPr>
              <a:t> </a:t>
            </a:r>
            <a:r>
              <a:rPr b="0" i="0" lang="en" sz="2000" u="none" cap="none" strike="noStrike">
                <a:solidFill>
                  <a:schemeClr val="dk1"/>
                </a:solidFill>
                <a:latin typeface="Nunito"/>
                <a:ea typeface="Nunito"/>
                <a:cs typeface="Nunito"/>
                <a:sym typeface="Nunito"/>
              </a:rPr>
              <a:t>view is too demanding – to preserve human autonomy, we provide a list of impermissible actions, and allow choice to govern the rest.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1" lang="en" sz="2000" u="none" cap="none" strike="noStrike">
                <a:solidFill>
                  <a:schemeClr val="dk1"/>
                </a:solidFill>
                <a:latin typeface="Nunito"/>
                <a:ea typeface="Nunito"/>
                <a:cs typeface="Nunito"/>
                <a:sym typeface="Nunito"/>
              </a:rPr>
              <a:t>Consequentialism doesn’t forbid extreme actions </a:t>
            </a:r>
            <a:r>
              <a:rPr b="0" i="0" lang="en" sz="2000" u="none" cap="none" strike="noStrike">
                <a:solidFill>
                  <a:schemeClr val="dk1"/>
                </a:solidFill>
                <a:latin typeface="Nunito"/>
                <a:ea typeface="Nunito"/>
                <a:cs typeface="Nunito"/>
                <a:sym typeface="Nunito"/>
              </a:rPr>
              <a:t>→ killing innocents, torturing – these actions aren’t </a:t>
            </a:r>
            <a:r>
              <a:rPr b="0" i="1" lang="en" sz="2000" u="none" cap="none" strike="noStrike">
                <a:solidFill>
                  <a:schemeClr val="dk1"/>
                </a:solidFill>
                <a:latin typeface="Nunito"/>
                <a:ea typeface="Nunito"/>
                <a:cs typeface="Nunito"/>
                <a:sym typeface="Nunito"/>
              </a:rPr>
              <a:t>always</a:t>
            </a:r>
            <a:r>
              <a:rPr b="0" i="0" lang="en" sz="2000" u="none" cap="none" strike="noStrike">
                <a:solidFill>
                  <a:schemeClr val="dk1"/>
                </a:solidFill>
                <a:latin typeface="Nunito"/>
                <a:ea typeface="Nunito"/>
                <a:cs typeface="Nunito"/>
                <a:sym typeface="Nunito"/>
              </a:rPr>
              <a:t> wrong for consequentialists.</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Nunito"/>
              <a:ea typeface="Nunito"/>
              <a:cs typeface="Nunito"/>
              <a:sym typeface="Nunito"/>
            </a:endParaRPr>
          </a:p>
          <a:p>
            <a:pPr indent="0" lvl="0" marL="45720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Deontologists argue some actions are simply forbidden by appeal to universal constraints or obligations.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xEl>
                                              <p:pRg end="0" st="0"/>
                                            </p:txEl>
                                          </p:spTgt>
                                        </p:tgtEl>
                                        <p:attrNameLst>
                                          <p:attrName>style.visibility</p:attrName>
                                        </p:attrNameLst>
                                      </p:cBhvr>
                                      <p:to>
                                        <p:strVal val="visible"/>
                                      </p:to>
                                    </p:set>
                                    <p:animEffect filter="fade" transition="in">
                                      <p:cBhvr>
                                        <p:cTn dur="1000"/>
                                        <p:tgtEl>
                                          <p:spTgt spid="3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xEl>
                                              <p:pRg end="1" st="1"/>
                                            </p:txEl>
                                          </p:spTgt>
                                        </p:tgtEl>
                                        <p:attrNameLst>
                                          <p:attrName>style.visibility</p:attrName>
                                        </p:attrNameLst>
                                      </p:cBhvr>
                                      <p:to>
                                        <p:strVal val="visible"/>
                                      </p:to>
                                    </p:set>
                                    <p:animEffect filter="fade" transition="in">
                                      <p:cBhvr>
                                        <p:cTn dur="1000"/>
                                        <p:tgtEl>
                                          <p:spTgt spid="3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xEl>
                                              <p:pRg end="2" st="2"/>
                                            </p:txEl>
                                          </p:spTgt>
                                        </p:tgtEl>
                                        <p:attrNameLst>
                                          <p:attrName>style.visibility</p:attrName>
                                        </p:attrNameLst>
                                      </p:cBhvr>
                                      <p:to>
                                        <p:strVal val="visible"/>
                                      </p:to>
                                    </p:set>
                                    <p:animEffect filter="fade" transition="in">
                                      <p:cBhvr>
                                        <p:cTn dur="1000"/>
                                        <p:tgtEl>
                                          <p:spTgt spid="3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xEl>
                                              <p:pRg end="3" st="3"/>
                                            </p:txEl>
                                          </p:spTgt>
                                        </p:tgtEl>
                                        <p:attrNameLst>
                                          <p:attrName>style.visibility</p:attrName>
                                        </p:attrNameLst>
                                      </p:cBhvr>
                                      <p:to>
                                        <p:strVal val="visible"/>
                                      </p:to>
                                    </p:set>
                                    <p:animEffect filter="fade" transition="in">
                                      <p:cBhvr>
                                        <p:cTn dur="1000"/>
                                        <p:tgtEl>
                                          <p:spTgt spid="3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xEl>
                                              <p:pRg end="4" st="4"/>
                                            </p:txEl>
                                          </p:spTgt>
                                        </p:tgtEl>
                                        <p:attrNameLst>
                                          <p:attrName>style.visibility</p:attrName>
                                        </p:attrNameLst>
                                      </p:cBhvr>
                                      <p:to>
                                        <p:strVal val="visible"/>
                                      </p:to>
                                    </p:set>
                                    <p:animEffect filter="fade" transition="in">
                                      <p:cBhvr>
                                        <p:cTn dur="1000"/>
                                        <p:tgtEl>
                                          <p:spTgt spid="39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xEl>
                                              <p:pRg end="5" st="5"/>
                                            </p:txEl>
                                          </p:spTgt>
                                        </p:tgtEl>
                                        <p:attrNameLst>
                                          <p:attrName>style.visibility</p:attrName>
                                        </p:attrNameLst>
                                      </p:cBhvr>
                                      <p:to>
                                        <p:strVal val="visible"/>
                                      </p:to>
                                    </p:set>
                                    <p:animEffect filter="fade" transition="in">
                                      <p:cBhvr>
                                        <p:cTn dur="1000"/>
                                        <p:tgtEl>
                                          <p:spTgt spid="39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xEl>
                                              <p:pRg end="6" st="6"/>
                                            </p:txEl>
                                          </p:spTgt>
                                        </p:tgtEl>
                                        <p:attrNameLst>
                                          <p:attrName>style.visibility</p:attrName>
                                        </p:attrNameLst>
                                      </p:cBhvr>
                                      <p:to>
                                        <p:strVal val="visible"/>
                                      </p:to>
                                    </p:set>
                                    <p:animEffect filter="fade" transition="in">
                                      <p:cBhvr>
                                        <p:cTn dur="1000"/>
                                        <p:tgtEl>
                                          <p:spTgt spid="39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xEl>
                                              <p:pRg end="7" st="7"/>
                                            </p:txEl>
                                          </p:spTgt>
                                        </p:tgtEl>
                                        <p:attrNameLst>
                                          <p:attrName>style.visibility</p:attrName>
                                        </p:attrNameLst>
                                      </p:cBhvr>
                                      <p:to>
                                        <p:strVal val="visible"/>
                                      </p:to>
                                    </p:set>
                                    <p:animEffect filter="fade" transition="in">
                                      <p:cBhvr>
                                        <p:cTn dur="1000"/>
                                        <p:tgtEl>
                                          <p:spTgt spid="39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xEl>
                                              <p:pRg end="8" st="8"/>
                                            </p:txEl>
                                          </p:spTgt>
                                        </p:tgtEl>
                                        <p:attrNameLst>
                                          <p:attrName>style.visibility</p:attrName>
                                        </p:attrNameLst>
                                      </p:cBhvr>
                                      <p:to>
                                        <p:strVal val="visible"/>
                                      </p:to>
                                    </p:set>
                                    <p:animEffect filter="fade" transition="in">
                                      <p:cBhvr>
                                        <p:cTn dur="1000"/>
                                        <p:tgtEl>
                                          <p:spTgt spid="393">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8"/>
          <p:cNvSpPr txBox="1"/>
          <p:nvPr>
            <p:ph type="title"/>
          </p:nvPr>
        </p:nvSpPr>
        <p:spPr>
          <a:xfrm>
            <a:off x="116275" y="0"/>
            <a:ext cx="89118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Deontology: The Doctrine of Double Effect</a:t>
            </a:r>
            <a:endParaRPr sz="3600">
              <a:latin typeface="Nunito"/>
              <a:ea typeface="Nunito"/>
              <a:cs typeface="Nunito"/>
              <a:sym typeface="Nunito"/>
            </a:endParaRPr>
          </a:p>
        </p:txBody>
      </p:sp>
      <p:sp>
        <p:nvSpPr>
          <p:cNvPr id="399" name="Google Shape;399;p48"/>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00" name="Google Shape;400;p48"/>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30</a:t>
            </a:fld>
            <a:endParaRPr b="0" i="0" sz="1300" u="none" cap="none" strike="noStrike">
              <a:solidFill>
                <a:srgbClr val="FFFFFF"/>
              </a:solidFill>
              <a:latin typeface="Nunito"/>
              <a:ea typeface="Nunito"/>
              <a:cs typeface="Nunito"/>
              <a:sym typeface="Nunito"/>
            </a:endParaRPr>
          </a:p>
        </p:txBody>
      </p:sp>
      <p:sp>
        <p:nvSpPr>
          <p:cNvPr id="401" name="Google Shape;401;p48"/>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402" name="Google Shape;402;p48"/>
          <p:cNvSpPr txBox="1"/>
          <p:nvPr/>
        </p:nvSpPr>
        <p:spPr>
          <a:xfrm>
            <a:off x="423400" y="676725"/>
            <a:ext cx="8297100" cy="4032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Deontology also emphasizes the </a:t>
            </a:r>
            <a:r>
              <a:rPr b="1" i="0" lang="en" sz="2000" u="none" cap="none" strike="noStrike">
                <a:solidFill>
                  <a:srgbClr val="000000"/>
                </a:solidFill>
                <a:latin typeface="Nunito"/>
                <a:ea typeface="Nunito"/>
                <a:cs typeface="Nunito"/>
                <a:sym typeface="Nunito"/>
              </a:rPr>
              <a:t>intentions</a:t>
            </a:r>
            <a:r>
              <a:rPr b="0" i="0" lang="en" sz="2000" u="none" cap="none" strike="noStrike">
                <a:solidFill>
                  <a:srgbClr val="000000"/>
                </a:solidFill>
                <a:latin typeface="Nunito"/>
                <a:ea typeface="Nunito"/>
                <a:cs typeface="Nunito"/>
                <a:sym typeface="Nunito"/>
              </a:rPr>
              <a:t> of agents in their moral considerations. Consider </a:t>
            </a:r>
            <a:r>
              <a:rPr b="1" i="0" lang="en" sz="2000" u="none" cap="none" strike="noStrike">
                <a:solidFill>
                  <a:srgbClr val="000000"/>
                </a:solidFill>
                <a:latin typeface="Nunito"/>
                <a:ea typeface="Nunito"/>
                <a:cs typeface="Nunito"/>
                <a:sym typeface="Nunito"/>
              </a:rPr>
              <a:t>The Doctrine of Double Effect</a:t>
            </a:r>
            <a:r>
              <a:rPr b="0" i="0" lang="en" sz="2000" u="none" cap="none" strike="noStrike">
                <a:solidFill>
                  <a:srgbClr val="000000"/>
                </a:solidFill>
                <a:latin typeface="Nunito"/>
                <a:ea typeface="Nunito"/>
                <a:cs typeface="Nunito"/>
                <a:sym typeface="Nunito"/>
              </a:rPr>
              <a:t>:</a:t>
            </a:r>
            <a:endParaRPr b="0" i="0" sz="20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457200" marR="0" rtl="0" algn="l">
              <a:lnSpc>
                <a:spcPct val="115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An agent is morally allowed to carry out actions that predictably lead to bad outcomes as long as they intend the good effect, but not the bad effect of the action.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1" i="1" lang="en" sz="2000" u="none" cap="none" strike="noStrike">
                <a:solidFill>
                  <a:schemeClr val="dk1"/>
                </a:solidFill>
                <a:latin typeface="Nunito"/>
                <a:ea typeface="Nunito"/>
                <a:cs typeface="Nunito"/>
                <a:sym typeface="Nunito"/>
              </a:rPr>
              <a:t>Siamese twins</a:t>
            </a:r>
            <a:r>
              <a:rPr b="0" i="0" lang="en" sz="2000" u="none" cap="none" strike="noStrike">
                <a:solidFill>
                  <a:schemeClr val="dk1"/>
                </a:solidFill>
                <a:latin typeface="Nunito"/>
                <a:ea typeface="Nunito"/>
                <a:cs typeface="Nunito"/>
                <a:sym typeface="Nunito"/>
              </a:rPr>
              <a:t>: a pair of siamese twins needs a medical procedure, without which both of them would die. However, one of them will die as a consequence. The doctrine of double effect says the procedure is justified insofar as we </a:t>
            </a:r>
            <a:r>
              <a:rPr b="0" i="1" lang="en" sz="2000" u="none" cap="none" strike="noStrike">
                <a:solidFill>
                  <a:schemeClr val="dk1"/>
                </a:solidFill>
                <a:latin typeface="Nunito"/>
                <a:ea typeface="Nunito"/>
                <a:cs typeface="Nunito"/>
                <a:sym typeface="Nunito"/>
              </a:rPr>
              <a:t>intend </a:t>
            </a:r>
            <a:r>
              <a:rPr b="0" i="0" lang="en" sz="2000" u="none" cap="none" strike="noStrike">
                <a:solidFill>
                  <a:schemeClr val="dk1"/>
                </a:solidFill>
                <a:latin typeface="Nunito"/>
                <a:ea typeface="Nunito"/>
                <a:cs typeface="Nunito"/>
                <a:sym typeface="Nunito"/>
              </a:rPr>
              <a:t>to save one of the twins.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xEl>
                                              <p:pRg end="0" st="0"/>
                                            </p:txEl>
                                          </p:spTgt>
                                        </p:tgtEl>
                                        <p:attrNameLst>
                                          <p:attrName>style.visibility</p:attrName>
                                        </p:attrNameLst>
                                      </p:cBhvr>
                                      <p:to>
                                        <p:strVal val="visible"/>
                                      </p:to>
                                    </p:set>
                                    <p:animEffect filter="fade" transition="in">
                                      <p:cBhvr>
                                        <p:cTn dur="1000"/>
                                        <p:tgtEl>
                                          <p:spTgt spid="4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xEl>
                                              <p:pRg end="1" st="1"/>
                                            </p:txEl>
                                          </p:spTgt>
                                        </p:tgtEl>
                                        <p:attrNameLst>
                                          <p:attrName>style.visibility</p:attrName>
                                        </p:attrNameLst>
                                      </p:cBhvr>
                                      <p:to>
                                        <p:strVal val="visible"/>
                                      </p:to>
                                    </p:set>
                                    <p:animEffect filter="fade" transition="in">
                                      <p:cBhvr>
                                        <p:cTn dur="1000"/>
                                        <p:tgtEl>
                                          <p:spTgt spid="4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xEl>
                                              <p:pRg end="2" st="2"/>
                                            </p:txEl>
                                          </p:spTgt>
                                        </p:tgtEl>
                                        <p:attrNameLst>
                                          <p:attrName>style.visibility</p:attrName>
                                        </p:attrNameLst>
                                      </p:cBhvr>
                                      <p:to>
                                        <p:strVal val="visible"/>
                                      </p:to>
                                    </p:set>
                                    <p:animEffect filter="fade" transition="in">
                                      <p:cBhvr>
                                        <p:cTn dur="1000"/>
                                        <p:tgtEl>
                                          <p:spTgt spid="4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xEl>
                                              <p:pRg end="3" st="3"/>
                                            </p:txEl>
                                          </p:spTgt>
                                        </p:tgtEl>
                                        <p:attrNameLst>
                                          <p:attrName>style.visibility</p:attrName>
                                        </p:attrNameLst>
                                      </p:cBhvr>
                                      <p:to>
                                        <p:strVal val="visible"/>
                                      </p:to>
                                    </p:set>
                                    <p:animEffect filter="fade" transition="in">
                                      <p:cBhvr>
                                        <p:cTn dur="1000"/>
                                        <p:tgtEl>
                                          <p:spTgt spid="4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
                                            <p:txEl>
                                              <p:pRg end="4" st="4"/>
                                            </p:txEl>
                                          </p:spTgt>
                                        </p:tgtEl>
                                        <p:attrNameLst>
                                          <p:attrName>style.visibility</p:attrName>
                                        </p:attrNameLst>
                                      </p:cBhvr>
                                      <p:to>
                                        <p:strVal val="visible"/>
                                      </p:to>
                                    </p:set>
                                    <p:animEffect filter="fade" transition="in">
                                      <p:cBhvr>
                                        <p:cTn dur="1000"/>
                                        <p:tgtEl>
                                          <p:spTgt spid="40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9"/>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Deontology: Act/Omission </a:t>
            </a:r>
            <a:endParaRPr sz="3600">
              <a:latin typeface="Nunito"/>
              <a:ea typeface="Nunito"/>
              <a:cs typeface="Nunito"/>
              <a:sym typeface="Nunito"/>
            </a:endParaRPr>
          </a:p>
        </p:txBody>
      </p:sp>
      <p:sp>
        <p:nvSpPr>
          <p:cNvPr id="408" name="Google Shape;408;p4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09" name="Google Shape;409;p4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31</a:t>
            </a:fld>
            <a:endParaRPr b="0" i="0" sz="1300" u="none" cap="none" strike="noStrike">
              <a:solidFill>
                <a:srgbClr val="FFFFFF"/>
              </a:solidFill>
              <a:latin typeface="Nunito"/>
              <a:ea typeface="Nunito"/>
              <a:cs typeface="Nunito"/>
              <a:sym typeface="Nunito"/>
            </a:endParaRPr>
          </a:p>
        </p:txBody>
      </p:sp>
      <p:sp>
        <p:nvSpPr>
          <p:cNvPr id="410" name="Google Shape;410;p4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411" name="Google Shape;411;p49"/>
          <p:cNvSpPr txBox="1"/>
          <p:nvPr/>
        </p:nvSpPr>
        <p:spPr>
          <a:xfrm>
            <a:off x="423625" y="737446"/>
            <a:ext cx="8297100" cy="1462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0" lang="en" sz="2000" u="none" cap="none" strike="noStrike">
                <a:solidFill>
                  <a:srgbClr val="000000"/>
                </a:solidFill>
                <a:latin typeface="Nunito"/>
                <a:ea typeface="Nunito"/>
                <a:cs typeface="Nunito"/>
                <a:sym typeface="Nunito"/>
              </a:rPr>
              <a:t>Intuitively, we do not hold a person responsible for what they did not do. In deontology, this is the </a:t>
            </a:r>
            <a:r>
              <a:rPr b="1" i="0" lang="en" sz="2000" u="none" cap="none" strike="noStrike">
                <a:solidFill>
                  <a:srgbClr val="000000"/>
                </a:solidFill>
                <a:latin typeface="Nunito"/>
                <a:ea typeface="Nunito"/>
                <a:cs typeface="Nunito"/>
                <a:sym typeface="Nunito"/>
              </a:rPr>
              <a:t>Act vs. Omission</a:t>
            </a:r>
            <a:r>
              <a:rPr b="0" i="0" lang="en" sz="2000" u="none" cap="none" strike="noStrike">
                <a:solidFill>
                  <a:srgbClr val="000000"/>
                </a:solidFill>
                <a:latin typeface="Nunito"/>
                <a:ea typeface="Nunito"/>
                <a:cs typeface="Nunito"/>
                <a:sym typeface="Nunito"/>
              </a:rPr>
              <a:t> distinction.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t/>
            </a:r>
            <a:endParaRPr b="0" i="0" sz="2000" u="none" cap="none" strike="noStrike">
              <a:solidFill>
                <a:srgbClr val="000000"/>
              </a:solidFill>
              <a:latin typeface="Nunito"/>
              <a:ea typeface="Nunito"/>
              <a:cs typeface="Nunito"/>
              <a:sym typeface="Nunito"/>
            </a:endParaRPr>
          </a:p>
        </p:txBody>
      </p:sp>
      <p:sp>
        <p:nvSpPr>
          <p:cNvPr id="412" name="Google Shape;412;p49"/>
          <p:cNvSpPr txBox="1"/>
          <p:nvPr/>
        </p:nvSpPr>
        <p:spPr>
          <a:xfrm>
            <a:off x="423625" y="1675775"/>
            <a:ext cx="6195000" cy="26475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chemeClr val="dk1"/>
              </a:buClr>
              <a:buSzPts val="1100"/>
              <a:buFont typeface="Arial"/>
              <a:buNone/>
            </a:pPr>
            <a:r>
              <a:rPr b="1" i="1" lang="en" sz="2000" u="none" cap="none" strike="noStrike">
                <a:solidFill>
                  <a:schemeClr val="dk1"/>
                </a:solidFill>
                <a:latin typeface="Nunito"/>
                <a:ea typeface="Nunito"/>
                <a:cs typeface="Nunito"/>
                <a:sym typeface="Nunito"/>
              </a:rPr>
              <a:t>Stealing</a:t>
            </a:r>
            <a:r>
              <a:rPr b="0" i="0" lang="en" sz="2000" u="none" cap="none" strike="noStrike">
                <a:solidFill>
                  <a:schemeClr val="dk1"/>
                </a:solidFill>
                <a:latin typeface="Nunito"/>
                <a:ea typeface="Nunito"/>
                <a:cs typeface="Nunito"/>
                <a:sym typeface="Nunito"/>
              </a:rPr>
              <a:t>: While walking past a bank at night, Bob notices the night deposit box is open. Inside it, he sees a bag, filled with money. He decides to steal the bag. Alice sees Bob taking the money, but never bothers to report it.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1100"/>
              <a:buFont typeface="Arial"/>
              <a:buNone/>
            </a:pPr>
            <a:r>
              <a:t/>
            </a:r>
            <a:endParaRPr b="0" i="0" sz="1700" u="none" cap="none" strike="noStrike">
              <a:solidFill>
                <a:schemeClr val="dk1"/>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1100"/>
              <a:buFont typeface="Arial"/>
              <a:buNone/>
            </a:pPr>
            <a:r>
              <a:rPr b="0" i="0" lang="en" sz="2000" u="none" cap="none" strike="noStrike">
                <a:solidFill>
                  <a:schemeClr val="dk1"/>
                </a:solidFill>
                <a:latin typeface="Nunito"/>
                <a:ea typeface="Nunito"/>
                <a:cs typeface="Nunito"/>
                <a:sym typeface="Nunito"/>
              </a:rPr>
              <a:t>Deontologists would not hold Alice responsible for Bob’s actions. </a:t>
            </a:r>
            <a:endParaRPr b="0" i="0" sz="1400" u="none" cap="none" strike="noStrike">
              <a:solidFill>
                <a:srgbClr val="000000"/>
              </a:solidFill>
              <a:latin typeface="Telex"/>
              <a:ea typeface="Telex"/>
              <a:cs typeface="Telex"/>
              <a:sym typeface="Telex"/>
            </a:endParaRPr>
          </a:p>
        </p:txBody>
      </p:sp>
      <p:pic>
        <p:nvPicPr>
          <p:cNvPr id="413" name="Google Shape;413;p49"/>
          <p:cNvPicPr preferRelativeResize="0"/>
          <p:nvPr/>
        </p:nvPicPr>
        <p:blipFill rotWithShape="1">
          <a:blip r:embed="rId3">
            <a:alphaModFix/>
          </a:blip>
          <a:srcRect b="0" l="0" r="0" t="0"/>
          <a:stretch/>
        </p:blipFill>
        <p:spPr>
          <a:xfrm>
            <a:off x="6618400" y="1621800"/>
            <a:ext cx="2525773" cy="32169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0" st="0"/>
                                            </p:txEl>
                                          </p:spTgt>
                                        </p:tgtEl>
                                        <p:attrNameLst>
                                          <p:attrName>style.visibility</p:attrName>
                                        </p:attrNameLst>
                                      </p:cBhvr>
                                      <p:to>
                                        <p:strVal val="visible"/>
                                      </p:to>
                                    </p:set>
                                    <p:animEffect filter="fade" transition="in">
                                      <p:cBhvr>
                                        <p:cTn dur="1000"/>
                                        <p:tgtEl>
                                          <p:spTgt spid="4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1" st="1"/>
                                            </p:txEl>
                                          </p:spTgt>
                                        </p:tgtEl>
                                        <p:attrNameLst>
                                          <p:attrName>style.visibility</p:attrName>
                                        </p:attrNameLst>
                                      </p:cBhvr>
                                      <p:to>
                                        <p:strVal val="visible"/>
                                      </p:to>
                                    </p:set>
                                    <p:animEffect filter="fade" transition="in">
                                      <p:cBhvr>
                                        <p:cTn dur="1000"/>
                                        <p:tgtEl>
                                          <p:spTgt spid="4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xEl>
                                              <p:pRg end="2" st="2"/>
                                            </p:txEl>
                                          </p:spTgt>
                                        </p:tgtEl>
                                        <p:attrNameLst>
                                          <p:attrName>style.visibility</p:attrName>
                                        </p:attrNameLst>
                                      </p:cBhvr>
                                      <p:to>
                                        <p:strVal val="visible"/>
                                      </p:to>
                                    </p:set>
                                    <p:animEffect filter="fade" transition="in">
                                      <p:cBhvr>
                                        <p:cTn dur="1000"/>
                                        <p:tgtEl>
                                          <p:spTgt spid="4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0" st="0"/>
                                            </p:txEl>
                                          </p:spTgt>
                                        </p:tgtEl>
                                        <p:attrNameLst>
                                          <p:attrName>style.visibility</p:attrName>
                                        </p:attrNameLst>
                                      </p:cBhvr>
                                      <p:to>
                                        <p:strVal val="visible"/>
                                      </p:to>
                                    </p:set>
                                    <p:animEffect filter="fade" transition="in">
                                      <p:cBhvr>
                                        <p:cTn dur="1000"/>
                                        <p:tgtEl>
                                          <p:spTgt spid="4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1" st="1"/>
                                            </p:txEl>
                                          </p:spTgt>
                                        </p:tgtEl>
                                        <p:attrNameLst>
                                          <p:attrName>style.visibility</p:attrName>
                                        </p:attrNameLst>
                                      </p:cBhvr>
                                      <p:to>
                                        <p:strVal val="visible"/>
                                      </p:to>
                                    </p:set>
                                    <p:animEffect filter="fade" transition="in">
                                      <p:cBhvr>
                                        <p:cTn dur="1000"/>
                                        <p:tgtEl>
                                          <p:spTgt spid="4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xEl>
                                              <p:pRg end="2" st="2"/>
                                            </p:txEl>
                                          </p:spTgt>
                                        </p:tgtEl>
                                        <p:attrNameLst>
                                          <p:attrName>style.visibility</p:attrName>
                                        </p:attrNameLst>
                                      </p:cBhvr>
                                      <p:to>
                                        <p:strVal val="visible"/>
                                      </p:to>
                                    </p:set>
                                    <p:animEffect filter="fade" transition="in">
                                      <p:cBhvr>
                                        <p:cTn dur="1000"/>
                                        <p:tgtEl>
                                          <p:spTgt spid="41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0"/>
          <p:cNvSpPr txBox="1"/>
          <p:nvPr/>
        </p:nvSpPr>
        <p:spPr>
          <a:xfrm>
            <a:off x="423400" y="636725"/>
            <a:ext cx="8297100" cy="410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00"/>
              <a:buFont typeface="Arial"/>
              <a:buNone/>
            </a:pPr>
            <a:r>
              <a:rPr b="0" i="1" lang="en" sz="2000" u="none" cap="none" strike="noStrike">
                <a:solidFill>
                  <a:srgbClr val="000000"/>
                </a:solidFill>
                <a:latin typeface="Nunito"/>
                <a:ea typeface="Nunito"/>
                <a:cs typeface="Nunito"/>
                <a:sym typeface="Nunito"/>
              </a:rPr>
              <a:t>Deontology responds unconvincingly to moral catastrophes</a:t>
            </a:r>
            <a:r>
              <a:rPr b="0" i="0" lang="en" sz="2000" u="none" cap="none" strike="noStrike">
                <a:solidFill>
                  <a:srgbClr val="000000"/>
                </a:solidFill>
                <a:latin typeface="Nunito"/>
                <a:ea typeface="Nunito"/>
                <a:cs typeface="Nunito"/>
                <a:sym typeface="Nunito"/>
              </a:rPr>
              <a:t>.</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Nunito"/>
              <a:ea typeface="Nunito"/>
              <a:cs typeface="Nunito"/>
              <a:sym typeface="Nunito"/>
            </a:endParaRPr>
          </a:p>
          <a:p>
            <a:pPr indent="0" lvl="0" marL="457200" marR="0" rtl="0" algn="l">
              <a:lnSpc>
                <a:spcPct val="115000"/>
              </a:lnSpc>
              <a:spcBef>
                <a:spcPts val="0"/>
              </a:spcBef>
              <a:spcAft>
                <a:spcPts val="0"/>
              </a:spcAft>
              <a:buClr>
                <a:srgbClr val="000000"/>
              </a:buClr>
              <a:buSzPts val="2000"/>
              <a:buFont typeface="Arial"/>
              <a:buNone/>
            </a:pPr>
            <a:r>
              <a:rPr b="1" i="1" lang="en" sz="2000" u="none" cap="none" strike="noStrike">
                <a:solidFill>
                  <a:srgbClr val="000000"/>
                </a:solidFill>
                <a:latin typeface="Nunito"/>
                <a:ea typeface="Nunito"/>
                <a:cs typeface="Nunito"/>
                <a:sym typeface="Nunito"/>
              </a:rPr>
              <a:t>Nuclear Terrorism</a:t>
            </a:r>
            <a:r>
              <a:rPr b="0" i="0" lang="en" sz="2000" u="none" cap="none" strike="noStrike">
                <a:solidFill>
                  <a:srgbClr val="000000"/>
                </a:solidFill>
                <a:latin typeface="Nunito"/>
                <a:ea typeface="Nunito"/>
                <a:cs typeface="Nunito"/>
                <a:sym typeface="Nunito"/>
              </a:rPr>
              <a:t>. The only way to prevent a nuclear terror attack is by torturing the perpetrator. But torture is impermissible to deontologists, regardless of the consequences.   </a:t>
            </a:r>
            <a:endParaRPr b="0" i="0" sz="20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chemeClr val="dk1"/>
              </a:buClr>
              <a:buSzPts val="2000"/>
              <a:buFont typeface="Arial"/>
              <a:buNone/>
            </a:pPr>
            <a:r>
              <a:rPr b="0" i="0" lang="en" sz="2000" u="none" cap="none" strike="noStrike">
                <a:solidFill>
                  <a:schemeClr val="dk1"/>
                </a:solidFill>
                <a:latin typeface="Nunito"/>
                <a:ea typeface="Nunito"/>
                <a:cs typeface="Nunito"/>
                <a:sym typeface="Nunito"/>
              </a:rPr>
              <a:t>In response, some deontologists have adopted a </a:t>
            </a:r>
            <a:r>
              <a:rPr b="1" i="0" lang="en" sz="2000" u="none" cap="none" strike="noStrike">
                <a:solidFill>
                  <a:schemeClr val="dk1"/>
                </a:solidFill>
                <a:latin typeface="Nunito"/>
                <a:ea typeface="Nunito"/>
                <a:cs typeface="Nunito"/>
                <a:sym typeface="Nunito"/>
              </a:rPr>
              <a:t>threshold</a:t>
            </a:r>
            <a:r>
              <a:rPr b="0" i="0" lang="en" sz="2000" u="none" cap="none" strike="noStrike">
                <a:solidFill>
                  <a:schemeClr val="dk1"/>
                </a:solidFill>
                <a:latin typeface="Nunito"/>
                <a:ea typeface="Nunito"/>
                <a:cs typeface="Nunito"/>
                <a:sym typeface="Nunito"/>
              </a:rPr>
              <a:t>: when enough lives are at stake, the theory defers to consequentialism. However, there is no clear, non-arbitrary way to determine “enough”.</a:t>
            </a:r>
            <a:endParaRPr b="0" i="0" sz="1700" u="none" cap="none" strike="noStrike">
              <a:solidFill>
                <a:srgbClr val="000000"/>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Nunito"/>
              <a:ea typeface="Nunito"/>
              <a:cs typeface="Nunito"/>
              <a:sym typeface="Nunito"/>
            </a:endParaRPr>
          </a:p>
          <a:p>
            <a:pPr indent="0" lvl="0" marL="0" marR="0" rtl="0" algn="l">
              <a:lnSpc>
                <a:spcPct val="115000"/>
              </a:lnSpc>
              <a:spcBef>
                <a:spcPts val="0"/>
              </a:spcBef>
              <a:spcAft>
                <a:spcPts val="0"/>
              </a:spcAft>
              <a:buClr>
                <a:srgbClr val="000000"/>
              </a:buClr>
              <a:buSzPts val="2000"/>
              <a:buFont typeface="Arial"/>
              <a:buNone/>
            </a:pPr>
            <a:r>
              <a:rPr b="0" i="1" lang="en" sz="2000" u="none" cap="none" strike="noStrike">
                <a:solidFill>
                  <a:srgbClr val="000000"/>
                </a:solidFill>
                <a:latin typeface="Nunito"/>
                <a:ea typeface="Nunito"/>
                <a:cs typeface="Nunito"/>
                <a:sym typeface="Nunito"/>
              </a:rPr>
              <a:t>Deontology holds constraints like promises over vastly better outcomes.</a:t>
            </a:r>
            <a:endParaRPr b="0" i="0" sz="2000" u="none" cap="none" strike="noStrike">
              <a:solidFill>
                <a:srgbClr val="000000"/>
              </a:solidFill>
              <a:latin typeface="Nunito"/>
              <a:ea typeface="Nunito"/>
              <a:cs typeface="Nunito"/>
              <a:sym typeface="Nunito"/>
            </a:endParaRPr>
          </a:p>
        </p:txBody>
      </p:sp>
      <p:sp>
        <p:nvSpPr>
          <p:cNvPr id="419" name="Google Shape;419;p50"/>
          <p:cNvSpPr txBox="1"/>
          <p:nvPr>
            <p:ph type="title"/>
          </p:nvPr>
        </p:nvSpPr>
        <p:spPr>
          <a:xfrm>
            <a:off x="423400" y="-12175"/>
            <a:ext cx="82971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Critiques of Deontology</a:t>
            </a:r>
            <a:endParaRPr sz="3600">
              <a:latin typeface="Nunito"/>
              <a:ea typeface="Nunito"/>
              <a:cs typeface="Nunito"/>
              <a:sym typeface="Nunito"/>
            </a:endParaRPr>
          </a:p>
        </p:txBody>
      </p:sp>
      <p:sp>
        <p:nvSpPr>
          <p:cNvPr id="420" name="Google Shape;420;p50"/>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421" name="Google Shape;421;p50"/>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32</a:t>
            </a:fld>
            <a:endParaRPr b="0" i="0" sz="1300" u="none" cap="none" strike="noStrike">
              <a:solidFill>
                <a:srgbClr val="FFFFFF"/>
              </a:solidFill>
              <a:latin typeface="Nunito"/>
              <a:ea typeface="Nunito"/>
              <a:cs typeface="Nunito"/>
              <a:sym typeface="Nunito"/>
            </a:endParaRPr>
          </a:p>
        </p:txBody>
      </p:sp>
      <p:sp>
        <p:nvSpPr>
          <p:cNvPr id="422" name="Google Shape;422;p50"/>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xEl>
                                              <p:pRg end="0" st="0"/>
                                            </p:txEl>
                                          </p:spTgt>
                                        </p:tgtEl>
                                        <p:attrNameLst>
                                          <p:attrName>style.visibility</p:attrName>
                                        </p:attrNameLst>
                                      </p:cBhvr>
                                      <p:to>
                                        <p:strVal val="visible"/>
                                      </p:to>
                                    </p:set>
                                    <p:animEffect filter="fade" transition="in">
                                      <p:cBhvr>
                                        <p:cTn dur="1000"/>
                                        <p:tgtEl>
                                          <p:spTgt spid="4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xEl>
                                              <p:pRg end="1" st="1"/>
                                            </p:txEl>
                                          </p:spTgt>
                                        </p:tgtEl>
                                        <p:attrNameLst>
                                          <p:attrName>style.visibility</p:attrName>
                                        </p:attrNameLst>
                                      </p:cBhvr>
                                      <p:to>
                                        <p:strVal val="visible"/>
                                      </p:to>
                                    </p:set>
                                    <p:animEffect filter="fade" transition="in">
                                      <p:cBhvr>
                                        <p:cTn dur="1000"/>
                                        <p:tgtEl>
                                          <p:spTgt spid="4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xEl>
                                              <p:pRg end="2" st="2"/>
                                            </p:txEl>
                                          </p:spTgt>
                                        </p:tgtEl>
                                        <p:attrNameLst>
                                          <p:attrName>style.visibility</p:attrName>
                                        </p:attrNameLst>
                                      </p:cBhvr>
                                      <p:to>
                                        <p:strVal val="visible"/>
                                      </p:to>
                                    </p:set>
                                    <p:animEffect filter="fade" transition="in">
                                      <p:cBhvr>
                                        <p:cTn dur="1000"/>
                                        <p:tgtEl>
                                          <p:spTgt spid="4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xEl>
                                              <p:pRg end="3" st="3"/>
                                            </p:txEl>
                                          </p:spTgt>
                                        </p:tgtEl>
                                        <p:attrNameLst>
                                          <p:attrName>style.visibility</p:attrName>
                                        </p:attrNameLst>
                                      </p:cBhvr>
                                      <p:to>
                                        <p:strVal val="visible"/>
                                      </p:to>
                                    </p:set>
                                    <p:animEffect filter="fade" transition="in">
                                      <p:cBhvr>
                                        <p:cTn dur="1000"/>
                                        <p:tgtEl>
                                          <p:spTgt spid="4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xEl>
                                              <p:pRg end="4" st="4"/>
                                            </p:txEl>
                                          </p:spTgt>
                                        </p:tgtEl>
                                        <p:attrNameLst>
                                          <p:attrName>style.visibility</p:attrName>
                                        </p:attrNameLst>
                                      </p:cBhvr>
                                      <p:to>
                                        <p:strVal val="visible"/>
                                      </p:to>
                                    </p:set>
                                    <p:animEffect filter="fade" transition="in">
                                      <p:cBhvr>
                                        <p:cTn dur="1000"/>
                                        <p:tgtEl>
                                          <p:spTgt spid="4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xEl>
                                              <p:pRg end="5" st="5"/>
                                            </p:txEl>
                                          </p:spTgt>
                                        </p:tgtEl>
                                        <p:attrNameLst>
                                          <p:attrName>style.visibility</p:attrName>
                                        </p:attrNameLst>
                                      </p:cBhvr>
                                      <p:to>
                                        <p:strVal val="visible"/>
                                      </p:to>
                                    </p:set>
                                    <p:animEffect filter="fade" transition="in">
                                      <p:cBhvr>
                                        <p:cTn dur="1000"/>
                                        <p:tgtEl>
                                          <p:spTgt spid="41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8">
                                            <p:txEl>
                                              <p:pRg end="6" st="6"/>
                                            </p:txEl>
                                          </p:spTgt>
                                        </p:tgtEl>
                                        <p:attrNameLst>
                                          <p:attrName>style.visibility</p:attrName>
                                        </p:attrNameLst>
                                      </p:cBhvr>
                                      <p:to>
                                        <p:strVal val="visible"/>
                                      </p:to>
                                    </p:set>
                                    <p:animEffect filter="fade" transition="in">
                                      <p:cBhvr>
                                        <p:cTn dur="1000"/>
                                        <p:tgtEl>
                                          <p:spTgt spid="418">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89"/>
          <p:cNvSpPr txBox="1"/>
          <p:nvPr>
            <p:ph type="title"/>
          </p:nvPr>
        </p:nvSpPr>
        <p:spPr>
          <a:xfrm>
            <a:off x="100" y="-12175"/>
            <a:ext cx="914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600"/>
              <a:buNone/>
            </a:pPr>
            <a:r>
              <a:rPr lang="en"/>
              <a:t>Chapter Recap</a:t>
            </a:r>
            <a:endParaRPr/>
          </a:p>
        </p:txBody>
      </p:sp>
      <p:sp>
        <p:nvSpPr>
          <p:cNvPr id="800" name="Google Shape;800;p89"/>
          <p:cNvSpPr txBox="1"/>
          <p:nvPr/>
        </p:nvSpPr>
        <p:spPr>
          <a:xfrm>
            <a:off x="175" y="4838700"/>
            <a:ext cx="9144000" cy="305100"/>
          </a:xfrm>
          <a:prstGeom prst="rect">
            <a:avLst/>
          </a:prstGeom>
          <a:solidFill>
            <a:srgbClr val="A20C0C"/>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FFFFFF"/>
              </a:solidFill>
              <a:latin typeface="Nunito"/>
              <a:ea typeface="Nunito"/>
              <a:cs typeface="Nunito"/>
              <a:sym typeface="Nunito"/>
            </a:endParaRPr>
          </a:p>
        </p:txBody>
      </p:sp>
      <p:sp>
        <p:nvSpPr>
          <p:cNvPr id="801" name="Google Shape;801;p89"/>
          <p:cNvSpPr txBox="1"/>
          <p:nvPr/>
        </p:nvSpPr>
        <p:spPr>
          <a:xfrm>
            <a:off x="8624864" y="4794442"/>
            <a:ext cx="548700" cy="393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 sz="1300" u="none" cap="none" strike="noStrike">
                <a:solidFill>
                  <a:srgbClr val="FFFFFF"/>
                </a:solidFill>
                <a:latin typeface="Nunito"/>
                <a:ea typeface="Nunito"/>
                <a:cs typeface="Nunito"/>
                <a:sym typeface="Nunito"/>
              </a:rPr>
              <a:t>33</a:t>
            </a:fld>
            <a:endParaRPr b="0" i="0" sz="1300" u="none" cap="none" strike="noStrike">
              <a:solidFill>
                <a:srgbClr val="FFFFFF"/>
              </a:solidFill>
              <a:latin typeface="Nunito"/>
              <a:ea typeface="Nunito"/>
              <a:cs typeface="Nunito"/>
              <a:sym typeface="Nunito"/>
            </a:endParaRPr>
          </a:p>
        </p:txBody>
      </p:sp>
      <p:sp>
        <p:nvSpPr>
          <p:cNvPr id="802" name="Google Shape;802;p89"/>
          <p:cNvSpPr txBox="1"/>
          <p:nvPr/>
        </p:nvSpPr>
        <p:spPr>
          <a:xfrm>
            <a:off x="-28146" y="4799025"/>
            <a:ext cx="4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FFFFFF"/>
                </a:solidFill>
                <a:latin typeface="Nunito"/>
                <a:ea typeface="Nunito"/>
                <a:cs typeface="Nunito"/>
                <a:sym typeface="Nunito"/>
              </a:rPr>
              <a:t>Introduction to AI SES</a:t>
            </a:r>
            <a:endParaRPr b="0" i="0" sz="1300" u="none" cap="none" strike="noStrike">
              <a:solidFill>
                <a:srgbClr val="FFFFFF"/>
              </a:solidFill>
              <a:latin typeface="Nunito"/>
              <a:ea typeface="Nunito"/>
              <a:cs typeface="Nunito"/>
              <a:sym typeface="Nunito"/>
            </a:endParaRPr>
          </a:p>
        </p:txBody>
      </p:sp>
      <p:sp>
        <p:nvSpPr>
          <p:cNvPr id="803" name="Google Shape;803;p89"/>
          <p:cNvSpPr txBox="1"/>
          <p:nvPr/>
        </p:nvSpPr>
        <p:spPr>
          <a:xfrm>
            <a:off x="423625" y="753750"/>
            <a:ext cx="8330100" cy="4140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Ethics is the study of moral principles that guide decisions and actions.</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rPr b="0" i="0" lang="en" sz="2000" u="none" cap="none" strike="noStrike">
                <a:solidFill>
                  <a:schemeClr val="dk1"/>
                </a:solidFill>
                <a:latin typeface="Nunito"/>
                <a:ea typeface="Nunito"/>
                <a:cs typeface="Nunito"/>
                <a:sym typeface="Nunito"/>
              </a:rPr>
              <a:t>AI researchers can use ethics to guide development and governance.</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Moral considerations </a:t>
            </a:r>
            <a:r>
              <a:rPr lang="en" sz="2000">
                <a:solidFill>
                  <a:schemeClr val="dk1"/>
                </a:solidFill>
                <a:latin typeface="Nunito"/>
                <a:ea typeface="Nunito"/>
                <a:cs typeface="Nunito"/>
                <a:sym typeface="Nunito"/>
              </a:rPr>
              <a:t>include goodness, constraints, special obligations, and more.</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Nunito"/>
                <a:ea typeface="Nunito"/>
                <a:cs typeface="Nunito"/>
                <a:sym typeface="Nunito"/>
              </a:rPr>
              <a:t>Utilitarianism focuses on </a:t>
            </a:r>
            <a:r>
              <a:rPr b="0" i="0" lang="en" sz="2000" u="none" cap="none" strike="noStrike">
                <a:solidFill>
                  <a:schemeClr val="dk1"/>
                </a:solidFill>
                <a:latin typeface="Nunito"/>
                <a:ea typeface="Nunito"/>
                <a:cs typeface="Nunito"/>
                <a:sym typeface="Nunito"/>
              </a:rPr>
              <a:t>consequences and wellb</a:t>
            </a:r>
            <a:r>
              <a:rPr lang="en" sz="2000">
                <a:solidFill>
                  <a:schemeClr val="dk1"/>
                </a:solidFill>
                <a:latin typeface="Nunito"/>
                <a:ea typeface="Nunito"/>
                <a:cs typeface="Nunito"/>
                <a:sym typeface="Nunito"/>
              </a:rPr>
              <a:t>eing</a:t>
            </a:r>
            <a:r>
              <a:rPr b="0" i="0" lang="en" sz="2000" u="none" cap="none" strike="noStrike">
                <a:solidFill>
                  <a:schemeClr val="dk1"/>
                </a:solidFill>
                <a:latin typeface="Nunito"/>
                <a:ea typeface="Nunito"/>
                <a:cs typeface="Nunito"/>
                <a:sym typeface="Nunito"/>
              </a:rPr>
              <a:t>; deontology on constraints</a:t>
            </a:r>
            <a:r>
              <a:rPr lang="en" sz="2000">
                <a:solidFill>
                  <a:schemeClr val="dk1"/>
                </a:solidFill>
                <a:latin typeface="Nunito"/>
                <a:ea typeface="Nunito"/>
                <a:cs typeface="Nunito"/>
                <a:sym typeface="Nunito"/>
              </a:rPr>
              <a:t>.</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Nunito"/>
              <a:ea typeface="Nunito"/>
              <a:cs typeface="Nunito"/>
              <a:sym typeface="Nunito"/>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Nunito"/>
              <a:ea typeface="Nunito"/>
              <a:cs typeface="Nunito"/>
              <a:sym typeface="Nuni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0" st="0"/>
                                            </p:txEl>
                                          </p:spTgt>
                                        </p:tgtEl>
                                        <p:attrNameLst>
                                          <p:attrName>style.visibility</p:attrName>
                                        </p:attrNameLst>
                                      </p:cBhvr>
                                      <p:to>
                                        <p:strVal val="visible"/>
                                      </p:to>
                                    </p:set>
                                    <p:animEffect filter="fade" transition="in">
                                      <p:cBhvr>
                                        <p:cTn dur="1000"/>
                                        <p:tgtEl>
                                          <p:spTgt spid="8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1" st="1"/>
                                            </p:txEl>
                                          </p:spTgt>
                                        </p:tgtEl>
                                        <p:attrNameLst>
                                          <p:attrName>style.visibility</p:attrName>
                                        </p:attrNameLst>
                                      </p:cBhvr>
                                      <p:to>
                                        <p:strVal val="visible"/>
                                      </p:to>
                                    </p:set>
                                    <p:animEffect filter="fade" transition="in">
                                      <p:cBhvr>
                                        <p:cTn dur="1000"/>
                                        <p:tgtEl>
                                          <p:spTgt spid="8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2" st="2"/>
                                            </p:txEl>
                                          </p:spTgt>
                                        </p:tgtEl>
                                        <p:attrNameLst>
                                          <p:attrName>style.visibility</p:attrName>
                                        </p:attrNameLst>
                                      </p:cBhvr>
                                      <p:to>
                                        <p:strVal val="visible"/>
                                      </p:to>
                                    </p:set>
                                    <p:animEffect filter="fade" transition="in">
                                      <p:cBhvr>
                                        <p:cTn dur="1000"/>
                                        <p:tgtEl>
                                          <p:spTgt spid="8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3" st="3"/>
                                            </p:txEl>
                                          </p:spTgt>
                                        </p:tgtEl>
                                        <p:attrNameLst>
                                          <p:attrName>style.visibility</p:attrName>
                                        </p:attrNameLst>
                                      </p:cBhvr>
                                      <p:to>
                                        <p:strVal val="visible"/>
                                      </p:to>
                                    </p:set>
                                    <p:animEffect filter="fade" transition="in">
                                      <p:cBhvr>
                                        <p:cTn dur="1000"/>
                                        <p:tgtEl>
                                          <p:spTgt spid="8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4" st="4"/>
                                            </p:txEl>
                                          </p:spTgt>
                                        </p:tgtEl>
                                        <p:attrNameLst>
                                          <p:attrName>style.visibility</p:attrName>
                                        </p:attrNameLst>
                                      </p:cBhvr>
                                      <p:to>
                                        <p:strVal val="visible"/>
                                      </p:to>
                                    </p:set>
                                    <p:animEffect filter="fade" transition="in">
                                      <p:cBhvr>
                                        <p:cTn dur="1000"/>
                                        <p:tgtEl>
                                          <p:spTgt spid="8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5" st="5"/>
                                            </p:txEl>
                                          </p:spTgt>
                                        </p:tgtEl>
                                        <p:attrNameLst>
                                          <p:attrName>style.visibility</p:attrName>
                                        </p:attrNameLst>
                                      </p:cBhvr>
                                      <p:to>
                                        <p:strVal val="visible"/>
                                      </p:to>
                                    </p:set>
                                    <p:animEffect filter="fade" transition="in">
                                      <p:cBhvr>
                                        <p:cTn dur="1000"/>
                                        <p:tgtEl>
                                          <p:spTgt spid="8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6" st="6"/>
                                            </p:txEl>
                                          </p:spTgt>
                                        </p:tgtEl>
                                        <p:attrNameLst>
                                          <p:attrName>style.visibility</p:attrName>
                                        </p:attrNameLst>
                                      </p:cBhvr>
                                      <p:to>
                                        <p:strVal val="visible"/>
                                      </p:to>
                                    </p:set>
                                    <p:animEffect filter="fade" transition="in">
                                      <p:cBhvr>
                                        <p:cTn dur="1000"/>
                                        <p:tgtEl>
                                          <p:spTgt spid="8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7" st="7"/>
                                            </p:txEl>
                                          </p:spTgt>
                                        </p:tgtEl>
                                        <p:attrNameLst>
                                          <p:attrName>style.visibility</p:attrName>
                                        </p:attrNameLst>
                                      </p:cBhvr>
                                      <p:to>
                                        <p:strVal val="visible"/>
                                      </p:to>
                                    </p:set>
                                    <p:animEffect filter="fade" transition="in">
                                      <p:cBhvr>
                                        <p:cTn dur="1000"/>
                                        <p:tgtEl>
                                          <p:spTgt spid="80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8" st="8"/>
                                            </p:txEl>
                                          </p:spTgt>
                                        </p:tgtEl>
                                        <p:attrNameLst>
                                          <p:attrName>style.visibility</p:attrName>
                                        </p:attrNameLst>
                                      </p:cBhvr>
                                      <p:to>
                                        <p:strVal val="visible"/>
                                      </p:to>
                                    </p:set>
                                    <p:animEffect filter="fade" transition="in">
                                      <p:cBhvr>
                                        <p:cTn dur="1000"/>
                                        <p:tgtEl>
                                          <p:spTgt spid="80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3">
                                            <p:txEl>
                                              <p:pRg end="9" st="9"/>
                                            </p:txEl>
                                          </p:spTgt>
                                        </p:tgtEl>
                                        <p:attrNameLst>
                                          <p:attrName>style.visibility</p:attrName>
                                        </p:attrNameLst>
                                      </p:cBhvr>
                                      <p:to>
                                        <p:strVal val="visible"/>
                                      </p:to>
                                    </p:set>
                                    <p:animEffect filter="fade" transition="in">
                                      <p:cBhvr>
                                        <p:cTn dur="1000"/>
                                        <p:tgtEl>
                                          <p:spTgt spid="80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