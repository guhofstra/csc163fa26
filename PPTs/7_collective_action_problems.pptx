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0" r:id="rId21"/>
    <p:sldId id="274" r:id="rId25"/>
    <p:sldId id="275" r:id="rId26"/>
    <p:sldId id="276" r:id="rId27"/>
    <p:sldId id="279" r:id="rId30"/>
    <p:sldId id="280" r:id="rId31"/>
    <p:sldId id="281" r:id="rId32"/>
    <p:sldId id="286" r:id="rId37"/>
    <p:sldId id="290" r:id="rId41"/>
    <p:sldId id="292" r:id="rId43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5" r:id="rId76"/>
    <p:sldId id="326" r:id="rId77"/>
    <p:sldId id="328" r:id="rId79"/>
    <p:sldId id="329" r:id="rId80"/>
    <p:sldId id="331" r:id="rId82"/>
    <p:sldId id="332" r:id="rId83"/>
    <p:sldId id="333" r:id="rId84"/>
    <p:sldId id="334" r:id="rId85"/>
    <p:sldId id="336" r:id="rId87"/>
    <p:sldId id="337" r:id="rId88"/>
    <p:sldId id="338" r:id="rId89"/>
    <p:sldId id="341" r:id="rId92"/>
    <p:sldId id="342" r:id="rId93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62" r:id="rId113"/>
    <p:sldId id="363" r:id="rId114"/>
    <p:sldId id="364" r:id="rId115"/>
    <p:sldId id="365" r:id="rId116"/>
    <p:sldId id="366" r:id="rId117"/>
  </p:sldIdLst>
  <p:sldSz cy="5143500" cx="9144000"/>
  <p:notesSz cx="6858000" cy="9144000"/>
  <p:embeddedFontLst>
    <p:embeddedFont>
      <p:font typeface="Port Lligat Sans"/>
      <p:regular r:id="rId118"/>
    </p:embeddedFont>
    <p:embeddedFont>
      <p:font typeface="Telex"/>
      <p:regular r:id="rId119"/>
    </p:embeddedFont>
    <p:embeddedFont>
      <p:font typeface="Nunito ExtraLight"/>
      <p:regular r:id="rId120"/>
      <p:bold r:id="rId121"/>
      <p:italic r:id="rId122"/>
      <p:boldItalic r:id="rId123"/>
    </p:embeddedFont>
    <p:embeddedFont>
      <p:font typeface="Nunito"/>
      <p:regular r:id="rId124"/>
      <p:bold r:id="rId125"/>
      <p:italic r:id="rId126"/>
      <p:boldItalic r:id="rId127"/>
    </p:embeddedFont>
    <p:embeddedFont>
      <p:font typeface="Nunito ExtraBold"/>
      <p:bold r:id="rId128"/>
      <p:boldItalic r:id="rId129"/>
    </p:embeddedFont>
    <p:embeddedFont>
      <p:font typeface="Nunito Light"/>
      <p:regular r:id="rId130"/>
      <p:bold r:id="rId131"/>
      <p:italic r:id="rId132"/>
      <p:boldItalic r:id="rId1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8556DB-5D24-4421-870F-945F8C4A75FA}">
  <a:tblStyle styleId="{E48556DB-5D24-4421-870F-945F8C4A75F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82EEBB4-F0D0-45D1-9AFE-A25BF1303B6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1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7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5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0" Type="http://schemas.openxmlformats.org/officeDocument/2006/relationships/slide" Target="slides/slide28.xml"/><Relationship Id="rId51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38.xml"/><Relationship Id="rId70" Type="http://schemas.openxmlformats.org/officeDocument/2006/relationships/slide" Target="slides/slide39.xml"/><Relationship Id="rId71" Type="http://schemas.openxmlformats.org/officeDocument/2006/relationships/slide" Target="slides/slide40.xml"/><Relationship Id="rId72" Type="http://schemas.openxmlformats.org/officeDocument/2006/relationships/slide" Target="slides/slide41.xml"/><Relationship Id="rId73" Type="http://schemas.openxmlformats.org/officeDocument/2006/relationships/slide" Target="slides/slide42.xml"/><Relationship Id="rId76" Type="http://schemas.openxmlformats.org/officeDocument/2006/relationships/slide" Target="slides/slide43.xml"/><Relationship Id="rId77" Type="http://schemas.openxmlformats.org/officeDocument/2006/relationships/slide" Target="slides/slide44.xml"/><Relationship Id="rId79" Type="http://schemas.openxmlformats.org/officeDocument/2006/relationships/slide" Target="slides/slide45.xml"/><Relationship Id="rId80" Type="http://schemas.openxmlformats.org/officeDocument/2006/relationships/slide" Target="slides/slide46.xml"/><Relationship Id="rId82" Type="http://schemas.openxmlformats.org/officeDocument/2006/relationships/slide" Target="slides/slide47.xml"/><Relationship Id="rId83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2" Type="http://schemas.openxmlformats.org/officeDocument/2006/relationships/slide" Target="slides/slide54.xml"/><Relationship Id="rId93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0" Type="http://schemas.openxmlformats.org/officeDocument/2006/relationships/slide" Target="slides/slide60.xml"/><Relationship Id="rId101" Type="http://schemas.openxmlformats.org/officeDocument/2006/relationships/slide" Target="slides/slide61.xml"/><Relationship Id="rId102" Type="http://schemas.openxmlformats.org/officeDocument/2006/relationships/slide" Target="slides/slide62.xml"/><Relationship Id="rId103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Relationship Id="rId115" Type="http://schemas.openxmlformats.org/officeDocument/2006/relationships/slide" Target="slides/slide66.xml"/><Relationship Id="rId116" Type="http://schemas.openxmlformats.org/officeDocument/2006/relationships/slide" Target="slides/slide67.xml"/><Relationship Id="rId117" Type="http://schemas.openxmlformats.org/officeDocument/2006/relationships/slide" Target="slides/slide68.xml"/><Relationship Id="rId118" Type="http://schemas.openxmlformats.org/officeDocument/2006/relationships/font" Target="fonts/PortLligatSans-regular.fntdata"/><Relationship Id="rId119" Type="http://schemas.openxmlformats.org/officeDocument/2006/relationships/font" Target="fonts/Telex-regular.fntdata"/><Relationship Id="rId120" Type="http://schemas.openxmlformats.org/officeDocument/2006/relationships/font" Target="fonts/NunitoExtraLight-regular.fntdata"/><Relationship Id="rId121" Type="http://schemas.openxmlformats.org/officeDocument/2006/relationships/font" Target="fonts/NunitoExtraLight-bold.fntdata"/><Relationship Id="rId122" Type="http://schemas.openxmlformats.org/officeDocument/2006/relationships/font" Target="fonts/NunitoExtraLight-italic.fntdata"/><Relationship Id="rId123" Type="http://schemas.openxmlformats.org/officeDocument/2006/relationships/font" Target="fonts/NunitoExtraLight-boldItalic.fntdata"/><Relationship Id="rId124" Type="http://schemas.openxmlformats.org/officeDocument/2006/relationships/font" Target="fonts/Nunito-regular.fntdata"/><Relationship Id="rId125" Type="http://schemas.openxmlformats.org/officeDocument/2006/relationships/font" Target="fonts/Nunito-bold.fntdata"/><Relationship Id="rId126" Type="http://schemas.openxmlformats.org/officeDocument/2006/relationships/font" Target="fonts/Nunito-italic.fntdata"/><Relationship Id="rId127" Type="http://schemas.openxmlformats.org/officeDocument/2006/relationships/font" Target="fonts/Nunito-boldItalic.fntdata"/><Relationship Id="rId128" Type="http://schemas.openxmlformats.org/officeDocument/2006/relationships/font" Target="fonts/NunitoExtraBold-bold.fntdata"/><Relationship Id="rId129" Type="http://schemas.openxmlformats.org/officeDocument/2006/relationships/font" Target="fonts/NunitoExtraBold-boldItalic.fntdata"/><Relationship Id="rId130" Type="http://schemas.openxmlformats.org/officeDocument/2006/relationships/font" Target="fonts/NunitoLight-regular.fntdata"/><Relationship Id="rId131" Type="http://schemas.openxmlformats.org/officeDocument/2006/relationships/font" Target="fonts/NunitoLight-bold.fntdata"/><Relationship Id="rId132" Type="http://schemas.openxmlformats.org/officeDocument/2006/relationships/font" Target="fonts/NunitoLight-italic.fntdata"/><Relationship Id="rId133" Type="http://schemas.openxmlformats.org/officeDocument/2006/relationships/font" Target="fonts/Nunito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url?sa=i&amp;url=https%3A%2F%2Femerj.com%2Fai-sector-overviews%2Fai-drones-and-uavs-in-the-military-current-applications%2F&amp;psig=AOvVaw136byjMFamA8VBxjFzJVXw&amp;ust=1692994079507000&amp;source=images&amp;cd=vfe&amp;opi=89978449&amp;ved=0CA8QjRxqFwoTCOjlwseM9oADFQAAAAAdAAAAABAE" TargetMode="External"/><Relationship Id="rId3" Type="http://schemas.openxmlformats.org/officeDocument/2006/relationships/hyperlink" Target="https://www.google.com/url?sa=i&amp;url=https%3A%2F%2Fwww.atlasobscura.com%2Farticles%2F70-years-ago-the-us-military-set-off-a-nuke-underwater-and-it-went-very-badly&amp;psig=AOvVaw0kJoYXTQbvI7oIlH4N6GhM&amp;ust=1692993880325000&amp;source=images&amp;cd=vfe&amp;opi=89978449&amp;ved=0CA8QjRxqFwoTCKiJp_SP9oADFQAAAAAdAAAAABAE" TargetMode="External"/><Relationship Id="rId4" Type="http://schemas.openxmlformats.org/officeDocument/2006/relationships/hyperlink" Target="https://www.google.com/url?sa=i&amp;url=https%3A%2F%2Fwww.gunnersoutlet.com%2Fv_21%2Fnews%2Fgunpowder-components-and-history%2F&amp;psig=AOvVaw0pUSOPr_thTRZbV3rJC0au&amp;ust=1692993831432000&amp;source=images&amp;cd=vfe&amp;opi=89978449&amp;ved=0CA8QjRxqFwoTCOiuyvmP9oADFQAAAAAdAAAAABAE" TargetMode="Externa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url?sa=i&amp;url=https%3A%2F%2Femerj.com%2Fai-sector-overviews%2Fai-drones-and-uavs-in-the-military-current-applications%2F&amp;psig=AOvVaw136byjMFamA8VBxjFzJVXw&amp;ust=1692994079507000&amp;source=images&amp;cd=vfe&amp;opi=89978449&amp;ved=0CA8QjRxqFwoTCOjlwseM9oADFQAAAAAdAAAAABAE" TargetMode="External"/><Relationship Id="rId3" Type="http://schemas.openxmlformats.org/officeDocument/2006/relationships/hyperlink" Target="https://www.google.com/url?sa=i&amp;url=https%3A%2F%2Fwww.atlasobscura.com%2Farticles%2F70-years-ago-the-us-military-set-off-a-nuke-underwater-and-it-went-very-badly&amp;psig=AOvVaw0kJoYXTQbvI7oIlH4N6GhM&amp;ust=1692993880325000&amp;source=images&amp;cd=vfe&amp;opi=89978449&amp;ved=0CA8QjRxqFwoTCKiJp_SP9oADFQAAAAAdAAAAABAE" TargetMode="External"/><Relationship Id="rId4" Type="http://schemas.openxmlformats.org/officeDocument/2006/relationships/hyperlink" Target="https://www.google.com/url?sa=i&amp;url=https%3A%2F%2Fwww.gunnersoutlet.com%2Fv_21%2Fnews%2Fgunpowder-components-and-history%2F&amp;psig=AOvVaw0pUSOPr_thTRZbV3rJC0au&amp;ust=1692993831432000&amp;source=images&amp;cd=vfe&amp;opi=89978449&amp;ved=0CA8QjRxqFwoTCOiuyvmP9oADFQAAAAAdAAAAABAE" TargetMode="Externa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Dicrocoelium_dendriticum" TargetMode="External"/><Relationship Id="rId3" Type="http://schemas.openxmlformats.org/officeDocument/2006/relationships/hyperlink" Target="https://unsplash.com/s/photos/ant" TargetMode="External"/><Relationship Id="rId4" Type="http://schemas.openxmlformats.org/officeDocument/2006/relationships/hyperlink" Target="https://pixabay.com/images/search/cow/" TargetMode="Externa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Dicrocoelium_dendriticum" TargetMode="External"/><Relationship Id="rId3" Type="http://schemas.openxmlformats.org/officeDocument/2006/relationships/hyperlink" Target="https://pixabay.com/images/search/cow/" TargetMode="Externa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Dicrocoelium_dendriticum" TargetMode="External"/><Relationship Id="rId3" Type="http://schemas.openxmlformats.org/officeDocument/2006/relationships/hyperlink" Target="https://pixabay.com/images/search/cow/" TargetMode="Externa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79a1dd06c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2a79a1dd06c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79a1dd06c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2a79a1dd06c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25c2dca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2725c2dca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https://www.safe.ai/statement-on-ai-risk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79a1dd06c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2a79a1dd06c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79a1dd06c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2a79a1dd06c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79a1dd06c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2a79a1dd06c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79a1dd06c_0_1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2a79a1dd06c_0_1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a79a1dd06c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2a79a1dd06c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79a1dd06c_0_1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2a79a1dd06c_0_1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a79a1dd06c_0_1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2a79a1dd06c_0_1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a79a1dd06c_0_1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2a79a1dd06c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a79a1dd06c_0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2a79a1dd06c_0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a79a1dd06c_0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2a79a1dd06c_0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a79a1dd06c_0_2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2a79a1dd06c_0_2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a79a1dd06c_0_2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2a79a1dd06c_0_2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a79a1dd06c_0_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g2a79a1dd06c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more on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autonomous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economies, see slides 24–26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a79a1dd06c_0_2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g2a79a1dd06c_0_2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www.google.com/url?sa=i&amp;url=https%3A%2F%2Femerj.com%2Fai-sector-overviews%2Fai-drones-and-uavs-in-the-military-current-applications%2F&amp;psig=AOvVaw136byjMFamA8VBxjFzJVXw&amp;ust=1692994079507000&amp;source=images&amp;cd=vfe&amp;opi=89978449&amp;ved=0CA8QjRxqFwoTCOjlwseM9oADFQAAAAAdAAAAAB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google.com/url?sa=i&amp;url=https%3A%2F%2Fwww.atlasobscura.com%2Farticles%2F70-years-ago-the-us-military-set-off-a-nuke-underwater-and-it-went-very-badly&amp;psig=AOvVaw0kJoYXTQbvI7oIlH4N6GhM&amp;ust=1692993880325000&amp;source=images&amp;cd=vfe&amp;opi=89978449&amp;ved=0CA8QjRxqFwoTCKiJp_SP9oADFQAAAAAdAAAAAB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google.com/url?sa=i&amp;url=https%3A%2F%2Fwww.gunnersoutlet.com%2Fv_21%2Fnews%2Fgunpowder-components-and-history%2F&amp;psig=AOvVaw0pUSOPr_thTRZbV3rJC0au&amp;ust=1692993831432000&amp;source=images&amp;cd=vfe&amp;opi=89978449&amp;ved=0CA8QjRxqFwoTCOiuyvmP9oADFQAAAAAdAAAAAB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a79a1dd06c_0_2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g2a79a1dd06c_0_2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www.google.com/url?sa=i&amp;url=https%3A%2F%2Femerj.com%2Fai-sector-overviews%2Fai-drones-and-uavs-in-the-military-current-applications%2F&amp;psig=AOvVaw136byjMFamA8VBxjFzJVXw&amp;ust=1692994079507000&amp;source=images&amp;cd=vfe&amp;opi=89978449&amp;ved=0CA8QjRxqFwoTCOjlwseM9oADFQAAAAAdAAAAAB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google.com/url?sa=i&amp;url=https%3A%2F%2Fwww.atlasobscura.com%2Farticles%2F70-years-ago-the-us-military-set-off-a-nuke-underwater-and-it-went-very-badly&amp;psig=AOvVaw0kJoYXTQbvI7oIlH4N6GhM&amp;ust=1692993880325000&amp;source=images&amp;cd=vfe&amp;opi=89978449&amp;ved=0CA8QjRxqFwoTCKiJp_SP9oADFQAAAAAdAAAAAB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google.com/url?sa=i&amp;url=https%3A%2F%2Fwww.gunnersoutlet.com%2Fv_21%2Fnews%2Fgunpowder-components-and-history%2F&amp;psig=AOvVaw0pUSOPr_thTRZbV3rJC0au&amp;ust=1692993831432000&amp;source=images&amp;cd=vfe&amp;opi=89978449&amp;ved=0CA8QjRxqFwoTCOiuyvmP9oADFQAAAAAdAAAAAB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a79a1dd06c_0_2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g2a79a1dd06c_0_2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a79a1dd06c_0_2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2a79a1dd06c_0_2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a79a1dd06c_0_2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g2a79a1dd06c_0_2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a79a1dd06c_0_2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g2a79a1dd06c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a79a1dd06c_0_2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g2a79a1dd06c_0_2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a79a1dd06c_0_2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g2a79a1dd06c_0_2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a79a1dd06c_0_2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g2a79a1dd06c_0_2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a79a1dd06c_0_2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2a79a1dd06c_0_2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a79a1dd06c_0_2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g2a79a1dd06c_0_2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bfb1e099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g2bfb1e099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a79a1dd06c_0_3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g2a79a1dd06c_0_3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c995bf5c2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g2c995bf5c2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2accae31fd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2accae31fd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accae31fd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accae31fd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Rules for the Evolution of Cooperation by MA Nowak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gazelle example to talk about psychological egoism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accae31fd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accae31fd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a79a1dd06c_0_3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6" name="Google Shape;1236;g2a79a1dd06c_0_3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a79a1dd06c_0_3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g2a79a1dd06c_0_3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accae31fd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4" name="Google Shape;1254;g2accae31fd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c010f6d459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3" name="Google Shape;1263;g2c010f6d459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725c2dca6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g2725c2dca6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levels in the future like AIs cooperating or defecting with each other or with humans, groups of humans, etc.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2bfb1e099f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g2bfb1e099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2a79a1dd06c_0_3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1" name="Google Shape;1291;g2a79a1dd06c_0_3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2e2834f62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0" name="Google Shape;1300;g2e2834f62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e2834f621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9" name="Google Shape;1309;g2e2834f62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a79a1dd06c_0_3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8" name="Google Shape;1398;g2a79a1dd06c_0_3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2a79a1dd06c_0_3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8" name="Google Shape;1408;g2a79a1dd06c_0_3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a79a1dd06c_0_3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g2a79a1dd06c_0_3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a79a1dd06c_0_3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g2a79a1dd06c_0_3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a79a1dd06c_0_3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7" name="Google Shape;1507;g2a79a1dd06c_0_3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a79a1dd06c_0_3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6" name="Google Shape;1516;g2a79a1dd06c_0_3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2a79a1dd06c_0_3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3" name="Google Shape;1533;g2a79a1dd06c_0_3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a79a1dd06c_0_3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3" name="Google Shape;1543;g2a79a1dd06c_0_3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2a79a1dd06c_0_3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1" name="Google Shape;1611;g2a79a1dd06c_0_3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2a79a1dd06c_0_3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0" name="Google Shape;1620;g2a79a1dd06c_0_3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2bfb1e099f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9" name="Google Shape;1629;g2bfb1e099f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2c995bf5c2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2c995bf5c2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2835ee4a9f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2835ee4a9f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bfb1e099f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2" name="Google Shape;1712;g2bfb1e099f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2c995bf5c2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2c995bf5c2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Arguments for variation: ensembles &gt; individual models, jury theorems, portfolio theory -&gt; variation reduces vulnerability (wheat example)</a:t>
            </a:r>
            <a:endParaRPr sz="1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Arguments for multiple models: parallelization, multiple stakeholders with different interests, specific/niche models come before general</a:t>
            </a:r>
            <a:endParaRPr sz="1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1 AI agent dominates in the future, development of AI will be so fast that narrower/simpler AI will fail to find applications in the timeframe before AGI</a:t>
            </a:r>
            <a:endParaRPr sz="1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c995bf5c2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c995bf5c2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2c995bf5c2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2c995bf5c2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c995bf5c21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c995bf5c21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c995bf5c21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3" name="Google Shape;1783;g2c995bf5c21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2c995bf5c21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g2c995bf5c21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Mitchell, Robert W. (1986), "A framework for discussing deception"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https://en.wikipedia.org/wiki/Deception_in_animals#Levels_of_deception_in_animals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https://adgefficiency.com/four-competences/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2bfb1e099f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3" name="Google Shape;1803;g2bfb1e099f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2bfb1e099fa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6" name="Google Shape;1926;g2bfb1e099fa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https://en.wikipedia.org/wiki/Dicrocoelium_dendriticum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https://unsplash.com/s/photos/ant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https://pixabay.com/images/search/cow/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bfb1e099f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8" name="Google Shape;1938;g2bfb1e099f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https://en.wikipedia.org/wiki/Dicrocoelium_dendriticum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https://pixabay.com/images/search/cow/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2bfb1e099fa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7" name="Google Shape;1947;g2bfb1e099f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https://en.wikipedia.org/wiki/Dicrocoelium_dendriticum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https://pixabay.com/images/search/cow/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2bfb1e099fa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6" name="Google Shape;1956;g2bfb1e099f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2a79a1dd06c_0_3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5" name="Google Shape;1965;g2a79a1dd06c_0_3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rt Lligat Sans"/>
              <a:buNone/>
              <a:defRPr b="0" i="0" sz="2800" u="none" cap="none" strike="noStrike">
                <a:solidFill>
                  <a:schemeClr val="dk1"/>
                </a:solidFill>
                <a:latin typeface="Port Lligat Sans"/>
                <a:ea typeface="Port Lligat Sans"/>
                <a:cs typeface="Port Lligat Sans"/>
                <a:sym typeface="Port Lliga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elex"/>
              <a:buChar char="●"/>
              <a:defRPr b="0" i="0" sz="18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○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■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●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○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■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●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elex"/>
              <a:buChar char="○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Telex"/>
              <a:buChar char="■"/>
              <a:defRPr b="0" i="0" sz="1400" u="none" cap="none" strike="noStrike">
                <a:solidFill>
                  <a:schemeClr val="dk2"/>
                </a:solidFill>
                <a:latin typeface="Telex"/>
                <a:ea typeface="Telex"/>
                <a:cs typeface="Telex"/>
                <a:sym typeface="Telex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5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4.png"/><Relationship Id="rId9" Type="http://schemas.openxmlformats.org/officeDocument/2006/relationships/image" Target="../media/image14.png"/><Relationship Id="rId10" Type="http://schemas.openxmlformats.org/officeDocument/2006/relationships/image" Target="../media/image12.png"/><Relationship Id="rId11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33.png"/><Relationship Id="rId6" Type="http://schemas.openxmlformats.org/officeDocument/2006/relationships/image" Target="../media/image50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59.png"/><Relationship Id="rId5" Type="http://schemas.openxmlformats.org/officeDocument/2006/relationships/image" Target="../media/image6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Relationship Id="rId4" Type="http://schemas.openxmlformats.org/officeDocument/2006/relationships/image" Target="../media/image58.png"/><Relationship Id="rId5" Type="http://schemas.openxmlformats.org/officeDocument/2006/relationships/image" Target="../media/image55.png"/><Relationship Id="rId6" Type="http://schemas.openxmlformats.org/officeDocument/2006/relationships/image" Target="../media/image69.png"/><Relationship Id="rId7" Type="http://schemas.openxmlformats.org/officeDocument/2006/relationships/image" Target="../media/image44.png"/><Relationship Id="rId8" Type="http://schemas.openxmlformats.org/officeDocument/2006/relationships/image" Target="../media/image56.png"/><Relationship Id="rId9" Type="http://schemas.openxmlformats.org/officeDocument/2006/relationships/image" Target="../media/image46.png"/><Relationship Id="rId10" Type="http://schemas.openxmlformats.org/officeDocument/2006/relationships/image" Target="../media/image65.png"/><Relationship Id="rId11" Type="http://schemas.openxmlformats.org/officeDocument/2006/relationships/image" Target="../media/image57.png"/><Relationship Id="rId12" Type="http://schemas.openxmlformats.org/officeDocument/2006/relationships/image" Target="../media/image7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Relationship Id="rId5" Type="http://schemas.openxmlformats.org/officeDocument/2006/relationships/image" Target="../media/image33.png"/><Relationship Id="rId6" Type="http://schemas.openxmlformats.org/officeDocument/2006/relationships/image" Target="../media/image50.png"/><Relationship Id="rId7" Type="http://schemas.openxmlformats.org/officeDocument/2006/relationships/image" Target="../media/image52.png"/><Relationship Id="rId8" Type="http://schemas.openxmlformats.org/officeDocument/2006/relationships/image" Target="../media/image49.png"/><Relationship Id="rId9" Type="http://schemas.openxmlformats.org/officeDocument/2006/relationships/image" Target="../media/image45.png"/><Relationship Id="rId10" Type="http://schemas.openxmlformats.org/officeDocument/2006/relationships/image" Target="../media/image47.png"/><Relationship Id="rId11" Type="http://schemas.openxmlformats.org/officeDocument/2006/relationships/image" Target="../media/image6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7.png"/><Relationship Id="rId4" Type="http://schemas.openxmlformats.org/officeDocument/2006/relationships/image" Target="../media/image110.png"/><Relationship Id="rId5" Type="http://schemas.openxmlformats.org/officeDocument/2006/relationships/image" Target="../media/image117.png"/><Relationship Id="rId6" Type="http://schemas.openxmlformats.org/officeDocument/2006/relationships/image" Target="../media/image1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1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9.png"/><Relationship Id="rId4" Type="http://schemas.openxmlformats.org/officeDocument/2006/relationships/image" Target="../media/image114.png"/><Relationship Id="rId5" Type="http://schemas.openxmlformats.org/officeDocument/2006/relationships/image" Target="../media/image123.png"/><Relationship Id="rId6" Type="http://schemas.openxmlformats.org/officeDocument/2006/relationships/image" Target="../media/image119.png"/><Relationship Id="rId7" Type="http://schemas.openxmlformats.org/officeDocument/2006/relationships/image" Target="../media/image133.png"/><Relationship Id="rId8" Type="http://schemas.openxmlformats.org/officeDocument/2006/relationships/image" Target="../media/image125.png"/><Relationship Id="rId9" Type="http://schemas.openxmlformats.org/officeDocument/2006/relationships/image" Target="../media/image1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44.png"/><Relationship Id="rId4" Type="http://schemas.openxmlformats.org/officeDocument/2006/relationships/image" Target="../media/image134.png"/><Relationship Id="rId5" Type="http://schemas.openxmlformats.org/officeDocument/2006/relationships/image" Target="../media/image13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937695"/>
            <a:ext cx="9144000" cy="22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00000"/>
                </a:solidFill>
                <a:latin typeface="Nunito Light"/>
                <a:ea typeface="Nunito Light"/>
                <a:cs typeface="Nunito Light"/>
                <a:sym typeface="Nunito Light"/>
              </a:rPr>
              <a:t>Introduction to</a:t>
            </a:r>
            <a:endParaRPr b="0" i="0" sz="4000" u="none" cap="none" strike="noStrik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000000"/>
                </a:solidFill>
                <a:latin typeface="Nunito Light"/>
                <a:ea typeface="Nunito Light"/>
                <a:cs typeface="Nunito Light"/>
                <a:sym typeface="Nunito Light"/>
              </a:rPr>
              <a:t>AI Safety, Ethics, and Society</a:t>
            </a:r>
            <a:endParaRPr b="0" i="0" sz="4000" u="none" cap="none" strike="noStrik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Nunito Light"/>
                <a:ea typeface="Nunito Light"/>
                <a:cs typeface="Nunito Light"/>
                <a:sym typeface="Nunito Light"/>
              </a:rPr>
              <a:t>Collective Action Problems</a:t>
            </a:r>
            <a:endParaRPr b="0" i="0" sz="3000" u="none" cap="none" strike="noStrike">
              <a:solidFill>
                <a:srgbClr val="000000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Roadmap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6745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Game theory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Conflict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Evolutionary pressures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64325" y="850100"/>
            <a:ext cx="8279700" cy="491700"/>
          </a:xfrm>
          <a:prstGeom prst="rect">
            <a:avLst/>
          </a:prstGeom>
          <a:noFill/>
          <a:ln cap="flat" cmpd="sng" w="9525">
            <a:solidFill>
              <a:srgbClr val="0097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Rational Actors May Not Secure Collectively Good Outcomes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423400" y="11220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lecture will give an interpretation for why rational actors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(CEOs of AI companies)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signed this statement</a:t>
            </a:r>
            <a:endParaRPr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75" y="2179502"/>
            <a:ext cx="4798900" cy="168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4525" y="1563350"/>
            <a:ext cx="2204847" cy="322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29" t="0"/>
          <a:stretch/>
        </p:blipFill>
        <p:spPr>
          <a:xfrm>
            <a:off x="5040975" y="1964850"/>
            <a:ext cx="4045548" cy="24462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Game Theory Fundamentals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423400" y="817200"/>
            <a:ext cx="8297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Game theory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is the branch of maths concerned with reducing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complicated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situations to abstract games, in which agents choose interaction strategies.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23400" y="817200"/>
            <a:ext cx="78756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assume that the agents are: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23400" y="2272425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Games can be: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Zero sum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Non-zero sum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2239" y="1967175"/>
            <a:ext cx="4045563" cy="24415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423400" y="372765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Non-zero sum game outcomes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can be: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Positive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sum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Negative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sum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434225" y="1170625"/>
            <a:ext cx="8237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Rational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Self-interested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8184225" y="1219200"/>
            <a:ext cx="936300" cy="1075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187100" y="3682400"/>
            <a:ext cx="936300" cy="1075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8187100" y="0"/>
            <a:ext cx="936300" cy="229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8178725" y="2495000"/>
            <a:ext cx="936300" cy="226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b="0" l="36666" r="33524" t="0"/>
          <a:stretch/>
        </p:blipFill>
        <p:spPr>
          <a:xfrm>
            <a:off x="3608350" y="1308900"/>
            <a:ext cx="1820227" cy="185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71697" r="0" t="0"/>
          <a:stretch/>
        </p:blipFill>
        <p:spPr>
          <a:xfrm>
            <a:off x="5428574" y="1407775"/>
            <a:ext cx="1728302" cy="1857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Prisoner’s Dilemma: Animation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-117775" y="817200"/>
            <a:ext cx="2869500" cy="311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5025" y="1742346"/>
            <a:ext cx="4705352" cy="16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3800" y="1491163"/>
            <a:ext cx="1076127" cy="2103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7"/>
          <p:cNvCxnSpPr>
            <a:stCxn id="110" idx="3"/>
          </p:cNvCxnSpPr>
          <p:nvPr/>
        </p:nvCxnSpPr>
        <p:spPr>
          <a:xfrm flipH="1" rot="10800000">
            <a:off x="5589927" y="1627551"/>
            <a:ext cx="1699800" cy="915600"/>
          </a:xfrm>
          <a:prstGeom prst="straightConnector1">
            <a:avLst/>
          </a:prstGeom>
          <a:noFill/>
          <a:ln cap="flat" cmpd="sng" w="19050">
            <a:solidFill>
              <a:srgbClr val="0EB05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112" name="Google Shape;112;p17"/>
          <p:cNvGrpSpPr/>
          <p:nvPr/>
        </p:nvGrpSpPr>
        <p:grpSpPr>
          <a:xfrm>
            <a:off x="1815749" y="943151"/>
            <a:ext cx="6511500" cy="3200001"/>
            <a:chOff x="1813349" y="947926"/>
            <a:chExt cx="6511500" cy="3200001"/>
          </a:xfrm>
        </p:grpSpPr>
        <p:pic>
          <p:nvPicPr>
            <p:cNvPr id="113" name="Google Shape;113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13349" y="947926"/>
              <a:ext cx="3206325" cy="3200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18524" y="947926"/>
              <a:ext cx="3206325" cy="320000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5" name="Google Shape;115;p17"/>
          <p:cNvCxnSpPr>
            <a:stCxn id="110" idx="3"/>
          </p:cNvCxnSpPr>
          <p:nvPr/>
        </p:nvCxnSpPr>
        <p:spPr>
          <a:xfrm>
            <a:off x="5589927" y="2543150"/>
            <a:ext cx="1678200" cy="97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6" name="Google Shape;116;p17"/>
          <p:cNvSpPr txBox="1"/>
          <p:nvPr/>
        </p:nvSpPr>
        <p:spPr>
          <a:xfrm>
            <a:off x="7293975" y="1223200"/>
            <a:ext cx="1392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EB050"/>
                </a:solidFill>
                <a:latin typeface="Nunito"/>
                <a:ea typeface="Nunito"/>
                <a:cs typeface="Nunito"/>
                <a:sym typeface="Nunito"/>
              </a:rPr>
              <a:t>Cooperate</a:t>
            </a:r>
            <a:endParaRPr b="0" i="0" sz="2000" u="none" cap="none" strike="noStrike">
              <a:solidFill>
                <a:srgbClr val="0E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293975" y="3313675"/>
            <a:ext cx="1392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Defect</a:t>
            </a:r>
            <a:endParaRPr b="0" i="0" sz="20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5296451" y="565975"/>
            <a:ext cx="3085554" cy="1528408"/>
            <a:chOff x="4132800" y="1416821"/>
            <a:chExt cx="5335559" cy="2420282"/>
          </a:xfrm>
        </p:grpSpPr>
        <p:pic>
          <p:nvPicPr>
            <p:cNvPr id="119" name="Google Shape;11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32800" y="1643563"/>
              <a:ext cx="1076127" cy="210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0" name="Google Shape;120;p17"/>
            <p:cNvCxnSpPr>
              <a:stCxn id="119" idx="3"/>
            </p:cNvCxnSpPr>
            <p:nvPr/>
          </p:nvCxnSpPr>
          <p:spPr>
            <a:xfrm flipH="1" rot="10800000">
              <a:off x="5208927" y="1779951"/>
              <a:ext cx="1699800" cy="915600"/>
            </a:xfrm>
            <a:prstGeom prst="straightConnector1">
              <a:avLst/>
            </a:prstGeom>
            <a:noFill/>
            <a:ln cap="flat" cmpd="sng" w="19050">
              <a:solidFill>
                <a:srgbClr val="0EB05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1" name="Google Shape;121;p17"/>
            <p:cNvCxnSpPr>
              <a:stCxn id="119" idx="3"/>
            </p:cNvCxnSpPr>
            <p:nvPr/>
          </p:nvCxnSpPr>
          <p:spPr>
            <a:xfrm>
              <a:off x="5208927" y="2695550"/>
              <a:ext cx="1678200" cy="979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2" name="Google Shape;122;p17"/>
            <p:cNvSpPr txBox="1"/>
            <p:nvPr/>
          </p:nvSpPr>
          <p:spPr>
            <a:xfrm>
              <a:off x="6836759" y="1416821"/>
              <a:ext cx="2631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EB050"/>
                  </a:solidFill>
                  <a:latin typeface="Nunito"/>
                  <a:ea typeface="Nunito"/>
                  <a:cs typeface="Nunito"/>
                  <a:sym typeface="Nunito"/>
                </a:rPr>
                <a:t>Cooperate</a:t>
              </a:r>
              <a:endParaRPr b="0" i="0" sz="2000" u="none" cap="none" strike="noStrike">
                <a:solidFill>
                  <a:srgbClr val="0EB05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6836747" y="3345403"/>
              <a:ext cx="22803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Defect</a:t>
              </a:r>
              <a:endParaRPr b="0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5296451" y="2719125"/>
            <a:ext cx="3085554" cy="1528408"/>
            <a:chOff x="4132800" y="1416821"/>
            <a:chExt cx="5335559" cy="2420282"/>
          </a:xfrm>
        </p:grpSpPr>
        <p:pic>
          <p:nvPicPr>
            <p:cNvPr id="125" name="Google Shape;12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32800" y="1643563"/>
              <a:ext cx="1076127" cy="2103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6" name="Google Shape;126;p17"/>
            <p:cNvCxnSpPr>
              <a:stCxn id="125" idx="3"/>
            </p:cNvCxnSpPr>
            <p:nvPr/>
          </p:nvCxnSpPr>
          <p:spPr>
            <a:xfrm flipH="1" rot="10800000">
              <a:off x="5208927" y="1779951"/>
              <a:ext cx="1699800" cy="915600"/>
            </a:xfrm>
            <a:prstGeom prst="straightConnector1">
              <a:avLst/>
            </a:prstGeom>
            <a:noFill/>
            <a:ln cap="flat" cmpd="sng" w="19050">
              <a:solidFill>
                <a:srgbClr val="0EB05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17"/>
            <p:cNvCxnSpPr>
              <a:stCxn id="125" idx="3"/>
            </p:cNvCxnSpPr>
            <p:nvPr/>
          </p:nvCxnSpPr>
          <p:spPr>
            <a:xfrm>
              <a:off x="5208927" y="2695550"/>
              <a:ext cx="1678200" cy="979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8" name="Google Shape;128;p17"/>
            <p:cNvSpPr txBox="1"/>
            <p:nvPr/>
          </p:nvSpPr>
          <p:spPr>
            <a:xfrm>
              <a:off x="6836759" y="1416821"/>
              <a:ext cx="2631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EB050"/>
                  </a:solidFill>
                  <a:latin typeface="Nunito"/>
                  <a:ea typeface="Nunito"/>
                  <a:cs typeface="Nunito"/>
                  <a:sym typeface="Nunito"/>
                </a:rPr>
                <a:t>Cooperate</a:t>
              </a:r>
              <a:endParaRPr b="0" i="0" sz="2000" u="none" cap="none" strike="noStrike">
                <a:solidFill>
                  <a:srgbClr val="0EB05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6836747" y="3345403"/>
              <a:ext cx="22803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Defect</a:t>
              </a:r>
              <a:endParaRPr b="0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30" name="Google Shape;1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6187" y="718375"/>
            <a:ext cx="637750" cy="12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6187" y="2795325"/>
            <a:ext cx="637750" cy="12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3327952" y="1119300"/>
            <a:ext cx="1561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EB050"/>
                </a:solidFill>
                <a:latin typeface="Nunito"/>
                <a:ea typeface="Nunito"/>
                <a:cs typeface="Nunito"/>
                <a:sym typeface="Nunito"/>
              </a:rPr>
              <a:t>Cooperates</a:t>
            </a:r>
            <a:endParaRPr b="0" i="0" sz="2000" u="none" cap="none" strike="noStrike">
              <a:solidFill>
                <a:srgbClr val="0E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327952" y="3196250"/>
            <a:ext cx="1392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Defects</a:t>
            </a:r>
            <a:endParaRPr b="0" i="0" sz="20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5200" y="1106063"/>
            <a:ext cx="2542200" cy="2263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7"/>
          <p:cNvGrpSpPr/>
          <p:nvPr/>
        </p:nvGrpSpPr>
        <p:grpSpPr>
          <a:xfrm>
            <a:off x="5296450" y="718375"/>
            <a:ext cx="637750" cy="3433050"/>
            <a:chOff x="5677450" y="718375"/>
            <a:chExt cx="637750" cy="3433050"/>
          </a:xfrm>
        </p:grpSpPr>
        <p:pic>
          <p:nvPicPr>
            <p:cNvPr id="136" name="Google Shape;136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77450" y="2857875"/>
              <a:ext cx="637750" cy="1293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77450" y="718375"/>
              <a:ext cx="637750" cy="1293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17"/>
          <p:cNvGrpSpPr/>
          <p:nvPr/>
        </p:nvGrpSpPr>
        <p:grpSpPr>
          <a:xfrm>
            <a:off x="2660026" y="716838"/>
            <a:ext cx="643924" cy="3369747"/>
            <a:chOff x="2660026" y="716838"/>
            <a:chExt cx="643924" cy="3369747"/>
          </a:xfrm>
        </p:grpSpPr>
        <p:pic>
          <p:nvPicPr>
            <p:cNvPr id="139" name="Google Shape;13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81626" y="716838"/>
              <a:ext cx="622324" cy="1328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60026" y="2757925"/>
              <a:ext cx="622324" cy="1328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17"/>
          <p:cNvSpPr txBox="1"/>
          <p:nvPr/>
        </p:nvSpPr>
        <p:spPr>
          <a:xfrm>
            <a:off x="6129563" y="1075663"/>
            <a:ext cx="8337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</a:t>
            </a:r>
            <a:endParaRPr b="1" i="0" sz="2000" u="none" cap="none" strike="noStrike">
              <a:solidFill>
                <a:srgbClr val="C55A1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4385038" y="894238"/>
            <a:ext cx="8337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171C0"/>
                </a:solidFill>
                <a:latin typeface="Nunito"/>
                <a:ea typeface="Nunito"/>
                <a:cs typeface="Nunito"/>
                <a:sym typeface="Nunito"/>
              </a:rPr>
              <a:t>Bob</a:t>
            </a:r>
            <a:endParaRPr b="1" i="0" sz="2000" u="none" cap="none" strike="noStrike">
              <a:solidFill>
                <a:srgbClr val="0171C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9">
            <a:alphaModFix/>
          </a:blip>
          <a:srcRect b="49415" l="0" r="0" t="0"/>
          <a:stretch/>
        </p:blipFill>
        <p:spPr>
          <a:xfrm>
            <a:off x="8203400" y="-28600"/>
            <a:ext cx="940600" cy="24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 rotWithShape="1">
          <a:blip r:embed="rId9">
            <a:alphaModFix/>
          </a:blip>
          <a:srcRect b="0" l="0" r="0" t="50477"/>
          <a:stretch/>
        </p:blipFill>
        <p:spPr>
          <a:xfrm>
            <a:off x="8203400" y="2440104"/>
            <a:ext cx="940600" cy="241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30600" y="854050"/>
            <a:ext cx="1160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03400" y="-12175"/>
            <a:ext cx="936225" cy="485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42400" y="817200"/>
            <a:ext cx="11604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World 1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0600" y="3080000"/>
            <a:ext cx="1160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42400" y="3030950"/>
            <a:ext cx="11604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World 2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50" name="Google Shape;150;p17"/>
          <p:cNvGrpSpPr/>
          <p:nvPr/>
        </p:nvGrpSpPr>
        <p:grpSpPr>
          <a:xfrm>
            <a:off x="5926875" y="580725"/>
            <a:ext cx="2205600" cy="2940288"/>
            <a:chOff x="5926875" y="580725"/>
            <a:chExt cx="2205600" cy="2940288"/>
          </a:xfrm>
        </p:grpSpPr>
        <p:sp>
          <p:nvSpPr>
            <p:cNvPr id="151" name="Google Shape;151;p17"/>
            <p:cNvSpPr/>
            <p:nvPr/>
          </p:nvSpPr>
          <p:spPr>
            <a:xfrm rot="5400000">
              <a:off x="6628725" y="-121125"/>
              <a:ext cx="801900" cy="2205600"/>
            </a:xfrm>
            <a:prstGeom prst="corner">
              <a:avLst>
                <a:gd fmla="val 36357" name="adj1"/>
                <a:gd fmla="val 100000" name="adj2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 rot="5400000">
              <a:off x="6628725" y="2017263"/>
              <a:ext cx="801900" cy="2205600"/>
            </a:xfrm>
            <a:prstGeom prst="corner">
              <a:avLst>
                <a:gd fmla="val 36357" name="adj1"/>
                <a:gd fmla="val 100000" name="adj2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8203400" y="-28600"/>
            <a:ext cx="940600" cy="4885754"/>
            <a:chOff x="8203400" y="-28600"/>
            <a:chExt cx="940600" cy="4885754"/>
          </a:xfrm>
        </p:grpSpPr>
        <p:pic>
          <p:nvPicPr>
            <p:cNvPr id="154" name="Google Shape;154;p17"/>
            <p:cNvPicPr preferRelativeResize="0"/>
            <p:nvPr/>
          </p:nvPicPr>
          <p:blipFill rotWithShape="1">
            <a:blip r:embed="rId9">
              <a:alphaModFix/>
            </a:blip>
            <a:srcRect b="49415" l="0" r="0" t="0"/>
            <a:stretch/>
          </p:blipFill>
          <p:spPr>
            <a:xfrm>
              <a:off x="8203400" y="-28600"/>
              <a:ext cx="940600" cy="246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7"/>
            <p:cNvPicPr preferRelativeResize="0"/>
            <p:nvPr/>
          </p:nvPicPr>
          <p:blipFill rotWithShape="1">
            <a:blip r:embed="rId9">
              <a:alphaModFix/>
            </a:blip>
            <a:srcRect b="0" l="0" r="0" t="50477"/>
            <a:stretch/>
          </p:blipFill>
          <p:spPr>
            <a:xfrm>
              <a:off x="8203400" y="2440104"/>
              <a:ext cx="940600" cy="2417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17"/>
          <p:cNvGrpSpPr/>
          <p:nvPr/>
        </p:nvGrpSpPr>
        <p:grpSpPr>
          <a:xfrm>
            <a:off x="8132380" y="0"/>
            <a:ext cx="1452079" cy="3521175"/>
            <a:chOff x="6641175" y="580725"/>
            <a:chExt cx="1491300" cy="3521175"/>
          </a:xfrm>
        </p:grpSpPr>
        <p:sp>
          <p:nvSpPr>
            <p:cNvPr id="157" name="Google Shape;157;p17"/>
            <p:cNvSpPr/>
            <p:nvPr/>
          </p:nvSpPr>
          <p:spPr>
            <a:xfrm rot="5400000">
              <a:off x="6861375" y="415725"/>
              <a:ext cx="1106100" cy="1436100"/>
            </a:xfrm>
            <a:prstGeom prst="corner">
              <a:avLst>
                <a:gd fmla="val 36357" name="adj1"/>
                <a:gd fmla="val 100000" name="adj2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 rot="5400000">
              <a:off x="6827925" y="2797350"/>
              <a:ext cx="1117800" cy="1491300"/>
            </a:xfrm>
            <a:prstGeom prst="corner">
              <a:avLst>
                <a:gd fmla="val 36357" name="adj1"/>
                <a:gd fmla="val 100000" name="adj2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2101675" y="560525"/>
            <a:ext cx="4838725" cy="3701100"/>
            <a:chOff x="2101675" y="560525"/>
            <a:chExt cx="4838725" cy="3701100"/>
          </a:xfrm>
        </p:grpSpPr>
        <p:sp>
          <p:nvSpPr>
            <p:cNvPr id="160" name="Google Shape;160;p17"/>
            <p:cNvSpPr/>
            <p:nvPr/>
          </p:nvSpPr>
          <p:spPr>
            <a:xfrm rot="5400000">
              <a:off x="2163475" y="498725"/>
              <a:ext cx="3701100" cy="3824700"/>
            </a:xfrm>
            <a:prstGeom prst="corner">
              <a:avLst>
                <a:gd fmla="val 36357" name="adj1"/>
                <a:gd fmla="val 100000" name="adj2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5934200" y="1373175"/>
              <a:ext cx="1006200" cy="644700"/>
            </a:xfrm>
            <a:prstGeom prst="trapezoid">
              <a:avLst>
                <a:gd fmla="val 0" name="adj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5934200" y="3522650"/>
              <a:ext cx="1006200" cy="644700"/>
            </a:xfrm>
            <a:prstGeom prst="trapezoid">
              <a:avLst>
                <a:gd fmla="val 0" name="adj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17"/>
          <p:cNvGrpSpPr/>
          <p:nvPr/>
        </p:nvGrpSpPr>
        <p:grpSpPr>
          <a:xfrm>
            <a:off x="2105025" y="584350"/>
            <a:ext cx="6030800" cy="3701100"/>
            <a:chOff x="2254075" y="712925"/>
            <a:chExt cx="6030800" cy="3701100"/>
          </a:xfrm>
        </p:grpSpPr>
        <p:grpSp>
          <p:nvGrpSpPr>
            <p:cNvPr id="164" name="Google Shape;164;p17"/>
            <p:cNvGrpSpPr/>
            <p:nvPr/>
          </p:nvGrpSpPr>
          <p:grpSpPr>
            <a:xfrm>
              <a:off x="6079275" y="733125"/>
              <a:ext cx="2205600" cy="2940288"/>
              <a:chOff x="5926875" y="580725"/>
              <a:chExt cx="2205600" cy="2940288"/>
            </a:xfrm>
          </p:grpSpPr>
          <p:sp>
            <p:nvSpPr>
              <p:cNvPr id="165" name="Google Shape;165;p17"/>
              <p:cNvSpPr/>
              <p:nvPr/>
            </p:nvSpPr>
            <p:spPr>
              <a:xfrm rot="5400000">
                <a:off x="6628725" y="-121125"/>
                <a:ext cx="801900" cy="2205600"/>
              </a:xfrm>
              <a:prstGeom prst="corner">
                <a:avLst>
                  <a:gd fmla="val 36357" name="adj1"/>
                  <a:gd fmla="val 100000" name="adj2"/>
                </a:avLst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 rot="5400000">
                <a:off x="6628725" y="2017263"/>
                <a:ext cx="801900" cy="2205600"/>
              </a:xfrm>
              <a:prstGeom prst="corner">
                <a:avLst>
                  <a:gd fmla="val 36357" name="adj1"/>
                  <a:gd fmla="val 100000" name="adj2"/>
                </a:avLst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" name="Google Shape;167;p17"/>
            <p:cNvGrpSpPr/>
            <p:nvPr/>
          </p:nvGrpSpPr>
          <p:grpSpPr>
            <a:xfrm>
              <a:off x="2254075" y="712925"/>
              <a:ext cx="4838725" cy="3701100"/>
              <a:chOff x="2101675" y="560525"/>
              <a:chExt cx="4838725" cy="3701100"/>
            </a:xfrm>
          </p:grpSpPr>
          <p:sp>
            <p:nvSpPr>
              <p:cNvPr id="168" name="Google Shape;168;p17"/>
              <p:cNvSpPr/>
              <p:nvPr/>
            </p:nvSpPr>
            <p:spPr>
              <a:xfrm rot="5400000">
                <a:off x="2163475" y="498725"/>
                <a:ext cx="3701100" cy="3824700"/>
              </a:xfrm>
              <a:prstGeom prst="corner">
                <a:avLst>
                  <a:gd fmla="val 36357" name="adj1"/>
                  <a:gd fmla="val 100000" name="adj2"/>
                </a:avLst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5934200" y="1373175"/>
                <a:ext cx="1006200" cy="644700"/>
              </a:xfrm>
              <a:prstGeom prst="trapezoid">
                <a:avLst>
                  <a:gd fmla="val 0" name="adj"/>
                </a:avLst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5934200" y="3522650"/>
                <a:ext cx="1006200" cy="644700"/>
              </a:xfrm>
              <a:prstGeom prst="trapezoid">
                <a:avLst>
                  <a:gd fmla="val 0" name="adj"/>
                </a:avLst>
              </a:pr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1" name="Google Shape;171;p17"/>
          <p:cNvSpPr txBox="1"/>
          <p:nvPr/>
        </p:nvSpPr>
        <p:spPr>
          <a:xfrm>
            <a:off x="3980411" y="2801438"/>
            <a:ext cx="3085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dominant strategy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734725" y="1895475"/>
            <a:ext cx="199500" cy="24171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32876" y="1484162"/>
            <a:ext cx="1076125" cy="21179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17"/>
          <p:cNvCxnSpPr/>
          <p:nvPr/>
        </p:nvCxnSpPr>
        <p:spPr>
          <a:xfrm rot="10800000">
            <a:off x="1433078" y="1567375"/>
            <a:ext cx="1699800" cy="915600"/>
          </a:xfrm>
          <a:prstGeom prst="straightConnector1">
            <a:avLst/>
          </a:prstGeom>
          <a:noFill/>
          <a:ln cap="flat" cmpd="sng" w="19050">
            <a:solidFill>
              <a:srgbClr val="0E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17"/>
          <p:cNvCxnSpPr/>
          <p:nvPr/>
        </p:nvCxnSpPr>
        <p:spPr>
          <a:xfrm flipH="1">
            <a:off x="1454678" y="2482975"/>
            <a:ext cx="1678200" cy="97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17"/>
          <p:cNvSpPr txBox="1"/>
          <p:nvPr/>
        </p:nvSpPr>
        <p:spPr>
          <a:xfrm>
            <a:off x="123925" y="1223200"/>
            <a:ext cx="1392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EB050"/>
                </a:solidFill>
                <a:latin typeface="Nunito"/>
                <a:ea typeface="Nunito"/>
                <a:cs typeface="Nunito"/>
                <a:sym typeface="Nunito"/>
              </a:rPr>
              <a:t>Cooperate</a:t>
            </a:r>
            <a:endParaRPr b="0" i="0" sz="2000" u="none" cap="none" strike="noStrike">
              <a:solidFill>
                <a:srgbClr val="0E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525100" y="3313675"/>
            <a:ext cx="940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Defect</a:t>
            </a:r>
            <a:endParaRPr b="0" i="0" sz="20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8"/>
          <p:cNvGrpSpPr/>
          <p:nvPr/>
        </p:nvGrpSpPr>
        <p:grpSpPr>
          <a:xfrm>
            <a:off x="1472050" y="3396975"/>
            <a:ext cx="6153650" cy="1065000"/>
            <a:chOff x="1472050" y="3396975"/>
            <a:chExt cx="6153650" cy="1065000"/>
          </a:xfrm>
        </p:grpSpPr>
        <p:pic>
          <p:nvPicPr>
            <p:cNvPr id="183" name="Google Shape;18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2050" y="3396975"/>
              <a:ext cx="705600" cy="106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8067" y="3396975"/>
              <a:ext cx="705600" cy="106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4083" y="3396975"/>
              <a:ext cx="705600" cy="106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20100" y="3396975"/>
              <a:ext cx="705600" cy="1065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18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Four Possible Outcomes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395" y="560525"/>
            <a:ext cx="443475" cy="84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8"/>
          <p:cNvGrpSpPr/>
          <p:nvPr/>
        </p:nvGrpSpPr>
        <p:grpSpPr>
          <a:xfrm>
            <a:off x="2579132" y="1757257"/>
            <a:ext cx="3872000" cy="876287"/>
            <a:chOff x="2654025" y="1695475"/>
            <a:chExt cx="3872000" cy="876287"/>
          </a:xfrm>
        </p:grpSpPr>
        <p:pic>
          <p:nvPicPr>
            <p:cNvPr id="193" name="Google Shape;19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54025" y="1695475"/>
              <a:ext cx="548700" cy="876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77325" y="1695475"/>
              <a:ext cx="548700" cy="8762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18"/>
          <p:cNvGrpSpPr/>
          <p:nvPr/>
        </p:nvGrpSpPr>
        <p:grpSpPr>
          <a:xfrm>
            <a:off x="3127932" y="1401100"/>
            <a:ext cx="1387200" cy="794400"/>
            <a:chOff x="3127932" y="1401100"/>
            <a:chExt cx="1387200" cy="794400"/>
          </a:xfrm>
        </p:grpSpPr>
        <p:cxnSp>
          <p:nvCxnSpPr>
            <p:cNvPr id="196" name="Google Shape;196;p18"/>
            <p:cNvCxnSpPr>
              <a:stCxn id="191" idx="2"/>
              <a:endCxn id="193" idx="3"/>
            </p:cNvCxnSpPr>
            <p:nvPr/>
          </p:nvCxnSpPr>
          <p:spPr>
            <a:xfrm flipH="1">
              <a:off x="3127932" y="1401100"/>
              <a:ext cx="1387200" cy="794400"/>
            </a:xfrm>
            <a:prstGeom prst="straightConnector1">
              <a:avLst/>
            </a:prstGeom>
            <a:noFill/>
            <a:ln cap="flat" cmpd="sng" w="19050">
              <a:solidFill>
                <a:srgbClr val="0EB05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7" name="Google Shape;197;p18"/>
            <p:cNvSpPr txBox="1"/>
            <p:nvPr/>
          </p:nvSpPr>
          <p:spPr>
            <a:xfrm>
              <a:off x="3619025" y="1401100"/>
              <a:ext cx="4050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EB050"/>
                  </a:solidFill>
                  <a:latin typeface="Nunito"/>
                  <a:ea typeface="Nunito"/>
                  <a:cs typeface="Nunito"/>
                  <a:sym typeface="Nunito"/>
                </a:rPr>
                <a:t>C</a:t>
              </a:r>
              <a:endParaRPr b="0" i="0" sz="2000" u="none" cap="none" strike="noStrike">
                <a:solidFill>
                  <a:srgbClr val="0EB05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4515133" y="1401100"/>
            <a:ext cx="1387200" cy="794400"/>
            <a:chOff x="4515133" y="1401100"/>
            <a:chExt cx="1387200" cy="794400"/>
          </a:xfrm>
        </p:grpSpPr>
        <p:cxnSp>
          <p:nvCxnSpPr>
            <p:cNvPr id="199" name="Google Shape;199;p18"/>
            <p:cNvCxnSpPr>
              <a:stCxn id="191" idx="2"/>
              <a:endCxn id="194" idx="1"/>
            </p:cNvCxnSpPr>
            <p:nvPr/>
          </p:nvCxnSpPr>
          <p:spPr>
            <a:xfrm>
              <a:off x="4515133" y="1401100"/>
              <a:ext cx="1387200" cy="794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0" name="Google Shape;200;p18"/>
            <p:cNvSpPr txBox="1"/>
            <p:nvPr/>
          </p:nvSpPr>
          <p:spPr>
            <a:xfrm>
              <a:off x="5050825" y="1401100"/>
              <a:ext cx="4050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0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1986782" y="2633544"/>
            <a:ext cx="4190000" cy="813300"/>
            <a:chOff x="1986782" y="2633544"/>
            <a:chExt cx="4190000" cy="813300"/>
          </a:xfrm>
        </p:grpSpPr>
        <p:grpSp>
          <p:nvGrpSpPr>
            <p:cNvPr id="202" name="Google Shape;202;p18"/>
            <p:cNvGrpSpPr/>
            <p:nvPr/>
          </p:nvGrpSpPr>
          <p:grpSpPr>
            <a:xfrm>
              <a:off x="1986782" y="2633544"/>
              <a:ext cx="866700" cy="813300"/>
              <a:chOff x="1986782" y="2633544"/>
              <a:chExt cx="866700" cy="813300"/>
            </a:xfrm>
          </p:grpSpPr>
          <p:cxnSp>
            <p:nvCxnSpPr>
              <p:cNvPr id="203" name="Google Shape;203;p18"/>
              <p:cNvCxnSpPr>
                <a:stCxn id="193" idx="2"/>
              </p:cNvCxnSpPr>
              <p:nvPr/>
            </p:nvCxnSpPr>
            <p:spPr>
              <a:xfrm flipH="1">
                <a:off x="1986782" y="2633544"/>
                <a:ext cx="866700" cy="813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EB05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04" name="Google Shape;204;p18"/>
              <p:cNvSpPr txBox="1"/>
              <p:nvPr/>
            </p:nvSpPr>
            <p:spPr>
              <a:xfrm>
                <a:off x="2106450" y="2733375"/>
                <a:ext cx="4050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0EB050"/>
                    </a:solidFill>
                    <a:latin typeface="Nunito"/>
                    <a:ea typeface="Nunito"/>
                    <a:cs typeface="Nunito"/>
                    <a:sym typeface="Nunito"/>
                  </a:rPr>
                  <a:t>C</a:t>
                </a:r>
                <a:endParaRPr b="0" i="0" sz="2000" u="none" cap="none" strike="noStrike">
                  <a:solidFill>
                    <a:srgbClr val="0EB05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05" name="Google Shape;205;p18"/>
            <p:cNvGrpSpPr/>
            <p:nvPr/>
          </p:nvGrpSpPr>
          <p:grpSpPr>
            <a:xfrm>
              <a:off x="5358082" y="2633544"/>
              <a:ext cx="818700" cy="813300"/>
              <a:chOff x="5358082" y="2633544"/>
              <a:chExt cx="818700" cy="813300"/>
            </a:xfrm>
          </p:grpSpPr>
          <p:cxnSp>
            <p:nvCxnSpPr>
              <p:cNvPr id="206" name="Google Shape;206;p18"/>
              <p:cNvCxnSpPr>
                <a:stCxn id="194" idx="2"/>
              </p:cNvCxnSpPr>
              <p:nvPr/>
            </p:nvCxnSpPr>
            <p:spPr>
              <a:xfrm flipH="1">
                <a:off x="5358082" y="2633544"/>
                <a:ext cx="818700" cy="813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EB05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07" name="Google Shape;207;p18"/>
              <p:cNvSpPr txBox="1"/>
              <p:nvPr/>
            </p:nvSpPr>
            <p:spPr>
              <a:xfrm>
                <a:off x="5455825" y="2733375"/>
                <a:ext cx="4050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0EB050"/>
                    </a:solidFill>
                    <a:latin typeface="Nunito"/>
                    <a:ea typeface="Nunito"/>
                    <a:cs typeface="Nunito"/>
                    <a:sym typeface="Nunito"/>
                  </a:rPr>
                  <a:t>C</a:t>
                </a:r>
                <a:endParaRPr b="0" i="0" sz="2000" u="none" cap="none" strike="noStrike">
                  <a:solidFill>
                    <a:srgbClr val="0EB05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08" name="Google Shape;208;p18"/>
          <p:cNvGrpSpPr/>
          <p:nvPr/>
        </p:nvGrpSpPr>
        <p:grpSpPr>
          <a:xfrm>
            <a:off x="2853482" y="2633544"/>
            <a:ext cx="4190000" cy="813300"/>
            <a:chOff x="2853482" y="2633544"/>
            <a:chExt cx="4190000" cy="813300"/>
          </a:xfrm>
        </p:grpSpPr>
        <p:grpSp>
          <p:nvGrpSpPr>
            <p:cNvPr id="209" name="Google Shape;209;p18"/>
            <p:cNvGrpSpPr/>
            <p:nvPr/>
          </p:nvGrpSpPr>
          <p:grpSpPr>
            <a:xfrm>
              <a:off x="2853482" y="2633544"/>
              <a:ext cx="818700" cy="813300"/>
              <a:chOff x="2853482" y="2633544"/>
              <a:chExt cx="818700" cy="813300"/>
            </a:xfrm>
          </p:grpSpPr>
          <p:cxnSp>
            <p:nvCxnSpPr>
              <p:cNvPr id="210" name="Google Shape;210;p18"/>
              <p:cNvCxnSpPr>
                <a:stCxn id="193" idx="2"/>
              </p:cNvCxnSpPr>
              <p:nvPr/>
            </p:nvCxnSpPr>
            <p:spPr>
              <a:xfrm>
                <a:off x="2853482" y="2633544"/>
                <a:ext cx="818700" cy="813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11" name="Google Shape;211;p18"/>
              <p:cNvSpPr txBox="1"/>
              <p:nvPr/>
            </p:nvSpPr>
            <p:spPr>
              <a:xfrm>
                <a:off x="3233450" y="2733375"/>
                <a:ext cx="4050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FF0000"/>
                    </a:solidFill>
                    <a:latin typeface="Nunito"/>
                    <a:ea typeface="Nunito"/>
                    <a:cs typeface="Nunito"/>
                    <a:sym typeface="Nunito"/>
                  </a:rPr>
                  <a:t>D</a:t>
                </a:r>
                <a:endParaRPr b="0" i="0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12" name="Google Shape;212;p18"/>
            <p:cNvGrpSpPr/>
            <p:nvPr/>
          </p:nvGrpSpPr>
          <p:grpSpPr>
            <a:xfrm>
              <a:off x="6176782" y="2633544"/>
              <a:ext cx="866700" cy="813300"/>
              <a:chOff x="6176782" y="2633544"/>
              <a:chExt cx="866700" cy="813300"/>
            </a:xfrm>
          </p:grpSpPr>
          <p:cxnSp>
            <p:nvCxnSpPr>
              <p:cNvPr id="213" name="Google Shape;213;p18"/>
              <p:cNvCxnSpPr>
                <a:stCxn id="194" idx="2"/>
              </p:cNvCxnSpPr>
              <p:nvPr/>
            </p:nvCxnSpPr>
            <p:spPr>
              <a:xfrm>
                <a:off x="6176782" y="2633544"/>
                <a:ext cx="866700" cy="813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14" name="Google Shape;214;p18"/>
              <p:cNvSpPr txBox="1"/>
              <p:nvPr/>
            </p:nvSpPr>
            <p:spPr>
              <a:xfrm>
                <a:off x="6582825" y="2733375"/>
                <a:ext cx="4050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FF0000"/>
                    </a:solidFill>
                    <a:latin typeface="Nunito"/>
                    <a:ea typeface="Nunito"/>
                    <a:cs typeface="Nunito"/>
                    <a:sym typeface="Nunito"/>
                  </a:rPr>
                  <a:t>D</a:t>
                </a:r>
                <a:endParaRPr b="0" i="0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grpSp>
        <p:nvGrpSpPr>
          <p:cNvPr id="215" name="Google Shape;215;p18"/>
          <p:cNvGrpSpPr/>
          <p:nvPr/>
        </p:nvGrpSpPr>
        <p:grpSpPr>
          <a:xfrm>
            <a:off x="1102125" y="4243500"/>
            <a:ext cx="6305350" cy="491700"/>
            <a:chOff x="1178325" y="4243500"/>
            <a:chExt cx="6305350" cy="491700"/>
          </a:xfrm>
        </p:grpSpPr>
        <p:sp>
          <p:nvSpPr>
            <p:cNvPr id="216" name="Google Shape;216;p18"/>
            <p:cNvSpPr txBox="1"/>
            <p:nvPr/>
          </p:nvSpPr>
          <p:spPr>
            <a:xfrm>
              <a:off x="1178325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1 year</a:t>
              </a:r>
              <a:endParaRPr b="0" i="0" sz="15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2978708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8 years</a:t>
              </a:r>
              <a:endParaRPr b="0" i="0" sz="15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18" name="Google Shape;218;p18"/>
            <p:cNvSpPr txBox="1"/>
            <p:nvPr/>
          </p:nvSpPr>
          <p:spPr>
            <a:xfrm>
              <a:off x="4779092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0 years</a:t>
              </a:r>
              <a:endParaRPr b="0" i="0" sz="15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19" name="Google Shape;219;p18"/>
            <p:cNvSpPr txBox="1"/>
            <p:nvPr/>
          </p:nvSpPr>
          <p:spPr>
            <a:xfrm>
              <a:off x="6579475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3 years</a:t>
              </a:r>
              <a:endParaRPr b="0" i="0" sz="15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0" name="Google Shape;220;p18"/>
          <p:cNvGrpSpPr/>
          <p:nvPr/>
        </p:nvGrpSpPr>
        <p:grpSpPr>
          <a:xfrm>
            <a:off x="1889500" y="4347000"/>
            <a:ext cx="6305350" cy="491700"/>
            <a:chOff x="1178325" y="4243500"/>
            <a:chExt cx="6305350" cy="491700"/>
          </a:xfrm>
        </p:grpSpPr>
        <p:sp>
          <p:nvSpPr>
            <p:cNvPr id="221" name="Google Shape;221;p18"/>
            <p:cNvSpPr txBox="1"/>
            <p:nvPr/>
          </p:nvSpPr>
          <p:spPr>
            <a:xfrm>
              <a:off x="1178325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1 year</a:t>
              </a:r>
              <a:endParaRPr b="0" i="0" sz="15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22" name="Google Shape;222;p18"/>
            <p:cNvSpPr txBox="1"/>
            <p:nvPr/>
          </p:nvSpPr>
          <p:spPr>
            <a:xfrm>
              <a:off x="2978708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0 years</a:t>
              </a:r>
              <a:endParaRPr b="0" i="0" sz="15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4779092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8 years</a:t>
              </a:r>
              <a:endParaRPr b="0" i="0" sz="15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24" name="Google Shape;224;p18"/>
            <p:cNvSpPr txBox="1"/>
            <p:nvPr/>
          </p:nvSpPr>
          <p:spPr>
            <a:xfrm>
              <a:off x="6579475" y="4243500"/>
              <a:ext cx="904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3 years</a:t>
              </a:r>
              <a:endParaRPr b="0" i="0" sz="15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19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{E48556DB-5D24-4421-870F-945F8C4A75FA}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0" name="Google Shape;230;p19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Four Possible Outcomes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7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423400" y="817200"/>
            <a:ext cx="20376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Payoff matrix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3513425" y="1949550"/>
            <a:ext cx="2155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 cooperates</a:t>
            </a:r>
            <a:endParaRPr b="0" i="0" sz="2000" u="none" cap="none" strike="noStrike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130925" y="1949550"/>
            <a:ext cx="172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 defects</a:t>
            </a:r>
            <a:endParaRPr b="0" i="0" sz="2000" u="none" cap="none" strike="noStrike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1098775" y="2325900"/>
            <a:ext cx="2155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 cooperates</a:t>
            </a:r>
            <a:endParaRPr b="0" i="0" sz="2000" u="none" cap="none" strike="noStrike">
              <a:solidFill>
                <a:srgbClr val="C55A1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1098775" y="2712250"/>
            <a:ext cx="172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 defects</a:t>
            </a:r>
            <a:endParaRPr b="0" i="0" sz="2000" u="none" cap="none" strike="noStrike">
              <a:solidFill>
                <a:srgbClr val="C55A1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39" name="Google Shape;239;p19"/>
          <p:cNvGrpSpPr/>
          <p:nvPr/>
        </p:nvGrpSpPr>
        <p:grpSpPr>
          <a:xfrm>
            <a:off x="4008450" y="2333488"/>
            <a:ext cx="3258575" cy="870450"/>
            <a:chOff x="4008450" y="2333488"/>
            <a:chExt cx="3258575" cy="870450"/>
          </a:xfrm>
        </p:grpSpPr>
        <p:sp>
          <p:nvSpPr>
            <p:cNvPr id="240" name="Google Shape;240;p19"/>
            <p:cNvSpPr txBox="1"/>
            <p:nvPr/>
          </p:nvSpPr>
          <p:spPr>
            <a:xfrm>
              <a:off x="4008450" y="2333500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-1,</a:t>
              </a:r>
              <a:endParaRPr b="0" i="0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4008450" y="2712238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r>
                <a:rPr b="0" i="0" lang="en" sz="20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,</a:t>
              </a:r>
              <a:endParaRPr b="0" i="0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2" name="Google Shape;242;p19"/>
            <p:cNvSpPr txBox="1"/>
            <p:nvPr/>
          </p:nvSpPr>
          <p:spPr>
            <a:xfrm>
              <a:off x="6718325" y="2333488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-8</a:t>
              </a:r>
              <a:r>
                <a:rPr b="0" i="0" lang="en" sz="20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,</a:t>
              </a:r>
              <a:endParaRPr b="0" i="0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3" name="Google Shape;243;p19"/>
            <p:cNvSpPr txBox="1"/>
            <p:nvPr/>
          </p:nvSpPr>
          <p:spPr>
            <a:xfrm>
              <a:off x="6642125" y="2712238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-3,</a:t>
              </a:r>
              <a:endParaRPr b="0" i="0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4" name="Google Shape;244;p19"/>
          <p:cNvGrpSpPr/>
          <p:nvPr/>
        </p:nvGrpSpPr>
        <p:grpSpPr>
          <a:xfrm>
            <a:off x="4313250" y="2333488"/>
            <a:ext cx="3258575" cy="870450"/>
            <a:chOff x="4008450" y="2333488"/>
            <a:chExt cx="3258575" cy="870450"/>
          </a:xfrm>
        </p:grpSpPr>
        <p:sp>
          <p:nvSpPr>
            <p:cNvPr id="245" name="Google Shape;245;p19"/>
            <p:cNvSpPr txBox="1"/>
            <p:nvPr/>
          </p:nvSpPr>
          <p:spPr>
            <a:xfrm>
              <a:off x="4008450" y="2333500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 -1</a:t>
              </a:r>
              <a:endParaRPr b="0" i="0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4043700" y="2712238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-8</a:t>
              </a:r>
              <a:endParaRPr b="0" i="0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7" name="Google Shape;247;p19"/>
            <p:cNvSpPr txBox="1"/>
            <p:nvPr/>
          </p:nvSpPr>
          <p:spPr>
            <a:xfrm>
              <a:off x="6718325" y="2333488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 0</a:t>
              </a:r>
              <a:endParaRPr b="0" i="0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48" name="Google Shape;248;p19"/>
            <p:cNvSpPr txBox="1"/>
            <p:nvPr/>
          </p:nvSpPr>
          <p:spPr>
            <a:xfrm>
              <a:off x="6642125" y="2712238"/>
              <a:ext cx="5487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 -3</a:t>
              </a:r>
              <a:endParaRPr b="0" i="0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Nash Equilibria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6395850" y="3299126"/>
            <a:ext cx="1723500" cy="1429500"/>
            <a:chOff x="6395850" y="3299126"/>
            <a:chExt cx="1723500" cy="1429500"/>
          </a:xfrm>
        </p:grpSpPr>
        <p:sp>
          <p:nvSpPr>
            <p:cNvPr id="256" name="Google Shape;256;p20"/>
            <p:cNvSpPr/>
            <p:nvPr/>
          </p:nvSpPr>
          <p:spPr>
            <a:xfrm>
              <a:off x="6395850" y="3299126"/>
              <a:ext cx="1723500" cy="1429500"/>
            </a:xfrm>
            <a:prstGeom prst="roundRect">
              <a:avLst>
                <a:gd fmla="val 16667" name="adj"/>
              </a:avLst>
            </a:prstGeom>
            <a:solidFill>
              <a:srgbClr val="FFD966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7" name="Google Shape;25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69300" y="3366800"/>
              <a:ext cx="836325" cy="1164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20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8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0" name="Google Shape;2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0100" y="3396975"/>
            <a:ext cx="705600" cy="106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0"/>
          <p:cNvGrpSpPr/>
          <p:nvPr/>
        </p:nvGrpSpPr>
        <p:grpSpPr>
          <a:xfrm>
            <a:off x="1102125" y="560525"/>
            <a:ext cx="7092725" cy="4278175"/>
            <a:chOff x="1102125" y="560525"/>
            <a:chExt cx="7092725" cy="4278175"/>
          </a:xfrm>
        </p:grpSpPr>
        <p:pic>
          <p:nvPicPr>
            <p:cNvPr id="262" name="Google Shape;26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72050" y="3396975"/>
              <a:ext cx="705600" cy="106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88067" y="3396975"/>
              <a:ext cx="705600" cy="106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04083" y="3396975"/>
              <a:ext cx="705600" cy="106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93395" y="560525"/>
              <a:ext cx="443475" cy="8405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6" name="Google Shape;266;p20"/>
            <p:cNvGrpSpPr/>
            <p:nvPr/>
          </p:nvGrpSpPr>
          <p:grpSpPr>
            <a:xfrm>
              <a:off x="2579132" y="1757257"/>
              <a:ext cx="3872000" cy="876287"/>
              <a:chOff x="2654025" y="1695475"/>
              <a:chExt cx="3872000" cy="876287"/>
            </a:xfrm>
          </p:grpSpPr>
          <p:pic>
            <p:nvPicPr>
              <p:cNvPr id="267" name="Google Shape;267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654025" y="1695475"/>
                <a:ext cx="548700" cy="8762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8" name="Google Shape;268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977325" y="1695475"/>
                <a:ext cx="548700" cy="8762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9" name="Google Shape;269;p20"/>
            <p:cNvGrpSpPr/>
            <p:nvPr/>
          </p:nvGrpSpPr>
          <p:grpSpPr>
            <a:xfrm>
              <a:off x="3127932" y="1401100"/>
              <a:ext cx="1387200" cy="794400"/>
              <a:chOff x="3127932" y="1401100"/>
              <a:chExt cx="1387200" cy="794400"/>
            </a:xfrm>
          </p:grpSpPr>
          <p:cxnSp>
            <p:nvCxnSpPr>
              <p:cNvPr id="270" name="Google Shape;270;p20"/>
              <p:cNvCxnSpPr>
                <a:stCxn id="265" idx="2"/>
                <a:endCxn id="267" idx="3"/>
              </p:cNvCxnSpPr>
              <p:nvPr/>
            </p:nvCxnSpPr>
            <p:spPr>
              <a:xfrm flipH="1">
                <a:off x="3127932" y="1401100"/>
                <a:ext cx="1387200" cy="794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EB05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71" name="Google Shape;271;p20"/>
              <p:cNvSpPr txBox="1"/>
              <p:nvPr/>
            </p:nvSpPr>
            <p:spPr>
              <a:xfrm>
                <a:off x="3619025" y="1401100"/>
                <a:ext cx="4050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0EB050"/>
                    </a:solidFill>
                    <a:latin typeface="Nunito"/>
                    <a:ea typeface="Nunito"/>
                    <a:cs typeface="Nunito"/>
                    <a:sym typeface="Nunito"/>
                  </a:rPr>
                  <a:t>C</a:t>
                </a:r>
                <a:endParaRPr b="0" i="0" sz="2000" u="none" cap="none" strike="noStrike">
                  <a:solidFill>
                    <a:srgbClr val="0EB05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72" name="Google Shape;272;p20"/>
            <p:cNvGrpSpPr/>
            <p:nvPr/>
          </p:nvGrpSpPr>
          <p:grpSpPr>
            <a:xfrm>
              <a:off x="4515133" y="1401100"/>
              <a:ext cx="1387200" cy="794400"/>
              <a:chOff x="4515133" y="1401100"/>
              <a:chExt cx="1387200" cy="794400"/>
            </a:xfrm>
          </p:grpSpPr>
          <p:cxnSp>
            <p:nvCxnSpPr>
              <p:cNvPr id="273" name="Google Shape;273;p20"/>
              <p:cNvCxnSpPr>
                <a:stCxn id="265" idx="2"/>
                <a:endCxn id="268" idx="1"/>
              </p:cNvCxnSpPr>
              <p:nvPr/>
            </p:nvCxnSpPr>
            <p:spPr>
              <a:xfrm>
                <a:off x="4515133" y="1401100"/>
                <a:ext cx="1387200" cy="794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74" name="Google Shape;274;p20"/>
              <p:cNvSpPr txBox="1"/>
              <p:nvPr/>
            </p:nvSpPr>
            <p:spPr>
              <a:xfrm>
                <a:off x="5050825" y="1401100"/>
                <a:ext cx="4050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FF0000"/>
                    </a:solidFill>
                    <a:latin typeface="Nunito"/>
                    <a:ea typeface="Nunito"/>
                    <a:cs typeface="Nunito"/>
                    <a:sym typeface="Nunito"/>
                  </a:rPr>
                  <a:t>D</a:t>
                </a:r>
                <a:endParaRPr b="0" i="0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75" name="Google Shape;275;p20"/>
            <p:cNvGrpSpPr/>
            <p:nvPr/>
          </p:nvGrpSpPr>
          <p:grpSpPr>
            <a:xfrm>
              <a:off x="1986782" y="2633544"/>
              <a:ext cx="4190000" cy="813300"/>
              <a:chOff x="1986782" y="2633544"/>
              <a:chExt cx="4190000" cy="813300"/>
            </a:xfrm>
          </p:grpSpPr>
          <p:grpSp>
            <p:nvGrpSpPr>
              <p:cNvPr id="276" name="Google Shape;276;p20"/>
              <p:cNvGrpSpPr/>
              <p:nvPr/>
            </p:nvGrpSpPr>
            <p:grpSpPr>
              <a:xfrm>
                <a:off x="1986782" y="2633544"/>
                <a:ext cx="866700" cy="813300"/>
                <a:chOff x="1986782" y="2633544"/>
                <a:chExt cx="866700" cy="813300"/>
              </a:xfrm>
            </p:grpSpPr>
            <p:cxnSp>
              <p:nvCxnSpPr>
                <p:cNvPr id="277" name="Google Shape;277;p20"/>
                <p:cNvCxnSpPr>
                  <a:stCxn id="267" idx="2"/>
                </p:cNvCxnSpPr>
                <p:nvPr/>
              </p:nvCxnSpPr>
              <p:spPr>
                <a:xfrm flipH="1">
                  <a:off x="1986782" y="2633544"/>
                  <a:ext cx="866700" cy="813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EB050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278" name="Google Shape;278;p20"/>
                <p:cNvSpPr txBox="1"/>
                <p:nvPr/>
              </p:nvSpPr>
              <p:spPr>
                <a:xfrm>
                  <a:off x="2106450" y="2733375"/>
                  <a:ext cx="4050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0EB05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C</a:t>
                  </a:r>
                  <a:endParaRPr b="0" i="0" sz="2000" u="none" cap="none" strike="noStrike">
                    <a:solidFill>
                      <a:srgbClr val="0EB05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grpSp>
            <p:nvGrpSpPr>
              <p:cNvPr id="279" name="Google Shape;279;p20"/>
              <p:cNvGrpSpPr/>
              <p:nvPr/>
            </p:nvGrpSpPr>
            <p:grpSpPr>
              <a:xfrm>
                <a:off x="5358082" y="2633544"/>
                <a:ext cx="818700" cy="813300"/>
                <a:chOff x="5358082" y="2633544"/>
                <a:chExt cx="818700" cy="813300"/>
              </a:xfrm>
            </p:grpSpPr>
            <p:cxnSp>
              <p:nvCxnSpPr>
                <p:cNvPr id="280" name="Google Shape;280;p20"/>
                <p:cNvCxnSpPr>
                  <a:stCxn id="268" idx="2"/>
                </p:cNvCxnSpPr>
                <p:nvPr/>
              </p:nvCxnSpPr>
              <p:spPr>
                <a:xfrm flipH="1">
                  <a:off x="5358082" y="2633544"/>
                  <a:ext cx="818700" cy="813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EB050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281" name="Google Shape;281;p20"/>
                <p:cNvSpPr txBox="1"/>
                <p:nvPr/>
              </p:nvSpPr>
              <p:spPr>
                <a:xfrm>
                  <a:off x="5455825" y="2733375"/>
                  <a:ext cx="4050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0EB05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C</a:t>
                  </a:r>
                  <a:endParaRPr b="0" i="0" sz="2000" u="none" cap="none" strike="noStrike">
                    <a:solidFill>
                      <a:srgbClr val="0EB05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</p:grpSp>
        <p:grpSp>
          <p:nvGrpSpPr>
            <p:cNvPr id="282" name="Google Shape;282;p20"/>
            <p:cNvGrpSpPr/>
            <p:nvPr/>
          </p:nvGrpSpPr>
          <p:grpSpPr>
            <a:xfrm>
              <a:off x="2853482" y="2633544"/>
              <a:ext cx="4190000" cy="813300"/>
              <a:chOff x="2853482" y="2633544"/>
              <a:chExt cx="4190000" cy="813300"/>
            </a:xfrm>
          </p:grpSpPr>
          <p:grpSp>
            <p:nvGrpSpPr>
              <p:cNvPr id="283" name="Google Shape;283;p20"/>
              <p:cNvGrpSpPr/>
              <p:nvPr/>
            </p:nvGrpSpPr>
            <p:grpSpPr>
              <a:xfrm>
                <a:off x="2853482" y="2633544"/>
                <a:ext cx="818700" cy="813300"/>
                <a:chOff x="2853482" y="2633544"/>
                <a:chExt cx="818700" cy="813300"/>
              </a:xfrm>
            </p:grpSpPr>
            <p:cxnSp>
              <p:nvCxnSpPr>
                <p:cNvPr id="284" name="Google Shape;284;p20"/>
                <p:cNvCxnSpPr>
                  <a:stCxn id="267" idx="2"/>
                </p:cNvCxnSpPr>
                <p:nvPr/>
              </p:nvCxnSpPr>
              <p:spPr>
                <a:xfrm>
                  <a:off x="2853482" y="2633544"/>
                  <a:ext cx="818700" cy="813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285" name="Google Shape;285;p20"/>
                <p:cNvSpPr txBox="1"/>
                <p:nvPr/>
              </p:nvSpPr>
              <p:spPr>
                <a:xfrm>
                  <a:off x="3233450" y="2733375"/>
                  <a:ext cx="4050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FF000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D</a:t>
                  </a:r>
                  <a:endParaRPr b="0" i="0" sz="2000" u="none" cap="none" strike="noStrike">
                    <a:solidFill>
                      <a:srgbClr val="FF000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grpSp>
            <p:nvGrpSpPr>
              <p:cNvPr id="286" name="Google Shape;286;p20"/>
              <p:cNvGrpSpPr/>
              <p:nvPr/>
            </p:nvGrpSpPr>
            <p:grpSpPr>
              <a:xfrm>
                <a:off x="6176782" y="2633544"/>
                <a:ext cx="866700" cy="813300"/>
                <a:chOff x="6176782" y="2633544"/>
                <a:chExt cx="866700" cy="813300"/>
              </a:xfrm>
            </p:grpSpPr>
            <p:cxnSp>
              <p:nvCxnSpPr>
                <p:cNvPr id="287" name="Google Shape;287;p20"/>
                <p:cNvCxnSpPr>
                  <a:stCxn id="268" idx="2"/>
                </p:cNvCxnSpPr>
                <p:nvPr/>
              </p:nvCxnSpPr>
              <p:spPr>
                <a:xfrm>
                  <a:off x="6176782" y="2633544"/>
                  <a:ext cx="866700" cy="813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288" name="Google Shape;288;p20"/>
                <p:cNvSpPr txBox="1"/>
                <p:nvPr/>
              </p:nvSpPr>
              <p:spPr>
                <a:xfrm>
                  <a:off x="6582825" y="2733375"/>
                  <a:ext cx="4050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FF000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D</a:t>
                  </a:r>
                  <a:endParaRPr b="0" i="0" sz="2000" u="none" cap="none" strike="noStrike">
                    <a:solidFill>
                      <a:srgbClr val="FF000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</p:grpSp>
        <p:grpSp>
          <p:nvGrpSpPr>
            <p:cNvPr id="289" name="Google Shape;289;p20"/>
            <p:cNvGrpSpPr/>
            <p:nvPr/>
          </p:nvGrpSpPr>
          <p:grpSpPr>
            <a:xfrm>
              <a:off x="1102125" y="4243500"/>
              <a:ext cx="6305350" cy="491700"/>
              <a:chOff x="1178325" y="4243500"/>
              <a:chExt cx="6305350" cy="491700"/>
            </a:xfrm>
          </p:grpSpPr>
          <p:sp>
            <p:nvSpPr>
              <p:cNvPr id="290" name="Google Shape;290;p20"/>
              <p:cNvSpPr txBox="1"/>
              <p:nvPr/>
            </p:nvSpPr>
            <p:spPr>
              <a:xfrm>
                <a:off x="1178325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1 year</a:t>
                </a:r>
                <a:endParaRPr b="0" i="0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91" name="Google Shape;291;p20"/>
              <p:cNvSpPr txBox="1"/>
              <p:nvPr/>
            </p:nvSpPr>
            <p:spPr>
              <a:xfrm>
                <a:off x="2978708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8 years</a:t>
                </a:r>
                <a:endParaRPr b="0" i="0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92" name="Google Shape;292;p20"/>
              <p:cNvSpPr txBox="1"/>
              <p:nvPr/>
            </p:nvSpPr>
            <p:spPr>
              <a:xfrm>
                <a:off x="4779092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0 years</a:t>
                </a:r>
                <a:endParaRPr b="0" i="0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93" name="Google Shape;293;p20"/>
              <p:cNvSpPr txBox="1"/>
              <p:nvPr/>
            </p:nvSpPr>
            <p:spPr>
              <a:xfrm>
                <a:off x="6579475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3 years</a:t>
                </a:r>
                <a:endParaRPr b="0" i="0" sz="15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94" name="Google Shape;294;p20"/>
            <p:cNvGrpSpPr/>
            <p:nvPr/>
          </p:nvGrpSpPr>
          <p:grpSpPr>
            <a:xfrm>
              <a:off x="1889500" y="4347000"/>
              <a:ext cx="6305350" cy="491700"/>
              <a:chOff x="1178325" y="4243500"/>
              <a:chExt cx="6305350" cy="491700"/>
            </a:xfrm>
          </p:grpSpPr>
          <p:sp>
            <p:nvSpPr>
              <p:cNvPr id="295" name="Google Shape;295;p20"/>
              <p:cNvSpPr txBox="1"/>
              <p:nvPr/>
            </p:nvSpPr>
            <p:spPr>
              <a:xfrm>
                <a:off x="1178325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1 year</a:t>
                </a:r>
                <a:endParaRPr b="0" i="0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96" name="Google Shape;296;p20"/>
              <p:cNvSpPr txBox="1"/>
              <p:nvPr/>
            </p:nvSpPr>
            <p:spPr>
              <a:xfrm>
                <a:off x="2978708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0 years</a:t>
                </a:r>
                <a:endParaRPr b="0" i="0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97" name="Google Shape;297;p20"/>
              <p:cNvSpPr txBox="1"/>
              <p:nvPr/>
            </p:nvSpPr>
            <p:spPr>
              <a:xfrm>
                <a:off x="4779092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8 years</a:t>
                </a:r>
                <a:endParaRPr b="0" i="0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98" name="Google Shape;298;p20"/>
              <p:cNvSpPr txBox="1"/>
              <p:nvPr/>
            </p:nvSpPr>
            <p:spPr>
              <a:xfrm>
                <a:off x="6579475" y="4243500"/>
                <a:ext cx="904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" sz="15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3 years</a:t>
                </a:r>
                <a:endParaRPr b="0" i="0" sz="15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</p:grpSp>
      <p:sp>
        <p:nvSpPr>
          <p:cNvPr id="299" name="Google Shape;299;p20"/>
          <p:cNvSpPr/>
          <p:nvPr/>
        </p:nvSpPr>
        <p:spPr>
          <a:xfrm rot="5400000">
            <a:off x="972250" y="1164925"/>
            <a:ext cx="3324000" cy="3761400"/>
          </a:xfrm>
          <a:prstGeom prst="corner">
            <a:avLst>
              <a:gd fmla="val 36357" name="adj1"/>
              <a:gd fmla="val 100000" name="adj2"/>
            </a:avLst>
          </a:prstGeom>
          <a:solidFill>
            <a:srgbClr val="FFFFFF">
              <a:alpha val="7764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20"/>
          <p:cNvGrpSpPr/>
          <p:nvPr/>
        </p:nvGrpSpPr>
        <p:grpSpPr>
          <a:xfrm>
            <a:off x="4758725" y="2590550"/>
            <a:ext cx="1611650" cy="2122400"/>
            <a:chOff x="4753275" y="2598575"/>
            <a:chExt cx="1611650" cy="2122400"/>
          </a:xfrm>
        </p:grpSpPr>
        <p:sp>
          <p:nvSpPr>
            <p:cNvPr id="301" name="Google Shape;301;p20"/>
            <p:cNvSpPr/>
            <p:nvPr/>
          </p:nvSpPr>
          <p:spPr>
            <a:xfrm rot="5400000">
              <a:off x="4413975" y="2937875"/>
              <a:ext cx="2099100" cy="1420500"/>
            </a:xfrm>
            <a:prstGeom prst="corner">
              <a:avLst>
                <a:gd fmla="val 36357" name="adj1"/>
                <a:gd fmla="val 145500" name="adj2"/>
              </a:avLst>
            </a:prstGeom>
            <a:solidFill>
              <a:srgbClr val="FFFFFF">
                <a:alpha val="7764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 rot="5400000">
              <a:off x="5996375" y="4352425"/>
              <a:ext cx="545700" cy="191400"/>
            </a:xfrm>
            <a:prstGeom prst="corner">
              <a:avLst>
                <a:gd fmla="val 36357" name="adj1"/>
                <a:gd fmla="val 145500" name="adj2"/>
              </a:avLst>
            </a:prstGeom>
            <a:solidFill>
              <a:srgbClr val="FFFFFF">
                <a:alpha val="7764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20"/>
          <p:cNvSpPr/>
          <p:nvPr/>
        </p:nvSpPr>
        <p:spPr>
          <a:xfrm>
            <a:off x="510625" y="658550"/>
            <a:ext cx="1866300" cy="14295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609575" y="805875"/>
            <a:ext cx="172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 defects</a:t>
            </a:r>
            <a:endParaRPr b="0" i="0" sz="2000" u="none" cap="none" strike="noStrike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609575" y="1386300"/>
            <a:ext cx="172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 defects</a:t>
            </a:r>
            <a:endParaRPr b="0" i="0" sz="2000" u="none" cap="none" strike="noStrike">
              <a:solidFill>
                <a:srgbClr val="C55A1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/>
          <p:nvPr/>
        </p:nvSpPr>
        <p:spPr>
          <a:xfrm>
            <a:off x="5778500" y="2762250"/>
            <a:ext cx="2412900" cy="393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1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Nash Equilibria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9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15" name="Google Shape;315;p21"/>
          <p:cNvGrpSpPr/>
          <p:nvPr/>
        </p:nvGrpSpPr>
        <p:grpSpPr>
          <a:xfrm>
            <a:off x="1102125" y="1949550"/>
            <a:ext cx="6752300" cy="1254400"/>
            <a:chOff x="1102125" y="1949550"/>
            <a:chExt cx="6752300" cy="1254400"/>
          </a:xfrm>
        </p:grpSpPr>
        <p:grpSp>
          <p:nvGrpSpPr>
            <p:cNvPr id="316" name="Google Shape;316;p21"/>
            <p:cNvGrpSpPr/>
            <p:nvPr/>
          </p:nvGrpSpPr>
          <p:grpSpPr>
            <a:xfrm>
              <a:off x="1102125" y="1949550"/>
              <a:ext cx="6469700" cy="1254400"/>
              <a:chOff x="1102125" y="1949550"/>
              <a:chExt cx="6469700" cy="1254400"/>
            </a:xfrm>
          </p:grpSpPr>
          <p:sp>
            <p:nvSpPr>
              <p:cNvPr id="317" name="Google Shape;317;p21"/>
              <p:cNvSpPr txBox="1"/>
              <p:nvPr/>
            </p:nvSpPr>
            <p:spPr>
              <a:xfrm>
                <a:off x="3513425" y="1949550"/>
                <a:ext cx="21558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Bob cooperates</a:t>
                </a:r>
                <a:endParaRPr b="0" i="0" sz="20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318" name="Google Shape;318;p21"/>
              <p:cNvSpPr txBox="1"/>
              <p:nvPr/>
            </p:nvSpPr>
            <p:spPr>
              <a:xfrm>
                <a:off x="1102125" y="2325900"/>
                <a:ext cx="21558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Alice cooperates</a:t>
                </a:r>
                <a:endParaRPr b="0" i="0" sz="20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319" name="Google Shape;319;p21"/>
              <p:cNvSpPr txBox="1"/>
              <p:nvPr/>
            </p:nvSpPr>
            <p:spPr>
              <a:xfrm>
                <a:off x="1102125" y="2712250"/>
                <a:ext cx="17235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" sz="20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Alice defects</a:t>
                </a:r>
                <a:endParaRPr b="0" i="0" sz="20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grpSp>
            <p:nvGrpSpPr>
              <p:cNvPr id="320" name="Google Shape;320;p21"/>
              <p:cNvGrpSpPr/>
              <p:nvPr/>
            </p:nvGrpSpPr>
            <p:grpSpPr>
              <a:xfrm>
                <a:off x="4084650" y="2333488"/>
                <a:ext cx="3182375" cy="870450"/>
                <a:chOff x="4084650" y="2333488"/>
                <a:chExt cx="3182375" cy="870450"/>
              </a:xfrm>
            </p:grpSpPr>
            <p:sp>
              <p:nvSpPr>
                <p:cNvPr id="321" name="Google Shape;321;p21"/>
                <p:cNvSpPr txBox="1"/>
                <p:nvPr/>
              </p:nvSpPr>
              <p:spPr>
                <a:xfrm>
                  <a:off x="4084650" y="2333500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-1,</a:t>
                  </a:r>
                  <a:endParaRPr b="0" i="0" sz="20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  <p:sp>
              <p:nvSpPr>
                <p:cNvPr id="322" name="Google Shape;322;p21"/>
                <p:cNvSpPr txBox="1"/>
                <p:nvPr/>
              </p:nvSpPr>
              <p:spPr>
                <a:xfrm>
                  <a:off x="4084650" y="2712238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-8,</a:t>
                  </a:r>
                  <a:endParaRPr b="0" i="0" sz="20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  <p:sp>
              <p:nvSpPr>
                <p:cNvPr id="323" name="Google Shape;323;p21"/>
                <p:cNvSpPr txBox="1"/>
                <p:nvPr/>
              </p:nvSpPr>
              <p:spPr>
                <a:xfrm>
                  <a:off x="6718325" y="2333488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0,</a:t>
                  </a:r>
                  <a:endParaRPr b="0" i="0" sz="20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  <p:sp>
              <p:nvSpPr>
                <p:cNvPr id="324" name="Google Shape;324;p21"/>
                <p:cNvSpPr txBox="1"/>
                <p:nvPr/>
              </p:nvSpPr>
              <p:spPr>
                <a:xfrm>
                  <a:off x="6642125" y="2712238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-3,</a:t>
                  </a:r>
                  <a:endParaRPr b="0" i="0" sz="20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grpSp>
            <p:nvGrpSpPr>
              <p:cNvPr id="325" name="Google Shape;325;p21"/>
              <p:cNvGrpSpPr/>
              <p:nvPr/>
            </p:nvGrpSpPr>
            <p:grpSpPr>
              <a:xfrm>
                <a:off x="4389450" y="2333488"/>
                <a:ext cx="3182375" cy="870450"/>
                <a:chOff x="4084650" y="2333488"/>
                <a:chExt cx="3182375" cy="870450"/>
              </a:xfrm>
            </p:grpSpPr>
            <p:sp>
              <p:nvSpPr>
                <p:cNvPr id="326" name="Google Shape;326;p21"/>
                <p:cNvSpPr txBox="1"/>
                <p:nvPr/>
              </p:nvSpPr>
              <p:spPr>
                <a:xfrm>
                  <a:off x="4084650" y="2333500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0070C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 -1</a:t>
                  </a:r>
                  <a:endParaRPr b="0" i="0" sz="20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  <p:sp>
              <p:nvSpPr>
                <p:cNvPr id="327" name="Google Shape;327;p21"/>
                <p:cNvSpPr txBox="1"/>
                <p:nvPr/>
              </p:nvSpPr>
              <p:spPr>
                <a:xfrm>
                  <a:off x="4084650" y="2712238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0070C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  0</a:t>
                  </a:r>
                  <a:endParaRPr b="0" i="0" sz="20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  <p:sp>
              <p:nvSpPr>
                <p:cNvPr id="328" name="Google Shape;328;p21"/>
                <p:cNvSpPr txBox="1"/>
                <p:nvPr/>
              </p:nvSpPr>
              <p:spPr>
                <a:xfrm>
                  <a:off x="6718325" y="2333488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0070C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-8</a:t>
                  </a:r>
                  <a:endParaRPr b="0" i="0" sz="20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  <p:sp>
              <p:nvSpPr>
                <p:cNvPr id="329" name="Google Shape;329;p21"/>
                <p:cNvSpPr txBox="1"/>
                <p:nvPr/>
              </p:nvSpPr>
              <p:spPr>
                <a:xfrm>
                  <a:off x="6642125" y="2712238"/>
                  <a:ext cx="5487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" sz="2000" u="none" cap="none" strike="noStrike">
                      <a:solidFill>
                        <a:srgbClr val="0070C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 -3</a:t>
                  </a:r>
                  <a:endParaRPr b="0" i="0" sz="20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</p:grpSp>
        <p:sp>
          <p:nvSpPr>
            <p:cNvPr id="330" name="Google Shape;330;p21"/>
            <p:cNvSpPr txBox="1"/>
            <p:nvPr/>
          </p:nvSpPr>
          <p:spPr>
            <a:xfrm>
              <a:off x="6130925" y="1949550"/>
              <a:ext cx="17235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Bob defects</a:t>
              </a:r>
              <a:endParaRPr b="0" i="0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31" name="Google Shape;331;p21"/>
          <p:cNvGrpSpPr/>
          <p:nvPr/>
        </p:nvGrpSpPr>
        <p:grpSpPr>
          <a:xfrm>
            <a:off x="4758498" y="2590550"/>
            <a:ext cx="1165223" cy="2122400"/>
            <a:chOff x="4753275" y="2598575"/>
            <a:chExt cx="1611650" cy="2122400"/>
          </a:xfrm>
        </p:grpSpPr>
        <p:sp>
          <p:nvSpPr>
            <p:cNvPr id="332" name="Google Shape;332;p21"/>
            <p:cNvSpPr/>
            <p:nvPr/>
          </p:nvSpPr>
          <p:spPr>
            <a:xfrm rot="5400000">
              <a:off x="4413975" y="2937875"/>
              <a:ext cx="2099100" cy="1420500"/>
            </a:xfrm>
            <a:prstGeom prst="corner">
              <a:avLst>
                <a:gd fmla="val 36357" name="adj1"/>
                <a:gd fmla="val 145500" name="adj2"/>
              </a:avLst>
            </a:prstGeom>
            <a:solidFill>
              <a:srgbClr val="FFFFFF">
                <a:alpha val="7764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 rot="5400000">
              <a:off x="5996375" y="4352425"/>
              <a:ext cx="545700" cy="191400"/>
            </a:xfrm>
            <a:prstGeom prst="corner">
              <a:avLst>
                <a:gd fmla="val 36357" name="adj1"/>
                <a:gd fmla="val 145500" name="adj2"/>
              </a:avLst>
            </a:prstGeom>
            <a:solidFill>
              <a:srgbClr val="FFFFFF">
                <a:alpha val="7764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" name="Google Shape;334;p21"/>
          <p:cNvSpPr/>
          <p:nvPr/>
        </p:nvSpPr>
        <p:spPr>
          <a:xfrm>
            <a:off x="510625" y="658550"/>
            <a:ext cx="1866300" cy="14295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609575" y="805875"/>
            <a:ext cx="172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 defects</a:t>
            </a:r>
            <a:endParaRPr b="0" i="0" sz="2000" u="none" cap="none" strike="noStrike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609575" y="1386300"/>
            <a:ext cx="172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 defects</a:t>
            </a:r>
            <a:endParaRPr b="0" i="0" sz="2000" u="none" cap="none" strike="noStrike">
              <a:solidFill>
                <a:srgbClr val="C55A1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5924025" y="3051550"/>
            <a:ext cx="23109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D966"/>
                </a:solidFill>
                <a:latin typeface="Nunito"/>
                <a:ea typeface="Nunito"/>
                <a:cs typeface="Nunito"/>
                <a:sym typeface="Nunito"/>
              </a:rPr>
              <a:t>Nash equilibrium</a:t>
            </a:r>
            <a:endParaRPr b="1" i="0" sz="2000" u="none" cap="none" strike="noStrike">
              <a:solidFill>
                <a:srgbClr val="FFD9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338" name="Google Shape;338;p21"/>
          <p:cNvGraphicFramePr/>
          <p:nvPr/>
        </p:nvGraphicFramePr>
        <p:xfrm>
          <a:off x="952500" y="1966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{E48556DB-5D24-4421-870F-945F8C4A75FA}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 txBox="1"/>
          <p:nvPr/>
        </p:nvSpPr>
        <p:spPr>
          <a:xfrm>
            <a:off x="423400" y="1762175"/>
            <a:ext cx="236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efficient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44" name="Google Shape;344;p22"/>
          <p:cNvGrpSpPr/>
          <p:nvPr/>
        </p:nvGrpSpPr>
        <p:grpSpPr>
          <a:xfrm>
            <a:off x="2724008" y="893526"/>
            <a:ext cx="3627030" cy="3627030"/>
            <a:chOff x="2724008" y="893526"/>
            <a:chExt cx="3627030" cy="3627030"/>
          </a:xfrm>
        </p:grpSpPr>
        <p:grpSp>
          <p:nvGrpSpPr>
            <p:cNvPr id="345" name="Google Shape;345;p22"/>
            <p:cNvGrpSpPr/>
            <p:nvPr/>
          </p:nvGrpSpPr>
          <p:grpSpPr>
            <a:xfrm>
              <a:off x="2728933" y="893526"/>
              <a:ext cx="3215269" cy="3627030"/>
              <a:chOff x="2728960" y="893500"/>
              <a:chExt cx="3215269" cy="3576600"/>
            </a:xfrm>
          </p:grpSpPr>
          <p:cxnSp>
            <p:nvCxnSpPr>
              <p:cNvPr id="346" name="Google Shape;346;p22"/>
              <p:cNvCxnSpPr/>
              <p:nvPr/>
            </p:nvCxnSpPr>
            <p:spPr>
              <a:xfrm>
                <a:off x="3130868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7" name="Google Shape;347;p22"/>
              <p:cNvCxnSpPr/>
              <p:nvPr/>
            </p:nvCxnSpPr>
            <p:spPr>
              <a:xfrm>
                <a:off x="2728960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2"/>
              <p:cNvCxnSpPr/>
              <p:nvPr/>
            </p:nvCxnSpPr>
            <p:spPr>
              <a:xfrm>
                <a:off x="3532777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2"/>
              <p:cNvCxnSpPr/>
              <p:nvPr/>
            </p:nvCxnSpPr>
            <p:spPr>
              <a:xfrm>
                <a:off x="3934686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2"/>
              <p:cNvCxnSpPr/>
              <p:nvPr/>
            </p:nvCxnSpPr>
            <p:spPr>
              <a:xfrm>
                <a:off x="4336594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2"/>
              <p:cNvCxnSpPr/>
              <p:nvPr/>
            </p:nvCxnSpPr>
            <p:spPr>
              <a:xfrm>
                <a:off x="4738503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22"/>
              <p:cNvCxnSpPr/>
              <p:nvPr/>
            </p:nvCxnSpPr>
            <p:spPr>
              <a:xfrm>
                <a:off x="5140412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22"/>
              <p:cNvCxnSpPr/>
              <p:nvPr/>
            </p:nvCxnSpPr>
            <p:spPr>
              <a:xfrm>
                <a:off x="5542320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22"/>
              <p:cNvCxnSpPr/>
              <p:nvPr/>
            </p:nvCxnSpPr>
            <p:spPr>
              <a:xfrm>
                <a:off x="5944229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55" name="Google Shape;355;p22"/>
            <p:cNvGrpSpPr/>
            <p:nvPr/>
          </p:nvGrpSpPr>
          <p:grpSpPr>
            <a:xfrm rot="5400000">
              <a:off x="2929888" y="1087056"/>
              <a:ext cx="3215270" cy="3627030"/>
              <a:chOff x="3130868" y="893500"/>
              <a:chExt cx="3215270" cy="3576600"/>
            </a:xfrm>
          </p:grpSpPr>
          <p:cxnSp>
            <p:nvCxnSpPr>
              <p:cNvPr id="356" name="Google Shape;356;p22"/>
              <p:cNvCxnSpPr/>
              <p:nvPr/>
            </p:nvCxnSpPr>
            <p:spPr>
              <a:xfrm>
                <a:off x="6346138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2"/>
              <p:cNvCxnSpPr/>
              <p:nvPr/>
            </p:nvCxnSpPr>
            <p:spPr>
              <a:xfrm>
                <a:off x="3130868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2"/>
              <p:cNvCxnSpPr/>
              <p:nvPr/>
            </p:nvCxnSpPr>
            <p:spPr>
              <a:xfrm>
                <a:off x="3532777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2"/>
              <p:cNvCxnSpPr/>
              <p:nvPr/>
            </p:nvCxnSpPr>
            <p:spPr>
              <a:xfrm>
                <a:off x="3934686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22"/>
              <p:cNvCxnSpPr/>
              <p:nvPr/>
            </p:nvCxnSpPr>
            <p:spPr>
              <a:xfrm>
                <a:off x="4336594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22"/>
              <p:cNvCxnSpPr/>
              <p:nvPr/>
            </p:nvCxnSpPr>
            <p:spPr>
              <a:xfrm>
                <a:off x="4738503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22"/>
              <p:cNvCxnSpPr/>
              <p:nvPr/>
            </p:nvCxnSpPr>
            <p:spPr>
              <a:xfrm>
                <a:off x="5140412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22"/>
              <p:cNvCxnSpPr/>
              <p:nvPr/>
            </p:nvCxnSpPr>
            <p:spPr>
              <a:xfrm>
                <a:off x="5542320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22"/>
              <p:cNvCxnSpPr/>
              <p:nvPr/>
            </p:nvCxnSpPr>
            <p:spPr>
              <a:xfrm>
                <a:off x="5944229" y="893500"/>
                <a:ext cx="0" cy="357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7B7B7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365" name="Google Shape;365;p22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Pareto Efficiency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10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69" name="Google Shape;369;p22"/>
          <p:cNvGrpSpPr/>
          <p:nvPr/>
        </p:nvGrpSpPr>
        <p:grpSpPr>
          <a:xfrm>
            <a:off x="3728875" y="547450"/>
            <a:ext cx="4498400" cy="2398013"/>
            <a:chOff x="3728875" y="547450"/>
            <a:chExt cx="4498400" cy="2398013"/>
          </a:xfrm>
        </p:grpSpPr>
        <p:sp>
          <p:nvSpPr>
            <p:cNvPr id="370" name="Google Shape;370;p22"/>
            <p:cNvSpPr txBox="1"/>
            <p:nvPr/>
          </p:nvSpPr>
          <p:spPr>
            <a:xfrm>
              <a:off x="3728875" y="547450"/>
              <a:ext cx="1927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Alice’s payoff</a:t>
              </a:r>
              <a:endParaRPr b="0" i="0" sz="16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71" name="Google Shape;371;p22"/>
            <p:cNvSpPr txBox="1"/>
            <p:nvPr/>
          </p:nvSpPr>
          <p:spPr>
            <a:xfrm>
              <a:off x="6300075" y="2453763"/>
              <a:ext cx="1927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Bob’s payoff</a:t>
              </a:r>
              <a:endParaRPr b="0" i="0" sz="16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72" name="Google Shape;372;p22"/>
          <p:cNvGrpSpPr/>
          <p:nvPr/>
        </p:nvGrpSpPr>
        <p:grpSpPr>
          <a:xfrm>
            <a:off x="5450600" y="1292200"/>
            <a:ext cx="709200" cy="491700"/>
            <a:chOff x="5450600" y="1292200"/>
            <a:chExt cx="709200" cy="491700"/>
          </a:xfrm>
        </p:grpSpPr>
        <p:sp>
          <p:nvSpPr>
            <p:cNvPr id="373" name="Google Shape;373;p22"/>
            <p:cNvSpPr/>
            <p:nvPr/>
          </p:nvSpPr>
          <p:spPr>
            <a:xfrm>
              <a:off x="5544500" y="1292200"/>
              <a:ext cx="399900" cy="402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5450600" y="1292200"/>
              <a:ext cx="709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-1,</a:t>
              </a:r>
              <a:r>
                <a:rPr b="0" i="0" lang="en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-1</a:t>
              </a:r>
              <a:endParaRPr b="0" i="0" sz="14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75" name="Google Shape;375;p22"/>
          <p:cNvGrpSpPr/>
          <p:nvPr/>
        </p:nvGrpSpPr>
        <p:grpSpPr>
          <a:xfrm>
            <a:off x="4644500" y="2093850"/>
            <a:ext cx="709200" cy="491700"/>
            <a:chOff x="4644500" y="2093850"/>
            <a:chExt cx="709200" cy="491700"/>
          </a:xfrm>
        </p:grpSpPr>
        <p:sp>
          <p:nvSpPr>
            <p:cNvPr id="376" name="Google Shape;376;p22"/>
            <p:cNvSpPr/>
            <p:nvPr/>
          </p:nvSpPr>
          <p:spPr>
            <a:xfrm>
              <a:off x="4741125" y="2093850"/>
              <a:ext cx="399900" cy="402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2"/>
            <p:cNvSpPr txBox="1"/>
            <p:nvPr/>
          </p:nvSpPr>
          <p:spPr>
            <a:xfrm>
              <a:off x="4644500" y="2093850"/>
              <a:ext cx="709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-3,</a:t>
              </a:r>
              <a:r>
                <a:rPr b="0" i="0" lang="en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-3</a:t>
              </a:r>
              <a:endParaRPr b="0" i="0" sz="14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78" name="Google Shape;378;p22"/>
          <p:cNvGrpSpPr/>
          <p:nvPr/>
        </p:nvGrpSpPr>
        <p:grpSpPr>
          <a:xfrm>
            <a:off x="5891275" y="4105450"/>
            <a:ext cx="709200" cy="491700"/>
            <a:chOff x="5893575" y="4101100"/>
            <a:chExt cx="709200" cy="491700"/>
          </a:xfrm>
        </p:grpSpPr>
        <p:sp>
          <p:nvSpPr>
            <p:cNvPr id="379" name="Google Shape;379;p22"/>
            <p:cNvSpPr/>
            <p:nvPr/>
          </p:nvSpPr>
          <p:spPr>
            <a:xfrm>
              <a:off x="5944400" y="4101100"/>
              <a:ext cx="399900" cy="402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2"/>
            <p:cNvSpPr txBox="1"/>
            <p:nvPr/>
          </p:nvSpPr>
          <p:spPr>
            <a:xfrm>
              <a:off x="5893575" y="4101100"/>
              <a:ext cx="709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0,</a:t>
              </a:r>
              <a:r>
                <a:rPr b="0" i="0" lang="en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-8</a:t>
              </a:r>
              <a:endParaRPr b="0" i="0" sz="14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81" name="Google Shape;381;p22"/>
          <p:cNvGrpSpPr/>
          <p:nvPr/>
        </p:nvGrpSpPr>
        <p:grpSpPr>
          <a:xfrm>
            <a:off x="2663100" y="893500"/>
            <a:ext cx="709200" cy="491700"/>
            <a:chOff x="2663100" y="893500"/>
            <a:chExt cx="709200" cy="491700"/>
          </a:xfrm>
        </p:grpSpPr>
        <p:sp>
          <p:nvSpPr>
            <p:cNvPr id="382" name="Google Shape;382;p22"/>
            <p:cNvSpPr/>
            <p:nvPr/>
          </p:nvSpPr>
          <p:spPr>
            <a:xfrm>
              <a:off x="2731500" y="906250"/>
              <a:ext cx="399900" cy="38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2"/>
            <p:cNvSpPr txBox="1"/>
            <p:nvPr/>
          </p:nvSpPr>
          <p:spPr>
            <a:xfrm>
              <a:off x="2663100" y="893500"/>
              <a:ext cx="709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-8,</a:t>
              </a:r>
              <a:r>
                <a:rPr b="0" i="0" lang="en" sz="1400" u="none" cap="none" strike="noStrike">
                  <a:solidFill>
                    <a:srgbClr val="0171C0"/>
                  </a:solidFill>
                  <a:latin typeface="Nunito"/>
                  <a:ea typeface="Nunito"/>
                  <a:cs typeface="Nunito"/>
                  <a:sym typeface="Nunito"/>
                </a:rPr>
                <a:t>0</a:t>
              </a:r>
              <a:endParaRPr b="0" i="0" sz="1400" u="none" cap="none" strike="noStrike">
                <a:solidFill>
                  <a:srgbClr val="0171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84" name="Google Shape;384;p22"/>
          <p:cNvGrpSpPr/>
          <p:nvPr/>
        </p:nvGrpSpPr>
        <p:grpSpPr>
          <a:xfrm>
            <a:off x="2691475" y="893500"/>
            <a:ext cx="3666300" cy="3678600"/>
            <a:chOff x="2691475" y="893500"/>
            <a:chExt cx="3666300" cy="3678600"/>
          </a:xfrm>
        </p:grpSpPr>
        <p:cxnSp>
          <p:nvCxnSpPr>
            <p:cNvPr id="385" name="Google Shape;385;p22"/>
            <p:cNvCxnSpPr/>
            <p:nvPr/>
          </p:nvCxnSpPr>
          <p:spPr>
            <a:xfrm flipH="1">
              <a:off x="2691475" y="893500"/>
              <a:ext cx="3666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86" name="Google Shape;386;p22"/>
            <p:cNvCxnSpPr/>
            <p:nvPr/>
          </p:nvCxnSpPr>
          <p:spPr>
            <a:xfrm flipH="1">
              <a:off x="6350875" y="893500"/>
              <a:ext cx="6900" cy="3678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387" name="Google Shape;387;p22"/>
          <p:cNvCxnSpPr/>
          <p:nvPr/>
        </p:nvCxnSpPr>
        <p:spPr>
          <a:xfrm rot="10800000">
            <a:off x="3140275" y="1066900"/>
            <a:ext cx="2395200" cy="400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88" name="Google Shape;388;p22"/>
          <p:cNvCxnSpPr/>
          <p:nvPr/>
        </p:nvCxnSpPr>
        <p:spPr>
          <a:xfrm>
            <a:off x="3131400" y="1121850"/>
            <a:ext cx="2408700" cy="39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89" name="Google Shape;389;p22"/>
          <p:cNvCxnSpPr/>
          <p:nvPr/>
        </p:nvCxnSpPr>
        <p:spPr>
          <a:xfrm flipH="1">
            <a:off x="5094550" y="1662300"/>
            <a:ext cx="453300" cy="435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90" name="Google Shape;390;p22"/>
          <p:cNvCxnSpPr/>
          <p:nvPr/>
        </p:nvCxnSpPr>
        <p:spPr>
          <a:xfrm flipH="1" rot="10800000">
            <a:off x="5144875" y="1694275"/>
            <a:ext cx="444300" cy="437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91" name="Google Shape;391;p22"/>
          <p:cNvCxnSpPr/>
          <p:nvPr/>
        </p:nvCxnSpPr>
        <p:spPr>
          <a:xfrm>
            <a:off x="5795150" y="1694350"/>
            <a:ext cx="405300" cy="2411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92" name="Google Shape;392;p22"/>
          <p:cNvCxnSpPr/>
          <p:nvPr/>
        </p:nvCxnSpPr>
        <p:spPr>
          <a:xfrm rot="10800000">
            <a:off x="5745425" y="1696750"/>
            <a:ext cx="398400" cy="2406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93" name="Google Shape;393;p22"/>
          <p:cNvCxnSpPr/>
          <p:nvPr/>
        </p:nvCxnSpPr>
        <p:spPr>
          <a:xfrm>
            <a:off x="5002925" y="2500300"/>
            <a:ext cx="945600" cy="1790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94" name="Google Shape;394;p22"/>
          <p:cNvCxnSpPr/>
          <p:nvPr/>
        </p:nvCxnSpPr>
        <p:spPr>
          <a:xfrm rot="10800000">
            <a:off x="4941075" y="2507175"/>
            <a:ext cx="1002900" cy="1861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95" name="Google Shape;395;p22"/>
          <p:cNvCxnSpPr/>
          <p:nvPr/>
        </p:nvCxnSpPr>
        <p:spPr>
          <a:xfrm>
            <a:off x="2898725" y="1291375"/>
            <a:ext cx="1838700" cy="1035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396" name="Google Shape;396;p22"/>
          <p:cNvCxnSpPr/>
          <p:nvPr/>
        </p:nvCxnSpPr>
        <p:spPr>
          <a:xfrm rot="10800000">
            <a:off x="3004100" y="1293700"/>
            <a:ext cx="1735500" cy="963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med" w="med" type="stealth"/>
          </a:ln>
        </p:spPr>
      </p:cxnSp>
      <p:grpSp>
        <p:nvGrpSpPr>
          <p:cNvPr id="397" name="Google Shape;397;p22"/>
          <p:cNvGrpSpPr/>
          <p:nvPr/>
        </p:nvGrpSpPr>
        <p:grpSpPr>
          <a:xfrm>
            <a:off x="2691463" y="547450"/>
            <a:ext cx="3666300" cy="3821225"/>
            <a:chOff x="2691463" y="547450"/>
            <a:chExt cx="3666300" cy="3821225"/>
          </a:xfrm>
        </p:grpSpPr>
        <p:grpSp>
          <p:nvGrpSpPr>
            <p:cNvPr id="398" name="Google Shape;398;p22"/>
            <p:cNvGrpSpPr/>
            <p:nvPr/>
          </p:nvGrpSpPr>
          <p:grpSpPr>
            <a:xfrm>
              <a:off x="2691463" y="893488"/>
              <a:ext cx="3666300" cy="3475187"/>
              <a:chOff x="2691463" y="893488"/>
              <a:chExt cx="3666300" cy="3475187"/>
            </a:xfrm>
          </p:grpSpPr>
          <p:grpSp>
            <p:nvGrpSpPr>
              <p:cNvPr id="399" name="Google Shape;399;p22"/>
              <p:cNvGrpSpPr/>
              <p:nvPr/>
            </p:nvGrpSpPr>
            <p:grpSpPr>
              <a:xfrm>
                <a:off x="3004100" y="1066900"/>
                <a:ext cx="3139725" cy="3301775"/>
                <a:chOff x="3004100" y="1066900"/>
                <a:chExt cx="3139725" cy="3301775"/>
              </a:xfrm>
            </p:grpSpPr>
            <p:cxnSp>
              <p:nvCxnSpPr>
                <p:cNvPr id="400" name="Google Shape;400;p22"/>
                <p:cNvCxnSpPr/>
                <p:nvPr/>
              </p:nvCxnSpPr>
              <p:spPr>
                <a:xfrm rot="10800000">
                  <a:off x="3140275" y="1066900"/>
                  <a:ext cx="2395200" cy="400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C55A1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01" name="Google Shape;401;p22"/>
                <p:cNvCxnSpPr/>
                <p:nvPr/>
              </p:nvCxnSpPr>
              <p:spPr>
                <a:xfrm flipH="1">
                  <a:off x="5094550" y="1662300"/>
                  <a:ext cx="453300" cy="435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C55A1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02" name="Google Shape;402;p22"/>
                <p:cNvCxnSpPr/>
                <p:nvPr/>
              </p:nvCxnSpPr>
              <p:spPr>
                <a:xfrm rot="10800000">
                  <a:off x="5745425" y="1696750"/>
                  <a:ext cx="398400" cy="2406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C55A1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03" name="Google Shape;403;p22"/>
                <p:cNvCxnSpPr/>
                <p:nvPr/>
              </p:nvCxnSpPr>
              <p:spPr>
                <a:xfrm rot="10800000">
                  <a:off x="4941075" y="2507175"/>
                  <a:ext cx="1002900" cy="18615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C55A1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04" name="Google Shape;404;p22"/>
                <p:cNvCxnSpPr/>
                <p:nvPr/>
              </p:nvCxnSpPr>
              <p:spPr>
                <a:xfrm rot="10800000">
                  <a:off x="3004100" y="1293700"/>
                  <a:ext cx="1735500" cy="963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C55A1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  <p:cxnSp>
            <p:nvCxnSpPr>
              <p:cNvPr id="405" name="Google Shape;405;p22"/>
              <p:cNvCxnSpPr/>
              <p:nvPr/>
            </p:nvCxnSpPr>
            <p:spPr>
              <a:xfrm flipH="1">
                <a:off x="2691463" y="893488"/>
                <a:ext cx="3666300" cy="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55A1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406" name="Google Shape;406;p22"/>
            <p:cNvSpPr txBox="1"/>
            <p:nvPr/>
          </p:nvSpPr>
          <p:spPr>
            <a:xfrm>
              <a:off x="3728875" y="547450"/>
              <a:ext cx="25299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Alice’s payoff </a:t>
              </a:r>
              <a:r>
                <a:rPr b="1" i="0" lang="en" sz="16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worsens</a:t>
              </a:r>
              <a:endParaRPr b="1" i="0" sz="16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07" name="Google Shape;407;p22"/>
          <p:cNvGrpSpPr/>
          <p:nvPr/>
        </p:nvGrpSpPr>
        <p:grpSpPr>
          <a:xfrm>
            <a:off x="2898725" y="893500"/>
            <a:ext cx="5590750" cy="3678600"/>
            <a:chOff x="2898725" y="893500"/>
            <a:chExt cx="5590750" cy="3678600"/>
          </a:xfrm>
        </p:grpSpPr>
        <p:grpSp>
          <p:nvGrpSpPr>
            <p:cNvPr id="408" name="Google Shape;408;p22"/>
            <p:cNvGrpSpPr/>
            <p:nvPr/>
          </p:nvGrpSpPr>
          <p:grpSpPr>
            <a:xfrm>
              <a:off x="2898725" y="893500"/>
              <a:ext cx="3459050" cy="3678600"/>
              <a:chOff x="2898725" y="893500"/>
              <a:chExt cx="3459050" cy="3678600"/>
            </a:xfrm>
          </p:grpSpPr>
          <p:grpSp>
            <p:nvGrpSpPr>
              <p:cNvPr id="409" name="Google Shape;409;p22"/>
              <p:cNvGrpSpPr/>
              <p:nvPr/>
            </p:nvGrpSpPr>
            <p:grpSpPr>
              <a:xfrm>
                <a:off x="2898725" y="1121850"/>
                <a:ext cx="3301725" cy="3168850"/>
                <a:chOff x="2898725" y="1121850"/>
                <a:chExt cx="3301725" cy="3168850"/>
              </a:xfrm>
            </p:grpSpPr>
            <p:cxnSp>
              <p:nvCxnSpPr>
                <p:cNvPr id="410" name="Google Shape;410;p22"/>
                <p:cNvCxnSpPr/>
                <p:nvPr/>
              </p:nvCxnSpPr>
              <p:spPr>
                <a:xfrm>
                  <a:off x="3131400" y="1121850"/>
                  <a:ext cx="2408700" cy="3939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171C0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11" name="Google Shape;411;p22"/>
                <p:cNvCxnSpPr/>
                <p:nvPr/>
              </p:nvCxnSpPr>
              <p:spPr>
                <a:xfrm flipH="1">
                  <a:off x="5094550" y="1662300"/>
                  <a:ext cx="453300" cy="435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171C0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12" name="Google Shape;412;p22"/>
                <p:cNvCxnSpPr/>
                <p:nvPr/>
              </p:nvCxnSpPr>
              <p:spPr>
                <a:xfrm>
                  <a:off x="5795150" y="1694350"/>
                  <a:ext cx="405300" cy="2411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171C0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13" name="Google Shape;413;p22"/>
                <p:cNvCxnSpPr/>
                <p:nvPr/>
              </p:nvCxnSpPr>
              <p:spPr>
                <a:xfrm>
                  <a:off x="5002925" y="2500300"/>
                  <a:ext cx="945600" cy="17904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171C0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414" name="Google Shape;414;p22"/>
                <p:cNvCxnSpPr/>
                <p:nvPr/>
              </p:nvCxnSpPr>
              <p:spPr>
                <a:xfrm>
                  <a:off x="2898725" y="1291375"/>
                  <a:ext cx="1838700" cy="1035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171C0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  <p:cxnSp>
            <p:nvCxnSpPr>
              <p:cNvPr id="415" name="Google Shape;415;p22"/>
              <p:cNvCxnSpPr/>
              <p:nvPr/>
            </p:nvCxnSpPr>
            <p:spPr>
              <a:xfrm flipH="1">
                <a:off x="6350875" y="893500"/>
                <a:ext cx="6900" cy="3678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70C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416" name="Google Shape;416;p22"/>
            <p:cNvSpPr txBox="1"/>
            <p:nvPr/>
          </p:nvSpPr>
          <p:spPr>
            <a:xfrm>
              <a:off x="6300075" y="2453750"/>
              <a:ext cx="21894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Bob’s payoff </a:t>
              </a:r>
              <a:r>
                <a:rPr b="1" i="0" lang="en" sz="16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worsens</a:t>
              </a:r>
              <a:endParaRPr b="1" i="0" sz="16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17" name="Google Shape;417;p22"/>
          <p:cNvGrpSpPr/>
          <p:nvPr/>
        </p:nvGrpSpPr>
        <p:grpSpPr>
          <a:xfrm>
            <a:off x="3734150" y="547450"/>
            <a:ext cx="4961125" cy="2398000"/>
            <a:chOff x="3734150" y="547450"/>
            <a:chExt cx="4961125" cy="2398000"/>
          </a:xfrm>
        </p:grpSpPr>
        <p:cxnSp>
          <p:nvCxnSpPr>
            <p:cNvPr id="418" name="Google Shape;418;p22"/>
            <p:cNvCxnSpPr/>
            <p:nvPr/>
          </p:nvCxnSpPr>
          <p:spPr>
            <a:xfrm flipH="1" rot="10800000">
              <a:off x="5144875" y="1694275"/>
              <a:ext cx="444300" cy="437400"/>
            </a:xfrm>
            <a:prstGeom prst="straightConnector1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19" name="Google Shape;419;p22"/>
            <p:cNvSpPr txBox="1"/>
            <p:nvPr/>
          </p:nvSpPr>
          <p:spPr>
            <a:xfrm>
              <a:off x="3734150" y="547450"/>
              <a:ext cx="25299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Alice’s payoff </a:t>
              </a:r>
              <a:r>
                <a:rPr b="1" i="0" lang="en" sz="16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improves</a:t>
              </a:r>
              <a:endParaRPr b="1" i="0" sz="16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6300075" y="2453750"/>
              <a:ext cx="2395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Bob’s payoff </a:t>
              </a:r>
              <a:r>
                <a:rPr b="1" i="0" lang="en" sz="16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improves</a:t>
              </a:r>
              <a:endParaRPr b="1" i="0" sz="16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21" name="Google Shape;421;p22"/>
          <p:cNvGrpSpPr/>
          <p:nvPr/>
        </p:nvGrpSpPr>
        <p:grpSpPr>
          <a:xfrm>
            <a:off x="4644500" y="2093850"/>
            <a:ext cx="709200" cy="491700"/>
            <a:chOff x="4644500" y="2093850"/>
            <a:chExt cx="709200" cy="491700"/>
          </a:xfrm>
        </p:grpSpPr>
        <p:sp>
          <p:nvSpPr>
            <p:cNvPr id="422" name="Google Shape;422;p22"/>
            <p:cNvSpPr/>
            <p:nvPr/>
          </p:nvSpPr>
          <p:spPr>
            <a:xfrm>
              <a:off x="4741125" y="2093850"/>
              <a:ext cx="399900" cy="4023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4644500" y="2093850"/>
              <a:ext cx="7092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rPr>
                <a:t>-3,</a:t>
              </a:r>
              <a:r>
                <a:rPr b="0" i="0" lang="en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rPr>
                <a:t>-3</a:t>
              </a:r>
              <a:endParaRPr b="0" i="0" sz="14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24" name="Google Shape;424;p22"/>
          <p:cNvGrpSpPr/>
          <p:nvPr/>
        </p:nvGrpSpPr>
        <p:grpSpPr>
          <a:xfrm>
            <a:off x="2830125" y="2077075"/>
            <a:ext cx="2310900" cy="491700"/>
            <a:chOff x="2830125" y="2077075"/>
            <a:chExt cx="2310900" cy="491700"/>
          </a:xfrm>
        </p:grpSpPr>
        <p:sp>
          <p:nvSpPr>
            <p:cNvPr id="425" name="Google Shape;425;p22"/>
            <p:cNvSpPr/>
            <p:nvPr/>
          </p:nvSpPr>
          <p:spPr>
            <a:xfrm>
              <a:off x="2922025" y="2184600"/>
              <a:ext cx="1619400" cy="239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2"/>
            <p:cNvSpPr txBox="1"/>
            <p:nvPr/>
          </p:nvSpPr>
          <p:spPr>
            <a:xfrm>
              <a:off x="2830125" y="2077075"/>
              <a:ext cx="23109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D966"/>
                  </a:solidFill>
                  <a:latin typeface="Nunito"/>
                  <a:ea typeface="Nunito"/>
                  <a:cs typeface="Nunito"/>
                  <a:sym typeface="Nunito"/>
                </a:rPr>
                <a:t>Nash equilibrium</a:t>
              </a:r>
              <a:endParaRPr b="1" i="0" sz="1600" u="none" cap="none" strike="noStrike">
                <a:solidFill>
                  <a:srgbClr val="FFD966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27" name="Google Shape;427;p22"/>
          <p:cNvGrpSpPr/>
          <p:nvPr/>
        </p:nvGrpSpPr>
        <p:grpSpPr>
          <a:xfrm>
            <a:off x="3120300" y="547450"/>
            <a:ext cx="5564175" cy="4049700"/>
            <a:chOff x="2663100" y="547450"/>
            <a:chExt cx="5564175" cy="4049700"/>
          </a:xfrm>
        </p:grpSpPr>
        <p:grpSp>
          <p:nvGrpSpPr>
            <p:cNvPr id="428" name="Google Shape;428;p22"/>
            <p:cNvGrpSpPr/>
            <p:nvPr/>
          </p:nvGrpSpPr>
          <p:grpSpPr>
            <a:xfrm>
              <a:off x="2724008" y="893526"/>
              <a:ext cx="3627030" cy="3627030"/>
              <a:chOff x="2724008" y="893526"/>
              <a:chExt cx="3627030" cy="3627030"/>
            </a:xfrm>
          </p:grpSpPr>
          <p:grpSp>
            <p:nvGrpSpPr>
              <p:cNvPr id="429" name="Google Shape;429;p22"/>
              <p:cNvGrpSpPr/>
              <p:nvPr/>
            </p:nvGrpSpPr>
            <p:grpSpPr>
              <a:xfrm>
                <a:off x="2728933" y="893526"/>
                <a:ext cx="3215269" cy="3627030"/>
                <a:chOff x="2728960" y="893500"/>
                <a:chExt cx="3215269" cy="3576600"/>
              </a:xfrm>
            </p:grpSpPr>
            <p:cxnSp>
              <p:nvCxnSpPr>
                <p:cNvPr id="430" name="Google Shape;430;p22"/>
                <p:cNvCxnSpPr/>
                <p:nvPr/>
              </p:nvCxnSpPr>
              <p:spPr>
                <a:xfrm>
                  <a:off x="3130868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1" name="Google Shape;431;p22"/>
                <p:cNvCxnSpPr/>
                <p:nvPr/>
              </p:nvCxnSpPr>
              <p:spPr>
                <a:xfrm>
                  <a:off x="2728960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2" name="Google Shape;432;p22"/>
                <p:cNvCxnSpPr/>
                <p:nvPr/>
              </p:nvCxnSpPr>
              <p:spPr>
                <a:xfrm>
                  <a:off x="3532777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3" name="Google Shape;433;p22"/>
                <p:cNvCxnSpPr/>
                <p:nvPr/>
              </p:nvCxnSpPr>
              <p:spPr>
                <a:xfrm>
                  <a:off x="3934686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4" name="Google Shape;434;p22"/>
                <p:cNvCxnSpPr/>
                <p:nvPr/>
              </p:nvCxnSpPr>
              <p:spPr>
                <a:xfrm>
                  <a:off x="4336594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5" name="Google Shape;435;p22"/>
                <p:cNvCxnSpPr/>
                <p:nvPr/>
              </p:nvCxnSpPr>
              <p:spPr>
                <a:xfrm>
                  <a:off x="4738503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6" name="Google Shape;436;p22"/>
                <p:cNvCxnSpPr/>
                <p:nvPr/>
              </p:nvCxnSpPr>
              <p:spPr>
                <a:xfrm>
                  <a:off x="5140412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7" name="Google Shape;437;p22"/>
                <p:cNvCxnSpPr/>
                <p:nvPr/>
              </p:nvCxnSpPr>
              <p:spPr>
                <a:xfrm>
                  <a:off x="5542320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8" name="Google Shape;438;p22"/>
                <p:cNvCxnSpPr/>
                <p:nvPr/>
              </p:nvCxnSpPr>
              <p:spPr>
                <a:xfrm>
                  <a:off x="5944229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39" name="Google Shape;439;p22"/>
              <p:cNvGrpSpPr/>
              <p:nvPr/>
            </p:nvGrpSpPr>
            <p:grpSpPr>
              <a:xfrm rot="5400000">
                <a:off x="2929888" y="1087056"/>
                <a:ext cx="3215270" cy="3627030"/>
                <a:chOff x="3130868" y="893500"/>
                <a:chExt cx="3215270" cy="3576600"/>
              </a:xfrm>
            </p:grpSpPr>
            <p:cxnSp>
              <p:nvCxnSpPr>
                <p:cNvPr id="440" name="Google Shape;440;p22"/>
                <p:cNvCxnSpPr/>
                <p:nvPr/>
              </p:nvCxnSpPr>
              <p:spPr>
                <a:xfrm>
                  <a:off x="6346138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1" name="Google Shape;441;p22"/>
                <p:cNvCxnSpPr/>
                <p:nvPr/>
              </p:nvCxnSpPr>
              <p:spPr>
                <a:xfrm>
                  <a:off x="3130868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2" name="Google Shape;442;p22"/>
                <p:cNvCxnSpPr/>
                <p:nvPr/>
              </p:nvCxnSpPr>
              <p:spPr>
                <a:xfrm>
                  <a:off x="3532777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3" name="Google Shape;443;p22"/>
                <p:cNvCxnSpPr/>
                <p:nvPr/>
              </p:nvCxnSpPr>
              <p:spPr>
                <a:xfrm>
                  <a:off x="3934686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4" name="Google Shape;444;p22"/>
                <p:cNvCxnSpPr/>
                <p:nvPr/>
              </p:nvCxnSpPr>
              <p:spPr>
                <a:xfrm>
                  <a:off x="4336594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5" name="Google Shape;445;p22"/>
                <p:cNvCxnSpPr/>
                <p:nvPr/>
              </p:nvCxnSpPr>
              <p:spPr>
                <a:xfrm>
                  <a:off x="4738503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6" name="Google Shape;446;p22"/>
                <p:cNvCxnSpPr/>
                <p:nvPr/>
              </p:nvCxnSpPr>
              <p:spPr>
                <a:xfrm>
                  <a:off x="5140412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7" name="Google Shape;447;p22"/>
                <p:cNvCxnSpPr/>
                <p:nvPr/>
              </p:nvCxnSpPr>
              <p:spPr>
                <a:xfrm>
                  <a:off x="5542320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8" name="Google Shape;448;p22"/>
                <p:cNvCxnSpPr/>
                <p:nvPr/>
              </p:nvCxnSpPr>
              <p:spPr>
                <a:xfrm>
                  <a:off x="5944229" y="893500"/>
                  <a:ext cx="0" cy="3576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B7B7B7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449" name="Google Shape;449;p22"/>
            <p:cNvGrpSpPr/>
            <p:nvPr/>
          </p:nvGrpSpPr>
          <p:grpSpPr>
            <a:xfrm>
              <a:off x="3728875" y="547450"/>
              <a:ext cx="4498400" cy="2398013"/>
              <a:chOff x="3728875" y="547450"/>
              <a:chExt cx="4498400" cy="2398013"/>
            </a:xfrm>
          </p:grpSpPr>
          <p:sp>
            <p:nvSpPr>
              <p:cNvPr id="450" name="Google Shape;450;p22"/>
              <p:cNvSpPr txBox="1"/>
              <p:nvPr/>
            </p:nvSpPr>
            <p:spPr>
              <a:xfrm>
                <a:off x="3728875" y="547450"/>
                <a:ext cx="1927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" sz="16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Alice’s payoff</a:t>
                </a:r>
                <a:endParaRPr b="0" i="0" sz="1600" u="none" cap="none" strike="noStrike">
                  <a:solidFill>
                    <a:srgbClr val="C55A1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451" name="Google Shape;451;p22"/>
              <p:cNvSpPr txBox="1"/>
              <p:nvPr/>
            </p:nvSpPr>
            <p:spPr>
              <a:xfrm>
                <a:off x="6300075" y="2453763"/>
                <a:ext cx="1927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" sz="16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Bob’s payoff</a:t>
                </a:r>
                <a:endParaRPr b="0" i="0" sz="16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52" name="Google Shape;452;p22"/>
            <p:cNvGrpSpPr/>
            <p:nvPr/>
          </p:nvGrpSpPr>
          <p:grpSpPr>
            <a:xfrm>
              <a:off x="5450600" y="1292200"/>
              <a:ext cx="709200" cy="491700"/>
              <a:chOff x="5450600" y="1292200"/>
              <a:chExt cx="709200" cy="491700"/>
            </a:xfrm>
          </p:grpSpPr>
          <p:sp>
            <p:nvSpPr>
              <p:cNvPr id="453" name="Google Shape;453;p22"/>
              <p:cNvSpPr/>
              <p:nvPr/>
            </p:nvSpPr>
            <p:spPr>
              <a:xfrm>
                <a:off x="5544500" y="1292200"/>
                <a:ext cx="399900" cy="402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2"/>
              <p:cNvSpPr txBox="1"/>
              <p:nvPr/>
            </p:nvSpPr>
            <p:spPr>
              <a:xfrm>
                <a:off x="5450600" y="1292200"/>
                <a:ext cx="709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-1,</a:t>
                </a:r>
                <a:r>
                  <a:rPr b="0" i="0" lang="en" sz="14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-1</a:t>
                </a:r>
                <a:endParaRPr b="0" i="0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55" name="Google Shape;455;p22"/>
            <p:cNvGrpSpPr/>
            <p:nvPr/>
          </p:nvGrpSpPr>
          <p:grpSpPr>
            <a:xfrm>
              <a:off x="4644500" y="2093850"/>
              <a:ext cx="709200" cy="491700"/>
              <a:chOff x="4644500" y="2093850"/>
              <a:chExt cx="709200" cy="491700"/>
            </a:xfrm>
          </p:grpSpPr>
          <p:sp>
            <p:nvSpPr>
              <p:cNvPr id="456" name="Google Shape;456;p22"/>
              <p:cNvSpPr/>
              <p:nvPr/>
            </p:nvSpPr>
            <p:spPr>
              <a:xfrm>
                <a:off x="4741125" y="2093850"/>
                <a:ext cx="399900" cy="402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2"/>
              <p:cNvSpPr txBox="1"/>
              <p:nvPr/>
            </p:nvSpPr>
            <p:spPr>
              <a:xfrm>
                <a:off x="4644500" y="2093850"/>
                <a:ext cx="709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-3,</a:t>
                </a:r>
                <a:r>
                  <a:rPr b="0" i="0" lang="en" sz="14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-3</a:t>
                </a:r>
                <a:endParaRPr b="0" i="0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58" name="Google Shape;458;p22"/>
            <p:cNvGrpSpPr/>
            <p:nvPr/>
          </p:nvGrpSpPr>
          <p:grpSpPr>
            <a:xfrm>
              <a:off x="5891275" y="4105450"/>
              <a:ext cx="709200" cy="491700"/>
              <a:chOff x="5893575" y="4101100"/>
              <a:chExt cx="709200" cy="491700"/>
            </a:xfrm>
          </p:grpSpPr>
          <p:sp>
            <p:nvSpPr>
              <p:cNvPr id="459" name="Google Shape;459;p22"/>
              <p:cNvSpPr/>
              <p:nvPr/>
            </p:nvSpPr>
            <p:spPr>
              <a:xfrm>
                <a:off x="5944400" y="4101100"/>
                <a:ext cx="399900" cy="402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2"/>
              <p:cNvSpPr txBox="1"/>
              <p:nvPr/>
            </p:nvSpPr>
            <p:spPr>
              <a:xfrm>
                <a:off x="5893575" y="4101100"/>
                <a:ext cx="709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0,</a:t>
                </a:r>
                <a:r>
                  <a:rPr b="0" i="0" lang="en" sz="14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-8</a:t>
                </a:r>
                <a:endParaRPr b="0" i="0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61" name="Google Shape;461;p22"/>
            <p:cNvGrpSpPr/>
            <p:nvPr/>
          </p:nvGrpSpPr>
          <p:grpSpPr>
            <a:xfrm>
              <a:off x="2663100" y="893500"/>
              <a:ext cx="709200" cy="491700"/>
              <a:chOff x="2663100" y="893500"/>
              <a:chExt cx="709200" cy="491700"/>
            </a:xfrm>
          </p:grpSpPr>
          <p:sp>
            <p:nvSpPr>
              <p:cNvPr id="462" name="Google Shape;462;p22"/>
              <p:cNvSpPr/>
              <p:nvPr/>
            </p:nvSpPr>
            <p:spPr>
              <a:xfrm>
                <a:off x="2731500" y="906250"/>
                <a:ext cx="399900" cy="384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2"/>
              <p:cNvSpPr txBox="1"/>
              <p:nvPr/>
            </p:nvSpPr>
            <p:spPr>
              <a:xfrm>
                <a:off x="2663100" y="893500"/>
                <a:ext cx="709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-8,</a:t>
                </a:r>
                <a:r>
                  <a:rPr b="0" i="0" lang="en" sz="1400" u="none" cap="none" strike="noStrike">
                    <a:solidFill>
                      <a:srgbClr val="0171C0"/>
                    </a:solidFill>
                    <a:latin typeface="Nunito"/>
                    <a:ea typeface="Nunito"/>
                    <a:cs typeface="Nunito"/>
                    <a:sym typeface="Nunito"/>
                  </a:rPr>
                  <a:t>0</a:t>
                </a:r>
                <a:endParaRPr b="0" i="0" sz="1400" u="none" cap="none" strike="noStrike">
                  <a:solidFill>
                    <a:srgbClr val="0171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464" name="Google Shape;464;p22"/>
            <p:cNvGrpSpPr/>
            <p:nvPr/>
          </p:nvGrpSpPr>
          <p:grpSpPr>
            <a:xfrm>
              <a:off x="2691475" y="893500"/>
              <a:ext cx="3666300" cy="3678600"/>
              <a:chOff x="2691475" y="893500"/>
              <a:chExt cx="3666300" cy="3678600"/>
            </a:xfrm>
          </p:grpSpPr>
          <p:cxnSp>
            <p:nvCxnSpPr>
              <p:cNvPr id="465" name="Google Shape;465;p22"/>
              <p:cNvCxnSpPr/>
              <p:nvPr/>
            </p:nvCxnSpPr>
            <p:spPr>
              <a:xfrm flipH="1">
                <a:off x="2691475" y="893500"/>
                <a:ext cx="3666300" cy="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6" name="Google Shape;466;p22"/>
              <p:cNvCxnSpPr/>
              <p:nvPr/>
            </p:nvCxnSpPr>
            <p:spPr>
              <a:xfrm flipH="1">
                <a:off x="6350875" y="893500"/>
                <a:ext cx="6900" cy="36786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467" name="Google Shape;467;p22"/>
            <p:cNvCxnSpPr/>
            <p:nvPr/>
          </p:nvCxnSpPr>
          <p:spPr>
            <a:xfrm rot="10800000">
              <a:off x="3140275" y="1066900"/>
              <a:ext cx="2395200" cy="40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68" name="Google Shape;468;p22"/>
            <p:cNvCxnSpPr/>
            <p:nvPr/>
          </p:nvCxnSpPr>
          <p:spPr>
            <a:xfrm>
              <a:off x="3131400" y="1121850"/>
              <a:ext cx="2408700" cy="3939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69" name="Google Shape;469;p22"/>
            <p:cNvCxnSpPr/>
            <p:nvPr/>
          </p:nvCxnSpPr>
          <p:spPr>
            <a:xfrm flipH="1">
              <a:off x="5094550" y="1662300"/>
              <a:ext cx="453300" cy="435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70" name="Google Shape;470;p22"/>
            <p:cNvCxnSpPr/>
            <p:nvPr/>
          </p:nvCxnSpPr>
          <p:spPr>
            <a:xfrm flipH="1" rot="10800000">
              <a:off x="5144875" y="1694275"/>
              <a:ext cx="444300" cy="43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71" name="Google Shape;471;p22"/>
            <p:cNvCxnSpPr/>
            <p:nvPr/>
          </p:nvCxnSpPr>
          <p:spPr>
            <a:xfrm>
              <a:off x="5795150" y="1694350"/>
              <a:ext cx="405300" cy="24111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72" name="Google Shape;472;p22"/>
            <p:cNvCxnSpPr/>
            <p:nvPr/>
          </p:nvCxnSpPr>
          <p:spPr>
            <a:xfrm rot="10800000">
              <a:off x="5745425" y="1696750"/>
              <a:ext cx="398400" cy="24063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73" name="Google Shape;473;p22"/>
            <p:cNvCxnSpPr/>
            <p:nvPr/>
          </p:nvCxnSpPr>
          <p:spPr>
            <a:xfrm>
              <a:off x="5002925" y="2500300"/>
              <a:ext cx="945600" cy="1790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74" name="Google Shape;474;p22"/>
            <p:cNvCxnSpPr/>
            <p:nvPr/>
          </p:nvCxnSpPr>
          <p:spPr>
            <a:xfrm rot="10800000">
              <a:off x="4941075" y="2507175"/>
              <a:ext cx="1002900" cy="1861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75" name="Google Shape;475;p22"/>
            <p:cNvCxnSpPr/>
            <p:nvPr/>
          </p:nvCxnSpPr>
          <p:spPr>
            <a:xfrm>
              <a:off x="2898725" y="1291375"/>
              <a:ext cx="1838700" cy="1035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  <p:cxnSp>
          <p:nvCxnSpPr>
            <p:cNvPr id="476" name="Google Shape;476;p22"/>
            <p:cNvCxnSpPr/>
            <p:nvPr/>
          </p:nvCxnSpPr>
          <p:spPr>
            <a:xfrm rot="10800000">
              <a:off x="3004100" y="1293700"/>
              <a:ext cx="1735500" cy="9639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dash"/>
              <a:round/>
              <a:headEnd len="sm" w="sm" type="none"/>
              <a:tailEnd len="med" w="med" type="stealth"/>
            </a:ln>
          </p:spPr>
        </p:cxnSp>
      </p:grpSp>
      <p:sp>
        <p:nvSpPr>
          <p:cNvPr id="477" name="Google Shape;477;p22"/>
          <p:cNvSpPr txBox="1"/>
          <p:nvPr/>
        </p:nvSpPr>
        <p:spPr>
          <a:xfrm>
            <a:off x="423400" y="817200"/>
            <a:ext cx="261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improvement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>
            <a:off x="423400" y="1762175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efficient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 state in which no Pareto improvements are possible.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improvement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 change that improves the payoff for some or all of those involved, and does not reduce the payoff for anyone.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0" name="Google Shape;480;p22"/>
          <p:cNvSpPr/>
          <p:nvPr/>
        </p:nvSpPr>
        <p:spPr>
          <a:xfrm>
            <a:off x="2643350" y="2827675"/>
            <a:ext cx="2408700" cy="23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423400" y="2698825"/>
            <a:ext cx="6541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Nash 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quilibrium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 suboptimal for both.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82" name="Google Shape;482;p22"/>
          <p:cNvGrpSpPr/>
          <p:nvPr/>
        </p:nvGrpSpPr>
        <p:grpSpPr>
          <a:xfrm>
            <a:off x="423400" y="1293700"/>
            <a:ext cx="6196400" cy="960175"/>
            <a:chOff x="423400" y="1293700"/>
            <a:chExt cx="6196400" cy="960175"/>
          </a:xfrm>
        </p:grpSpPr>
        <p:grpSp>
          <p:nvGrpSpPr>
            <p:cNvPr id="483" name="Google Shape;483;p22"/>
            <p:cNvGrpSpPr/>
            <p:nvPr/>
          </p:nvGrpSpPr>
          <p:grpSpPr>
            <a:xfrm>
              <a:off x="5910600" y="1293700"/>
              <a:ext cx="709200" cy="491700"/>
              <a:chOff x="5450600" y="1292200"/>
              <a:chExt cx="709200" cy="491700"/>
            </a:xfrm>
          </p:grpSpPr>
          <p:sp>
            <p:nvSpPr>
              <p:cNvPr id="484" name="Google Shape;484;p22"/>
              <p:cNvSpPr/>
              <p:nvPr/>
            </p:nvSpPr>
            <p:spPr>
              <a:xfrm>
                <a:off x="5544500" y="1292200"/>
                <a:ext cx="399900" cy="4023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22"/>
              <p:cNvSpPr txBox="1"/>
              <p:nvPr/>
            </p:nvSpPr>
            <p:spPr>
              <a:xfrm>
                <a:off x="5450600" y="1292200"/>
                <a:ext cx="709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-1,</a:t>
                </a:r>
                <a:r>
                  <a:rPr b="0" i="0" lang="en" sz="14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-1</a:t>
                </a:r>
                <a:endParaRPr b="0" i="0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486" name="Google Shape;486;p22"/>
            <p:cNvSpPr txBox="1"/>
            <p:nvPr/>
          </p:nvSpPr>
          <p:spPr>
            <a:xfrm>
              <a:off x="423400" y="1762175"/>
              <a:ext cx="23601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93C47D"/>
                  </a:solidFill>
                  <a:latin typeface="Nunito"/>
                  <a:ea typeface="Nunito"/>
                  <a:cs typeface="Nunito"/>
                  <a:sym typeface="Nunito"/>
                </a:rPr>
                <a:t>Pareto efficient</a:t>
              </a:r>
              <a:endParaRPr b="0" i="0" sz="2000" u="none" cap="none" strike="noStrike">
                <a:solidFill>
                  <a:srgbClr val="93C47D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87" name="Google Shape;487;p22"/>
          <p:cNvGrpSpPr/>
          <p:nvPr/>
        </p:nvGrpSpPr>
        <p:grpSpPr>
          <a:xfrm>
            <a:off x="423400" y="817200"/>
            <a:ext cx="5622975" cy="1314475"/>
            <a:chOff x="423400" y="817200"/>
            <a:chExt cx="5622975" cy="1314475"/>
          </a:xfrm>
        </p:grpSpPr>
        <p:cxnSp>
          <p:nvCxnSpPr>
            <p:cNvPr id="488" name="Google Shape;488;p22"/>
            <p:cNvCxnSpPr/>
            <p:nvPr/>
          </p:nvCxnSpPr>
          <p:spPr>
            <a:xfrm flipH="1" rot="10800000">
              <a:off x="5602075" y="1694275"/>
              <a:ext cx="444300" cy="437400"/>
            </a:xfrm>
            <a:prstGeom prst="straightConnector1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89" name="Google Shape;489;p22"/>
            <p:cNvSpPr txBox="1"/>
            <p:nvPr/>
          </p:nvSpPr>
          <p:spPr>
            <a:xfrm>
              <a:off x="423400" y="817200"/>
              <a:ext cx="26190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00FF00"/>
                  </a:solidFill>
                  <a:latin typeface="Nunito"/>
                  <a:ea typeface="Nunito"/>
                  <a:cs typeface="Nunito"/>
                  <a:sym typeface="Nunito"/>
                </a:rPr>
                <a:t>Pareto improvement</a:t>
              </a:r>
              <a:endParaRPr b="0" i="0" sz="2000" u="none" cap="none" strike="noStrike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90" name="Google Shape;490;p22"/>
          <p:cNvGrpSpPr/>
          <p:nvPr/>
        </p:nvGrpSpPr>
        <p:grpSpPr>
          <a:xfrm>
            <a:off x="423400" y="2093850"/>
            <a:ext cx="5387500" cy="1097425"/>
            <a:chOff x="423400" y="2093850"/>
            <a:chExt cx="5387500" cy="1097425"/>
          </a:xfrm>
        </p:grpSpPr>
        <p:grpSp>
          <p:nvGrpSpPr>
            <p:cNvPr id="491" name="Google Shape;491;p22"/>
            <p:cNvGrpSpPr/>
            <p:nvPr/>
          </p:nvGrpSpPr>
          <p:grpSpPr>
            <a:xfrm>
              <a:off x="5101700" y="2093850"/>
              <a:ext cx="709200" cy="491700"/>
              <a:chOff x="4644500" y="2093850"/>
              <a:chExt cx="709200" cy="491700"/>
            </a:xfrm>
          </p:grpSpPr>
          <p:sp>
            <p:nvSpPr>
              <p:cNvPr id="492" name="Google Shape;492;p22"/>
              <p:cNvSpPr/>
              <p:nvPr/>
            </p:nvSpPr>
            <p:spPr>
              <a:xfrm>
                <a:off x="4741125" y="2093850"/>
                <a:ext cx="399900" cy="402300"/>
              </a:xfrm>
              <a:prstGeom prst="rect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2"/>
              <p:cNvSpPr txBox="1"/>
              <p:nvPr/>
            </p:nvSpPr>
            <p:spPr>
              <a:xfrm>
                <a:off x="4644500" y="2093850"/>
                <a:ext cx="709200" cy="49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C55A11"/>
                    </a:solidFill>
                    <a:latin typeface="Nunito"/>
                    <a:ea typeface="Nunito"/>
                    <a:cs typeface="Nunito"/>
                    <a:sym typeface="Nunito"/>
                  </a:rPr>
                  <a:t>-3,</a:t>
                </a:r>
                <a:r>
                  <a:rPr b="0" i="0" lang="en" sz="14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rPr>
                  <a:t>-3</a:t>
                </a:r>
                <a:endParaRPr b="0" i="0" sz="1400" u="none" cap="none" strike="noStrike">
                  <a:solidFill>
                    <a:srgbClr val="0070C0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494" name="Google Shape;494;p22"/>
            <p:cNvSpPr txBox="1"/>
            <p:nvPr/>
          </p:nvSpPr>
          <p:spPr>
            <a:xfrm>
              <a:off x="423400" y="2699575"/>
              <a:ext cx="22953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D966"/>
                  </a:solidFill>
                  <a:latin typeface="Nunito"/>
                  <a:ea typeface="Nunito"/>
                  <a:cs typeface="Nunito"/>
                  <a:sym typeface="Nunito"/>
                </a:rPr>
                <a:t>Nash equilibrium</a:t>
              </a:r>
              <a:endParaRPr b="0" i="0" sz="2000" u="none" cap="none" strike="noStrike">
                <a:solidFill>
                  <a:srgbClr val="FFD966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495" name="Google Shape;495;p22"/>
          <p:cNvGrpSpPr/>
          <p:nvPr/>
        </p:nvGrpSpPr>
        <p:grpSpPr>
          <a:xfrm>
            <a:off x="3120300" y="893500"/>
            <a:ext cx="3924363" cy="3703650"/>
            <a:chOff x="3120300" y="893500"/>
            <a:chExt cx="3924363" cy="3703650"/>
          </a:xfrm>
        </p:grpSpPr>
        <p:grpSp>
          <p:nvGrpSpPr>
            <p:cNvPr id="496" name="Google Shape;496;p22"/>
            <p:cNvGrpSpPr/>
            <p:nvPr/>
          </p:nvGrpSpPr>
          <p:grpSpPr>
            <a:xfrm>
              <a:off x="3120300" y="893500"/>
              <a:ext cx="709200" cy="491700"/>
              <a:chOff x="3120300" y="893500"/>
              <a:chExt cx="709200" cy="491700"/>
            </a:xfrm>
          </p:grpSpPr>
          <p:grpSp>
            <p:nvGrpSpPr>
              <p:cNvPr id="497" name="Google Shape;497;p22"/>
              <p:cNvGrpSpPr/>
              <p:nvPr/>
            </p:nvGrpSpPr>
            <p:grpSpPr>
              <a:xfrm>
                <a:off x="3120300" y="893500"/>
                <a:ext cx="709200" cy="491700"/>
                <a:chOff x="5474725" y="1292200"/>
                <a:chExt cx="709200" cy="491700"/>
              </a:xfrm>
            </p:grpSpPr>
            <p:sp>
              <p:nvSpPr>
                <p:cNvPr id="498" name="Google Shape;498;p22"/>
                <p:cNvSpPr/>
                <p:nvPr/>
              </p:nvSpPr>
              <p:spPr>
                <a:xfrm>
                  <a:off x="5544500" y="1292200"/>
                  <a:ext cx="399900" cy="402300"/>
                </a:xfrm>
                <a:prstGeom prst="rect">
                  <a:avLst/>
                </a:prstGeom>
                <a:solidFill>
                  <a:srgbClr val="93C47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Google Shape;499;p22"/>
                <p:cNvSpPr txBox="1"/>
                <p:nvPr/>
              </p:nvSpPr>
              <p:spPr>
                <a:xfrm>
                  <a:off x="5474725" y="1292200"/>
                  <a:ext cx="7092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" sz="1400" u="none" cap="none" strike="noStrike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-</a:t>
                  </a:r>
                  <a:r>
                    <a:rPr lang="en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8</a:t>
                  </a:r>
                  <a:r>
                    <a:rPr b="0" i="0" lang="en" sz="1400" u="none" cap="none" strike="noStrike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,</a:t>
                  </a:r>
                  <a:r>
                    <a:rPr lang="en">
                      <a:solidFill>
                        <a:srgbClr val="0070C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0</a:t>
                  </a:r>
                  <a:endParaRPr b="0" i="0" sz="14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sp>
            <p:nvSpPr>
              <p:cNvPr id="500" name="Google Shape;500;p22"/>
              <p:cNvSpPr/>
              <p:nvPr/>
            </p:nvSpPr>
            <p:spPr>
              <a:xfrm rot="10800000">
                <a:off x="3150075" y="893525"/>
                <a:ext cx="122400" cy="44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  <p:grpSp>
          <p:nvGrpSpPr>
            <p:cNvPr id="501" name="Google Shape;501;p22"/>
            <p:cNvGrpSpPr/>
            <p:nvPr/>
          </p:nvGrpSpPr>
          <p:grpSpPr>
            <a:xfrm>
              <a:off x="6335463" y="4105450"/>
              <a:ext cx="709200" cy="491700"/>
              <a:chOff x="6335463" y="4105450"/>
              <a:chExt cx="709200" cy="491700"/>
            </a:xfrm>
          </p:grpSpPr>
          <p:grpSp>
            <p:nvGrpSpPr>
              <p:cNvPr id="502" name="Google Shape;502;p22"/>
              <p:cNvGrpSpPr/>
              <p:nvPr/>
            </p:nvGrpSpPr>
            <p:grpSpPr>
              <a:xfrm>
                <a:off x="6335463" y="4105450"/>
                <a:ext cx="709200" cy="491700"/>
                <a:chOff x="5478025" y="1292200"/>
                <a:chExt cx="709200" cy="491700"/>
              </a:xfrm>
            </p:grpSpPr>
            <p:sp>
              <p:nvSpPr>
                <p:cNvPr id="503" name="Google Shape;503;p22"/>
                <p:cNvSpPr/>
                <p:nvPr/>
              </p:nvSpPr>
              <p:spPr>
                <a:xfrm>
                  <a:off x="5544500" y="1292200"/>
                  <a:ext cx="399900" cy="402300"/>
                </a:xfrm>
                <a:prstGeom prst="rect">
                  <a:avLst/>
                </a:prstGeom>
                <a:solidFill>
                  <a:srgbClr val="93C47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p22"/>
                <p:cNvSpPr txBox="1"/>
                <p:nvPr/>
              </p:nvSpPr>
              <p:spPr>
                <a:xfrm>
                  <a:off x="5478025" y="1292200"/>
                  <a:ext cx="709200" cy="49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0</a:t>
                  </a:r>
                  <a:r>
                    <a:rPr b="0" i="0" lang="en" sz="1400" u="none" cap="none" strike="noStrike">
                      <a:solidFill>
                        <a:srgbClr val="C55A11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,</a:t>
                  </a:r>
                  <a:r>
                    <a:rPr lang="en">
                      <a:solidFill>
                        <a:srgbClr val="0070C0"/>
                      </a:solidFill>
                      <a:latin typeface="Nunito"/>
                      <a:ea typeface="Nunito"/>
                      <a:cs typeface="Nunito"/>
                      <a:sym typeface="Nunito"/>
                    </a:rPr>
                    <a:t>-8</a:t>
                  </a:r>
                  <a:endParaRPr b="0" i="0" sz="1400" u="none" cap="none" strike="noStrike">
                    <a:solidFill>
                      <a:srgbClr val="0070C0"/>
                    </a:solidFill>
                    <a:latin typeface="Nunito"/>
                    <a:ea typeface="Nunito"/>
                    <a:cs typeface="Nunito"/>
                    <a:sym typeface="Nunito"/>
                  </a:endParaRPr>
                </a:p>
              </p:txBody>
            </p:sp>
          </p:grpSp>
          <p:sp>
            <p:nvSpPr>
              <p:cNvPr id="505" name="Google Shape;505;p22"/>
              <p:cNvSpPr/>
              <p:nvPr/>
            </p:nvSpPr>
            <p:spPr>
              <a:xfrm flipH="1" rot="-5408405">
                <a:off x="6724350" y="4488375"/>
                <a:ext cx="122700" cy="447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Telex"/>
                  <a:ea typeface="Telex"/>
                  <a:cs typeface="Telex"/>
                  <a:sym typeface="Telex"/>
                </a:endParaRPr>
              </a:p>
            </p:txBody>
          </p:sp>
        </p:grpSp>
      </p:grpSp>
      <p:cxnSp>
        <p:nvCxnSpPr>
          <p:cNvPr id="506" name="Google Shape;506;p22"/>
          <p:cNvCxnSpPr/>
          <p:nvPr/>
        </p:nvCxnSpPr>
        <p:spPr>
          <a:xfrm flipH="1">
            <a:off x="5551750" y="1662300"/>
            <a:ext cx="453300" cy="435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Real-World Examples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12" name="Google Shape;512;p23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Mud-slinging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Dominant strategy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Nash equilibrium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improvement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4" name="Google Shape;514;p2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11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6" name="Google Shape;516;p23"/>
          <p:cNvSpPr txBox="1"/>
          <p:nvPr/>
        </p:nvSpPr>
        <p:spPr>
          <a:xfrm>
            <a:off x="423400" y="2862925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Shopkeeper price racing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Dominant strategy: lowering prices to outcompete rival shop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Nash equilibrium: both shopkeepers lower their prices, sacrificing profit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improvement: both shopkeepers keep their prices high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>
            <a:off x="2995750" y="117675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running negative ads to discredit opponent party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8" name="Google Shape;518;p23"/>
          <p:cNvSpPr txBox="1"/>
          <p:nvPr/>
        </p:nvSpPr>
        <p:spPr>
          <a:xfrm>
            <a:off x="2806800" y="1521825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both parties run negative campaigns; both detriment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3203200" y="1874575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both parties refrain from mudslinging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4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Agents May Cooperate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525" name="Google Shape;525;p2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6" name="Google Shape;526;p2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12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7" name="Google Shape;527;p2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28" name="Google Shape;5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8575" y="795000"/>
            <a:ext cx="5727201" cy="4043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9" name="Google Shape;529;p24"/>
          <p:cNvGrpSpPr/>
          <p:nvPr/>
        </p:nvGrpSpPr>
        <p:grpSpPr>
          <a:xfrm>
            <a:off x="3013975" y="5219700"/>
            <a:ext cx="4421675" cy="1003500"/>
            <a:chOff x="3013975" y="3619500"/>
            <a:chExt cx="4421675" cy="1003500"/>
          </a:xfrm>
        </p:grpSpPr>
        <p:sp>
          <p:nvSpPr>
            <p:cNvPr id="530" name="Google Shape;530;p24"/>
            <p:cNvSpPr/>
            <p:nvPr/>
          </p:nvSpPr>
          <p:spPr>
            <a:xfrm>
              <a:off x="3013975" y="3619500"/>
              <a:ext cx="877800" cy="1003500"/>
            </a:xfrm>
            <a:prstGeom prst="roundRect">
              <a:avLst>
                <a:gd fmla="val 8547" name="adj"/>
              </a:avLst>
            </a:prstGeom>
            <a:solidFill>
              <a:srgbClr val="0000FF">
                <a:alpha val="5890"/>
              </a:srgbClr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elex"/>
                <a:ea typeface="Telex"/>
                <a:cs typeface="Telex"/>
                <a:sym typeface="Telex"/>
              </a:endParaRPr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5982150" y="3632375"/>
              <a:ext cx="1453500" cy="990600"/>
            </a:xfrm>
            <a:prstGeom prst="roundRect">
              <a:avLst>
                <a:gd fmla="val 5676" name="adj"/>
              </a:avLst>
            </a:prstGeom>
            <a:solidFill>
              <a:srgbClr val="0000FF">
                <a:alpha val="5890"/>
              </a:srgbClr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elex"/>
                <a:ea typeface="Telex"/>
                <a:cs typeface="Telex"/>
                <a:sym typeface="Telex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4027" y="1686525"/>
            <a:ext cx="1840850" cy="14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7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Iterated Prisoner’s Dilemma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604" name="Google Shape;604;p2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5" name="Google Shape;605;p2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13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6" name="Google Shape;606;p2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7" name="Google Shape;6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350" y="838850"/>
            <a:ext cx="693250" cy="6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1950" y="838850"/>
            <a:ext cx="693250" cy="6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6550" y="838850"/>
            <a:ext cx="693250" cy="6965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0" name="Google Shape;610;p27"/>
          <p:cNvCxnSpPr/>
          <p:nvPr/>
        </p:nvCxnSpPr>
        <p:spPr>
          <a:xfrm flipH="1" rot="10800000">
            <a:off x="5392902" y="2431950"/>
            <a:ext cx="1263600" cy="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1" name="Google Shape;611;p27"/>
          <p:cNvSpPr/>
          <p:nvPr/>
        </p:nvSpPr>
        <p:spPr>
          <a:xfrm>
            <a:off x="11050" y="1659625"/>
            <a:ext cx="5254200" cy="161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4527" y="1686525"/>
            <a:ext cx="1840850" cy="14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/>
          <p:nvPr/>
        </p:nvSpPr>
        <p:spPr>
          <a:xfrm>
            <a:off x="0" y="1659625"/>
            <a:ext cx="1948800" cy="161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" name="Google Shape;6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7" y="1686525"/>
            <a:ext cx="1840850" cy="149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5" name="Google Shape;615;p27"/>
          <p:cNvCxnSpPr/>
          <p:nvPr/>
        </p:nvCxnSpPr>
        <p:spPr>
          <a:xfrm flipH="1" rot="10800000">
            <a:off x="2033402" y="2431950"/>
            <a:ext cx="1263600" cy="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6" name="Google Shape;616;p27"/>
          <p:cNvSpPr/>
          <p:nvPr/>
        </p:nvSpPr>
        <p:spPr>
          <a:xfrm>
            <a:off x="3347025" y="733425"/>
            <a:ext cx="1948800" cy="280980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6721475" y="733425"/>
            <a:ext cx="2091000" cy="280980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5295825" y="895350"/>
            <a:ext cx="1360800" cy="280980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1946050" y="733425"/>
            <a:ext cx="1360800" cy="280980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0" name="Google Shape;620;p27"/>
          <p:cNvGrpSpPr/>
          <p:nvPr/>
        </p:nvGrpSpPr>
        <p:grpSpPr>
          <a:xfrm>
            <a:off x="34575" y="1721200"/>
            <a:ext cx="934924" cy="1946825"/>
            <a:chOff x="34575" y="1721200"/>
            <a:chExt cx="934924" cy="1946825"/>
          </a:xfrm>
        </p:grpSpPr>
        <p:pic>
          <p:nvPicPr>
            <p:cNvPr id="621" name="Google Shape;621;p27"/>
            <p:cNvPicPr preferRelativeResize="0"/>
            <p:nvPr/>
          </p:nvPicPr>
          <p:blipFill rotWithShape="1">
            <a:blip r:embed="rId7">
              <a:alphaModFix/>
            </a:blip>
            <a:srcRect b="0" l="0" r="51155" t="0"/>
            <a:stretch/>
          </p:blipFill>
          <p:spPr>
            <a:xfrm>
              <a:off x="34575" y="1721200"/>
              <a:ext cx="934924" cy="1493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2" name="Google Shape;622;p27"/>
            <p:cNvSpPr txBox="1"/>
            <p:nvPr/>
          </p:nvSpPr>
          <p:spPr>
            <a:xfrm>
              <a:off x="260698" y="3176325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06B050"/>
                  </a:solidFill>
                  <a:latin typeface="Nunito"/>
                  <a:ea typeface="Nunito"/>
                  <a:cs typeface="Nunito"/>
                  <a:sym typeface="Nunito"/>
                </a:rPr>
                <a:t>C</a:t>
              </a:r>
              <a:endParaRPr b="1" i="0" sz="2000" u="none" cap="none" strike="noStrike">
                <a:solidFill>
                  <a:srgbClr val="06B05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23" name="Google Shape;623;p27"/>
          <p:cNvGrpSpPr/>
          <p:nvPr/>
        </p:nvGrpSpPr>
        <p:grpSpPr>
          <a:xfrm>
            <a:off x="970949" y="1700288"/>
            <a:ext cx="934926" cy="1967737"/>
            <a:chOff x="970949" y="1700288"/>
            <a:chExt cx="934926" cy="1967737"/>
          </a:xfrm>
        </p:grpSpPr>
        <p:pic>
          <p:nvPicPr>
            <p:cNvPr id="624" name="Google Shape;624;p27"/>
            <p:cNvPicPr preferRelativeResize="0"/>
            <p:nvPr/>
          </p:nvPicPr>
          <p:blipFill rotWithShape="1">
            <a:blip r:embed="rId8">
              <a:alphaModFix/>
            </a:blip>
            <a:srcRect b="0" l="50840" r="0" t="0"/>
            <a:stretch/>
          </p:blipFill>
          <p:spPr>
            <a:xfrm>
              <a:off x="970949" y="1700288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27"/>
            <p:cNvSpPr txBox="1"/>
            <p:nvPr/>
          </p:nvSpPr>
          <p:spPr>
            <a:xfrm>
              <a:off x="1341773" y="3176325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26" name="Google Shape;626;p27"/>
          <p:cNvGrpSpPr/>
          <p:nvPr/>
        </p:nvGrpSpPr>
        <p:grpSpPr>
          <a:xfrm>
            <a:off x="3424525" y="1734963"/>
            <a:ext cx="934926" cy="1926637"/>
            <a:chOff x="3424525" y="1734963"/>
            <a:chExt cx="934926" cy="1926637"/>
          </a:xfrm>
        </p:grpSpPr>
        <p:pic>
          <p:nvPicPr>
            <p:cNvPr id="627" name="Google Shape;627;p27"/>
            <p:cNvPicPr preferRelativeResize="0"/>
            <p:nvPr/>
          </p:nvPicPr>
          <p:blipFill rotWithShape="1">
            <a:blip r:embed="rId8">
              <a:alphaModFix/>
            </a:blip>
            <a:srcRect b="0" l="0" r="50838" t="0"/>
            <a:stretch/>
          </p:blipFill>
          <p:spPr>
            <a:xfrm>
              <a:off x="3424525" y="1734963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27"/>
            <p:cNvSpPr txBox="1"/>
            <p:nvPr/>
          </p:nvSpPr>
          <p:spPr>
            <a:xfrm>
              <a:off x="3633311" y="3169900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29" name="Google Shape;629;p27"/>
          <p:cNvSpPr txBox="1"/>
          <p:nvPr/>
        </p:nvSpPr>
        <p:spPr>
          <a:xfrm>
            <a:off x="423400" y="3712800"/>
            <a:ext cx="3936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Alice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punishes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Bob for </a:t>
            </a:r>
            <a:r>
              <a:rPr b="0" i="0" lang="en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defecting</a:t>
            </a:r>
            <a:endParaRPr b="0" i="0" sz="2000" u="none" cap="none" strike="noStrike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0" name="Google Shape;630;p27"/>
          <p:cNvSpPr txBox="1"/>
          <p:nvPr/>
        </p:nvSpPr>
        <p:spPr>
          <a:xfrm>
            <a:off x="4694825" y="3712800"/>
            <a:ext cx="4392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Alice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rewards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Bob for </a:t>
            </a:r>
            <a:r>
              <a:rPr b="0" i="0" lang="en" sz="2000" u="none" cap="none" strike="noStrike">
                <a:solidFill>
                  <a:srgbClr val="06B050"/>
                </a:solidFill>
                <a:latin typeface="Nunito"/>
                <a:ea typeface="Nunito"/>
                <a:cs typeface="Nunito"/>
                <a:sym typeface="Nunito"/>
              </a:rPr>
              <a:t>cooperating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31" name="Google Shape;631;p27"/>
          <p:cNvGrpSpPr/>
          <p:nvPr/>
        </p:nvGrpSpPr>
        <p:grpSpPr>
          <a:xfrm>
            <a:off x="4333425" y="1700288"/>
            <a:ext cx="934924" cy="1969425"/>
            <a:chOff x="7695900" y="1692175"/>
            <a:chExt cx="934924" cy="1969425"/>
          </a:xfrm>
        </p:grpSpPr>
        <p:pic>
          <p:nvPicPr>
            <p:cNvPr id="632" name="Google Shape;632;p27"/>
            <p:cNvPicPr preferRelativeResize="0"/>
            <p:nvPr/>
          </p:nvPicPr>
          <p:blipFill rotWithShape="1">
            <a:blip r:embed="rId7">
              <a:alphaModFix/>
            </a:blip>
            <a:srcRect b="0" l="51155" r="0" t="0"/>
            <a:stretch/>
          </p:blipFill>
          <p:spPr>
            <a:xfrm>
              <a:off x="7695900" y="1692175"/>
              <a:ext cx="934924" cy="1493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27"/>
            <p:cNvSpPr txBox="1"/>
            <p:nvPr/>
          </p:nvSpPr>
          <p:spPr>
            <a:xfrm>
              <a:off x="8050211" y="3169900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06B050"/>
                  </a:solidFill>
                  <a:latin typeface="Nunito"/>
                  <a:ea typeface="Nunito"/>
                  <a:cs typeface="Nunito"/>
                  <a:sym typeface="Nunito"/>
                </a:rPr>
                <a:t>C</a:t>
              </a:r>
              <a:endParaRPr b="1" i="0" sz="2000" u="none" cap="none" strike="noStrike">
                <a:solidFill>
                  <a:srgbClr val="06B05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34" name="Google Shape;634;p27"/>
          <p:cNvSpPr txBox="1"/>
          <p:nvPr/>
        </p:nvSpPr>
        <p:spPr>
          <a:xfrm>
            <a:off x="423400" y="4020925"/>
            <a:ext cx="3936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by </a:t>
            </a:r>
            <a:r>
              <a:rPr b="0" i="0" lang="en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defecting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 future herself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5" name="Google Shape;635;p27"/>
          <p:cNvSpPr txBox="1"/>
          <p:nvPr/>
        </p:nvSpPr>
        <p:spPr>
          <a:xfrm>
            <a:off x="4694825" y="4020925"/>
            <a:ext cx="3936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by </a:t>
            </a:r>
            <a:r>
              <a:rPr b="0" i="0" lang="en" sz="2000" u="none" cap="none" strike="noStrike">
                <a:solidFill>
                  <a:srgbClr val="06B050"/>
                </a:solidFill>
                <a:latin typeface="Nunito"/>
                <a:ea typeface="Nunito"/>
                <a:cs typeface="Nunito"/>
                <a:sym typeface="Nunito"/>
              </a:rPr>
              <a:t>cooperating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 future herself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36" name="Google Shape;636;p27"/>
          <p:cNvGrpSpPr/>
          <p:nvPr/>
        </p:nvGrpSpPr>
        <p:grpSpPr>
          <a:xfrm>
            <a:off x="6753575" y="1721200"/>
            <a:ext cx="934924" cy="1946825"/>
            <a:chOff x="34575" y="1721200"/>
            <a:chExt cx="934924" cy="1946825"/>
          </a:xfrm>
        </p:grpSpPr>
        <p:pic>
          <p:nvPicPr>
            <p:cNvPr id="637" name="Google Shape;637;p27"/>
            <p:cNvPicPr preferRelativeResize="0"/>
            <p:nvPr/>
          </p:nvPicPr>
          <p:blipFill rotWithShape="1">
            <a:blip r:embed="rId7">
              <a:alphaModFix/>
            </a:blip>
            <a:srcRect b="0" l="0" r="51155" t="0"/>
            <a:stretch/>
          </p:blipFill>
          <p:spPr>
            <a:xfrm>
              <a:off x="34575" y="1721200"/>
              <a:ext cx="934924" cy="1493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" name="Google Shape;638;p27"/>
            <p:cNvSpPr txBox="1"/>
            <p:nvPr/>
          </p:nvSpPr>
          <p:spPr>
            <a:xfrm>
              <a:off x="260698" y="3176325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06B050"/>
                  </a:solidFill>
                  <a:latin typeface="Nunito"/>
                  <a:ea typeface="Nunito"/>
                  <a:cs typeface="Nunito"/>
                  <a:sym typeface="Nunito"/>
                </a:rPr>
                <a:t>C</a:t>
              </a:r>
              <a:endParaRPr b="1" i="0" sz="2000" u="none" cap="none" strike="noStrike">
                <a:solidFill>
                  <a:srgbClr val="06B05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39" name="Google Shape;639;p27"/>
          <p:cNvSpPr/>
          <p:nvPr/>
        </p:nvSpPr>
        <p:spPr>
          <a:xfrm>
            <a:off x="3424525" y="731775"/>
            <a:ext cx="3361200" cy="292980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7"/>
          <p:cNvSpPr/>
          <p:nvPr/>
        </p:nvSpPr>
        <p:spPr>
          <a:xfrm>
            <a:off x="32875" y="765050"/>
            <a:ext cx="3361200" cy="2929800"/>
          </a:xfrm>
          <a:prstGeom prst="rect">
            <a:avLst/>
          </a:prstGeom>
          <a:solidFill>
            <a:srgbClr val="FFFFFF">
              <a:alpha val="8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27"/>
          <p:cNvGrpSpPr/>
          <p:nvPr/>
        </p:nvGrpSpPr>
        <p:grpSpPr>
          <a:xfrm>
            <a:off x="7689949" y="1700288"/>
            <a:ext cx="934926" cy="1967737"/>
            <a:chOff x="970949" y="1700288"/>
            <a:chExt cx="934926" cy="1967737"/>
          </a:xfrm>
        </p:grpSpPr>
        <p:pic>
          <p:nvPicPr>
            <p:cNvPr id="642" name="Google Shape;642;p27"/>
            <p:cNvPicPr preferRelativeResize="0"/>
            <p:nvPr/>
          </p:nvPicPr>
          <p:blipFill rotWithShape="1">
            <a:blip r:embed="rId8">
              <a:alphaModFix/>
            </a:blip>
            <a:srcRect b="0" l="50840" r="0" t="0"/>
            <a:stretch/>
          </p:blipFill>
          <p:spPr>
            <a:xfrm>
              <a:off x="970949" y="1700288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27"/>
            <p:cNvSpPr txBox="1"/>
            <p:nvPr/>
          </p:nvSpPr>
          <p:spPr>
            <a:xfrm>
              <a:off x="1341773" y="3176325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44" name="Google Shape;644;p27"/>
          <p:cNvGrpSpPr/>
          <p:nvPr/>
        </p:nvGrpSpPr>
        <p:grpSpPr>
          <a:xfrm>
            <a:off x="6766950" y="1734963"/>
            <a:ext cx="934926" cy="1926637"/>
            <a:chOff x="3424525" y="1734963"/>
            <a:chExt cx="934926" cy="1926637"/>
          </a:xfrm>
        </p:grpSpPr>
        <p:pic>
          <p:nvPicPr>
            <p:cNvPr id="645" name="Google Shape;645;p27"/>
            <p:cNvPicPr preferRelativeResize="0"/>
            <p:nvPr/>
          </p:nvPicPr>
          <p:blipFill rotWithShape="1">
            <a:blip r:embed="rId8">
              <a:alphaModFix/>
            </a:blip>
            <a:srcRect b="0" l="0" r="50838" t="0"/>
            <a:stretch/>
          </p:blipFill>
          <p:spPr>
            <a:xfrm>
              <a:off x="3424525" y="1734963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27"/>
            <p:cNvSpPr txBox="1"/>
            <p:nvPr/>
          </p:nvSpPr>
          <p:spPr>
            <a:xfrm>
              <a:off x="3633311" y="3169900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47" name="Google Shape;647;p27"/>
          <p:cNvSpPr txBox="1"/>
          <p:nvPr/>
        </p:nvSpPr>
        <p:spPr>
          <a:xfrm>
            <a:off x="4694825" y="3716125"/>
            <a:ext cx="4392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will defect in the last round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8" name="Google Shape;648;p27"/>
          <p:cNvSpPr txBox="1"/>
          <p:nvPr/>
        </p:nvSpPr>
        <p:spPr>
          <a:xfrm>
            <a:off x="4694825" y="3716125"/>
            <a:ext cx="4392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because he knows </a:t>
            </a:r>
            <a:r>
              <a:rPr b="1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can’t punish or reward him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49" name="Google Shape;649;p27"/>
          <p:cNvSpPr txBox="1"/>
          <p:nvPr/>
        </p:nvSpPr>
        <p:spPr>
          <a:xfrm>
            <a:off x="4694825" y="3716125"/>
            <a:ext cx="4392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will defect in the last round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0" name="Google Shape;650;p27"/>
          <p:cNvSpPr txBox="1"/>
          <p:nvPr/>
        </p:nvSpPr>
        <p:spPr>
          <a:xfrm>
            <a:off x="4694825" y="3716125"/>
            <a:ext cx="4392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</a:t>
            </a:r>
            <a:r>
              <a:rPr b="1" i="0" lang="en" sz="17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because she knows </a:t>
            </a:r>
            <a:r>
              <a:rPr b="1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can’t punish or reward her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51" name="Google Shape;651;p27"/>
          <p:cNvGrpSpPr/>
          <p:nvPr/>
        </p:nvGrpSpPr>
        <p:grpSpPr>
          <a:xfrm>
            <a:off x="4338987" y="1700288"/>
            <a:ext cx="934926" cy="1967737"/>
            <a:chOff x="970949" y="1700288"/>
            <a:chExt cx="934926" cy="1967737"/>
          </a:xfrm>
        </p:grpSpPr>
        <p:pic>
          <p:nvPicPr>
            <p:cNvPr id="652" name="Google Shape;652;p27"/>
            <p:cNvPicPr preferRelativeResize="0"/>
            <p:nvPr/>
          </p:nvPicPr>
          <p:blipFill rotWithShape="1">
            <a:blip r:embed="rId8">
              <a:alphaModFix/>
            </a:blip>
            <a:srcRect b="0" l="50840" r="0" t="0"/>
            <a:stretch/>
          </p:blipFill>
          <p:spPr>
            <a:xfrm>
              <a:off x="970949" y="1700288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27"/>
            <p:cNvSpPr txBox="1"/>
            <p:nvPr/>
          </p:nvSpPr>
          <p:spPr>
            <a:xfrm>
              <a:off x="1341773" y="3176325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54" name="Google Shape;654;p27"/>
          <p:cNvGrpSpPr/>
          <p:nvPr/>
        </p:nvGrpSpPr>
        <p:grpSpPr>
          <a:xfrm>
            <a:off x="3415988" y="1734963"/>
            <a:ext cx="934926" cy="1926637"/>
            <a:chOff x="3424525" y="1734963"/>
            <a:chExt cx="934926" cy="1926637"/>
          </a:xfrm>
        </p:grpSpPr>
        <p:pic>
          <p:nvPicPr>
            <p:cNvPr id="655" name="Google Shape;655;p27"/>
            <p:cNvPicPr preferRelativeResize="0"/>
            <p:nvPr/>
          </p:nvPicPr>
          <p:blipFill rotWithShape="1">
            <a:blip r:embed="rId8">
              <a:alphaModFix/>
            </a:blip>
            <a:srcRect b="0" l="0" r="50838" t="0"/>
            <a:stretch/>
          </p:blipFill>
          <p:spPr>
            <a:xfrm>
              <a:off x="3424525" y="1734963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p27"/>
            <p:cNvSpPr txBox="1"/>
            <p:nvPr/>
          </p:nvSpPr>
          <p:spPr>
            <a:xfrm>
              <a:off x="3633311" y="3169900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57" name="Google Shape;657;p27"/>
          <p:cNvGrpSpPr/>
          <p:nvPr/>
        </p:nvGrpSpPr>
        <p:grpSpPr>
          <a:xfrm>
            <a:off x="970962" y="1700288"/>
            <a:ext cx="934926" cy="1967737"/>
            <a:chOff x="970949" y="1700288"/>
            <a:chExt cx="934926" cy="1967737"/>
          </a:xfrm>
        </p:grpSpPr>
        <p:pic>
          <p:nvPicPr>
            <p:cNvPr id="658" name="Google Shape;658;p27"/>
            <p:cNvPicPr preferRelativeResize="0"/>
            <p:nvPr/>
          </p:nvPicPr>
          <p:blipFill rotWithShape="1">
            <a:blip r:embed="rId8">
              <a:alphaModFix/>
            </a:blip>
            <a:srcRect b="0" l="50840" r="0" t="0"/>
            <a:stretch/>
          </p:blipFill>
          <p:spPr>
            <a:xfrm>
              <a:off x="970949" y="1700288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9" name="Google Shape;659;p27"/>
            <p:cNvSpPr txBox="1"/>
            <p:nvPr/>
          </p:nvSpPr>
          <p:spPr>
            <a:xfrm>
              <a:off x="1341773" y="3176325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60" name="Google Shape;660;p27"/>
          <p:cNvGrpSpPr/>
          <p:nvPr/>
        </p:nvGrpSpPr>
        <p:grpSpPr>
          <a:xfrm>
            <a:off x="47963" y="1734963"/>
            <a:ext cx="934926" cy="1926637"/>
            <a:chOff x="3424525" y="1734963"/>
            <a:chExt cx="934926" cy="1926637"/>
          </a:xfrm>
        </p:grpSpPr>
        <p:pic>
          <p:nvPicPr>
            <p:cNvPr id="661" name="Google Shape;661;p27"/>
            <p:cNvPicPr preferRelativeResize="0"/>
            <p:nvPr/>
          </p:nvPicPr>
          <p:blipFill rotWithShape="1">
            <a:blip r:embed="rId8">
              <a:alphaModFix/>
            </a:blip>
            <a:srcRect b="0" l="0" r="50838" t="0"/>
            <a:stretch/>
          </p:blipFill>
          <p:spPr>
            <a:xfrm>
              <a:off x="3424525" y="1734963"/>
              <a:ext cx="934926" cy="146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2" name="Google Shape;662;p27"/>
            <p:cNvSpPr txBox="1"/>
            <p:nvPr/>
          </p:nvSpPr>
          <p:spPr>
            <a:xfrm>
              <a:off x="3633311" y="3169900"/>
              <a:ext cx="372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rgbClr val="FF0000"/>
                  </a:solidFill>
                  <a:latin typeface="Nunito"/>
                  <a:ea typeface="Nunito"/>
                  <a:cs typeface="Nunito"/>
                  <a:sym typeface="Nunito"/>
                </a:rPr>
                <a:t>D</a:t>
              </a:r>
              <a:endParaRPr b="1" i="0" sz="2000" u="none" cap="none" strike="noStrike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63" name="Google Shape;663;p27"/>
          <p:cNvSpPr txBox="1"/>
          <p:nvPr/>
        </p:nvSpPr>
        <p:spPr>
          <a:xfrm>
            <a:off x="851950" y="3716125"/>
            <a:ext cx="547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will defect in the penultimate round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4" name="Google Shape;664;p27"/>
          <p:cNvSpPr txBox="1"/>
          <p:nvPr/>
        </p:nvSpPr>
        <p:spPr>
          <a:xfrm>
            <a:off x="851950" y="3716125"/>
            <a:ext cx="7440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because he knows </a:t>
            </a:r>
            <a:r>
              <a:rPr b="1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will defect in the last round, regardless of his decision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5" name="Google Shape;665;p27"/>
          <p:cNvSpPr txBox="1"/>
          <p:nvPr/>
        </p:nvSpPr>
        <p:spPr>
          <a:xfrm>
            <a:off x="851950" y="3716125"/>
            <a:ext cx="5473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55A11"/>
                </a:solidFill>
                <a:latin typeface="Nunito"/>
                <a:ea typeface="Nunito"/>
                <a:cs typeface="Nunito"/>
                <a:sym typeface="Nunito"/>
              </a:rPr>
              <a:t>Alice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will defect in the penultimate round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6" name="Google Shape;666;p27"/>
          <p:cNvSpPr txBox="1"/>
          <p:nvPr/>
        </p:nvSpPr>
        <p:spPr>
          <a:xfrm>
            <a:off x="851950" y="3716125"/>
            <a:ext cx="7440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</a:t>
            </a:r>
            <a:r>
              <a:rPr b="1" i="0" lang="en" sz="16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because she knows </a:t>
            </a:r>
            <a:r>
              <a:rPr b="1" i="0" lang="en" sz="2000" u="none" cap="none" strike="noStrike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Bob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will defect in the last round, regardless of her decision</a:t>
            </a:r>
            <a:endParaRPr b="0" i="0" sz="2000" u="none" cap="none" strike="noStrike">
              <a:solidFill>
                <a:srgbClr val="06B05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-119825" y="765050"/>
            <a:ext cx="9402000" cy="4029300"/>
          </a:xfrm>
          <a:prstGeom prst="rect">
            <a:avLst/>
          </a:prstGeom>
          <a:solidFill>
            <a:srgbClr val="FFFFFF">
              <a:alpha val="9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7"/>
          <p:cNvSpPr txBox="1"/>
          <p:nvPr/>
        </p:nvSpPr>
        <p:spPr>
          <a:xfrm>
            <a:off x="575800" y="9696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Defection is still the dominant strategy if agents know how many times they will interact.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9" name="Google Shape;669;p27"/>
          <p:cNvSpPr txBox="1"/>
          <p:nvPr/>
        </p:nvSpPr>
        <p:spPr>
          <a:xfrm>
            <a:off x="575800" y="20364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Uncertainty about future engagement enables rational cooperation.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AIs interacting with each other repeatedly may cooperate, but only if they are sufficiently uncertain about whether their interactions are about to end.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1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 R</a:t>
            </a:r>
            <a:r>
              <a:rPr lang="en"/>
              <a:t>acing Dynamics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47" name="Google Shape;747;p31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Iterated interactions can generate 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 dynamics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or an 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arms race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Competitive pressures motivate AI companies to pursue individual, short-term gains at a collective, long-term detriment.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8" name="Google Shape;748;p3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9" name="Google Shape;749;p3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14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0" name="Google Shape;750;p3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2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Corporate AI Arms Race</a:t>
            </a:r>
            <a:endParaRPr/>
          </a:p>
        </p:txBody>
      </p:sp>
      <p:sp>
        <p:nvSpPr>
          <p:cNvPr id="756" name="Google Shape;756;p32"/>
          <p:cNvSpPr txBox="1"/>
          <p:nvPr/>
        </p:nvSpPr>
        <p:spPr>
          <a:xfrm>
            <a:off x="194800" y="817200"/>
            <a:ext cx="8791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Competition is promoting the creation and use of more appealing and profitable systems, often at the cost of safety measures.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7" name="Google Shape;757;p3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8" name="Google Shape;758;p3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15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9" name="Google Shape;759;p3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194800" y="1807800"/>
            <a:ext cx="8791500" cy="27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 the public release of large language model-based chatbots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Some companies delayed their chatbot release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safety testing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can view those who released their chatbots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without safety testing as having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switched from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cooperating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to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defecting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 an iterated Prisoner’s Dilemma game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defectors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may then gain a competitive edge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competitive pressure causes other companies to rush their AI products to market, compromising safety measures in the process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3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Cutting Corners on Safety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66" name="Google Shape;766;p33"/>
          <p:cNvSpPr txBox="1"/>
          <p:nvPr/>
        </p:nvSpPr>
        <p:spPr>
          <a:xfrm>
            <a:off x="194800" y="817200"/>
            <a:ext cx="8791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Extreme c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ompetition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can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promot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the creation and use of more appealing and profitable systems, often at the cost of safety measures.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Though all parties would prefer to prioritize safety, they constantly </a:t>
            </a:r>
            <a:r>
              <a:rPr i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defect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 order to stay in the race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capabilities are thus advanced more rapidly than AI safety (e.g., jailbreaking robustness, watermarking, KYC, etc.)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7" name="Google Shape;767;p3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8" name="Google Shape;768;p3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16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9" name="Google Shape;769;p3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0" name="Google Shape;770;p33"/>
          <p:cNvSpPr txBox="1"/>
          <p:nvPr/>
        </p:nvSpPr>
        <p:spPr>
          <a:xfrm>
            <a:off x="194800" y="3179400"/>
            <a:ext cx="8949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Ultimately, corporate AI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 dynamics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could produce societal-scale harms: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Mass labor automation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widespread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and rapid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unemployment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Dangerous dependence on AI systems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Autonomous economies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(we will return to later)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6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Military AI Arms Race (1/2)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798" name="Google Shape;798;p36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“The third revolution in warfare.”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9" name="Google Shape;799;p3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0" name="Google Shape;800;p3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17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1" name="Google Shape;801;p3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802" name="Google Shape;802;p36"/>
          <p:cNvGrpSpPr/>
          <p:nvPr/>
        </p:nvGrpSpPr>
        <p:grpSpPr>
          <a:xfrm>
            <a:off x="-66500" y="1294551"/>
            <a:ext cx="1737600" cy="2124875"/>
            <a:chOff x="-66500" y="1294551"/>
            <a:chExt cx="1737600" cy="2124875"/>
          </a:xfrm>
        </p:grpSpPr>
        <p:pic>
          <p:nvPicPr>
            <p:cNvPr id="803" name="Google Shape;803;p36"/>
            <p:cNvPicPr preferRelativeResize="0"/>
            <p:nvPr/>
          </p:nvPicPr>
          <p:blipFill rotWithShape="1">
            <a:blip r:embed="rId3">
              <a:alphaModFix/>
            </a:blip>
            <a:srcRect b="10273" l="3511" r="2600" t="0"/>
            <a:stretch/>
          </p:blipFill>
          <p:spPr>
            <a:xfrm rot="5400000">
              <a:off x="-385738" y="1680463"/>
              <a:ext cx="1699850" cy="928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4" name="Google Shape;804;p36"/>
            <p:cNvSpPr txBox="1"/>
            <p:nvPr/>
          </p:nvSpPr>
          <p:spPr>
            <a:xfrm>
              <a:off x="-66500" y="2927725"/>
              <a:ext cx="17376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Gunpowder</a:t>
              </a:r>
              <a:endParaRPr b="0" i="0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05" name="Google Shape;805;p36"/>
          <p:cNvGrpSpPr/>
          <p:nvPr/>
        </p:nvGrpSpPr>
        <p:grpSpPr>
          <a:xfrm>
            <a:off x="1163250" y="1277073"/>
            <a:ext cx="2755850" cy="2455252"/>
            <a:chOff x="1163250" y="1277073"/>
            <a:chExt cx="2755850" cy="2455252"/>
          </a:xfrm>
        </p:grpSpPr>
        <p:pic>
          <p:nvPicPr>
            <p:cNvPr id="806" name="Google Shape;806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3250" y="1277073"/>
              <a:ext cx="2593876" cy="2039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7" name="Google Shape;807;p36"/>
            <p:cNvSpPr txBox="1"/>
            <p:nvPr/>
          </p:nvSpPr>
          <p:spPr>
            <a:xfrm>
              <a:off x="1515200" y="3240625"/>
              <a:ext cx="24039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Nuclear weapons</a:t>
              </a:r>
              <a:endParaRPr b="0" i="0" sz="18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08" name="Google Shape;808;p36"/>
          <p:cNvGrpSpPr/>
          <p:nvPr/>
        </p:nvGrpSpPr>
        <p:grpSpPr>
          <a:xfrm>
            <a:off x="3757125" y="1294550"/>
            <a:ext cx="5386875" cy="2971175"/>
            <a:chOff x="3757125" y="1294550"/>
            <a:chExt cx="5386875" cy="2971175"/>
          </a:xfrm>
        </p:grpSpPr>
        <p:pic>
          <p:nvPicPr>
            <p:cNvPr id="809" name="Google Shape;809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57125" y="1294550"/>
              <a:ext cx="5386875" cy="2551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36"/>
            <p:cNvSpPr txBox="1"/>
            <p:nvPr/>
          </p:nvSpPr>
          <p:spPr>
            <a:xfrm>
              <a:off x="5248612" y="3774025"/>
              <a:ext cx="24039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Military AI</a:t>
              </a:r>
              <a:endParaRPr b="0" i="0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7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Military </a:t>
            </a:r>
            <a:r>
              <a:rPr lang="en"/>
              <a:t>AI Arms Race</a:t>
            </a:r>
            <a:r>
              <a:rPr lang="en"/>
              <a:t> (2/2)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816" name="Google Shape;816;p37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“The third revolution in warfare.”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7" name="Google Shape;817;p3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8" name="Google Shape;818;p3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18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9" name="Google Shape;819;p3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0" name="Google Shape;820;p37"/>
          <p:cNvSpPr txBox="1"/>
          <p:nvPr/>
        </p:nvSpPr>
        <p:spPr>
          <a:xfrm>
            <a:off x="423400" y="1565575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Military AI risks relate to: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1" name="Google Shape;821;p37"/>
          <p:cNvSpPr txBox="1"/>
          <p:nvPr/>
        </p:nvSpPr>
        <p:spPr>
          <a:xfrm>
            <a:off x="423400" y="1946575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AI-developed weapons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AI-controlled weapons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cyber warfare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Automated executive decision-making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Catastrophic accidents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Co-option of military AI technologies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Altered warfare dynamics (more frequent/severe wars)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8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Security Dilemma Model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827" name="Google Shape;827;p3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19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8" name="Google Shape;828;p38"/>
          <p:cNvSpPr txBox="1"/>
          <p:nvPr/>
        </p:nvSpPr>
        <p:spPr>
          <a:xfrm>
            <a:off x="335827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Mutual defensive concerns motivate nations to increase military capabilities, thereby exacerbating the risks for all involved.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29" name="Google Shape;82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5192" y="1653312"/>
            <a:ext cx="304182" cy="639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5408" y="1645073"/>
            <a:ext cx="745085" cy="802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8500" y="1617898"/>
            <a:ext cx="880450" cy="106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3587" y="1637798"/>
            <a:ext cx="823542" cy="119472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4" name="Google Shape;834;p3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35" name="Google Shape;835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1680" y="1597592"/>
            <a:ext cx="1464795" cy="121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02106" y="1611537"/>
            <a:ext cx="236473" cy="49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75571" y="1593029"/>
            <a:ext cx="704436" cy="719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55242" y="1591132"/>
            <a:ext cx="736343" cy="1068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30320" y="1612462"/>
            <a:ext cx="1271560" cy="10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3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43607" y="1591103"/>
            <a:ext cx="1696620" cy="1094777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8"/>
          <p:cNvSpPr txBox="1"/>
          <p:nvPr/>
        </p:nvSpPr>
        <p:spPr>
          <a:xfrm>
            <a:off x="396575" y="2679075"/>
            <a:ext cx="87447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is analogous to the Cold War nuclear arms racing dynamics between the US and the Soviet Union (a “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security dilemma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”):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“Cooperate”	 = reduce nuclear arms investment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“Defect”	 = increase investment to heighten military capabilities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Nash equilibrium: both sides defected repeatedly, exacerbating risks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improvement: both sides could have cooperated to reduce risks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3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Collective Action Problems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893" name="Google Shape;893;p43"/>
          <p:cNvSpPr txBox="1"/>
          <p:nvPr/>
        </p:nvSpPr>
        <p:spPr>
          <a:xfrm>
            <a:off x="5758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4" name="Google Shape;894;p4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5" name="Google Shape;895;p4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20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6" name="Google Shape;896;p4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897" name="Google Shape;897;p43"/>
          <p:cNvGrpSpPr/>
          <p:nvPr/>
        </p:nvGrpSpPr>
        <p:grpSpPr>
          <a:xfrm>
            <a:off x="152575" y="1611625"/>
            <a:ext cx="8635674" cy="3129998"/>
            <a:chOff x="0" y="838850"/>
            <a:chExt cx="8635674" cy="3129998"/>
          </a:xfrm>
        </p:grpSpPr>
        <p:sp>
          <p:nvSpPr>
            <p:cNvPr id="898" name="Google Shape;898;p43"/>
            <p:cNvSpPr/>
            <p:nvPr/>
          </p:nvSpPr>
          <p:spPr>
            <a:xfrm>
              <a:off x="11050" y="1659625"/>
              <a:ext cx="5254200" cy="1616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0" y="1659625"/>
              <a:ext cx="1948800" cy="1616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0" name="Google Shape;900;p43"/>
            <p:cNvGrpSpPr/>
            <p:nvPr/>
          </p:nvGrpSpPr>
          <p:grpSpPr>
            <a:xfrm>
              <a:off x="65027" y="1686525"/>
              <a:ext cx="8559850" cy="1493550"/>
              <a:chOff x="65027" y="1686525"/>
              <a:chExt cx="8559850" cy="1493550"/>
            </a:xfrm>
          </p:grpSpPr>
          <p:pic>
            <p:nvPicPr>
              <p:cNvPr id="901" name="Google Shape;901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784027" y="1686525"/>
                <a:ext cx="1840850" cy="1493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2" name="Google Shape;902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424527" y="1686525"/>
                <a:ext cx="1840850" cy="1493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3" name="Google Shape;903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5027" y="1686525"/>
                <a:ext cx="1840850" cy="14935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4" name="Google Shape;904;p43"/>
            <p:cNvGrpSpPr/>
            <p:nvPr/>
          </p:nvGrpSpPr>
          <p:grpSpPr>
            <a:xfrm>
              <a:off x="227350" y="838850"/>
              <a:ext cx="7342450" cy="1595800"/>
              <a:chOff x="227350" y="838850"/>
              <a:chExt cx="7342450" cy="1595800"/>
            </a:xfrm>
          </p:grpSpPr>
          <p:pic>
            <p:nvPicPr>
              <p:cNvPr id="905" name="Google Shape;905;p4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27350" y="838850"/>
                <a:ext cx="693250" cy="6932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6" name="Google Shape;906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551950" y="838850"/>
                <a:ext cx="693250" cy="6932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7" name="Google Shape;907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876550" y="838850"/>
                <a:ext cx="693250" cy="69658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08" name="Google Shape;908;p43"/>
              <p:cNvCxnSpPr/>
              <p:nvPr/>
            </p:nvCxnSpPr>
            <p:spPr>
              <a:xfrm flipH="1" rot="10800000">
                <a:off x="5392902" y="2431950"/>
                <a:ext cx="1263600" cy="2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09" name="Google Shape;909;p43"/>
              <p:cNvCxnSpPr/>
              <p:nvPr/>
            </p:nvCxnSpPr>
            <p:spPr>
              <a:xfrm flipH="1" rot="10800000">
                <a:off x="2033402" y="2431950"/>
                <a:ext cx="1263600" cy="2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910" name="Google Shape;910;p43"/>
            <p:cNvGrpSpPr/>
            <p:nvPr/>
          </p:nvGrpSpPr>
          <p:grpSpPr>
            <a:xfrm>
              <a:off x="11049" y="1567350"/>
              <a:ext cx="8613826" cy="2384701"/>
              <a:chOff x="11049" y="1567350"/>
              <a:chExt cx="8613826" cy="2384701"/>
            </a:xfrm>
          </p:grpSpPr>
          <p:pic>
            <p:nvPicPr>
              <p:cNvPr id="911" name="Google Shape;911;p4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1049" y="1567350"/>
                <a:ext cx="1809176" cy="23847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2" name="Google Shape;912;p4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413374" y="1567350"/>
                <a:ext cx="1809176" cy="23847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3" name="Google Shape;913;p4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815699" y="1567350"/>
                <a:ext cx="1809176" cy="23847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14" name="Google Shape;914;p4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875" y="1615325"/>
              <a:ext cx="1827126" cy="2346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5" name="Google Shape;915;p4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426013" y="1603005"/>
              <a:ext cx="1827124" cy="2359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6" name="Google Shape;916;p4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829150" y="1603000"/>
              <a:ext cx="1806524" cy="23658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7" name="Google Shape;917;p43"/>
          <p:cNvSpPr txBox="1"/>
          <p:nvPr/>
        </p:nvSpPr>
        <p:spPr>
          <a:xfrm>
            <a:off x="152575" y="840225"/>
            <a:ext cx="2734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Pairwise interactions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8" name="Google Shape;918;p43"/>
          <p:cNvSpPr txBox="1"/>
          <p:nvPr/>
        </p:nvSpPr>
        <p:spPr>
          <a:xfrm>
            <a:off x="-289350" y="840225"/>
            <a:ext cx="2734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Group interactions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19" name="Google Shape;919;p43"/>
          <p:cNvGrpSpPr/>
          <p:nvPr/>
        </p:nvGrpSpPr>
        <p:grpSpPr>
          <a:xfrm>
            <a:off x="130275" y="1611625"/>
            <a:ext cx="8808099" cy="3164000"/>
            <a:chOff x="-22125" y="1611625"/>
            <a:chExt cx="8808099" cy="3164000"/>
          </a:xfrm>
        </p:grpSpPr>
        <p:grpSp>
          <p:nvGrpSpPr>
            <p:cNvPr id="920" name="Google Shape;920;p43"/>
            <p:cNvGrpSpPr/>
            <p:nvPr/>
          </p:nvGrpSpPr>
          <p:grpSpPr>
            <a:xfrm>
              <a:off x="175" y="1611625"/>
              <a:ext cx="7569800" cy="2437475"/>
              <a:chOff x="0" y="838850"/>
              <a:chExt cx="7569800" cy="2437475"/>
            </a:xfrm>
          </p:grpSpPr>
          <p:sp>
            <p:nvSpPr>
              <p:cNvPr id="921" name="Google Shape;921;p43"/>
              <p:cNvSpPr/>
              <p:nvPr/>
            </p:nvSpPr>
            <p:spPr>
              <a:xfrm>
                <a:off x="11050" y="1659625"/>
                <a:ext cx="5254200" cy="16167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43"/>
              <p:cNvSpPr/>
              <p:nvPr/>
            </p:nvSpPr>
            <p:spPr>
              <a:xfrm>
                <a:off x="0" y="1659625"/>
                <a:ext cx="1948800" cy="16167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3" name="Google Shape;923;p43"/>
              <p:cNvGrpSpPr/>
              <p:nvPr/>
            </p:nvGrpSpPr>
            <p:grpSpPr>
              <a:xfrm>
                <a:off x="227350" y="838850"/>
                <a:ext cx="7342450" cy="1595800"/>
                <a:chOff x="227350" y="838850"/>
                <a:chExt cx="7342450" cy="1595800"/>
              </a:xfrm>
            </p:grpSpPr>
            <p:pic>
              <p:nvPicPr>
                <p:cNvPr id="924" name="Google Shape;924;p4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227350" y="838850"/>
                  <a:ext cx="693250" cy="6932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25" name="Google Shape;925;p4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551950" y="838850"/>
                  <a:ext cx="693250" cy="6932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26" name="Google Shape;926;p4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6876550" y="838850"/>
                  <a:ext cx="693250" cy="6965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927" name="Google Shape;927;p43"/>
                <p:cNvCxnSpPr/>
                <p:nvPr/>
              </p:nvCxnSpPr>
              <p:spPr>
                <a:xfrm flipH="1" rot="10800000">
                  <a:off x="5392902" y="2431950"/>
                  <a:ext cx="1263600" cy="27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928" name="Google Shape;928;p43"/>
                <p:cNvCxnSpPr/>
                <p:nvPr/>
              </p:nvCxnSpPr>
              <p:spPr>
                <a:xfrm flipH="1" rot="10800000">
                  <a:off x="2033402" y="2431950"/>
                  <a:ext cx="1263600" cy="27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</p:grpSp>
        </p:grpSp>
        <p:pic>
          <p:nvPicPr>
            <p:cNvPr id="929" name="Google Shape;929;p4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-22125" y="2371275"/>
              <a:ext cx="2015525" cy="240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0" name="Google Shape;930;p4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7200" y="2371275"/>
              <a:ext cx="2015525" cy="240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1" name="Google Shape;931;p4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770450" y="2371275"/>
              <a:ext cx="2015524" cy="240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5" name="Google Shape;965;p4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21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6" name="Google Shape;966;p4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7" name="Google Shape;967;p47"/>
          <p:cNvSpPr txBox="1"/>
          <p:nvPr/>
        </p:nvSpPr>
        <p:spPr>
          <a:xfrm>
            <a:off x="423400" y="1337250"/>
            <a:ext cx="8297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Cooperating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adhering to public health measures at personal cost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Defecting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violating public health measures to save personal cost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Dominant strategy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defect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Outcome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many people chose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 violate public health measures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improvement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if everyone had suffered small personal cost, a better collective outcome would have been achieved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8" name="Google Shape;968;p47"/>
          <p:cNvSpPr txBox="1"/>
          <p:nvPr/>
        </p:nvSpPr>
        <p:spPr>
          <a:xfrm>
            <a:off x="423400" y="874050"/>
            <a:ext cx="88857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can model the COVID-19 pandemic as a collective action problem: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9" name="Google Shape;969;p47"/>
          <p:cNvSpPr txBox="1"/>
          <p:nvPr>
            <p:ph type="title"/>
          </p:nvPr>
        </p:nvSpPr>
        <p:spPr>
          <a:xfrm>
            <a:off x="100" y="-121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Public Health Emergency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970" name="Google Shape;970;p47"/>
          <p:cNvSpPr txBox="1"/>
          <p:nvPr/>
        </p:nvSpPr>
        <p:spPr>
          <a:xfrm>
            <a:off x="423400" y="4043450"/>
            <a:ext cx="8885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Other collective action problems: Nuclear stockpiling, upholding democracy, climate change, and so on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1" name="Google Shape;1021;p4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22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2" name="Google Shape;1022;p4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3" name="Google Shape;1023;p49"/>
          <p:cNvSpPr txBox="1"/>
          <p:nvPr/>
        </p:nvSpPr>
        <p:spPr>
          <a:xfrm>
            <a:off x="423400" y="8172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can more precisely model AI rac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ing dynamics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(which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involve more than two competitors) as collective action problems.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4" name="Google Shape;1024;p49"/>
          <p:cNvSpPr txBox="1"/>
          <p:nvPr/>
        </p:nvSpPr>
        <p:spPr>
          <a:xfrm>
            <a:off x="423400" y="2166525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slow rate of military AI adoption, incurring personal cost of reduced military capabilities (relative to competitors who free ride)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Free ride/defect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continue rapid military AI adoption in order to maintain competitive edge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Negative externalities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free riders exacerbate the risks of catastrophic accidents, weapon misuse, and escalated warfare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5" name="Google Shape;1025;p49"/>
          <p:cNvSpPr txBox="1"/>
          <p:nvPr/>
        </p:nvSpPr>
        <p:spPr>
          <a:xfrm>
            <a:off x="423400" y="1674825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Military AI arms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 dynamics: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6" name="Google Shape;1026;p49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AI-Triggered</a:t>
            </a:r>
            <a:r>
              <a:rPr lang="en"/>
              <a:t> Flash War (</a:t>
            </a:r>
            <a:r>
              <a:rPr lang="en"/>
              <a:t>1/2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5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3" name="Google Shape;1043;p5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23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4" name="Google Shape;1044;p5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5" name="Google Shape;1045;p51"/>
          <p:cNvSpPr txBox="1"/>
          <p:nvPr/>
        </p:nvSpPr>
        <p:spPr>
          <a:xfrm>
            <a:off x="423400" y="8172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can model AI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 dynamics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that involve more than two competitors as collective action problems.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6" name="Google Shape;1046;p51"/>
          <p:cNvSpPr txBox="1"/>
          <p:nvPr/>
        </p:nvSpPr>
        <p:spPr>
          <a:xfrm>
            <a:off x="423400" y="2223300"/>
            <a:ext cx="8888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one nation’s AI incorrectly detects an offensive strike from another nation, it may automatically “retaliate” to this non-existent threat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could trigger automated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retaliations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from the other nations’ automated systems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Small errors could be exacerbated into increasingly escalated wars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Flash war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 war triggered by autonomous AI systems that takes place too quickly for human control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7" name="Google Shape;1047;p51"/>
          <p:cNvSpPr txBox="1"/>
          <p:nvPr/>
        </p:nvSpPr>
        <p:spPr>
          <a:xfrm>
            <a:off x="423400" y="18078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Military AI arms racing dynamics catastrophic outcome, 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flash war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8" name="Google Shape;1048;p51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AI-Triggered</a:t>
            </a:r>
            <a:r>
              <a:rPr lang="en"/>
              <a:t> </a:t>
            </a:r>
            <a:r>
              <a:rPr lang="en"/>
              <a:t>Flash War (2/2)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5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4" name="Google Shape;1054;p5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24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5" name="Google Shape;1055;p5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6" name="Google Shape;1056;p52"/>
          <p:cNvSpPr txBox="1"/>
          <p:nvPr/>
        </p:nvSpPr>
        <p:spPr>
          <a:xfrm>
            <a:off x="423400" y="7410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Corporate AI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 dynamics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7" name="Google Shape;1057;p52"/>
          <p:cNvSpPr txBox="1"/>
          <p:nvPr/>
        </p:nvSpPr>
        <p:spPr>
          <a:xfrm>
            <a:off x="194800" y="1274400"/>
            <a:ext cx="88332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AIs are out-performing the average human at an increasing number and range of jobs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Examples range from personal assistants to executive decision-makers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Companies want the benefits of these faster and more effective workers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 they automate economically valuable functions by delegating them to AI agents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8" name="Google Shape;1058;p52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Autonomous Economy (</a:t>
            </a:r>
            <a:r>
              <a:rPr lang="en"/>
              <a:t>1/3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5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4" name="Google Shape;1064;p5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25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5" name="Google Shape;1065;p5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6" name="Google Shape;1066;p53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Corporate AI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 dynamics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7" name="Google Shape;1067;p53"/>
          <p:cNvSpPr txBox="1"/>
          <p:nvPr/>
        </p:nvSpPr>
        <p:spPr>
          <a:xfrm>
            <a:off x="423400" y="125635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maintain human labor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efect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automate jobs using AI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Negative externalities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free riding increases the competitive pressure for other companies to follow suit, pushing all involved down a path with catastrophic risks 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8" name="Google Shape;1068;p53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Autonomous Economy (2/3)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4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Autonomous Economy (3/3)</a:t>
            </a:r>
            <a:endParaRPr/>
          </a:p>
        </p:txBody>
      </p:sp>
      <p:sp>
        <p:nvSpPr>
          <p:cNvPr id="1074" name="Google Shape;1074;p5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5" name="Google Shape;1075;p5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26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6" name="Google Shape;1076;p5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7" name="Google Shape;1077;p54"/>
          <p:cNvSpPr txBox="1"/>
          <p:nvPr/>
        </p:nvSpPr>
        <p:spPr>
          <a:xfrm>
            <a:off x="271000" y="969600"/>
            <a:ext cx="8902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Corporate AI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 dynamics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catastrophic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outcome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autonomous economy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8" name="Google Shape;1078;p54"/>
          <p:cNvSpPr txBox="1"/>
          <p:nvPr/>
        </p:nvSpPr>
        <p:spPr>
          <a:xfrm>
            <a:off x="194800" y="1579200"/>
            <a:ext cx="88332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Continuous automation could move economic activity away from human control into the command of AI systems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Ultimately, this could lead to the global economy becoming “autonomous,” with humans no longer able to steer or intervene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Like passengers in an autonomous vehicle, our safety and destination would rest with the AI systems now acting without supervision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5"/>
          <p:cNvSpPr txBox="1"/>
          <p:nvPr>
            <p:ph type="title"/>
          </p:nvPr>
        </p:nvSpPr>
        <p:spPr>
          <a:xfrm>
            <a:off x="398825" y="1330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084" name="Google Shape;1084;p55"/>
          <p:cNvSpPr txBox="1"/>
          <p:nvPr/>
        </p:nvSpPr>
        <p:spPr>
          <a:xfrm>
            <a:off x="423400" y="741000"/>
            <a:ext cx="8805300" cy="4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basic solution concept in game theory is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Nash Equilibrium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Nash equilibria are often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Pareto inefficient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everyone can be happier.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Agents can also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change payoffs, dispositions, or structures.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Collective action problems involving AI could lead to reckless 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racing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dependence, cutting corners on safety, flash wars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or </a:t>
            </a: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mass automation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5" name="Google Shape;1085;p5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6" name="Google Shape;1086;p5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27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87" name="Google Shape;1087;p5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56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Roadmap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3" name="Google Shape;1093;p56"/>
          <p:cNvSpPr txBox="1"/>
          <p:nvPr/>
        </p:nvSpPr>
        <p:spPr>
          <a:xfrm>
            <a:off x="36745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Game theory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Conflict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Evolutionary pressures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4" name="Google Shape;1094;p5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5" name="Google Shape;1095;p5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28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6" name="Google Shape;1096;p5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7" name="Google Shape;1097;p56"/>
          <p:cNvSpPr/>
          <p:nvPr/>
        </p:nvSpPr>
        <p:spPr>
          <a:xfrm>
            <a:off x="364325" y="1459700"/>
            <a:ext cx="8279700" cy="491700"/>
          </a:xfrm>
          <a:prstGeom prst="rect">
            <a:avLst/>
          </a:prstGeom>
          <a:noFill/>
          <a:ln cap="flat" cmpd="sng" w="9525">
            <a:solidFill>
              <a:srgbClr val="0097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57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Importance of Cooperation</a:t>
            </a:r>
            <a:endParaRPr/>
          </a:p>
        </p:txBody>
      </p:sp>
      <p:sp>
        <p:nvSpPr>
          <p:cNvPr id="1103" name="Google Shape;1103;p5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4" name="Google Shape;1104;p5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29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5" name="Google Shape;1105;p5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6" name="Google Shape;1106;p57"/>
          <p:cNvSpPr txBox="1"/>
          <p:nvPr/>
        </p:nvSpPr>
        <p:spPr>
          <a:xfrm>
            <a:off x="367450" y="817200"/>
            <a:ext cx="8871900" cy="4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Securing good outcomes without cooperation can be difficult, even for intelligent rational agents.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 between AI stakeholders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Counteract competitive and evolutionary pressures (AI racing dynamics)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E.g., The “merge-and-assist” clause of OpenAI’s charter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 between AI agents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want AIs to cooperate with us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However, as we will see, mechanisms that enable cooperation could backfire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8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Cooperation Mechanisms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112" name="Google Shape;1112;p5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3" name="Google Shape;1113;p5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30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4" name="Google Shape;1114;p5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5" name="Google Shape;1115;p58"/>
          <p:cNvSpPr txBox="1"/>
          <p:nvPr/>
        </p:nvSpPr>
        <p:spPr>
          <a:xfrm>
            <a:off x="36745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Direct reciprocity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Indirect reciprocity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Group selection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Kin selection</a:t>
            </a:r>
            <a:endParaRPr b="0" i="0" sz="2000" u="none" cap="none" strike="noStrike">
              <a:solidFill>
                <a:srgbClr val="D9D9D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Institutions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9"/>
          <p:cNvSpPr txBox="1"/>
          <p:nvPr/>
        </p:nvSpPr>
        <p:spPr>
          <a:xfrm>
            <a:off x="423400" y="961238"/>
            <a:ext cx="60060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Direct reciprocity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requires repeated encounters between the same two individuals.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1" name="Google Shape;1121;p59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Direct and Indirect Reciprocity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2" name="Google Shape;1122;p59"/>
          <p:cNvSpPr txBox="1"/>
          <p:nvPr/>
        </p:nvSpPr>
        <p:spPr>
          <a:xfrm>
            <a:off x="423400" y="1991500"/>
            <a:ext cx="556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Indirect reciprocity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is based on reputation; a helpful individual is more likely to receive help.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3" name="Google Shape;1123;p59"/>
          <p:cNvSpPr txBox="1"/>
          <p:nvPr/>
        </p:nvSpPr>
        <p:spPr>
          <a:xfrm>
            <a:off x="423400" y="3934250"/>
            <a:ext cx="5799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Doesn’t work with advanced AI: no upside to reciprocating with humans!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4" name="Google Shape;1124;p59"/>
          <p:cNvSpPr txBox="1"/>
          <p:nvPr/>
        </p:nvSpPr>
        <p:spPr>
          <a:xfrm>
            <a:off x="423400" y="2998125"/>
            <a:ext cx="556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Encourages cooperation, as agents will be compensated for their efforts.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25" name="Google Shape;112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1995" y="1235849"/>
            <a:ext cx="1902161" cy="14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8525" y="2992286"/>
            <a:ext cx="1876349" cy="163422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5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8" name="Google Shape;1128;p5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31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9" name="Google Shape;1129;p5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0"/>
          <p:cNvSpPr txBox="1"/>
          <p:nvPr>
            <p:ph type="title"/>
          </p:nvPr>
        </p:nvSpPr>
        <p:spPr>
          <a:xfrm>
            <a:off x="125475" y="-12175"/>
            <a:ext cx="889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Kin and Group Selection (1/2)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5" name="Google Shape;1135;p60"/>
          <p:cNvSpPr txBox="1"/>
          <p:nvPr/>
        </p:nvSpPr>
        <p:spPr>
          <a:xfrm>
            <a:off x="367675" y="1257813"/>
            <a:ext cx="626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Kin selection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operates when the donor and the recipient of an altruistic act are genetic relatives.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6" name="Google Shape;1136;p60"/>
          <p:cNvSpPr txBox="1"/>
          <p:nvPr/>
        </p:nvSpPr>
        <p:spPr>
          <a:xfrm>
            <a:off x="367425" y="2240725"/>
            <a:ext cx="6871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Group selection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suggests that groups have shared success and failure, and that groups which cooperate may collectively succeed.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Selects for altruistic agents that increase group success.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37" name="Google Shape;113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350" y="1359809"/>
            <a:ext cx="2380650" cy="88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6800" y="3126969"/>
            <a:ext cx="2307200" cy="1273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60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0" name="Google Shape;1140;p60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32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1" name="Google Shape;1141;p60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61"/>
          <p:cNvSpPr txBox="1"/>
          <p:nvPr>
            <p:ph type="title"/>
          </p:nvPr>
        </p:nvSpPr>
        <p:spPr>
          <a:xfrm>
            <a:off x="125475" y="-12175"/>
            <a:ext cx="889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Kin and Group Selection (2/2)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7" name="Google Shape;1147;p61"/>
          <p:cNvSpPr txBox="1"/>
          <p:nvPr/>
        </p:nvSpPr>
        <p:spPr>
          <a:xfrm>
            <a:off x="367675" y="1257825"/>
            <a:ext cx="803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Kin selection fails if the cost of engaging in altruism outweighs the information similarity between kin: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would not be kind towards humans because we have very little information similarity to them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Consider the negative treatment of factory animals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8" name="Google Shape;1148;p61"/>
          <p:cNvSpPr txBox="1"/>
          <p:nvPr/>
        </p:nvSpPr>
        <p:spPr>
          <a:xfrm>
            <a:off x="367675" y="3423275"/>
            <a:ext cx="790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Group selection fails, as AI agents will have in-group bias towards other AI agents; bias against humans by exclusion.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9" name="Google Shape;1149;p6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0" name="Google Shape;1150;p6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33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1" name="Google Shape;1151;p6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71"/>
          <p:cNvSpPr txBox="1"/>
          <p:nvPr/>
        </p:nvSpPr>
        <p:spPr>
          <a:xfrm>
            <a:off x="423400" y="969600"/>
            <a:ext cx="87207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Institutions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one agent helps another because of publicly-recognized, large-scale structure that is mediating their interaction.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can use institutions to establish collective goals which require collaboration from large or diverse groups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International treaties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Domestic laws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9" name="Google Shape;1239;p7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0" name="Google Shape;1240;p7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34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1" name="Google Shape;1241;p7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2" name="Google Shape;1242;p71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Institutions (</a:t>
            </a: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1/2</a:t>
            </a: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72"/>
          <p:cNvSpPr txBox="1"/>
          <p:nvPr/>
        </p:nvSpPr>
        <p:spPr>
          <a:xfrm>
            <a:off x="423400" y="9696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Institutions are crucial for AI safety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Establishing laws and regulations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Reducing competitive pressures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Improving coordination mechanisms to reduce AI risks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However, institutions can fail, or even backfire: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Inefficiency —  e.g. bureaucracies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Free riding — e.g. welfare fraud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Corruption — e.g. bribes and funding misappropriation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agents may similarly corrupt or undermine our institutions.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8" name="Google Shape;1248;p7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9" name="Google Shape;1249;p7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35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0" name="Google Shape;1250;p7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1" name="Google Shape;1251;p72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Institutions (</a:t>
            </a:r>
            <a:r>
              <a:rPr lang="en" sz="3600">
                <a:latin typeface="Nunito"/>
                <a:ea typeface="Nunito"/>
                <a:cs typeface="Nunito"/>
                <a:sym typeface="Nunito"/>
              </a:rPr>
              <a:t>2/2)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4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3"/>
          <p:cNvSpPr txBox="1"/>
          <p:nvPr/>
        </p:nvSpPr>
        <p:spPr>
          <a:xfrm>
            <a:off x="423400" y="969600"/>
            <a:ext cx="8409000" cy="29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 can devolve into collusion.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However, there are tools from </a:t>
            </a:r>
            <a:r>
              <a:rPr i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i="1"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Coup-Proofing Toolbox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such as: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Stovepiping</a:t>
            </a:r>
            <a:r>
              <a:rPr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restrict information flow to make collusion harder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Counterbalancing</a:t>
            </a:r>
            <a:r>
              <a:rPr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keep your military in check with another military.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Sting operations</a:t>
            </a:r>
            <a:r>
              <a:rPr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set traps where someone says they are trying to start a coup and anyone who joins is purged.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Rotate officers</a:t>
            </a:r>
            <a:r>
              <a:rPr lang="en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Make it harder for people to build trust with each other by rotating them around a lot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7" name="Google Shape;1257;p7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8" name="Google Shape;1258;p7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36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9" name="Google Shape;1259;p7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0" name="Google Shape;1260;p73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Cooperation and Collusion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74"/>
          <p:cNvSpPr txBox="1"/>
          <p:nvPr>
            <p:ph type="title"/>
          </p:nvPr>
        </p:nvSpPr>
        <p:spPr>
          <a:xfrm>
            <a:off x="398825" y="1330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Recap (</a:t>
            </a:r>
            <a:r>
              <a:rPr lang="en"/>
              <a:t>1/2</a:t>
            </a:r>
            <a:r>
              <a:rPr lang="en"/>
              <a:t>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266" name="Google Shape;1266;p74"/>
          <p:cNvSpPr txBox="1"/>
          <p:nvPr/>
        </p:nvSpPr>
        <p:spPr>
          <a:xfrm>
            <a:off x="423400" y="817200"/>
            <a:ext cx="8409000" cy="3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Mechanisms for cooperation include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irect reciprocity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ndirect reciprocity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roup selection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K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 selection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nstitutions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7" name="Google Shape;1267;p7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8" name="Google Shape;1268;p7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37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9" name="Google Shape;1269;p7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75"/>
          <p:cNvSpPr txBox="1"/>
          <p:nvPr>
            <p:ph type="title"/>
          </p:nvPr>
        </p:nvSpPr>
        <p:spPr>
          <a:xfrm>
            <a:off x="398825" y="1330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Recap (2/2)</a:t>
            </a:r>
            <a:endParaRPr/>
          </a:p>
        </p:txBody>
      </p:sp>
      <p:sp>
        <p:nvSpPr>
          <p:cNvPr id="1275" name="Google Shape;1275;p75"/>
          <p:cNvSpPr txBox="1"/>
          <p:nvPr/>
        </p:nvSpPr>
        <p:spPr>
          <a:xfrm>
            <a:off x="423400" y="741000"/>
            <a:ext cx="8805300" cy="4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International and National Level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Cooperate: regulate AI companies; not build autonomous weapons; pause AI development when we get Einstein-level AI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Defect: race with other countries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 mechanisms: international agencies, compute security features (chip registry, geofencing GPUs)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Organizational Level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Cooperate: proceed more cautiously, AI features for public benefit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Defect: prioritize making AI more powerful over safety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 mechanisms: support regulation, publish safety research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6" name="Google Shape;1276;p7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7" name="Google Shape;1277;p7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38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8" name="Google Shape;1278;p7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76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Roadmap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4" name="Google Shape;1284;p76"/>
          <p:cNvSpPr txBox="1"/>
          <p:nvPr/>
        </p:nvSpPr>
        <p:spPr>
          <a:xfrm>
            <a:off x="36745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Game theory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Conflict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Evolutionary pressures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5" name="Google Shape;1285;p7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6" name="Google Shape;1286;p7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39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7" name="Google Shape;1287;p7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8" name="Google Shape;1288;p76"/>
          <p:cNvSpPr/>
          <p:nvPr/>
        </p:nvSpPr>
        <p:spPr>
          <a:xfrm>
            <a:off x="364325" y="2069300"/>
            <a:ext cx="8279700" cy="491700"/>
          </a:xfrm>
          <a:prstGeom prst="rect">
            <a:avLst/>
          </a:prstGeom>
          <a:noFill/>
          <a:ln cap="flat" cmpd="sng" w="9525">
            <a:solidFill>
              <a:srgbClr val="0097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77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Conflict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294" name="Google Shape;1294;p7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5" name="Google Shape;1295;p7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40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6" name="Google Shape;1296;p7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7" name="Google Shape;1297;p77"/>
          <p:cNvSpPr txBox="1"/>
          <p:nvPr/>
        </p:nvSpPr>
        <p:spPr>
          <a:xfrm>
            <a:off x="423400" y="969600"/>
            <a:ext cx="8819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Conflict is almost always costly to those involved, and often destroys some part of the value the parties are competing for.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Nevertheless, it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 common in both the natural world and human societies.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Here we will discuss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actors which can promote conflict in the real world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is relevant because a potential great power conflict and a US-China competition hinders international coordination about AI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78"/>
          <p:cNvSpPr txBox="1"/>
          <p:nvPr>
            <p:ph type="title"/>
          </p:nvPr>
        </p:nvSpPr>
        <p:spPr>
          <a:xfrm>
            <a:off x="175" y="-12175"/>
            <a:ext cx="9144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Structural Realism (1/2)</a:t>
            </a:r>
            <a:endParaRPr/>
          </a:p>
        </p:txBody>
      </p:sp>
      <p:sp>
        <p:nvSpPr>
          <p:cNvPr id="1303" name="Google Shape;1303;p78"/>
          <p:cNvSpPr txBox="1"/>
          <p:nvPr/>
        </p:nvSpPr>
        <p:spPr>
          <a:xfrm>
            <a:off x="423400" y="817200"/>
            <a:ext cx="8409000" cy="3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Structural realism</a:t>
            </a: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 is a school of thought in international relations arguing that states primarily seek and compete for power.</a:t>
            </a:r>
            <a:endParaRPr b="0" i="1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Two main assumptions: states operate in a “</a:t>
            </a:r>
            <a:r>
              <a:rPr b="1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self-help</a:t>
            </a: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” system with no higher arbiter and states prioritize </a:t>
            </a:r>
            <a:r>
              <a:rPr b="1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self-preservation</a:t>
            </a: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i="1" lang="en" sz="20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structure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 of the international system forces them to compete for power.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Also, assume that states are rational, can influence other states, and don’t know the intentions of other states for certain. 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Then, structural realism posits that states will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compete for</a:t>
            </a: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 power in an international context,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almost </a:t>
            </a: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regardless of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domestic politics</a:t>
            </a:r>
            <a:r>
              <a:rPr b="0" i="0" lang="en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.</a:t>
            </a:r>
            <a:endParaRPr b="1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4" name="Google Shape;1304;p7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5" name="Google Shape;1305;p7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41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6" name="Google Shape;1306;p7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9"/>
          <p:cNvSpPr txBox="1"/>
          <p:nvPr>
            <p:ph type="title"/>
          </p:nvPr>
        </p:nvSpPr>
        <p:spPr>
          <a:xfrm>
            <a:off x="175" y="-12175"/>
            <a:ext cx="9144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Structural Realism (2/2)</a:t>
            </a:r>
            <a:endParaRPr/>
          </a:p>
        </p:txBody>
      </p:sp>
      <p:sp>
        <p:nvSpPr>
          <p:cNvPr id="1312" name="Google Shape;1312;p79"/>
          <p:cNvSpPr txBox="1"/>
          <p:nvPr/>
        </p:nvSpPr>
        <p:spPr>
          <a:xfrm>
            <a:off x="367675" y="658613"/>
            <a:ext cx="8409000" cy="4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Power seeking ≠ dominance seeking</a:t>
            </a:r>
            <a:endParaRPr b="1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Offensive realism: states should always pursue more power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Defensive realism: states will be punished by other states for pursuing too much power. </a:t>
            </a:r>
            <a:b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Balancing describes how states respond to the power of other states.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Internal balancing focusses on a country’s resources and military.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External balancing involves teaming up with other states to counter adversaries.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States may seek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hegemony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—domination over other states.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Depends on the state’s capabilities, and its perception of the offense-defense balance relative to other states.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3" name="Google Shape;1313;p7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4" name="Google Shape;1314;p7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42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5" name="Google Shape;1315;p7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82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Conflict Factors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401" name="Google Shape;1401;p82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2" name="Google Shape;1402;p8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3" name="Google Shape;1403;p8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43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4" name="Google Shape;1404;p8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5" name="Google Shape;1405;p82"/>
          <p:cNvSpPr txBox="1"/>
          <p:nvPr/>
        </p:nvSpPr>
        <p:spPr>
          <a:xfrm>
            <a:off x="36745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Power shifts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First strike advantage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Issue indivisibility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Information problems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Inequality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8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1" name="Google Shape;1411;p8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44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2" name="Google Shape;1412;p8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3" name="Google Shape;1413;p83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1: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Power Shifts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4" name="Google Shape;1414;p83"/>
          <p:cNvSpPr txBox="1"/>
          <p:nvPr/>
        </p:nvSpPr>
        <p:spPr>
          <a:xfrm>
            <a:off x="423400" y="18840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Power shifts can be generated by a variety of sources, such as changes in: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Technological advancements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economy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Military capacities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Political ideologies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development is likely to cause dramatic changes in many of these areas, so could result in extreme and rapid power shifts.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5" name="Google Shape;1415;p83"/>
          <p:cNvSpPr txBox="1"/>
          <p:nvPr/>
        </p:nvSpPr>
        <p:spPr>
          <a:xfrm>
            <a:off x="423400" y="9696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Power shift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when a change in one competitor’s capabilities changes the balance of power.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8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1" name="Google Shape;1431;p8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45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2" name="Google Shape;1432;p8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3" name="Google Shape;1433;p85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2: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First Strike Advantage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4" name="Google Shape;1434;p85"/>
          <p:cNvSpPr txBox="1"/>
          <p:nvPr/>
        </p:nvSpPr>
        <p:spPr>
          <a:xfrm>
            <a:off x="423400" y="2036400"/>
            <a:ext cx="8847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advantages of striking first can come from: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element of surprise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ability to choose location/time of conflict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ability to reduce the opponent’s retaliatory abilities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ability to remove the opponent’s first strike advantages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First strike advantages are often short-lived, further incentivizing action.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5" name="Google Shape;1435;p85"/>
          <p:cNvSpPr txBox="1"/>
          <p:nvPr/>
        </p:nvSpPr>
        <p:spPr>
          <a:xfrm>
            <a:off x="423400" y="969600"/>
            <a:ext cx="8847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First strike advantage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whichever party initiates conflict gains the upper hand.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8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1" name="Google Shape;1441;p8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46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2" name="Google Shape;1442;p8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3" name="Google Shape;1443;p86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2: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First Strike Advantage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4" name="Google Shape;1444;p86"/>
          <p:cNvSpPr txBox="1"/>
          <p:nvPr/>
        </p:nvSpPr>
        <p:spPr>
          <a:xfrm>
            <a:off x="423400" y="969600"/>
            <a:ext cx="8847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First strike advantage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whichever party initiates conflict gains the upper hand.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5" name="Google Shape;1445;p86"/>
          <p:cNvSpPr txBox="1"/>
          <p:nvPr/>
        </p:nvSpPr>
        <p:spPr>
          <a:xfrm>
            <a:off x="423400" y="2036400"/>
            <a:ext cx="8847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Examples: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Patent infringement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Pearl Harbor attack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Inter-AI cyber attacks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Bombing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atacenters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8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0" name="Google Shape;1510;p8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47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1" name="Google Shape;1511;p8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2" name="Google Shape;1512;p88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3: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Issue Indivisibility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3" name="Google Shape;1513;p88"/>
          <p:cNvSpPr txBox="1"/>
          <p:nvPr/>
        </p:nvSpPr>
        <p:spPr>
          <a:xfrm>
            <a:off x="423400" y="9696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Issue indivisibility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when the matter over which parties are competing cannot be divided up between them, conflict is more likely.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“Winner takes all.”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Examples: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Monarchies/positions of power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Small territories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Sovereign entities (such as individual people)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GPU server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8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9" name="Google Shape;1519;p8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48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0" name="Google Shape;1520;p8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21" name="Google Shape;1521;p89"/>
          <p:cNvPicPr preferRelativeResize="0"/>
          <p:nvPr/>
        </p:nvPicPr>
        <p:blipFill rotWithShape="1">
          <a:blip r:embed="rId3">
            <a:alphaModFix/>
          </a:blip>
          <a:srcRect b="0" l="0" r="37915" t="0"/>
          <a:stretch/>
        </p:blipFill>
        <p:spPr>
          <a:xfrm>
            <a:off x="2446495" y="1355100"/>
            <a:ext cx="2639448" cy="303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6503" y="1355100"/>
            <a:ext cx="4251352" cy="303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9075" y="763293"/>
            <a:ext cx="6703549" cy="36169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4" name="Google Shape;1524;p89"/>
          <p:cNvGrpSpPr/>
          <p:nvPr/>
        </p:nvGrpSpPr>
        <p:grpSpPr>
          <a:xfrm>
            <a:off x="2084925" y="913788"/>
            <a:ext cx="5025498" cy="3474224"/>
            <a:chOff x="2084925" y="913788"/>
            <a:chExt cx="5025498" cy="3474224"/>
          </a:xfrm>
        </p:grpSpPr>
        <p:pic>
          <p:nvPicPr>
            <p:cNvPr id="1525" name="Google Shape;1525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41275" y="913788"/>
              <a:ext cx="4769148" cy="3474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6" name="Google Shape;1526;p89"/>
            <p:cNvSpPr/>
            <p:nvPr/>
          </p:nvSpPr>
          <p:spPr>
            <a:xfrm>
              <a:off x="2084925" y="2963325"/>
              <a:ext cx="361500" cy="91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7" name="Google Shape;1527;p89"/>
          <p:cNvGrpSpPr/>
          <p:nvPr/>
        </p:nvGrpSpPr>
        <p:grpSpPr>
          <a:xfrm>
            <a:off x="1399025" y="884125"/>
            <a:ext cx="7321477" cy="3503876"/>
            <a:chOff x="1399025" y="884125"/>
            <a:chExt cx="7321477" cy="3503876"/>
          </a:xfrm>
        </p:grpSpPr>
        <p:pic>
          <p:nvPicPr>
            <p:cNvPr id="1528" name="Google Shape;1528;p8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99025" y="1156251"/>
              <a:ext cx="7321477" cy="3231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9" name="Google Shape;1529;p89"/>
            <p:cNvSpPr/>
            <p:nvPr/>
          </p:nvSpPr>
          <p:spPr>
            <a:xfrm>
              <a:off x="3227925" y="884125"/>
              <a:ext cx="836100" cy="49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0" name="Google Shape;1530;p89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3: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Issue Indivisibility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90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6" name="Google Shape;1536;p90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49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7" name="Google Shape;1537;p90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8" name="Google Shape;1538;p90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4: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Information Problems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9" name="Google Shape;1539;p90"/>
          <p:cNvSpPr txBox="1"/>
          <p:nvPr/>
        </p:nvSpPr>
        <p:spPr>
          <a:xfrm>
            <a:off x="423400" y="26460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the parties have different beliefs about the distribution of power, they may be less likely to find a mutually-acceptable bargain.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Moreover, weaker parties may intentionally misrepresent their capabilities in order to secure better deals.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0" name="Google Shape;1540;p90"/>
          <p:cNvSpPr txBox="1"/>
          <p:nvPr/>
        </p:nvSpPr>
        <p:spPr>
          <a:xfrm>
            <a:off x="423400" y="9696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Information problems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uncertainty about the capabilities or intentions of rivals can motivate conflict.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Misinformation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Disinformation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91"/>
          <p:cNvSpPr txBox="1"/>
          <p:nvPr/>
        </p:nvSpPr>
        <p:spPr>
          <a:xfrm>
            <a:off x="423400" y="1793450"/>
            <a:ext cx="82014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AIs may affect the belief and information quality: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Generating convincing mis- and dis-information at extreme rate, including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deepfake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”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image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s/video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Platforms may become better at censoring content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Making wars more uncertain due to novel technologies and fast-paced developments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These information problems may increase the frequency or severity of human warfare.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6" name="Google Shape;1546;p9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7" name="Google Shape;1547;p9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50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8" name="Google Shape;1548;p9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9" name="Google Shape;1549;p91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4: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Information Problems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0" name="Google Shape;1550;p91"/>
          <p:cNvSpPr txBox="1"/>
          <p:nvPr/>
        </p:nvSpPr>
        <p:spPr>
          <a:xfrm>
            <a:off x="423400" y="9696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Information problems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uncertainty about the capabilities or intentions of rivals can motivate conflict.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5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9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4" name="Google Shape;1614;p9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51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5" name="Google Shape;1615;p9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6" name="Google Shape;1616;p93"/>
          <p:cNvSpPr txBox="1"/>
          <p:nvPr/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Factor 5:</a:t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Inequality</a:t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7" name="Google Shape;1617;p93"/>
          <p:cNvSpPr txBox="1"/>
          <p:nvPr/>
        </p:nvSpPr>
        <p:spPr>
          <a:xfrm>
            <a:off x="423400" y="9696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Inequality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income and educational inequality robustly predict rates of crime (a form of conflict).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development may produce an abundant and equitable future, but this is far from a certainty.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AI development instead increases inequality, this may foster conflict.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94"/>
          <p:cNvSpPr txBox="1"/>
          <p:nvPr>
            <p:ph type="title"/>
          </p:nvPr>
        </p:nvSpPr>
        <p:spPr>
          <a:xfrm>
            <a:off x="398825" y="1330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Recap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623" name="Google Shape;1623;p94"/>
          <p:cNvSpPr txBox="1"/>
          <p:nvPr/>
        </p:nvSpPr>
        <p:spPr>
          <a:xfrm>
            <a:off x="423400" y="817200"/>
            <a:ext cx="8409000" cy="3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Changing environments and interactions can create incentives 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that promote 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conflict instead o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 cooperation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Factors that induce conflict include: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ower shifts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irst strike advantages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ssue indivisibility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nformation problems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nequality (relevant domestically, less internati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onally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4" name="Google Shape;1624;p9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5" name="Google Shape;1625;p9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52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6" name="Google Shape;1626;p9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95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Roadmap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2" name="Google Shape;1632;p95"/>
          <p:cNvSpPr txBox="1"/>
          <p:nvPr/>
        </p:nvSpPr>
        <p:spPr>
          <a:xfrm>
            <a:off x="36745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Game theory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Conflict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Evolutionary pressures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3" name="Google Shape;1633;p9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4" name="Google Shape;1634;p9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53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5" name="Google Shape;1635;p9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6" name="Google Shape;1636;p95"/>
          <p:cNvSpPr/>
          <p:nvPr/>
        </p:nvSpPr>
        <p:spPr>
          <a:xfrm>
            <a:off x="364325" y="2678900"/>
            <a:ext cx="8279700" cy="491700"/>
          </a:xfrm>
          <a:prstGeom prst="rect">
            <a:avLst/>
          </a:prstGeom>
          <a:noFill/>
          <a:ln cap="flat" cmpd="sng" w="9525">
            <a:solidFill>
              <a:srgbClr val="0097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elex"/>
              <a:ea typeface="Telex"/>
              <a:cs typeface="Telex"/>
              <a:sym typeface="Telex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98"/>
          <p:cNvSpPr txBox="1"/>
          <p:nvPr/>
        </p:nvSpPr>
        <p:spPr>
          <a:xfrm>
            <a:off x="423400" y="1229463"/>
            <a:ext cx="5102100" cy="13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Many structures evolve: organisms, scientific theories, ideas, legal systems, political parties, languages, musical genres, car designs, computer programs.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6" name="Google Shape;1666;p98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Generalized</a:t>
            </a:r>
            <a:r>
              <a:rPr lang="en"/>
              <a:t> Darwinism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7" name="Google Shape;1667;p98"/>
          <p:cNvSpPr txBox="1"/>
          <p:nvPr>
            <p:ph idx="12" type="sldNum"/>
          </p:nvPr>
        </p:nvSpPr>
        <p:spPr>
          <a:xfrm>
            <a:off x="8624864" y="47944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  <p:pic>
        <p:nvPicPr>
          <p:cNvPr id="1668" name="Google Shape;166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3450" y="1328650"/>
            <a:ext cx="2870249" cy="30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98"/>
          <p:cNvSpPr txBox="1"/>
          <p:nvPr/>
        </p:nvSpPr>
        <p:spPr>
          <a:xfrm>
            <a:off x="423400" y="3237850"/>
            <a:ext cx="51021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argue populations of AIs evolve and are shaped to be more and more competitive.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0" name="Google Shape;1670;p9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1" name="Google Shape;1671;p9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2" name="Google Shape;1672;p9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54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99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Story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8" name="Google Shape;1678;p99"/>
          <p:cNvSpPr txBox="1"/>
          <p:nvPr>
            <p:ph idx="12" type="sldNum"/>
          </p:nvPr>
        </p:nvSpPr>
        <p:spPr>
          <a:xfrm>
            <a:off x="8624864" y="47944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sp>
        <p:nvSpPr>
          <p:cNvPr id="1679" name="Google Shape;1679;p9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0" name="Google Shape;1680;p9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1" name="Google Shape;1681;p9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55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82" name="Google Shape;168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650" y="789113"/>
            <a:ext cx="5178601" cy="3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02"/>
          <p:cNvSpPr txBox="1"/>
          <p:nvPr>
            <p:ph type="title"/>
          </p:nvPr>
        </p:nvSpPr>
        <p:spPr>
          <a:xfrm>
            <a:off x="175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Lewontin’s Conditions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715" name="Google Shape;1715;p102"/>
          <p:cNvSpPr txBox="1"/>
          <p:nvPr/>
        </p:nvSpPr>
        <p:spPr>
          <a:xfrm>
            <a:off x="423400" y="588600"/>
            <a:ext cx="8848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Lewontin’s conditions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the three criteria necessary and sufficient for evolution by natural selection.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6" name="Google Shape;1716;p10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7" name="Google Shape;1717;p10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56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8" name="Google Shape;1718;p10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19" name="Google Shape;1719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125" y="3030775"/>
            <a:ext cx="2178326" cy="1807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0" name="Google Shape;1720;p102"/>
          <p:cNvGrpSpPr/>
          <p:nvPr/>
        </p:nvGrpSpPr>
        <p:grpSpPr>
          <a:xfrm>
            <a:off x="3870302" y="3030775"/>
            <a:ext cx="3819002" cy="1807925"/>
            <a:chOff x="3870302" y="3030775"/>
            <a:chExt cx="3819002" cy="1807925"/>
          </a:xfrm>
        </p:grpSpPr>
        <p:pic>
          <p:nvPicPr>
            <p:cNvPr id="1721" name="Google Shape;1721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5802" y="3030775"/>
              <a:ext cx="2023502" cy="18079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22" name="Google Shape;1722;p102"/>
            <p:cNvCxnSpPr/>
            <p:nvPr/>
          </p:nvCxnSpPr>
          <p:spPr>
            <a:xfrm>
              <a:off x="3870302" y="3925138"/>
              <a:ext cx="1491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723" name="Google Shape;1723;p102"/>
          <p:cNvSpPr txBox="1"/>
          <p:nvPr/>
        </p:nvSpPr>
        <p:spPr>
          <a:xfrm>
            <a:off x="423400" y="893400"/>
            <a:ext cx="6912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1.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Variation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There is variation in traits among individuals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4" name="Google Shape;1724;p102"/>
          <p:cNvSpPr txBox="1"/>
          <p:nvPr/>
        </p:nvSpPr>
        <p:spPr>
          <a:xfrm>
            <a:off x="423400" y="1874000"/>
            <a:ext cx="8848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Retention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Future iterations of individuals tend to resemble previous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5" name="Google Shape;1725;p102"/>
          <p:cNvSpPr txBox="1"/>
          <p:nvPr/>
        </p:nvSpPr>
        <p:spPr>
          <a:xfrm>
            <a:off x="423400" y="2365700"/>
            <a:ext cx="8848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3. </a:t>
            </a: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Differential fitness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Different variants have different propagation rates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26" name="Google Shape;1726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9525" y="3059225"/>
            <a:ext cx="1159350" cy="6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102"/>
          <p:cNvPicPr preferRelativeResize="0"/>
          <p:nvPr/>
        </p:nvPicPr>
        <p:blipFill rotWithShape="1">
          <a:blip r:embed="rId6">
            <a:alphaModFix/>
          </a:blip>
          <a:srcRect b="2733" l="5856" r="0" t="0"/>
          <a:stretch/>
        </p:blipFill>
        <p:spPr>
          <a:xfrm>
            <a:off x="6947800" y="2927625"/>
            <a:ext cx="1479800" cy="7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p10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633273">
            <a:off x="6795101" y="3544437"/>
            <a:ext cx="1218026" cy="78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102"/>
          <p:cNvPicPr preferRelativeResize="0"/>
          <p:nvPr/>
        </p:nvPicPr>
        <p:blipFill rotWithShape="1">
          <a:blip r:embed="rId8">
            <a:alphaModFix/>
          </a:blip>
          <a:srcRect b="25938" l="1191" r="6507" t="17069"/>
          <a:stretch/>
        </p:blipFill>
        <p:spPr>
          <a:xfrm rot="-815464">
            <a:off x="5329786" y="3710818"/>
            <a:ext cx="1304329" cy="58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102"/>
          <p:cNvPicPr preferRelativeResize="0"/>
          <p:nvPr/>
        </p:nvPicPr>
        <p:blipFill rotWithShape="1">
          <a:blip r:embed="rId9">
            <a:alphaModFix/>
          </a:blip>
          <a:srcRect b="16125" l="0" r="0" t="1564"/>
          <a:stretch/>
        </p:blipFill>
        <p:spPr>
          <a:xfrm>
            <a:off x="6146400" y="4148575"/>
            <a:ext cx="1108475" cy="6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103"/>
          <p:cNvSpPr txBox="1"/>
          <p:nvPr/>
        </p:nvSpPr>
        <p:spPr>
          <a:xfrm>
            <a:off x="423400" y="1038225"/>
            <a:ext cx="86103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Arguments for variation: ensembles, jury theorems, portfolio theory, remove single-points of failure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36" name="Google Shape;1736;p103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Variation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37" name="Google Shape;1737;p103"/>
          <p:cNvSpPr txBox="1"/>
          <p:nvPr>
            <p:ph idx="12" type="sldNum"/>
          </p:nvPr>
        </p:nvSpPr>
        <p:spPr>
          <a:xfrm>
            <a:off x="8624864" y="47944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sp>
        <p:nvSpPr>
          <p:cNvPr id="1738" name="Google Shape;1738;p103"/>
          <p:cNvSpPr txBox="1"/>
          <p:nvPr/>
        </p:nvSpPr>
        <p:spPr>
          <a:xfrm>
            <a:off x="423400" y="1986025"/>
            <a:ext cx="41487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Arguments for multiple models: parallelization, multiple stakeholders, specific before general models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39" name="Google Shape;1739;p103"/>
          <p:cNvSpPr txBox="1"/>
          <p:nvPr/>
        </p:nvSpPr>
        <p:spPr>
          <a:xfrm>
            <a:off x="423400" y="3528050"/>
            <a:ext cx="414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Single-agent domination imposes many inefficiencies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40" name="Google Shape;174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175" y="1986025"/>
            <a:ext cx="3809700" cy="23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0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2" name="Google Shape;1742;p10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3" name="Google Shape;1743;p10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57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04"/>
          <p:cNvSpPr txBox="1"/>
          <p:nvPr/>
        </p:nvSpPr>
        <p:spPr>
          <a:xfrm>
            <a:off x="423400" y="885525"/>
            <a:ext cx="86103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condition is frequently satisfied, as correlation between versions of agents is usually non-zero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9" name="Google Shape;1749;p104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Retention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0" name="Google Shape;1750;p104"/>
          <p:cNvSpPr txBox="1"/>
          <p:nvPr>
            <p:ph idx="12" type="sldNum"/>
          </p:nvPr>
        </p:nvSpPr>
        <p:spPr>
          <a:xfrm>
            <a:off x="8624864" y="47944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  <p:sp>
        <p:nvSpPr>
          <p:cNvPr id="1751" name="Google Shape;1751;p104"/>
          <p:cNvSpPr txBox="1"/>
          <p:nvPr/>
        </p:nvSpPr>
        <p:spPr>
          <a:xfrm>
            <a:off x="423400" y="1816500"/>
            <a:ext cx="8409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Copying: zero-shot transfer learning or direct inference from downloaded model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2" name="Google Shape;1752;p104"/>
          <p:cNvSpPr txBox="1"/>
          <p:nvPr/>
        </p:nvSpPr>
        <p:spPr>
          <a:xfrm>
            <a:off x="423400" y="2669450"/>
            <a:ext cx="820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Modification: adaptation, fine-tuning, training from scratch while reusing performant architectures and datasets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3" name="Google Shape;1753;p104"/>
          <p:cNvSpPr txBox="1"/>
          <p:nvPr/>
        </p:nvSpPr>
        <p:spPr>
          <a:xfrm>
            <a:off x="423400" y="3583850"/>
            <a:ext cx="820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Imitation: AIs could learn behaviors from other AIs, similar to memetic evolution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4" name="Google Shape;1754;p104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5" name="Google Shape;1755;p104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6" name="Google Shape;1756;p104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58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05"/>
          <p:cNvSpPr txBox="1"/>
          <p:nvPr/>
        </p:nvSpPr>
        <p:spPr>
          <a:xfrm>
            <a:off x="423400" y="1062800"/>
            <a:ext cx="86103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Models will have characteristics that cause them to vary in fitness, and thus rate of adoption 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2" name="Google Shape;1762;p105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Differential Fitness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3" name="Google Shape;1763;p105"/>
          <p:cNvSpPr txBox="1"/>
          <p:nvPr>
            <p:ph idx="12" type="sldNum"/>
          </p:nvPr>
        </p:nvSpPr>
        <p:spPr>
          <a:xfrm>
            <a:off x="8624864" y="47944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sp>
        <p:nvSpPr>
          <p:cNvPr id="1764" name="Google Shape;1764;p105"/>
          <p:cNvSpPr txBox="1"/>
          <p:nvPr/>
        </p:nvSpPr>
        <p:spPr>
          <a:xfrm>
            <a:off x="423400" y="2125100"/>
            <a:ext cx="8409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Humans and the environment will select fitter models, establishing this third condition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5" name="Google Shape;1765;p105"/>
          <p:cNvSpPr txBox="1"/>
          <p:nvPr/>
        </p:nvSpPr>
        <p:spPr>
          <a:xfrm>
            <a:off x="423400" y="3281800"/>
            <a:ext cx="8540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Competition has been eroding creator control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Hand-designed → expert designed → automatically learned supervised features → unsupervised → open-endedness, adaptiveness, and recursive self-improvement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6" name="Google Shape;1766;p105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7" name="Google Shape;1767;p105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8" name="Google Shape;1768;p105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59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06"/>
          <p:cNvSpPr txBox="1"/>
          <p:nvPr/>
        </p:nvSpPr>
        <p:spPr>
          <a:xfrm>
            <a:off x="423400" y="874550"/>
            <a:ext cx="86103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We’ve shown that the conditions for evolution by natural selection are satisfied by advanced AI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Unlike many other AI risk arguments, ours is a question of degree, rather than whether the hazard will emerge at all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4" name="Google Shape;1774;p106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Nunito"/>
                <a:ea typeface="Nunito"/>
                <a:cs typeface="Nunito"/>
                <a:sym typeface="Nunito"/>
              </a:rPr>
              <a:t>Intensity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5" name="Google Shape;1775;p106"/>
          <p:cNvSpPr txBox="1"/>
          <p:nvPr>
            <p:ph idx="12" type="sldNum"/>
          </p:nvPr>
        </p:nvSpPr>
        <p:spPr>
          <a:xfrm>
            <a:off x="8624864" y="47944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60</a:t>
            </a:fld>
            <a:endParaRPr/>
          </a:p>
        </p:txBody>
      </p:sp>
      <p:sp>
        <p:nvSpPr>
          <p:cNvPr id="1776" name="Google Shape;1776;p106"/>
          <p:cNvSpPr txBox="1"/>
          <p:nvPr/>
        </p:nvSpPr>
        <p:spPr>
          <a:xfrm>
            <a:off x="423400" y="2418925"/>
            <a:ext cx="8610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Intensity of evolution depends on amount of competition and variation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Competition and variation are likely both high!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7" name="Google Shape;1777;p106"/>
          <p:cNvSpPr txBox="1"/>
          <p:nvPr/>
        </p:nvSpPr>
        <p:spPr>
          <a:xfrm>
            <a:off x="423400" y="3312950"/>
            <a:ext cx="86103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rate of adaptation will likely be high as the world moves more quickly and as new versions are created on a second-by-second basis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As humans acquiesce to let AIs perform nearly everything, competition will move at a breakneck pace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8" name="Google Shape;1778;p106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9" name="Google Shape;1779;p106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0" name="Google Shape;1780;p106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60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107"/>
          <p:cNvSpPr txBox="1"/>
          <p:nvPr>
            <p:ph type="title"/>
          </p:nvPr>
        </p:nvSpPr>
        <p:spPr>
          <a:xfrm>
            <a:off x="0" y="-121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Levels of Adaptation</a:t>
            </a:r>
            <a:endParaRPr/>
          </a:p>
        </p:txBody>
      </p:sp>
      <p:sp>
        <p:nvSpPr>
          <p:cNvPr id="1786" name="Google Shape;1786;p107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Words like “adaptation” and “deception” occur on multiple levels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7" name="Google Shape;1787;p107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8" name="Google Shape;1788;p107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61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9" name="Google Shape;1789;p107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0" name="Google Shape;1790;p107"/>
          <p:cNvSpPr txBox="1"/>
          <p:nvPr/>
        </p:nvSpPr>
        <p:spPr>
          <a:xfrm>
            <a:off x="423400" y="1274400"/>
            <a:ext cx="8409000" cy="23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Adaptation: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Life and death: an unadapted individual or group perishes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Behavioral: changes in behavior without change in model or schema (e.g., using an umbrella since it is raining)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Schematic: revising the structure of one’s beliefs (e.g., learning that rain dances are not effective)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08"/>
          <p:cNvSpPr txBox="1"/>
          <p:nvPr>
            <p:ph type="title"/>
          </p:nvPr>
        </p:nvSpPr>
        <p:spPr>
          <a:xfrm>
            <a:off x="0" y="-121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Levels of Deception</a:t>
            </a:r>
            <a:endParaRPr/>
          </a:p>
        </p:txBody>
      </p:sp>
      <p:sp>
        <p:nvSpPr>
          <p:cNvPr id="1796" name="Google Shape;1796;p108"/>
          <p:cNvSpPr txBox="1"/>
          <p:nvPr/>
        </p:nvSpPr>
        <p:spPr>
          <a:xfrm>
            <a:off x="423400" y="817200"/>
            <a:ext cx="84090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Ingrained or reflexive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fixed programming (e.g., camouflage or predator acting in a way to hide its predatory nature around prey)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Reinforced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trial and error (e.g., a parent mockingbird feigning an injury to attract a predator away from its defenceless offspring)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Modeled: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involves theory of mind and second-order thinking (e.g., verbal deception such as a chimp misleading other chimps to hide a food source)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i="1"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Self-deception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hide the truth from yourself to better help you hide it from others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7" name="Google Shape;1797;p108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8" name="Google Shape;1798;p108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62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9" name="Google Shape;1799;p108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0" name="Google Shape;1800;p108"/>
          <p:cNvSpPr txBox="1"/>
          <p:nvPr/>
        </p:nvSpPr>
        <p:spPr>
          <a:xfrm>
            <a:off x="575800" y="3638550"/>
            <a:ext cx="84090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Other concepts, like fitness, can be improved at multiple levels (e.g., through being turned on, by scaling to more users, by brainstorming and choosing strategies that will improve competitiveness, etc.)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09"/>
          <p:cNvSpPr txBox="1"/>
          <p:nvPr>
            <p:ph type="title"/>
          </p:nvPr>
        </p:nvSpPr>
        <p:spPr>
          <a:xfrm>
            <a:off x="0" y="-121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Levels of Selection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806" name="Google Shape;1806;p109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can generalize from: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Organisms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Their genes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7" name="Google Shape;1807;p109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8" name="Google Shape;1808;p109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63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9" name="Google Shape;1809;p109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0" name="Google Shape;1810;p109"/>
          <p:cNvSpPr txBox="1"/>
          <p:nvPr/>
        </p:nvSpPr>
        <p:spPr>
          <a:xfrm>
            <a:off x="4319375" y="1157600"/>
            <a:ext cx="46554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Systems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information they contain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11" name="Google Shape;1811;p109"/>
          <p:cNvGrpSpPr/>
          <p:nvPr/>
        </p:nvGrpSpPr>
        <p:grpSpPr>
          <a:xfrm>
            <a:off x="2873225" y="1406075"/>
            <a:ext cx="1240800" cy="393663"/>
            <a:chOff x="2873225" y="1406075"/>
            <a:chExt cx="1240800" cy="393663"/>
          </a:xfrm>
        </p:grpSpPr>
        <p:cxnSp>
          <p:nvCxnSpPr>
            <p:cNvPr id="1812" name="Google Shape;1812;p109"/>
            <p:cNvCxnSpPr/>
            <p:nvPr/>
          </p:nvCxnSpPr>
          <p:spPr>
            <a:xfrm>
              <a:off x="2873225" y="1406075"/>
              <a:ext cx="1240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3" name="Google Shape;1813;p109"/>
            <p:cNvCxnSpPr/>
            <p:nvPr/>
          </p:nvCxnSpPr>
          <p:spPr>
            <a:xfrm>
              <a:off x="2873225" y="1799738"/>
              <a:ext cx="1240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814" name="Google Shape;1814;p109"/>
          <p:cNvSpPr txBox="1"/>
          <p:nvPr/>
        </p:nvSpPr>
        <p:spPr>
          <a:xfrm>
            <a:off x="423400" y="1982500"/>
            <a:ext cx="8750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Natural selection can operate at either level.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Information that propagates more occupies more spacetime volume.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example: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 ancient, medium-popularity song that a few people still play           -&gt; propagated across lots of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time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but little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space</a:t>
            </a:r>
            <a:endParaRPr b="0" i="1" sz="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song that is highly-popular for one year, then forgotten                     -&gt; propagated across lots of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space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but little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time</a:t>
            </a:r>
            <a:endParaRPr b="0" i="1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5" name="Google Shape;1815;p109"/>
          <p:cNvSpPr/>
          <p:nvPr/>
        </p:nvSpPr>
        <p:spPr>
          <a:xfrm>
            <a:off x="927450" y="3773000"/>
            <a:ext cx="5802600" cy="3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09"/>
          <p:cNvSpPr/>
          <p:nvPr/>
        </p:nvSpPr>
        <p:spPr>
          <a:xfrm>
            <a:off x="927450" y="4489350"/>
            <a:ext cx="6126600" cy="3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8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119"/>
          <p:cNvSpPr txBox="1"/>
          <p:nvPr>
            <p:ph type="title"/>
          </p:nvPr>
        </p:nvSpPr>
        <p:spPr>
          <a:xfrm>
            <a:off x="0" y="-121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Selfishness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929" name="Google Shape;1929;p119"/>
          <p:cNvSpPr txBox="1"/>
          <p:nvPr/>
        </p:nvSpPr>
        <p:spPr>
          <a:xfrm>
            <a:off x="423400" y="741000"/>
            <a:ext cx="8750100" cy="24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Natural selection tends to favor selfish traits and behaviors.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Selfishness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Furthering one’s own information propagation at the expense of others’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Altruism that reduces an individual’s fitness is not evolutionarily stable.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individuals can do better by being selfish, they will.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 lancet liver fluke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0" name="Google Shape;1930;p119"/>
          <p:cNvSpPr txBox="1"/>
          <p:nvPr/>
        </p:nvSpPr>
        <p:spPr>
          <a:xfrm>
            <a:off x="-24450" y="4853900"/>
            <a:ext cx="9198300" cy="2919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1" name="Google Shape;1931;p119"/>
          <p:cNvSpPr txBox="1"/>
          <p:nvPr/>
        </p:nvSpPr>
        <p:spPr>
          <a:xfrm>
            <a:off x="8632517" y="4811566"/>
            <a:ext cx="5412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64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2" name="Google Shape;1932;p119"/>
          <p:cNvSpPr txBox="1"/>
          <p:nvPr/>
        </p:nvSpPr>
        <p:spPr>
          <a:xfrm>
            <a:off x="-52375" y="4815950"/>
            <a:ext cx="450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33" name="Google Shape;1933;p119"/>
          <p:cNvPicPr preferRelativeResize="0"/>
          <p:nvPr/>
        </p:nvPicPr>
        <p:blipFill rotWithShape="1">
          <a:blip r:embed="rId3">
            <a:alphaModFix/>
          </a:blip>
          <a:srcRect b="20469" l="0" r="0" t="12000"/>
          <a:stretch/>
        </p:blipFill>
        <p:spPr>
          <a:xfrm>
            <a:off x="257743" y="3150400"/>
            <a:ext cx="2066314" cy="1673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4" name="Google Shape;1934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8839" y="3150400"/>
            <a:ext cx="2569760" cy="16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2143" y="3165387"/>
            <a:ext cx="2588617" cy="1673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9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9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1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20"/>
          <p:cNvSpPr txBox="1"/>
          <p:nvPr>
            <p:ph type="title"/>
          </p:nvPr>
        </p:nvSpPr>
        <p:spPr>
          <a:xfrm>
            <a:off x="0" y="-121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Selfishness in AI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941" name="Google Shape;1941;p120"/>
          <p:cNvSpPr txBox="1"/>
          <p:nvPr/>
        </p:nvSpPr>
        <p:spPr>
          <a:xfrm>
            <a:off x="423400" y="817200"/>
            <a:ext cx="9144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systems may exhibit selfish behaviors: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Expanding the AI’s influence at the expense of human values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(e.g., get rights)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does not require any malicious intent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Example: automation.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AIs may automate human tasks, causing extensive layoffs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could detriment humans: rapid and widespread unemployment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Yet this “selfish” behavior could be the result of AIs pursuing efficiency, with no malice towards humans or even understand what humans are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2" name="Google Shape;1942;p120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3" name="Google Shape;1943;p120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65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4" name="Google Shape;1944;p120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121"/>
          <p:cNvSpPr txBox="1"/>
          <p:nvPr>
            <p:ph type="title"/>
          </p:nvPr>
        </p:nvSpPr>
        <p:spPr>
          <a:xfrm>
            <a:off x="0" y="-1217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Selfishness in AI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950" name="Google Shape;1950;p121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51" name="Google Shape;1951;p121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66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52" name="Google Shape;1952;p121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53" name="Google Shape;1953;p121"/>
          <p:cNvSpPr txBox="1"/>
          <p:nvPr/>
        </p:nvSpPr>
        <p:spPr>
          <a:xfrm>
            <a:off x="423400" y="817200"/>
            <a:ext cx="8409000" cy="3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more natural selection acts on AI development, the more selfish behavior we should expect to see.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 avoid extreme AI selfishness, we can: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Change the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environment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reduce the competitive pressures steering AI development 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Char char="●"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Change the </a:t>
            </a:r>
            <a:r>
              <a:rPr b="0" i="1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selection</a:t>
            </a: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change what makes AIs “fitter” to be traits that promote faithfully and safely assisting humans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122"/>
          <p:cNvSpPr txBox="1"/>
          <p:nvPr>
            <p:ph type="title"/>
          </p:nvPr>
        </p:nvSpPr>
        <p:spPr>
          <a:xfrm>
            <a:off x="398825" y="13300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Recap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959" name="Google Shape;1959;p122"/>
          <p:cNvSpPr txBox="1"/>
          <p:nvPr/>
        </p:nvSpPr>
        <p:spPr>
          <a:xfrm>
            <a:off x="318925" y="812375"/>
            <a:ext cx="8506500" cy="3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Evolutionary pressures push systems towards certain stable outcomes.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development meets Lewontin’s conditions: variance, retention, fitness.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Natural selection tends to favor selfish behaviors.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AIs that evolve by natural selection may therefore behave selfishly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0" name="Google Shape;1960;p122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1" name="Google Shape;1961;p122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67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2" name="Google Shape;1962;p122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123"/>
          <p:cNvSpPr txBox="1"/>
          <p:nvPr>
            <p:ph type="title"/>
          </p:nvPr>
        </p:nvSpPr>
        <p:spPr>
          <a:xfrm>
            <a:off x="423400" y="-12175"/>
            <a:ext cx="82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Chapter Recap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968" name="Google Shape;1968;p123"/>
          <p:cNvSpPr txBox="1"/>
          <p:nvPr/>
        </p:nvSpPr>
        <p:spPr>
          <a:xfrm>
            <a:off x="423400" y="817200"/>
            <a:ext cx="840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9" name="Google Shape;1969;p123"/>
          <p:cNvSpPr txBox="1"/>
          <p:nvPr/>
        </p:nvSpPr>
        <p:spPr>
          <a:xfrm>
            <a:off x="175" y="4838700"/>
            <a:ext cx="9144000" cy="305100"/>
          </a:xfrm>
          <a:prstGeom prst="rect">
            <a:avLst/>
          </a:prstGeom>
          <a:solidFill>
            <a:srgbClr val="A20C0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0" name="Google Shape;1970;p123"/>
          <p:cNvSpPr txBox="1"/>
          <p:nvPr/>
        </p:nvSpPr>
        <p:spPr>
          <a:xfrm>
            <a:off x="8624864" y="47944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68</a:t>
            </a:fld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1" name="Google Shape;1971;p123"/>
          <p:cNvSpPr txBox="1"/>
          <p:nvPr/>
        </p:nvSpPr>
        <p:spPr>
          <a:xfrm>
            <a:off x="-28146" y="4799025"/>
            <a:ext cx="456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 to AI SES</a:t>
            </a:r>
            <a:endParaRPr b="0" i="0" sz="13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2" name="Google Shape;1972;p123"/>
          <p:cNvSpPr txBox="1"/>
          <p:nvPr/>
        </p:nvSpPr>
        <p:spPr>
          <a:xfrm>
            <a:off x="367450" y="817200"/>
            <a:ext cx="89472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Game Theory: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Agents may tend towards stable states that are bad for all</a:t>
            </a: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Cooperation between AIs has benefits, but may also pose risks.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Conflict: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Certain factors can make conflict the rational option.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Evolutionary pressures: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Selection pressures may exacerbate AI risk.</a:t>
            </a:r>
            <a:endParaRPr b="0" i="0" sz="20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