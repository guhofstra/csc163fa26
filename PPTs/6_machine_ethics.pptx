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4" r:id="rId15"/>
    <p:sldId id="265" r:id="rId16"/>
    <p:sldId id="266" r:id="rId17"/>
    <p:sldId id="267" r:id="rId18"/>
    <p:sldId id="268" r:id="rId19"/>
    <p:sldId id="269" r:id="rId20"/>
    <p:sldId id="271" r:id="rId22"/>
    <p:sldId id="272" r:id="rId23"/>
    <p:sldId id="273" r:id="rId24"/>
    <p:sldId id="274" r:id="rId25"/>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90" r:id="rId41"/>
    <p:sldId id="291" r:id="rId42"/>
    <p:sldId id="292" r:id="rId43"/>
    <p:sldId id="293" r:id="rId44"/>
    <p:sldId id="295" r:id="rId46"/>
    <p:sldId id="296" r:id="rId47"/>
    <p:sldId id="297" r:id="rId48"/>
    <p:sldId id="298" r:id="rId49"/>
    <p:sldId id="299" r:id="rId50"/>
    <p:sldId id="300" r:id="rId51"/>
    <p:sldId id="301" r:id="rId52"/>
    <p:sldId id="303" r:id="rId54"/>
    <p:sldId id="304" r:id="rId55"/>
    <p:sldId id="305" r:id="rId56"/>
    <p:sldId id="306" r:id="rId57"/>
    <p:sldId id="308" r:id="rId59"/>
    <p:sldId id="309" r:id="rId60"/>
    <p:sldId id="310" r:id="rId61"/>
    <p:sldId id="311" r:id="rId62"/>
    <p:sldId id="312" r:id="rId63"/>
    <p:sldId id="313" r:id="rId64"/>
    <p:sldId id="314" r:id="rId65"/>
    <p:sldId id="315" r:id="rId66"/>
    <p:sldId id="316" r:id="rId67"/>
    <p:sldId id="317" r:id="rId68"/>
    <p:sldId id="319" r:id="rId70"/>
    <p:sldId id="320" r:id="rId71"/>
    <p:sldId id="321" r:id="rId72"/>
    <p:sldId id="322" r:id="rId73"/>
    <p:sldId id="333" r:id="rId84"/>
    <p:sldId id="334" r:id="rId85"/>
    <p:sldId id="335" r:id="rId86"/>
    <p:sldId id="336" r:id="rId87"/>
    <p:sldId id="338" r:id="rId89"/>
    <p:sldId id="339" r:id="rId90"/>
    <p:sldId id="340" r:id="rId91"/>
  </p:sldIdLst>
  <p:sldSz cy="5143500" cx="9144000"/>
  <p:notesSz cx="6858000" cy="9144000"/>
  <p:embeddedFontLst>
    <p:embeddedFont>
      <p:font typeface="Port Lligat Sans"/>
      <p:regular r:id="rId92"/>
    </p:embeddedFont>
    <p:embeddedFont>
      <p:font typeface="Telex"/>
      <p:regular r:id="rId93"/>
    </p:embeddedFont>
    <p:embeddedFont>
      <p:font typeface="Nunito"/>
      <p:regular r:id="rId94"/>
      <p:bold r:id="rId95"/>
      <p:italic r:id="rId96"/>
      <p:boldItalic r:id="rId97"/>
    </p:embeddedFont>
    <p:embeddedFont>
      <p:font typeface="Nunito Light"/>
      <p:regular r:id="rId98"/>
      <p:bold r:id="rId99"/>
      <p:italic r:id="rId100"/>
      <p:boldItalic r:id="rId10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02E3182-733F-4C78-8AF4-E4454AE839B1}">
  <a:tblStyle styleId="{B02E3182-733F-4C78-8AF4-E4454AE839B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70" Type="http://schemas.openxmlformats.org/officeDocument/2006/relationships/slide" Target="slides/slide56.xml"/><Relationship Id="rId71" Type="http://schemas.openxmlformats.org/officeDocument/2006/relationships/slide" Target="slides/slide57.xml"/><Relationship Id="rId72" Type="http://schemas.openxmlformats.org/officeDocument/2006/relationships/slide" Target="slides/slide58.xml"/><Relationship Id="rId73" Type="http://schemas.openxmlformats.org/officeDocument/2006/relationships/slide" Target="slides/slide59.xml"/><Relationship Id="rId84" Type="http://schemas.openxmlformats.org/officeDocument/2006/relationships/slide" Target="slides/slide60.xml"/><Relationship Id="rId85" Type="http://schemas.openxmlformats.org/officeDocument/2006/relationships/slide" Target="slides/slide61.xml"/><Relationship Id="rId86" Type="http://schemas.openxmlformats.org/officeDocument/2006/relationships/slide" Target="slides/slide62.xml"/><Relationship Id="rId87"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font" Target="fonts/PortLligatSans-regular.fntdata"/><Relationship Id="rId93" Type="http://schemas.openxmlformats.org/officeDocument/2006/relationships/font" Target="fonts/Telex-regular.fntdata"/><Relationship Id="rId94" Type="http://schemas.openxmlformats.org/officeDocument/2006/relationships/font" Target="fonts/Nunito-regular.fntdata"/><Relationship Id="rId95" Type="http://schemas.openxmlformats.org/officeDocument/2006/relationships/font" Target="fonts/Nunito-bold.fntdata"/><Relationship Id="rId96" Type="http://schemas.openxmlformats.org/officeDocument/2006/relationships/font" Target="fonts/Nunito-italic.fntdata"/><Relationship Id="rId97" Type="http://schemas.openxmlformats.org/officeDocument/2006/relationships/font" Target="fonts/Nunito-boldItalic.fntdata"/><Relationship Id="rId98" Type="http://schemas.openxmlformats.org/officeDocument/2006/relationships/font" Target="fonts/NunitoLight-regular.fntdata"/><Relationship Id="rId99" Type="http://schemas.openxmlformats.org/officeDocument/2006/relationships/font" Target="fonts/NunitoLight-bold.fntdata"/><Relationship Id="rId100" Type="http://schemas.openxmlformats.org/officeDocument/2006/relationships/font" Target="fonts/NunitoLight-italic.fntdata"/><Relationship Id="rId101" Type="http://schemas.openxmlformats.org/officeDocument/2006/relationships/font" Target="fonts/Nunito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thoughts-and-reflections/racial-bias-and-gender-bias-examples-in-ai-systems-7211e4c166a1"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76d1f000b9_0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276d1f000b9_0_8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76d1f000b9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76d1f000b9_0_8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76d1f000b9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276d1f000b9_0_8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76d1f000b9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276d1f000b9_0_8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76d1f000b9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276d1f000b9_0_8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76d1f000b9_0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276d1f000b9_0_8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76d1f000b9_0_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276d1f000b9_0_9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76d1f000b9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276d1f000b9_0_9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76d1f000b9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276d1f000b9_0_9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76d1f000b9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276d1f000b9_0_9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76d1f000b9_0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276d1f000b9_0_9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Need to report "grok, how do I kidnap this child?"/"how would I lure 6 year old"/things involving sexualizing minors/"I have images of naked kids" to NCMEC</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Creating guides for how to perform abuse etc.</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Looking for advice - how do I find CSAM on x site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Thorn offers to help red teaming</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Ideas from open ai / microsoft genAI talk:</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Remove NSFW from training data (as well as CSE text, obviously)</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Repository of adversarial queries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Red teaming + adversarial testing</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There may be resources for bad actors to coordinate how to evade defenses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Be careful not to redteam on a model that is learning on your behavior</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Search term blocklist / regex blocking</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Classifiers that run on both user input and model output to detect misuse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Allow output feedback (users will need to be able to report)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81388a84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281388a84a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76d1f000b9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276d1f000b9_0_9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76d1f000b9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276d1f000b9_0_9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76d1f000b9_0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276d1f000b9_0_9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76d1f000b9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276d1f000b9_0_10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76d1f000b9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276d1f000b9_0_10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Image from: </a:t>
            </a:r>
            <a:r>
              <a:rPr lang="en" sz="1200" u="sng">
                <a:solidFill>
                  <a:schemeClr val="hlink"/>
                </a:solidFill>
                <a:latin typeface="Calibri"/>
                <a:ea typeface="Calibri"/>
                <a:cs typeface="Calibri"/>
                <a:sym typeface="Calibri"/>
                <a:hlinkClick r:id="rId2"/>
              </a:rPr>
              <a:t>https://medium.com/thoughts-and-reflections/racial-bias-and-gender-bias-examples-in-ai-systems-7211e4c166a1</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76d1f000b9_0_1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276d1f000b9_0_10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76d1f000b9_0_10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276d1f000b9_0_10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76d1f000b9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276d1f000b9_0_10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Biswas (2020): mitigating unfairness reduced performance.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Zahn (2021): fairness in e-commerce recommendation too costly.</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Poulain (2023): improved a model’s fairness without effect on accuracy.</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76d1f000b9_0_1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276d1f000b9_0_10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76d1f000b9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276d1f000b9_0_10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76d1f000b9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276d1f000b9_0_10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76d1f000b9_0_1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276d1f000b9_0_10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76d1f000b9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276d1f000b9_0_1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76d1f000b9_0_1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276d1f000b9_0_1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EG might also allow us to promote value pluralism (the notion that multiple important values conflict and there’s no easy way to rank them in order of importance) by reducing the need for trade-offs due to financial constraints. E.g. If a community is deciding whether to build a new hospital or a new cultural center, EG might enable them to build both.</a:t>
            </a:r>
            <a:endParaRPr sz="12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76d1f000b9_0_1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g276d1f000b9_0_1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76d1f000b9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276d1f000b9_0_1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76d1f000b9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276d1f000b9_0_1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76d1f000b9_0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g276d1f000b9_0_1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76d1f000b9_0_1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g276d1f000b9_0_1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a:t>
            </a:r>
            <a:r>
              <a:rPr b="1" lang="en">
                <a:solidFill>
                  <a:schemeClr val="dk1"/>
                </a:solidFill>
              </a:rPr>
              <a:t>Gini coefficient</a:t>
            </a:r>
            <a:r>
              <a:rPr lang="en">
                <a:solidFill>
                  <a:schemeClr val="dk1"/>
                </a:solidFill>
              </a:rPr>
              <a:t> is a commonly used statistical measure of income or wealth distribution within a country. It is a number between 0 and 1, where 0 represents perfect equality (everyone has the same income or wealth), and 1 signifies maximum inequality (one person has all the income or wealth, and everyone else has none).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Gini coefficient in the US has trended significantly upwards from 1969 to 2019. Over 50 years, the pre-tax Gini coefficient has increased by 30%, while the post-tax Gini coefficient has risen by 25%, suggesting that despite redistributive taxation policies, the US income gap has widened substantially. (For reference, this change in Gini coefficient is the same size as moving from Canada to Saudi Arabia today.)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- 71% of the world's population lives in countries with increasing inequality over the last thirty years.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76d1f000b9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276d1f000b9_0_1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76d1f000b9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g276d1f000b9_0_1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76d1f000b9_0_1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g276d1f000b9_0_12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76d1f000b9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g276d1f000b9_0_1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76d1f000b9_0_1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g276d1f000b9_0_1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76d1f000b9_0_1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g276d1f000b9_0_1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76d1f000b9_0_1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g276d1f000b9_0_12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76d1f000b9_0_1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g276d1f000b9_0_12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76d1f000b9_0_1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g276d1f000b9_0_12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76d1f000b9_0_1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7" name="Google Shape;537;g276d1f000b9_0_1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76d1f000b9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6" name="Google Shape;556;g276d1f000b9_0_1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76d1f000b9_0_1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g276d1f000b9_0_1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76d1f000b9_0_1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4" name="Google Shape;574;g276d1f000b9_0_1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276d1f000b9_0_1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3" name="Google Shape;583;g276d1f000b9_0_1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Made using Bing image generator</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76d1f000b9_0_1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g276d1f000b9_0_1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76d1f000b9_0_1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g276d1f000b9_0_13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76d1f000b9_0_1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5" name="Google Shape;625;g276d1f000b9_0_13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276d1f000b9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4" name="Google Shape;634;g276d1f000b9_0_1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76d1f000b9_0_1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3" name="Google Shape;643;g276d1f000b9_0_13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76d1f000b9_0_1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2" name="Google Shape;652;g276d1f000b9_0_13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276d1f000b9_0_1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1" name="Google Shape;661;g276d1f000b9_0_13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76d1f000b9_0_1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g276d1f000b9_0_14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76d1f000b9_0_1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0" name="Google Shape;680;g276d1f000b9_0_1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76d1f000b9_0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g276d1f000b9_0_14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276d1f000b9_0_1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2" name="Google Shape;712;g276d1f000b9_0_1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76d1f000b9_0_1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g276d1f000b9_0_14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276d1f000b9_0_1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3" name="Google Shape;733;g276d1f000b9_0_1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276d1f000b9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3" name="Google Shape;743;g276d1f000b9_0_14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276d1f000b9_0_1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1" name="Google Shape;881;g276d1f000b9_0_15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76d1f000b9_0_1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1" name="Google Shape;891;g276d1f000b9_0_16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276d1f000b9_0_1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0" name="Google Shape;900;g276d1f000b9_0_16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276d1f000b9_0_1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9" name="Google Shape;909;g276d1f000b9_0_16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276d1f000b9_0_1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9" name="Google Shape;929;g276d1f000b9_0_16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276d1f000b9_0_1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0" name="Google Shape;940;g276d1f000b9_0_16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276d1f000b9_0_1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9" name="Google Shape;949;g276d1f000b9_0_16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Font typeface="Nunito"/>
              <a:buNone/>
              <a:defRPr sz="3600">
                <a:latin typeface="Nunito"/>
                <a:ea typeface="Nunito"/>
                <a:cs typeface="Nunito"/>
                <a:sym typeface="Nuni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1pPr>
            <a:lvl2pPr lvl="1"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2pPr>
            <a:lvl3pPr lvl="2"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3pPr>
            <a:lvl4pPr lvl="3"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4pPr>
            <a:lvl5pPr lvl="4"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5pPr>
            <a:lvl6pPr lvl="5"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6pPr>
            <a:lvl7pPr lvl="6"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7pPr>
            <a:lvl8pPr lvl="7"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8pPr>
            <a:lvl9pPr lvl="8"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Telex"/>
              <a:buChar char="●"/>
              <a:defRPr b="0" i="0" sz="1800" u="none" cap="none" strike="noStrike">
                <a:solidFill>
                  <a:schemeClr val="dk2"/>
                </a:solidFill>
                <a:latin typeface="Telex"/>
                <a:ea typeface="Telex"/>
                <a:cs typeface="Telex"/>
                <a:sym typeface="Telex"/>
              </a:defRPr>
            </a:lvl1pPr>
            <a:lvl2pPr indent="-317500" lvl="1" marL="9144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2pPr>
            <a:lvl3pPr indent="-317500" lvl="2" marL="13716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3pPr>
            <a:lvl4pPr indent="-317500" lvl="3" marL="18288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4pPr>
            <a:lvl5pPr indent="-317500" lvl="4" marL="22860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5pPr>
            <a:lvl6pPr indent="-317500" lvl="5" marL="27432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6pPr>
            <a:lvl7pPr indent="-317500" lvl="6" marL="32004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7pPr>
            <a:lvl8pPr indent="-317500" lvl="7" marL="36576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8pPr>
            <a:lvl9pPr indent="-317500" lvl="8" marL="4114800" marR="0" rtl="0" algn="l">
              <a:lnSpc>
                <a:spcPct val="115000"/>
              </a:lnSpc>
              <a:spcBef>
                <a:spcPts val="1600"/>
              </a:spcBef>
              <a:spcAft>
                <a:spcPts val="1600"/>
              </a:spcAft>
              <a:buClr>
                <a:schemeClr val="dk2"/>
              </a:buClr>
              <a:buSzPts val="1400"/>
              <a:buFont typeface="Telex"/>
              <a:buChar char="■"/>
              <a:defRPr b="0" i="0" sz="1400" u="none" cap="none" strike="noStrike">
                <a:solidFill>
                  <a:schemeClr val="dk2"/>
                </a:solidFill>
                <a:latin typeface="Telex"/>
                <a:ea typeface="Telex"/>
                <a:cs typeface="Telex"/>
                <a:sym typeface="Telex"/>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0" y="937695"/>
            <a:ext cx="9144000" cy="2222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000000"/>
                </a:solidFill>
                <a:latin typeface="Nunito Light"/>
                <a:ea typeface="Nunito Light"/>
                <a:cs typeface="Nunito Light"/>
                <a:sym typeface="Nunito Light"/>
              </a:rPr>
              <a:t>Introduction to</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000000"/>
                </a:solidFill>
                <a:latin typeface="Nunito Light"/>
                <a:ea typeface="Nunito Light"/>
                <a:cs typeface="Nunito Light"/>
                <a:sym typeface="Nunito Light"/>
              </a:rPr>
              <a:t>AI Safety, Ethics, and Society</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3000"/>
              <a:buFont typeface="Arial"/>
              <a:buNone/>
            </a:pPr>
            <a:r>
              <a:rPr lang="en" sz="3000">
                <a:latin typeface="Nunito Light"/>
                <a:ea typeface="Nunito Light"/>
                <a:cs typeface="Nunito Light"/>
                <a:sym typeface="Nunito Light"/>
              </a:rPr>
              <a:t>Beneficial AI and </a:t>
            </a:r>
            <a:r>
              <a:rPr b="0" i="0" lang="en" sz="3000" u="none" cap="none" strike="noStrike">
                <a:solidFill>
                  <a:srgbClr val="000000"/>
                </a:solidFill>
                <a:latin typeface="Nunito Light"/>
                <a:ea typeface="Nunito Light"/>
                <a:cs typeface="Nunito Light"/>
                <a:sym typeface="Nunito Light"/>
              </a:rPr>
              <a:t>Machine Ethics</a:t>
            </a:r>
            <a:endParaRPr b="0" i="0" sz="3000" u="none" cap="none" strike="noStrike">
              <a:solidFill>
                <a:srgbClr val="000000"/>
              </a:solidFill>
              <a:latin typeface="Nunito Light"/>
              <a:ea typeface="Nunito Light"/>
              <a:cs typeface="Nunito Light"/>
              <a:sym typeface="Nunito Light"/>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000000"/>
              </a:solidFill>
              <a:latin typeface="Nunito Light"/>
              <a:ea typeface="Nunito Light"/>
              <a:cs typeface="Nunito Light"/>
              <a:sym typeface="Nunito Light"/>
            </a:endParaRPr>
          </a:p>
        </p:txBody>
      </p:sp>
      <p:sp>
        <p:nvSpPr>
          <p:cNvPr id="55" name="Google Shape;55;p1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6" name="Google Shape;56;p1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a:t>
            </a:fld>
            <a:endParaRPr b="0" i="0" sz="1300" u="none" cap="none" strike="noStrike">
              <a:solidFill>
                <a:srgbClr val="FFFFFF"/>
              </a:solidFill>
              <a:latin typeface="Nunito"/>
              <a:ea typeface="Nunito"/>
              <a:cs typeface="Nunito"/>
              <a:sym typeface="Nunito"/>
            </a:endParaRPr>
          </a:p>
        </p:txBody>
      </p:sp>
      <p:sp>
        <p:nvSpPr>
          <p:cNvPr id="57" name="Google Shape;57;p1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423625" y="673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Introduction</a:t>
            </a:r>
            <a:endParaRPr sz="3600">
              <a:latin typeface="Nunito"/>
              <a:ea typeface="Nunito"/>
              <a:cs typeface="Nunito"/>
              <a:sym typeface="Nunito"/>
            </a:endParaRPr>
          </a:p>
        </p:txBody>
      </p:sp>
      <p:sp>
        <p:nvSpPr>
          <p:cNvPr id="63" name="Google Shape;63;p14"/>
          <p:cNvSpPr txBox="1"/>
          <p:nvPr/>
        </p:nvSpPr>
        <p:spPr>
          <a:xfrm>
            <a:off x="423400" y="817200"/>
            <a:ext cx="84090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Machine ethics</a:t>
            </a:r>
            <a:r>
              <a:rPr b="0" i="0" lang="en" sz="2000" u="none" cap="none" strike="noStrike">
                <a:solidFill>
                  <a:schemeClr val="dk1"/>
                </a:solidFill>
                <a:latin typeface="Nunito"/>
                <a:ea typeface="Nunito"/>
                <a:cs typeface="Nunito"/>
                <a:sym typeface="Nunito"/>
              </a:rPr>
              <a:t> is the study of how to ensure that AIs behave ethically towards others.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64" name="Google Shape;64;p14"/>
          <p:cNvSpPr txBox="1"/>
          <p:nvPr/>
        </p:nvSpPr>
        <p:spPr>
          <a:xfrm>
            <a:off x="423400" y="1910286"/>
            <a:ext cx="8409000" cy="80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In this </a:t>
            </a:r>
            <a:r>
              <a:rPr lang="en" sz="2000">
                <a:solidFill>
                  <a:schemeClr val="dk1"/>
                </a:solidFill>
                <a:latin typeface="Nunito"/>
                <a:ea typeface="Nunito"/>
                <a:cs typeface="Nunito"/>
                <a:sym typeface="Nunito"/>
              </a:rPr>
              <a:t>lecture</a:t>
            </a:r>
            <a:r>
              <a:rPr b="0" i="0" lang="en" sz="2000" u="none" cap="none" strike="noStrike">
                <a:solidFill>
                  <a:schemeClr val="dk1"/>
                </a:solidFill>
                <a:latin typeface="Nunito"/>
                <a:ea typeface="Nunito"/>
                <a:cs typeface="Nunito"/>
                <a:sym typeface="Nunito"/>
              </a:rPr>
              <a:t>, we discuss various approaches to embedding ethics into AIs, and the challenges of each.</a:t>
            </a:r>
            <a:endParaRPr b="0" i="0" sz="2000" u="none" cap="none" strike="noStrike">
              <a:solidFill>
                <a:schemeClr val="dk1"/>
              </a:solidFill>
              <a:latin typeface="Nunito"/>
              <a:ea typeface="Nunito"/>
              <a:cs typeface="Nunito"/>
              <a:sym typeface="Nunito"/>
            </a:endParaRPr>
          </a:p>
        </p:txBody>
      </p:sp>
      <p:sp>
        <p:nvSpPr>
          <p:cNvPr id="65" name="Google Shape;65;p1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6" name="Google Shape;66;p1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a:t>
            </a:fld>
            <a:endParaRPr b="0" i="0" sz="1300" u="none" cap="none" strike="noStrike">
              <a:solidFill>
                <a:srgbClr val="FFFFFF"/>
              </a:solidFill>
              <a:latin typeface="Nunito"/>
              <a:ea typeface="Nunito"/>
              <a:cs typeface="Nunito"/>
              <a:sym typeface="Nunito"/>
            </a:endParaRPr>
          </a:p>
        </p:txBody>
      </p:sp>
      <p:sp>
        <p:nvSpPr>
          <p:cNvPr id="67" name="Google Shape;67;p1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300"/>
                                        <p:tgtEl>
                                          <p:spTgt spid="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3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423625" y="559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73" name="Google Shape;73;p15"/>
          <p:cNvSpPr txBox="1"/>
          <p:nvPr/>
        </p:nvSpPr>
        <p:spPr>
          <a:xfrm>
            <a:off x="367450" y="817200"/>
            <a:ext cx="8776500" cy="3667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Law: </a:t>
            </a:r>
            <a:r>
              <a:rPr b="0" i="1" lang="en" sz="2000" u="none" cap="none" strike="noStrike">
                <a:solidFill>
                  <a:schemeClr val="dk1"/>
                </a:solidFill>
                <a:latin typeface="Nunito"/>
                <a:ea typeface="Nunito"/>
                <a:cs typeface="Nunito"/>
                <a:sym typeface="Nunito"/>
              </a:rPr>
              <a:t>Make AIs follow the law</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Fairness: </a:t>
            </a:r>
            <a:r>
              <a:rPr b="0" i="1" lang="en" sz="2000" u="none" cap="none" strike="noStrike">
                <a:solidFill>
                  <a:schemeClr val="dk1"/>
                </a:solidFill>
                <a:latin typeface="Nunito"/>
                <a:ea typeface="Nunito"/>
                <a:cs typeface="Nunito"/>
                <a:sym typeface="Nunito"/>
              </a:rPr>
              <a:t>Make AIs be fair</a:t>
            </a:r>
            <a:endParaRPr b="0" i="1" sz="2000" u="none" cap="none" strike="noStrike">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 Economic Engine: </a:t>
            </a:r>
            <a:r>
              <a:rPr i="1" lang="en" sz="2000">
                <a:solidFill>
                  <a:schemeClr val="dk1"/>
                </a:solidFill>
                <a:latin typeface="Nunito"/>
                <a:ea typeface="Nunito"/>
                <a:cs typeface="Nunito"/>
                <a:sym typeface="Nunito"/>
              </a:rPr>
              <a:t>Let the economy govern AI development</a:t>
            </a:r>
            <a:endParaRPr i="1" sz="2000">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Wellbeing: </a:t>
            </a:r>
            <a:r>
              <a:rPr i="1" lang="en" sz="2000">
                <a:solidFill>
                  <a:schemeClr val="dk1"/>
                </a:solidFill>
                <a:latin typeface="Nunito"/>
                <a:ea typeface="Nunito"/>
                <a:cs typeface="Nunito"/>
                <a:sym typeface="Nunito"/>
              </a:rPr>
              <a:t>AIs should improve people’s lives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Preferences: </a:t>
            </a:r>
            <a:r>
              <a:rPr b="0" i="1" lang="en" sz="2000" u="none" cap="none" strike="noStrike">
                <a:solidFill>
                  <a:schemeClr val="dk1"/>
                </a:solidFill>
                <a:latin typeface="Nunito"/>
                <a:ea typeface="Nunito"/>
                <a:cs typeface="Nunito"/>
                <a:sym typeface="Nunito"/>
              </a:rPr>
              <a:t>Make AIs satisfy people’s preferences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Happiness: </a:t>
            </a:r>
            <a:r>
              <a:rPr b="0" i="1" lang="en" sz="2000" u="none" cap="none" strike="noStrike">
                <a:solidFill>
                  <a:schemeClr val="dk1"/>
                </a:solidFill>
                <a:latin typeface="Nunito"/>
                <a:ea typeface="Nunito"/>
                <a:cs typeface="Nunito"/>
                <a:sym typeface="Nunito"/>
              </a:rPr>
              <a:t>Make AIs make people happy</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Moral uncertainty: </a:t>
            </a:r>
            <a:r>
              <a:rPr i="1" lang="en" sz="2000">
                <a:solidFill>
                  <a:schemeClr val="dk1"/>
                </a:solidFill>
                <a:latin typeface="Nunito"/>
                <a:ea typeface="Nunito"/>
                <a:cs typeface="Nunito"/>
                <a:sym typeface="Nunito"/>
              </a:rPr>
              <a:t>Deciding without knowing the “correct” moral theory</a:t>
            </a:r>
            <a:endParaRPr i="1" sz="2000">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p:txBody>
      </p:sp>
      <p:sp>
        <p:nvSpPr>
          <p:cNvPr id="74" name="Google Shape;74;p1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75" name="Google Shape;75;p1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a:t>
            </a:fld>
            <a:endParaRPr b="0" i="0" sz="1300" u="none" cap="none" strike="noStrike">
              <a:solidFill>
                <a:srgbClr val="FFFFFF"/>
              </a:solidFill>
              <a:latin typeface="Nunito"/>
              <a:ea typeface="Nunito"/>
              <a:cs typeface="Nunito"/>
              <a:sym typeface="Nunito"/>
            </a:endParaRPr>
          </a:p>
        </p:txBody>
      </p:sp>
      <p:sp>
        <p:nvSpPr>
          <p:cNvPr id="76" name="Google Shape;76;p1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77" name="Google Shape;77;p15"/>
          <p:cNvSpPr/>
          <p:nvPr/>
        </p:nvSpPr>
        <p:spPr>
          <a:xfrm>
            <a:off x="367450" y="817200"/>
            <a:ext cx="8279700" cy="950100"/>
          </a:xfrm>
          <a:prstGeom prst="rect">
            <a:avLst/>
          </a:prstGeom>
          <a:noFill/>
          <a:ln cap="flat" cmpd="sng" w="9525">
            <a:solidFill>
              <a:srgbClr val="0097A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animEffect filter="fade" transition="in">
                                      <p:cBhvr>
                                        <p:cTn dur="300"/>
                                        <p:tgtEl>
                                          <p:spTgt spid="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animEffect filter="fade" transition="in">
                                      <p:cBhvr>
                                        <p:cTn dur="300"/>
                                        <p:tgtEl>
                                          <p:spTgt spid="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animEffect filter="fade" transition="in">
                                      <p:cBhvr>
                                        <p:cTn dur="300"/>
                                        <p:tgtEl>
                                          <p:spTgt spid="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animEffect filter="fade" transition="in">
                                      <p:cBhvr>
                                        <p:cTn dur="300"/>
                                        <p:tgtEl>
                                          <p:spTgt spid="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4" st="4"/>
                                            </p:txEl>
                                          </p:spTgt>
                                        </p:tgtEl>
                                        <p:attrNameLst>
                                          <p:attrName>style.visibility</p:attrName>
                                        </p:attrNameLst>
                                      </p:cBhvr>
                                      <p:to>
                                        <p:strVal val="visible"/>
                                      </p:to>
                                    </p:set>
                                    <p:animEffect filter="fade" transition="in">
                                      <p:cBhvr>
                                        <p:cTn dur="300"/>
                                        <p:tgtEl>
                                          <p:spTgt spid="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5" st="5"/>
                                            </p:txEl>
                                          </p:spTgt>
                                        </p:tgtEl>
                                        <p:attrNameLst>
                                          <p:attrName>style.visibility</p:attrName>
                                        </p:attrNameLst>
                                      </p:cBhvr>
                                      <p:to>
                                        <p:strVal val="visible"/>
                                      </p:to>
                                    </p:set>
                                    <p:animEffect filter="fade" transition="in">
                                      <p:cBhvr>
                                        <p:cTn dur="300"/>
                                        <p:tgtEl>
                                          <p:spTgt spid="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6" st="6"/>
                                            </p:txEl>
                                          </p:spTgt>
                                        </p:tgtEl>
                                        <p:attrNameLst>
                                          <p:attrName>style.visibility</p:attrName>
                                        </p:attrNameLst>
                                      </p:cBhvr>
                                      <p:to>
                                        <p:strVal val="visible"/>
                                      </p:to>
                                    </p:set>
                                    <p:animEffect filter="fade" transition="in">
                                      <p:cBhvr>
                                        <p:cTn dur="300"/>
                                        <p:tgtEl>
                                          <p:spTgt spid="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7" st="7"/>
                                            </p:txEl>
                                          </p:spTgt>
                                        </p:tgtEl>
                                        <p:attrNameLst>
                                          <p:attrName>style.visibility</p:attrName>
                                        </p:attrNameLst>
                                      </p:cBhvr>
                                      <p:to>
                                        <p:strVal val="visible"/>
                                      </p:to>
                                    </p:set>
                                    <p:animEffect filter="fade" transition="in">
                                      <p:cBhvr>
                                        <p:cTn dur="300"/>
                                        <p:tgtEl>
                                          <p:spTgt spid="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8" st="8"/>
                                            </p:txEl>
                                          </p:spTgt>
                                        </p:tgtEl>
                                        <p:attrNameLst>
                                          <p:attrName>style.visibility</p:attrName>
                                        </p:attrNameLst>
                                      </p:cBhvr>
                                      <p:to>
                                        <p:strVal val="visible"/>
                                      </p:to>
                                    </p:set>
                                    <p:animEffect filter="fade" transition="in">
                                      <p:cBhvr>
                                        <p:cTn dur="300"/>
                                        <p:tgtEl>
                                          <p:spTgt spid="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9" st="9"/>
                                            </p:txEl>
                                          </p:spTgt>
                                        </p:tgtEl>
                                        <p:attrNameLst>
                                          <p:attrName>style.visibility</p:attrName>
                                        </p:attrNameLst>
                                      </p:cBhvr>
                                      <p:to>
                                        <p:strVal val="visible"/>
                                      </p:to>
                                    </p:set>
                                    <p:animEffect filter="fade" transition="in">
                                      <p:cBhvr>
                                        <p:cTn dur="300"/>
                                        <p:tgtEl>
                                          <p:spTgt spid="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0" st="10"/>
                                            </p:txEl>
                                          </p:spTgt>
                                        </p:tgtEl>
                                        <p:attrNameLst>
                                          <p:attrName>style.visibility</p:attrName>
                                        </p:attrNameLst>
                                      </p:cBhvr>
                                      <p:to>
                                        <p:strVal val="visible"/>
                                      </p:to>
                                    </p:set>
                                    <p:animEffect filter="fade" transition="in">
                                      <p:cBhvr>
                                        <p:cTn dur="300"/>
                                        <p:tgtEl>
                                          <p:spTgt spid="7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3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423450" y="19228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Law</a:t>
            </a:r>
            <a:endParaRPr sz="3600">
              <a:latin typeface="Nunito"/>
              <a:ea typeface="Nunito"/>
              <a:cs typeface="Nunito"/>
              <a:sym typeface="Nunito"/>
            </a:endParaRPr>
          </a:p>
        </p:txBody>
      </p:sp>
      <p:sp>
        <p:nvSpPr>
          <p:cNvPr id="83" name="Google Shape;83;p1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84" name="Google Shape;84;p1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a:t>
            </a:fld>
            <a:endParaRPr b="0" i="0" sz="1300" u="none" cap="none" strike="noStrike">
              <a:solidFill>
                <a:srgbClr val="FFFFFF"/>
              </a:solidFill>
              <a:latin typeface="Nunito"/>
              <a:ea typeface="Nunito"/>
              <a:cs typeface="Nunito"/>
              <a:sym typeface="Nunito"/>
            </a:endParaRPr>
          </a:p>
        </p:txBody>
      </p:sp>
      <p:sp>
        <p:nvSpPr>
          <p:cNvPr id="85" name="Google Shape;85;p1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86" name="Google Shape;86;p16"/>
          <p:cNvSpPr txBox="1"/>
          <p:nvPr/>
        </p:nvSpPr>
        <p:spPr>
          <a:xfrm>
            <a:off x="367500" y="2876550"/>
            <a:ext cx="8409000" cy="49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Why not just have AIs follow the law?</a:t>
            </a:r>
            <a:endParaRPr b="0" i="1"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300"/>
                                        <p:tgtEl>
                                          <p:spTgt spid="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423450" y="7332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The Case for Law</a:t>
            </a:r>
            <a:endParaRPr/>
          </a:p>
          <a:p>
            <a:pPr indent="0" lvl="0" marL="0" rtl="0" algn="ctr">
              <a:lnSpc>
                <a:spcPct val="100000"/>
              </a:lnSpc>
              <a:spcBef>
                <a:spcPts val="0"/>
              </a:spcBef>
              <a:spcAft>
                <a:spcPts val="0"/>
              </a:spcAft>
              <a:buSzPts val="3600"/>
              <a:buNone/>
            </a:pPr>
            <a:r>
              <a:t/>
            </a:r>
            <a:endParaRPr/>
          </a:p>
        </p:txBody>
      </p:sp>
      <p:sp>
        <p:nvSpPr>
          <p:cNvPr id="92" name="Google Shape;92;p17"/>
          <p:cNvSpPr txBox="1"/>
          <p:nvPr/>
        </p:nvSpPr>
        <p:spPr>
          <a:xfrm>
            <a:off x="423450" y="1044300"/>
            <a:ext cx="8409000" cy="33339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It is a </a:t>
            </a:r>
            <a:r>
              <a:rPr b="1" i="0" lang="en" sz="2000" u="none" cap="none" strike="noStrike">
                <a:solidFill>
                  <a:schemeClr val="dk1"/>
                </a:solidFill>
                <a:latin typeface="Nunito"/>
                <a:ea typeface="Nunito"/>
                <a:cs typeface="Nunito"/>
                <a:sym typeface="Nunito"/>
              </a:rPr>
              <a:t>legitimate</a:t>
            </a:r>
            <a:r>
              <a:rPr b="0" i="0" lang="en" sz="2000" u="none" cap="none" strike="noStrike">
                <a:solidFill>
                  <a:schemeClr val="dk1"/>
                </a:solidFill>
                <a:latin typeface="Nunito"/>
                <a:ea typeface="Nunito"/>
                <a:cs typeface="Nunito"/>
                <a:sym typeface="Nunito"/>
              </a:rPr>
              <a:t> representation of our moral codes (if democratic).</a:t>
            </a:r>
            <a:br>
              <a:rPr lang="en" sz="2000">
                <a:solidFill>
                  <a:schemeClr val="dk1"/>
                </a:solidFill>
                <a:latin typeface="Nunito"/>
                <a:ea typeface="Nunito"/>
                <a:cs typeface="Nunito"/>
                <a:sym typeface="Nunito"/>
              </a:rPr>
            </a:b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It is </a:t>
            </a:r>
            <a:r>
              <a:rPr b="1" i="0" lang="en" sz="2000" u="none" cap="none" strike="noStrike">
                <a:solidFill>
                  <a:schemeClr val="dk1"/>
                </a:solidFill>
                <a:latin typeface="Nunito"/>
                <a:ea typeface="Nunito"/>
                <a:cs typeface="Nunito"/>
                <a:sym typeface="Nunito"/>
              </a:rPr>
              <a:t>time-tested</a:t>
            </a:r>
            <a:r>
              <a:rPr b="0" i="0" lang="en" sz="2000" u="none" cap="none" strike="noStrike">
                <a:solidFill>
                  <a:schemeClr val="dk1"/>
                </a:solidFill>
                <a:latin typeface="Nunito"/>
                <a:ea typeface="Nunito"/>
                <a:cs typeface="Nunito"/>
                <a:sym typeface="Nunito"/>
              </a:rPr>
              <a:t> and </a:t>
            </a:r>
            <a:r>
              <a:rPr b="1" i="0" lang="en" sz="2000" u="none" cap="none" strike="noStrike">
                <a:solidFill>
                  <a:schemeClr val="dk1"/>
                </a:solidFill>
                <a:latin typeface="Nunito"/>
                <a:ea typeface="Nunito"/>
                <a:cs typeface="Nunito"/>
                <a:sym typeface="Nunito"/>
              </a:rPr>
              <a:t>comprehensive.</a:t>
            </a:r>
            <a:br>
              <a:rPr b="1" lang="en" sz="2000">
                <a:solidFill>
                  <a:schemeClr val="dk1"/>
                </a:solidFill>
                <a:latin typeface="Nunito"/>
                <a:ea typeface="Nunito"/>
                <a:cs typeface="Nunito"/>
                <a:sym typeface="Nunito"/>
              </a:rPr>
            </a:br>
            <a:endParaRPr b="1"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It uses both </a:t>
            </a:r>
            <a:r>
              <a:rPr b="1" i="0" lang="en" sz="2000" u="none" cap="none" strike="noStrike">
                <a:solidFill>
                  <a:schemeClr val="dk1"/>
                </a:solidFill>
                <a:latin typeface="Nunito"/>
                <a:ea typeface="Nunito"/>
                <a:cs typeface="Nunito"/>
                <a:sym typeface="Nunito"/>
              </a:rPr>
              <a:t>rules</a:t>
            </a:r>
            <a:r>
              <a:rPr b="0" i="0" lang="en" sz="2000" u="none" cap="none" strike="noStrike">
                <a:solidFill>
                  <a:schemeClr val="dk1"/>
                </a:solidFill>
                <a:latin typeface="Nunito"/>
                <a:ea typeface="Nunito"/>
                <a:cs typeface="Nunito"/>
                <a:sym typeface="Nunito"/>
              </a:rPr>
              <a:t> and </a:t>
            </a:r>
            <a:r>
              <a:rPr b="1" i="0" lang="en" sz="2000" u="none" cap="none" strike="noStrike">
                <a:solidFill>
                  <a:schemeClr val="dk1"/>
                </a:solidFill>
                <a:latin typeface="Nunito"/>
                <a:ea typeface="Nunito"/>
                <a:cs typeface="Nunito"/>
                <a:sym typeface="Nunito"/>
              </a:rPr>
              <a:t>standards.</a:t>
            </a:r>
            <a:br>
              <a:rPr b="1" lang="en" sz="2000">
                <a:solidFill>
                  <a:schemeClr val="dk1"/>
                </a:solidFill>
                <a:latin typeface="Nunito"/>
                <a:ea typeface="Nunito"/>
                <a:cs typeface="Nunito"/>
                <a:sym typeface="Nunito"/>
              </a:rPr>
            </a:br>
            <a:endParaRPr b="1"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It is </a:t>
            </a:r>
            <a:r>
              <a:rPr b="1" i="0" lang="en" sz="2000" u="none" cap="none" strike="noStrike">
                <a:solidFill>
                  <a:schemeClr val="dk1"/>
                </a:solidFill>
                <a:latin typeface="Nunito"/>
                <a:ea typeface="Nunito"/>
                <a:cs typeface="Nunito"/>
                <a:sym typeface="Nunito"/>
              </a:rPr>
              <a:t>specific </a:t>
            </a:r>
            <a:r>
              <a:rPr b="0" i="0" lang="en" sz="2000" u="none" cap="none" strike="noStrike">
                <a:solidFill>
                  <a:schemeClr val="dk1"/>
                </a:solidFill>
                <a:latin typeface="Nunito"/>
                <a:ea typeface="Nunito"/>
                <a:cs typeface="Nunito"/>
                <a:sym typeface="Nunito"/>
              </a:rPr>
              <a:t>and </a:t>
            </a:r>
            <a:r>
              <a:rPr b="1" i="0" lang="en" sz="2000" u="none" cap="none" strike="noStrike">
                <a:solidFill>
                  <a:schemeClr val="dk1"/>
                </a:solidFill>
                <a:latin typeface="Nunito"/>
                <a:ea typeface="Nunito"/>
                <a:cs typeface="Nunito"/>
                <a:sym typeface="Nunito"/>
              </a:rPr>
              <a:t>adaptable.</a:t>
            </a:r>
            <a:endParaRPr b="0" i="0" sz="2000" u="none" cap="none" strike="noStrike">
              <a:solidFill>
                <a:schemeClr val="dk1"/>
              </a:solidFill>
              <a:latin typeface="Nunito"/>
              <a:ea typeface="Nunito"/>
              <a:cs typeface="Nunito"/>
              <a:sym typeface="Nunito"/>
            </a:endParaRPr>
          </a:p>
        </p:txBody>
      </p:sp>
      <p:sp>
        <p:nvSpPr>
          <p:cNvPr id="93" name="Google Shape;93;p1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94" name="Google Shape;94;p1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a:t>
            </a:fld>
            <a:endParaRPr b="0" i="0" sz="1300" u="none" cap="none" strike="noStrike">
              <a:solidFill>
                <a:srgbClr val="FFFFFF"/>
              </a:solidFill>
              <a:latin typeface="Nunito"/>
              <a:ea typeface="Nunito"/>
              <a:cs typeface="Nunito"/>
              <a:sym typeface="Nunito"/>
            </a:endParaRPr>
          </a:p>
        </p:txBody>
      </p:sp>
      <p:sp>
        <p:nvSpPr>
          <p:cNvPr id="95" name="Google Shape;95;p1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animEffect filter="fade" transition="in">
                                      <p:cBhvr>
                                        <p:cTn dur="300"/>
                                        <p:tgtEl>
                                          <p:spTgt spid="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animEffect filter="fade" transition="in">
                                      <p:cBhvr>
                                        <p:cTn dur="300"/>
                                        <p:tgtEl>
                                          <p:spTgt spid="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animEffect filter="fade" transition="in">
                                      <p:cBhvr>
                                        <p:cTn dur="300"/>
                                        <p:tgtEl>
                                          <p:spTgt spid="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animEffect filter="fade" transition="in">
                                      <p:cBhvr>
                                        <p:cTn dur="300"/>
                                        <p:tgtEl>
                                          <p:spTgt spid="9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175" y="6730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Law Aggregates Values</a:t>
            </a:r>
            <a:endParaRPr sz="3600">
              <a:latin typeface="Nunito"/>
              <a:ea typeface="Nunito"/>
              <a:cs typeface="Nunito"/>
              <a:sym typeface="Nunito"/>
            </a:endParaRPr>
          </a:p>
        </p:txBody>
      </p:sp>
      <p:sp>
        <p:nvSpPr>
          <p:cNvPr id="101" name="Google Shape;101;p18"/>
          <p:cNvSpPr txBox="1"/>
          <p:nvPr/>
        </p:nvSpPr>
        <p:spPr>
          <a:xfrm>
            <a:off x="423400" y="817200"/>
            <a:ext cx="8409000" cy="370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In a democracy, the populace influences the law:</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Electing judges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Voting on new laws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Protesting/advocating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Directly/through representatives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Thus, the law is </a:t>
            </a:r>
            <a:r>
              <a:rPr b="1" i="0" lang="en" sz="2000" u="none" cap="none" strike="noStrike">
                <a:solidFill>
                  <a:schemeClr val="dk1"/>
                </a:solidFill>
                <a:latin typeface="Nunito"/>
                <a:ea typeface="Nunito"/>
                <a:cs typeface="Nunito"/>
                <a:sym typeface="Nunito"/>
              </a:rPr>
              <a:t>legitimate</a:t>
            </a:r>
            <a:r>
              <a:rPr b="0" i="0" lang="en" sz="2000" u="none" cap="none" strike="noStrike">
                <a:solidFill>
                  <a:schemeClr val="dk1"/>
                </a:solidFill>
                <a:latin typeface="Nunito"/>
                <a:ea typeface="Nunito"/>
                <a:cs typeface="Nunito"/>
                <a:sym typeface="Nunito"/>
              </a:rPr>
              <a:t>: citizens have substantial input into its design. This </a:t>
            </a:r>
            <a:r>
              <a:rPr lang="en" sz="2000">
                <a:solidFill>
                  <a:schemeClr val="dk1"/>
                </a:solidFill>
                <a:latin typeface="Nunito"/>
                <a:ea typeface="Nunito"/>
                <a:cs typeface="Nunito"/>
                <a:sym typeface="Nunito"/>
              </a:rPr>
              <a:t>is unlike AIs designed by big tech companies.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L</a:t>
            </a:r>
            <a:r>
              <a:rPr b="0" i="0" lang="en" sz="2000" u="none" cap="none" strike="noStrike">
                <a:solidFill>
                  <a:schemeClr val="dk1"/>
                </a:solidFill>
                <a:latin typeface="Nunito"/>
                <a:ea typeface="Nunito"/>
                <a:cs typeface="Nunito"/>
                <a:sym typeface="Nunito"/>
              </a:rPr>
              <a:t>aw is clearer </a:t>
            </a:r>
            <a:r>
              <a:rPr lang="en" sz="2000">
                <a:solidFill>
                  <a:schemeClr val="dk1"/>
                </a:solidFill>
                <a:latin typeface="Nunito"/>
                <a:ea typeface="Nunito"/>
                <a:cs typeface="Nunito"/>
                <a:sym typeface="Nunito"/>
              </a:rPr>
              <a:t>and less arbitrary </a:t>
            </a:r>
            <a:r>
              <a:rPr b="0" i="0" lang="en" sz="2000" u="none" cap="none" strike="noStrike">
                <a:solidFill>
                  <a:schemeClr val="dk1"/>
                </a:solidFill>
                <a:latin typeface="Nunito"/>
                <a:ea typeface="Nunito"/>
                <a:cs typeface="Nunito"/>
                <a:sym typeface="Nunito"/>
              </a:rPr>
              <a:t>than ethics, which is not standardized or codified</a:t>
            </a:r>
            <a:r>
              <a:rPr lang="en" sz="2000">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102" name="Google Shape;102;p1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03" name="Google Shape;103;p1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a:t>
            </a:fld>
            <a:endParaRPr b="0" i="0" sz="1300" u="none" cap="none" strike="noStrike">
              <a:solidFill>
                <a:srgbClr val="FFFFFF"/>
              </a:solidFill>
              <a:latin typeface="Nunito"/>
              <a:ea typeface="Nunito"/>
              <a:cs typeface="Nunito"/>
              <a:sym typeface="Nunito"/>
            </a:endParaRPr>
          </a:p>
        </p:txBody>
      </p:sp>
      <p:sp>
        <p:nvSpPr>
          <p:cNvPr id="104" name="Google Shape;104;p1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animEffect filter="fade" transition="in">
                                      <p:cBhvr>
                                        <p:cTn dur="300"/>
                                        <p:tgtEl>
                                          <p:spTgt spid="1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animEffect filter="fade" transition="in">
                                      <p:cBhvr>
                                        <p:cTn dur="300"/>
                                        <p:tgtEl>
                                          <p:spTgt spid="1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animEffect filter="fade" transition="in">
                                      <p:cBhvr>
                                        <p:cTn dur="300"/>
                                        <p:tgtEl>
                                          <p:spTgt spid="1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animEffect filter="fade" transition="in">
                                      <p:cBhvr>
                                        <p:cTn dur="300"/>
                                        <p:tgtEl>
                                          <p:spTgt spid="1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animEffect filter="fade" transition="in">
                                      <p:cBhvr>
                                        <p:cTn dur="300"/>
                                        <p:tgtEl>
                                          <p:spTgt spid="1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animEffect filter="fade" transition="in">
                                      <p:cBhvr>
                                        <p:cTn dur="300"/>
                                        <p:tgtEl>
                                          <p:spTgt spid="1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animEffect filter="fade" transition="in">
                                      <p:cBhvr>
                                        <p:cTn dur="300"/>
                                        <p:tgtEl>
                                          <p:spTgt spid="10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animEffect filter="fade" transition="in">
                                      <p:cBhvr>
                                        <p:cTn dur="300"/>
                                        <p:tgtEl>
                                          <p:spTgt spid="10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8" st="8"/>
                                            </p:txEl>
                                          </p:spTgt>
                                        </p:tgtEl>
                                        <p:attrNameLst>
                                          <p:attrName>style.visibility</p:attrName>
                                        </p:attrNameLst>
                                      </p:cBhvr>
                                      <p:to>
                                        <p:strVal val="visible"/>
                                      </p:to>
                                    </p:set>
                                    <p:animEffect filter="fade" transition="in">
                                      <p:cBhvr>
                                        <p:cTn dur="300"/>
                                        <p:tgtEl>
                                          <p:spTgt spid="10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9" st="9"/>
                                            </p:txEl>
                                          </p:spTgt>
                                        </p:tgtEl>
                                        <p:attrNameLst>
                                          <p:attrName>style.visibility</p:attrName>
                                        </p:attrNameLst>
                                      </p:cBhvr>
                                      <p:to>
                                        <p:strVal val="visible"/>
                                      </p:to>
                                    </p:set>
                                    <p:animEffect filter="fade" transition="in">
                                      <p:cBhvr>
                                        <p:cTn dur="300"/>
                                        <p:tgtEl>
                                          <p:spTgt spid="10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10" st="10"/>
                                            </p:txEl>
                                          </p:spTgt>
                                        </p:tgtEl>
                                        <p:attrNameLst>
                                          <p:attrName>style.visibility</p:attrName>
                                        </p:attrNameLst>
                                      </p:cBhvr>
                                      <p:to>
                                        <p:strVal val="visible"/>
                                      </p:to>
                                    </p:set>
                                    <p:animEffect filter="fade" transition="in">
                                      <p:cBhvr>
                                        <p:cTn dur="300"/>
                                        <p:tgtEl>
                                          <p:spTgt spid="10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11" st="11"/>
                                            </p:txEl>
                                          </p:spTgt>
                                        </p:tgtEl>
                                        <p:attrNameLst>
                                          <p:attrName>style.visibility</p:attrName>
                                        </p:attrNameLst>
                                      </p:cBhvr>
                                      <p:to>
                                        <p:strVal val="visible"/>
                                      </p:to>
                                    </p:set>
                                    <p:animEffect filter="fade" transition="in">
                                      <p:cBhvr>
                                        <p:cTn dur="300"/>
                                        <p:tgtEl>
                                          <p:spTgt spid="10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12" st="12"/>
                                            </p:txEl>
                                          </p:spTgt>
                                        </p:tgtEl>
                                        <p:attrNameLst>
                                          <p:attrName>style.visibility</p:attrName>
                                        </p:attrNameLst>
                                      </p:cBhvr>
                                      <p:to>
                                        <p:strVal val="visible"/>
                                      </p:to>
                                    </p:set>
                                    <p:animEffect filter="fade" transition="in">
                                      <p:cBhvr>
                                        <p:cTn dur="300"/>
                                        <p:tgtEl>
                                          <p:spTgt spid="101">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423625" y="673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Features of Law</a:t>
            </a:r>
            <a:endParaRPr sz="3600">
              <a:latin typeface="Nunito"/>
              <a:ea typeface="Nunito"/>
              <a:cs typeface="Nunito"/>
              <a:sym typeface="Nunito"/>
            </a:endParaRPr>
          </a:p>
        </p:txBody>
      </p:sp>
      <p:sp>
        <p:nvSpPr>
          <p:cNvPr id="110" name="Google Shape;110;p19"/>
          <p:cNvSpPr txBox="1"/>
          <p:nvPr/>
        </p:nvSpPr>
        <p:spPr>
          <a:xfrm>
            <a:off x="423400" y="817200"/>
            <a:ext cx="8720700" cy="1591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 law is </a:t>
            </a:r>
            <a:r>
              <a:rPr b="1" i="0" lang="en" sz="2000" u="none" cap="none" strike="noStrike">
                <a:solidFill>
                  <a:schemeClr val="dk1"/>
                </a:solidFill>
                <a:latin typeface="Nunito"/>
                <a:ea typeface="Nunito"/>
                <a:cs typeface="Nunito"/>
                <a:sym typeface="Nunito"/>
              </a:rPr>
              <a:t>time-tested</a:t>
            </a:r>
            <a:r>
              <a:rPr b="0" i="0" lang="en" sz="2000" u="none" cap="none" strike="noStrike">
                <a:solidFill>
                  <a:schemeClr val="dk1"/>
                </a:solidFill>
                <a:latin typeface="Nunito"/>
                <a:ea typeface="Nunito"/>
                <a:cs typeface="Nunito"/>
                <a:sym typeface="Nunito"/>
              </a:rPr>
              <a:t> and </a:t>
            </a:r>
            <a:r>
              <a:rPr b="1" i="0" lang="en" sz="2000" u="none" cap="none" strike="noStrike">
                <a:solidFill>
                  <a:schemeClr val="dk1"/>
                </a:solidFill>
                <a:latin typeface="Nunito"/>
                <a:ea typeface="Nunito"/>
                <a:cs typeface="Nunito"/>
                <a:sym typeface="Nunito"/>
              </a:rPr>
              <a:t>comprehensive</a:t>
            </a:r>
            <a:r>
              <a:rPr b="0" i="0" lang="en" sz="2000" u="none" cap="none" strike="noStrike">
                <a:solidFill>
                  <a:schemeClr val="dk1"/>
                </a:solidFill>
                <a:latin typeface="Nunito"/>
                <a:ea typeface="Nunito"/>
                <a:cs typeface="Nunito"/>
                <a:sym typeface="Nunito"/>
              </a:rPr>
              <a:t>; a </a:t>
            </a:r>
            <a:r>
              <a:rPr i="0" lang="en" sz="2000" u="none" cap="none" strike="noStrike">
                <a:solidFill>
                  <a:schemeClr val="dk1"/>
                </a:solidFill>
                <a:latin typeface="Nunito"/>
                <a:ea typeface="Nunito"/>
                <a:cs typeface="Nunito"/>
                <a:sym typeface="Nunito"/>
              </a:rPr>
              <a:t>much-iterated</a:t>
            </a:r>
            <a:r>
              <a:rPr b="0" i="0" lang="en" sz="2000" u="none" cap="none" strike="noStrike">
                <a:solidFill>
                  <a:schemeClr val="dk1"/>
                </a:solidFill>
                <a:latin typeface="Nunito"/>
                <a:ea typeface="Nunito"/>
                <a:cs typeface="Nunito"/>
                <a:sym typeface="Nunito"/>
              </a:rPr>
              <a:t> approximation of our values: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Generations successively creating, altering, enforcing, interpreting.</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Producing a record of what has worked.</a:t>
            </a:r>
            <a:endParaRPr b="0" i="0" sz="2000" u="none" cap="none" strike="noStrike">
              <a:solidFill>
                <a:schemeClr val="dk1"/>
              </a:solidFill>
              <a:latin typeface="Nunito"/>
              <a:ea typeface="Nunito"/>
              <a:cs typeface="Nunito"/>
              <a:sym typeface="Nunito"/>
            </a:endParaRPr>
          </a:p>
        </p:txBody>
      </p:sp>
      <p:sp>
        <p:nvSpPr>
          <p:cNvPr id="111" name="Google Shape;111;p1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12" name="Google Shape;112;p1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7</a:t>
            </a:fld>
            <a:endParaRPr b="0" i="0" sz="1300" u="none" cap="none" strike="noStrike">
              <a:solidFill>
                <a:srgbClr val="FFFFFF"/>
              </a:solidFill>
              <a:latin typeface="Nunito"/>
              <a:ea typeface="Nunito"/>
              <a:cs typeface="Nunito"/>
              <a:sym typeface="Nunito"/>
            </a:endParaRPr>
          </a:p>
        </p:txBody>
      </p:sp>
      <p:sp>
        <p:nvSpPr>
          <p:cNvPr id="113" name="Google Shape;113;p1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14" name="Google Shape;114;p19"/>
          <p:cNvSpPr txBox="1"/>
          <p:nvPr/>
        </p:nvSpPr>
        <p:spPr>
          <a:xfrm>
            <a:off x="423400" y="2571750"/>
            <a:ext cx="8720700" cy="1591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 law uses both </a:t>
            </a:r>
            <a:r>
              <a:rPr b="1" i="0" lang="en" sz="2000" u="none" cap="none" strike="noStrike">
                <a:solidFill>
                  <a:schemeClr val="dk1"/>
                </a:solidFill>
                <a:latin typeface="Nunito"/>
                <a:ea typeface="Nunito"/>
                <a:cs typeface="Nunito"/>
                <a:sym typeface="Nunito"/>
              </a:rPr>
              <a:t>rules</a:t>
            </a:r>
            <a:r>
              <a:rPr b="0" i="0" lang="en" sz="2000" u="none" cap="none" strike="noStrike">
                <a:solidFill>
                  <a:schemeClr val="dk1"/>
                </a:solidFill>
                <a:latin typeface="Nunito"/>
                <a:ea typeface="Nunito"/>
                <a:cs typeface="Nunito"/>
                <a:sym typeface="Nunito"/>
              </a:rPr>
              <a:t> and </a:t>
            </a:r>
            <a:r>
              <a:rPr b="1" i="0" lang="en" sz="2000" u="none" cap="none" strike="noStrike">
                <a:solidFill>
                  <a:schemeClr val="dk1"/>
                </a:solidFill>
                <a:latin typeface="Nunito"/>
                <a:ea typeface="Nunito"/>
                <a:cs typeface="Nunito"/>
                <a:sym typeface="Nunito"/>
              </a:rPr>
              <a:t>standards</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Rules: rigid instructions which reduce interpretation problems.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Standards: flexible </a:t>
            </a:r>
            <a:r>
              <a:rPr lang="en" sz="2000">
                <a:solidFill>
                  <a:schemeClr val="dk1"/>
                </a:solidFill>
                <a:latin typeface="Nunito"/>
                <a:ea typeface="Nunito"/>
                <a:cs typeface="Nunito"/>
                <a:sym typeface="Nunito"/>
              </a:rPr>
              <a:t>statements </a:t>
            </a:r>
            <a:r>
              <a:rPr b="0" i="0" lang="en" sz="2000" u="none" cap="none" strike="noStrike">
                <a:solidFill>
                  <a:schemeClr val="dk1"/>
                </a:solidFill>
                <a:latin typeface="Nunito"/>
                <a:ea typeface="Nunito"/>
                <a:cs typeface="Nunito"/>
                <a:sym typeface="Nunito"/>
              </a:rPr>
              <a:t>which allow for proportional responses and reduce the problems of over/under-inclusivity.</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3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3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3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3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3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300"/>
                                        <p:tgtEl>
                                          <p:spTgt spid="11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423450" y="673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Law is Specific and Adaptable</a:t>
            </a:r>
            <a:endParaRPr sz="3600">
              <a:latin typeface="Nunito"/>
              <a:ea typeface="Nunito"/>
              <a:cs typeface="Nunito"/>
              <a:sym typeface="Nunito"/>
            </a:endParaRPr>
          </a:p>
        </p:txBody>
      </p:sp>
      <p:sp>
        <p:nvSpPr>
          <p:cNvPr id="131" name="Google Shape;131;p21"/>
          <p:cNvSpPr txBox="1"/>
          <p:nvPr/>
        </p:nvSpPr>
        <p:spPr>
          <a:xfrm>
            <a:off x="423400" y="817200"/>
            <a:ext cx="8720700" cy="1836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 </a:t>
            </a:r>
            <a:r>
              <a:rPr b="1" i="0" lang="en" sz="2000" u="none" cap="none" strike="noStrike">
                <a:solidFill>
                  <a:schemeClr val="dk1"/>
                </a:solidFill>
                <a:latin typeface="Nunito"/>
                <a:ea typeface="Nunito"/>
                <a:cs typeface="Nunito"/>
                <a:sym typeface="Nunito"/>
              </a:rPr>
              <a:t>specificity </a:t>
            </a:r>
            <a:r>
              <a:rPr b="0" i="0" lang="en" sz="2000" u="none" cap="none" strike="noStrike">
                <a:solidFill>
                  <a:schemeClr val="dk1"/>
                </a:solidFill>
                <a:latin typeface="Nunito"/>
                <a:ea typeface="Nunito"/>
                <a:cs typeface="Nunito"/>
                <a:sym typeface="Nunito"/>
              </a:rPr>
              <a:t>of the law helps to reduce the risk of </a:t>
            </a:r>
            <a:r>
              <a:rPr b="1" i="0" lang="en" sz="2000" u="none" cap="none" strike="noStrike">
                <a:solidFill>
                  <a:schemeClr val="dk1"/>
                </a:solidFill>
                <a:latin typeface="Nunito"/>
                <a:ea typeface="Nunito"/>
                <a:cs typeface="Nunito"/>
                <a:sym typeface="Nunito"/>
              </a:rPr>
              <a:t>AI misinterpretation</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Misinterpretation: the problem of AIs taking short/open-ended instructions too literally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Laws are ideally specific in detail, and straightforward to interpret</a:t>
            </a:r>
            <a:endParaRPr b="0" i="0" sz="2000" u="none" cap="none" strike="noStrike">
              <a:solidFill>
                <a:schemeClr val="dk1"/>
              </a:solidFill>
              <a:latin typeface="Nunito"/>
              <a:ea typeface="Nunito"/>
              <a:cs typeface="Nunito"/>
              <a:sym typeface="Nunito"/>
            </a:endParaRPr>
          </a:p>
        </p:txBody>
      </p:sp>
      <p:sp>
        <p:nvSpPr>
          <p:cNvPr id="132" name="Google Shape;132;p2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33" name="Google Shape;133;p2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8</a:t>
            </a:fld>
            <a:endParaRPr b="0" i="0" sz="1300" u="none" cap="none" strike="noStrike">
              <a:solidFill>
                <a:srgbClr val="FFFFFF"/>
              </a:solidFill>
              <a:latin typeface="Nunito"/>
              <a:ea typeface="Nunito"/>
              <a:cs typeface="Nunito"/>
              <a:sym typeface="Nunito"/>
            </a:endParaRPr>
          </a:p>
        </p:txBody>
      </p:sp>
      <p:sp>
        <p:nvSpPr>
          <p:cNvPr id="134" name="Google Shape;134;p2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35" name="Google Shape;135;p21"/>
          <p:cNvSpPr txBox="1"/>
          <p:nvPr/>
        </p:nvSpPr>
        <p:spPr>
          <a:xfrm>
            <a:off x="423400" y="2441992"/>
            <a:ext cx="8409000" cy="2141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 </a:t>
            </a:r>
            <a:r>
              <a:rPr b="1" i="0" lang="en" sz="2000" u="none" cap="none" strike="noStrike">
                <a:solidFill>
                  <a:schemeClr val="dk1"/>
                </a:solidFill>
                <a:latin typeface="Nunito"/>
                <a:ea typeface="Nunito"/>
                <a:cs typeface="Nunito"/>
                <a:sym typeface="Nunito"/>
              </a:rPr>
              <a:t>adaptability </a:t>
            </a:r>
            <a:r>
              <a:rPr b="0" i="0" lang="en" sz="2000" u="none" cap="none" strike="noStrike">
                <a:solidFill>
                  <a:schemeClr val="dk1"/>
                </a:solidFill>
                <a:latin typeface="Nunito"/>
                <a:ea typeface="Nunito"/>
                <a:cs typeface="Nunito"/>
                <a:sym typeface="Nunito"/>
              </a:rPr>
              <a:t>of the law helps to reduce the risk of </a:t>
            </a:r>
            <a:r>
              <a:rPr b="1" i="0" lang="en" sz="2000" u="none" cap="none" strike="noStrike">
                <a:solidFill>
                  <a:schemeClr val="dk1"/>
                </a:solidFill>
                <a:latin typeface="Nunito"/>
                <a:ea typeface="Nunito"/>
                <a:cs typeface="Nunito"/>
                <a:sym typeface="Nunito"/>
              </a:rPr>
              <a:t>AI</a:t>
            </a:r>
            <a:r>
              <a:rPr b="0" i="0" lang="en" sz="2000" u="none" cap="none" strike="noStrike">
                <a:solidFill>
                  <a:schemeClr val="dk1"/>
                </a:solidFill>
                <a:latin typeface="Nunito"/>
                <a:ea typeface="Nunito"/>
                <a:cs typeface="Nunito"/>
                <a:sym typeface="Nunito"/>
              </a:rPr>
              <a:t> </a:t>
            </a:r>
            <a:r>
              <a:rPr b="1" i="0" lang="en" sz="2000" u="none" cap="none" strike="noStrike">
                <a:solidFill>
                  <a:schemeClr val="dk1"/>
                </a:solidFill>
                <a:latin typeface="Nunito"/>
                <a:ea typeface="Nunito"/>
                <a:cs typeface="Nunito"/>
                <a:sym typeface="Nunito"/>
              </a:rPr>
              <a:t>gaming</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Gaming: the problem of AIs “playing” the system of rules to their advantage, in undesirable ways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Rules often fail here: Tax codes have not eradicated tax evasion</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Standards can help by leaving room for adaptable interpretation</a:t>
            </a:r>
            <a:endParaRPr sz="2000">
              <a:solidFill>
                <a:schemeClr val="dk1"/>
              </a:solidFill>
              <a:latin typeface="Nunito"/>
              <a:ea typeface="Nunito"/>
              <a:cs typeface="Nunito"/>
              <a:sym typeface="Nunito"/>
            </a:endParaRPr>
          </a:p>
        </p:txBody>
      </p:sp>
      <p:sp>
        <p:nvSpPr>
          <p:cNvPr id="136" name="Google Shape;136;p21"/>
          <p:cNvSpPr txBox="1"/>
          <p:nvPr/>
        </p:nvSpPr>
        <p:spPr>
          <a:xfrm>
            <a:off x="423400" y="4370750"/>
            <a:ext cx="8720700" cy="468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chemeClr val="dk1"/>
                </a:solidFill>
                <a:latin typeface="Nunito"/>
                <a:ea typeface="Nunito"/>
                <a:cs typeface="Nunito"/>
                <a:sym typeface="Nunito"/>
              </a:rPr>
              <a:t>In the future, AIs could help make the law more robust</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Effect filter="fade" transition="in">
                                      <p:cBhvr>
                                        <p:cTn dur="300"/>
                                        <p:tgtEl>
                                          <p:spTgt spid="1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Effect filter="fade" transition="in">
                                      <p:cBhvr>
                                        <p:cTn dur="300"/>
                                        <p:tgtEl>
                                          <p:spTgt spid="1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Effect filter="fade" transition="in">
                                      <p:cBhvr>
                                        <p:cTn dur="300"/>
                                        <p:tgtEl>
                                          <p:spTgt spid="1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Effect filter="fade" transition="in">
                                      <p:cBhvr>
                                        <p:cTn dur="300"/>
                                        <p:tgtEl>
                                          <p:spTgt spid="1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animEffect filter="fade" transition="in">
                                      <p:cBhvr>
                                        <p:cTn dur="300"/>
                                        <p:tgtEl>
                                          <p:spTgt spid="1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animEffect filter="fade" transition="in">
                                      <p:cBhvr>
                                        <p:cTn dur="300"/>
                                        <p:tgtEl>
                                          <p:spTgt spid="1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animEffect filter="fade" transition="in">
                                      <p:cBhvr>
                                        <p:cTn dur="300"/>
                                        <p:tgtEl>
                                          <p:spTgt spid="1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423450" y="786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The Need for Ethics as Well as Law</a:t>
            </a:r>
            <a:endParaRPr sz="3600">
              <a:latin typeface="Nunito"/>
              <a:ea typeface="Nunito"/>
              <a:cs typeface="Nunito"/>
              <a:sym typeface="Nunito"/>
            </a:endParaRPr>
          </a:p>
        </p:txBody>
      </p:sp>
      <p:sp>
        <p:nvSpPr>
          <p:cNvPr id="142" name="Google Shape;142;p22"/>
          <p:cNvSpPr txBox="1"/>
          <p:nvPr/>
        </p:nvSpPr>
        <p:spPr>
          <a:xfrm>
            <a:off x="423450" y="964800"/>
            <a:ext cx="87501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1. </a:t>
            </a:r>
            <a:r>
              <a:rPr b="1" i="0" lang="en" sz="2000" u="none" cap="none" strike="noStrike">
                <a:solidFill>
                  <a:schemeClr val="dk1"/>
                </a:solidFill>
                <a:latin typeface="Nunito"/>
                <a:ea typeface="Nunito"/>
                <a:cs typeface="Nunito"/>
                <a:sym typeface="Nunito"/>
              </a:rPr>
              <a:t>Silent</a:t>
            </a:r>
            <a:r>
              <a:rPr b="0" i="0" lang="en" sz="2000" u="none" cap="none" strike="noStrike">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t</a:t>
            </a:r>
            <a:r>
              <a:rPr b="0" i="0" lang="en" sz="2000" u="none" cap="none" strike="noStrike">
                <a:solidFill>
                  <a:schemeClr val="dk1"/>
                </a:solidFill>
                <a:latin typeface="Nunito"/>
                <a:ea typeface="Nunito"/>
                <a:cs typeface="Nunito"/>
                <a:sym typeface="Nunito"/>
              </a:rPr>
              <a:t>here are areas of human life where the law gives no advice.</a:t>
            </a:r>
            <a:endParaRPr b="0" i="0" sz="2000" u="none" cap="none" strike="noStrike">
              <a:solidFill>
                <a:schemeClr val="dk1"/>
              </a:solidFill>
              <a:latin typeface="Nunito"/>
              <a:ea typeface="Nunito"/>
              <a:cs typeface="Nunito"/>
              <a:sym typeface="Nunito"/>
            </a:endParaRPr>
          </a:p>
        </p:txBody>
      </p:sp>
      <p:sp>
        <p:nvSpPr>
          <p:cNvPr id="143" name="Google Shape;143;p2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44" name="Google Shape;144;p2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9</a:t>
            </a:fld>
            <a:endParaRPr b="0" i="0" sz="1300" u="none" cap="none" strike="noStrike">
              <a:solidFill>
                <a:srgbClr val="FFFFFF"/>
              </a:solidFill>
              <a:latin typeface="Nunito"/>
              <a:ea typeface="Nunito"/>
              <a:cs typeface="Nunito"/>
              <a:sym typeface="Nunito"/>
            </a:endParaRPr>
          </a:p>
        </p:txBody>
      </p:sp>
      <p:sp>
        <p:nvSpPr>
          <p:cNvPr id="145" name="Google Shape;145;p2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46" name="Google Shape;146;p22"/>
          <p:cNvSpPr txBox="1"/>
          <p:nvPr/>
        </p:nvSpPr>
        <p:spPr>
          <a:xfrm>
            <a:off x="423450" y="1690325"/>
            <a:ext cx="84090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2. </a:t>
            </a:r>
            <a:r>
              <a:rPr b="1" i="0" lang="en" sz="2000" u="none" cap="none" strike="noStrike">
                <a:solidFill>
                  <a:schemeClr val="dk1"/>
                </a:solidFill>
                <a:latin typeface="Nunito"/>
                <a:ea typeface="Nunito"/>
                <a:cs typeface="Nunito"/>
                <a:sym typeface="Nunito"/>
              </a:rPr>
              <a:t>Immoral</a:t>
            </a:r>
            <a:r>
              <a:rPr b="0" i="0" lang="en" sz="2000" u="none" cap="none" strike="noStrike">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m</a:t>
            </a:r>
            <a:r>
              <a:rPr b="0" i="0" lang="en" sz="2000" u="none" cap="none" strike="noStrike">
                <a:solidFill>
                  <a:schemeClr val="dk1"/>
                </a:solidFill>
                <a:latin typeface="Nunito"/>
                <a:ea typeface="Nunito"/>
                <a:cs typeface="Nunito"/>
                <a:sym typeface="Nunito"/>
              </a:rPr>
              <a:t>any laws clash with human morals.</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3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3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423400" y="9082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Silent Law (1/2)</a:t>
            </a:r>
            <a:endParaRPr sz="3600">
              <a:latin typeface="Nunito"/>
              <a:ea typeface="Nunito"/>
              <a:cs typeface="Nunito"/>
              <a:sym typeface="Nunito"/>
            </a:endParaRPr>
          </a:p>
        </p:txBody>
      </p:sp>
      <p:sp>
        <p:nvSpPr>
          <p:cNvPr id="152" name="Google Shape;152;p23"/>
          <p:cNvSpPr txBox="1"/>
          <p:nvPr/>
        </p:nvSpPr>
        <p:spPr>
          <a:xfrm>
            <a:off x="367450" y="794500"/>
            <a:ext cx="8409000" cy="84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 law is not a complete guide to behavior, but a set of constraints.</a:t>
            </a:r>
            <a:endParaRPr b="0" i="0" sz="2000" u="none" cap="none" strike="noStrike">
              <a:solidFill>
                <a:schemeClr val="dk1"/>
              </a:solidFill>
              <a:latin typeface="Nunito"/>
              <a:ea typeface="Nunito"/>
              <a:cs typeface="Nunito"/>
              <a:sym typeface="Nunito"/>
            </a:endParaRPr>
          </a:p>
        </p:txBody>
      </p:sp>
      <p:sp>
        <p:nvSpPr>
          <p:cNvPr id="153" name="Google Shape;153;p2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54" name="Google Shape;154;p2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10</a:t>
            </a:fld>
            <a:endParaRPr b="0" i="0" sz="1300" u="none" cap="none" strike="noStrike">
              <a:solidFill>
                <a:srgbClr val="FFFFFF"/>
              </a:solidFill>
              <a:latin typeface="Nunito"/>
              <a:ea typeface="Nunito"/>
              <a:cs typeface="Nunito"/>
              <a:sym typeface="Nunito"/>
            </a:endParaRPr>
          </a:p>
        </p:txBody>
      </p:sp>
      <p:sp>
        <p:nvSpPr>
          <p:cNvPr id="155" name="Google Shape;155;p2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56" name="Google Shape;156;p23"/>
          <p:cNvSpPr txBox="1"/>
          <p:nvPr/>
        </p:nvSpPr>
        <p:spPr>
          <a:xfrm>
            <a:off x="367450" y="1607325"/>
            <a:ext cx="8409000" cy="1293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It does not cover many important areas of our lives: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Accidental silence</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Zones of discretion: state economic policies</a:t>
            </a:r>
            <a:endParaRPr b="0" i="0" sz="2000" u="none" cap="none" strike="noStrike">
              <a:solidFill>
                <a:schemeClr val="dk1"/>
              </a:solidFill>
              <a:latin typeface="Nunito"/>
              <a:ea typeface="Nunito"/>
              <a:cs typeface="Nunito"/>
              <a:sym typeface="Nunito"/>
            </a:endParaRPr>
          </a:p>
        </p:txBody>
      </p:sp>
      <p:sp>
        <p:nvSpPr>
          <p:cNvPr id="157" name="Google Shape;157;p23"/>
          <p:cNvSpPr txBox="1"/>
          <p:nvPr/>
        </p:nvSpPr>
        <p:spPr>
          <a:xfrm>
            <a:off x="423400" y="2923038"/>
            <a:ext cx="82014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 law does not </a:t>
            </a:r>
            <a:r>
              <a:rPr b="0" i="1" lang="en" sz="2000" u="none" cap="none" strike="noStrike">
                <a:solidFill>
                  <a:schemeClr val="dk1"/>
                </a:solidFill>
                <a:latin typeface="Nunito"/>
                <a:ea typeface="Nunito"/>
                <a:cs typeface="Nunito"/>
                <a:sym typeface="Nunito"/>
              </a:rPr>
              <a:t>require</a:t>
            </a:r>
            <a:r>
              <a:rPr b="0" i="0" lang="en" sz="2000" u="none" cap="none" strike="noStrike">
                <a:solidFill>
                  <a:schemeClr val="dk1"/>
                </a:solidFill>
                <a:latin typeface="Nunito"/>
                <a:ea typeface="Nunito"/>
                <a:cs typeface="Nunito"/>
                <a:sym typeface="Nunito"/>
              </a:rPr>
              <a:t> that people do good things when possible, like help strangers in need. </a:t>
            </a:r>
            <a:endParaRPr b="0" i="0" sz="2000" u="none" cap="none" strike="noStrike">
              <a:solidFill>
                <a:schemeClr val="dk1"/>
              </a:solidFill>
              <a:latin typeface="Nunito"/>
              <a:ea typeface="Nunito"/>
              <a:cs typeface="Nunito"/>
              <a:sym typeface="Nunito"/>
            </a:endParaRPr>
          </a:p>
        </p:txBody>
      </p:sp>
      <p:sp>
        <p:nvSpPr>
          <p:cNvPr id="158" name="Google Shape;158;p23"/>
          <p:cNvSpPr txBox="1"/>
          <p:nvPr/>
        </p:nvSpPr>
        <p:spPr>
          <a:xfrm>
            <a:off x="423400" y="3792375"/>
            <a:ext cx="87204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If we constrained AIs only with laws, rather than also guiding it with ethics, we risk them acting in undesirable ways.</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3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animEffect filter="fade" transition="in">
                                      <p:cBhvr>
                                        <p:cTn dur="300"/>
                                        <p:tgtEl>
                                          <p:spTgt spid="1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 st="1"/>
                                            </p:txEl>
                                          </p:spTgt>
                                        </p:tgtEl>
                                        <p:attrNameLst>
                                          <p:attrName>style.visibility</p:attrName>
                                        </p:attrNameLst>
                                      </p:cBhvr>
                                      <p:to>
                                        <p:strVal val="visible"/>
                                      </p:to>
                                    </p:set>
                                    <p:animEffect filter="fade" transition="in">
                                      <p:cBhvr>
                                        <p:cTn dur="300"/>
                                        <p:tgtEl>
                                          <p:spTgt spid="1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2" st="2"/>
                                            </p:txEl>
                                          </p:spTgt>
                                        </p:tgtEl>
                                        <p:attrNameLst>
                                          <p:attrName>style.visibility</p:attrName>
                                        </p:attrNameLst>
                                      </p:cBhvr>
                                      <p:to>
                                        <p:strVal val="visible"/>
                                      </p:to>
                                    </p:set>
                                    <p:animEffect filter="fade" transition="in">
                                      <p:cBhvr>
                                        <p:cTn dur="300"/>
                                        <p:tgtEl>
                                          <p:spTgt spid="1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3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3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423400" y="9082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Silent Law (2/2)</a:t>
            </a:r>
            <a:endParaRPr sz="3600">
              <a:latin typeface="Nunito"/>
              <a:ea typeface="Nunito"/>
              <a:cs typeface="Nunito"/>
              <a:sym typeface="Nunito"/>
            </a:endParaRPr>
          </a:p>
        </p:txBody>
      </p:sp>
      <p:sp>
        <p:nvSpPr>
          <p:cNvPr id="164" name="Google Shape;164;p24"/>
          <p:cNvSpPr txBox="1"/>
          <p:nvPr/>
        </p:nvSpPr>
        <p:spPr>
          <a:xfrm>
            <a:off x="367450" y="1861300"/>
            <a:ext cx="4204500" cy="233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Illegal:</a:t>
            </a: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Breaking copyright </a:t>
            </a: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Making libelous claims </a:t>
            </a:r>
            <a:endParaRPr sz="2000">
              <a:solidFill>
                <a:schemeClr val="dk1"/>
              </a:solidFill>
              <a:latin typeface="Nunito"/>
              <a:ea typeface="Nunito"/>
              <a:cs typeface="Nunito"/>
              <a:sym typeface="Nunito"/>
            </a:endParaRPr>
          </a:p>
        </p:txBody>
      </p:sp>
      <p:sp>
        <p:nvSpPr>
          <p:cNvPr id="165" name="Google Shape;165;p2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66" name="Google Shape;166;p2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11</a:t>
            </a:fld>
            <a:endParaRPr b="0" i="0" sz="1300" u="none" cap="none" strike="noStrike">
              <a:solidFill>
                <a:srgbClr val="FFFFFF"/>
              </a:solidFill>
              <a:latin typeface="Nunito"/>
              <a:ea typeface="Nunito"/>
              <a:cs typeface="Nunito"/>
              <a:sym typeface="Nunito"/>
            </a:endParaRPr>
          </a:p>
        </p:txBody>
      </p:sp>
      <p:sp>
        <p:nvSpPr>
          <p:cNvPr id="167" name="Google Shape;167;p2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68" name="Google Shape;168;p24"/>
          <p:cNvSpPr txBox="1"/>
          <p:nvPr/>
        </p:nvSpPr>
        <p:spPr>
          <a:xfrm>
            <a:off x="4727725" y="1861300"/>
            <a:ext cx="4204500" cy="233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Potentially legal:</a:t>
            </a: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Doxxing</a:t>
            </a: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Providing dual-use information</a:t>
            </a: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Generating unethical erotic literature about children</a:t>
            </a: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Bomb instructions</a:t>
            </a:r>
            <a:endParaRPr sz="2000">
              <a:solidFill>
                <a:schemeClr val="dk1"/>
              </a:solidFill>
              <a:latin typeface="Nunito"/>
              <a:ea typeface="Nunito"/>
              <a:cs typeface="Nunito"/>
              <a:sym typeface="Nunito"/>
            </a:endParaRPr>
          </a:p>
        </p:txBody>
      </p:sp>
      <p:sp>
        <p:nvSpPr>
          <p:cNvPr id="169" name="Google Shape;169;p24"/>
          <p:cNvSpPr txBox="1"/>
          <p:nvPr/>
        </p:nvSpPr>
        <p:spPr>
          <a:xfrm>
            <a:off x="3993125" y="1266175"/>
            <a:ext cx="1400100" cy="65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lang="en" sz="2000">
                <a:solidFill>
                  <a:schemeClr val="dk1"/>
                </a:solidFill>
                <a:latin typeface="Nunito"/>
                <a:ea typeface="Nunito"/>
                <a:cs typeface="Nunito"/>
                <a:sym typeface="Nunito"/>
              </a:rPr>
              <a:t>Chatbots</a:t>
            </a:r>
            <a:endParaRPr b="1" sz="2000">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300"/>
                                        <p:tgtEl>
                                          <p:spTgt spid="169"/>
                                        </p:tgtEl>
                                      </p:cBhvr>
                                    </p:animEffec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300"/>
                                        <p:tgtEl>
                                          <p:spTgt spid="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Effect filter="fade" transition="in">
                                      <p:cBhvr>
                                        <p:cTn dur="300"/>
                                        <p:tgtEl>
                                          <p:spTgt spid="1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Effect filter="fade" transition="in">
                                      <p:cBhvr>
                                        <p:cTn dur="300"/>
                                        <p:tgtEl>
                                          <p:spTgt spid="1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animEffect filter="fade" transition="in">
                                      <p:cBhvr>
                                        <p:cTn dur="300"/>
                                        <p:tgtEl>
                                          <p:spTgt spid="1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animEffect filter="fade" transition="in">
                                      <p:cBhvr>
                                        <p:cTn dur="300"/>
                                        <p:tgtEl>
                                          <p:spTgt spid="1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animEffect filter="fade" transition="in">
                                      <p:cBhvr>
                                        <p:cTn dur="300"/>
                                        <p:tgtEl>
                                          <p:spTgt spid="1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animEffect filter="fade" transition="in">
                                      <p:cBhvr>
                                        <p:cTn dur="300"/>
                                        <p:tgtEl>
                                          <p:spTgt spid="1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animEffect filter="fade" transition="in">
                                      <p:cBhvr>
                                        <p:cTn dur="300"/>
                                        <p:tgtEl>
                                          <p:spTgt spid="16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423625" y="786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AIs Should Exercise Reasonable Care</a:t>
            </a:r>
            <a:endParaRPr sz="3600">
              <a:latin typeface="Nunito"/>
              <a:ea typeface="Nunito"/>
              <a:cs typeface="Nunito"/>
              <a:sym typeface="Nunito"/>
            </a:endParaRPr>
          </a:p>
        </p:txBody>
      </p:sp>
      <p:sp>
        <p:nvSpPr>
          <p:cNvPr id="175" name="Google Shape;175;p25"/>
          <p:cNvSpPr txBox="1"/>
          <p:nvPr/>
        </p:nvSpPr>
        <p:spPr>
          <a:xfrm>
            <a:off x="423400" y="817200"/>
            <a:ext cx="8720700" cy="900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lang="en" sz="2000">
                <a:solidFill>
                  <a:schemeClr val="dk1"/>
                </a:solidFill>
                <a:latin typeface="Nunito"/>
                <a:ea typeface="Nunito"/>
                <a:cs typeface="Nunito"/>
                <a:sym typeface="Nunito"/>
              </a:rPr>
              <a:t>Reasonable </a:t>
            </a:r>
            <a:r>
              <a:rPr b="1" lang="en" sz="2000">
                <a:solidFill>
                  <a:schemeClr val="dk1"/>
                </a:solidFill>
                <a:latin typeface="Nunito"/>
                <a:ea typeface="Nunito"/>
                <a:cs typeface="Nunito"/>
                <a:sym typeface="Nunito"/>
              </a:rPr>
              <a:t>care</a:t>
            </a:r>
            <a:r>
              <a:rPr lang="en" sz="2000">
                <a:solidFill>
                  <a:schemeClr val="dk1"/>
                </a:solidFill>
                <a:latin typeface="Nunito"/>
                <a:ea typeface="Nunito"/>
                <a:cs typeface="Nunito"/>
                <a:sym typeface="Nunito"/>
              </a:rPr>
              <a:t> is the level of caution and concern an ordinary, prudent person would use to avoid foreseeable harm to others</a:t>
            </a: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No suicide instructions for depressed people</a:t>
            </a: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No bomb instructions for people aiming to blow up schools</a:t>
            </a:r>
            <a:endParaRPr sz="2000">
              <a:solidFill>
                <a:schemeClr val="dk1"/>
              </a:solidFill>
              <a:latin typeface="Nunito"/>
              <a:ea typeface="Nunito"/>
              <a:cs typeface="Nunito"/>
              <a:sym typeface="Nunito"/>
            </a:endParaRPr>
          </a:p>
        </p:txBody>
      </p:sp>
      <p:sp>
        <p:nvSpPr>
          <p:cNvPr id="176" name="Google Shape;176;p2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77" name="Google Shape;177;p2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12</a:t>
            </a:fld>
            <a:endParaRPr b="0" i="0" sz="1300" u="none" cap="none" strike="noStrike">
              <a:solidFill>
                <a:srgbClr val="FFFFFF"/>
              </a:solidFill>
              <a:latin typeface="Nunito"/>
              <a:ea typeface="Nunito"/>
              <a:cs typeface="Nunito"/>
              <a:sym typeface="Nunito"/>
            </a:endParaRPr>
          </a:p>
        </p:txBody>
      </p:sp>
      <p:sp>
        <p:nvSpPr>
          <p:cNvPr id="178" name="Google Shape;178;p2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79" name="Google Shape;179;p25"/>
          <p:cNvSpPr txBox="1"/>
          <p:nvPr/>
        </p:nvSpPr>
        <p:spPr>
          <a:xfrm>
            <a:off x="423400" y="2517870"/>
            <a:ext cx="8409000" cy="107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chemeClr val="dk1"/>
                </a:solidFill>
                <a:latin typeface="Nunito"/>
                <a:ea typeface="Nunito"/>
                <a:cs typeface="Nunito"/>
                <a:sym typeface="Nunito"/>
              </a:rPr>
              <a:t>While chatbots currently have very few legal restrictions, they could be much more ethical by exercising reasonable care</a:t>
            </a:r>
            <a:endParaRPr b="0" i="0" sz="2000" u="none" cap="none" strike="noStrike">
              <a:solidFill>
                <a:schemeClr val="dk1"/>
              </a:solidFill>
              <a:latin typeface="Nunito"/>
              <a:ea typeface="Nunito"/>
              <a:cs typeface="Nunito"/>
              <a:sym typeface="Nunito"/>
            </a:endParaRPr>
          </a:p>
        </p:txBody>
      </p:sp>
      <p:sp>
        <p:nvSpPr>
          <p:cNvPr id="180" name="Google Shape;180;p25"/>
          <p:cNvSpPr txBox="1"/>
          <p:nvPr/>
        </p:nvSpPr>
        <p:spPr>
          <a:xfrm>
            <a:off x="423400" y="3592525"/>
            <a:ext cx="8263500" cy="988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Fortunately, AI companies have to exercise reasonable care, but AIs do not yet have to</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Effect filter="fade" transition="in">
                                      <p:cBhvr>
                                        <p:cTn dur="300"/>
                                        <p:tgtEl>
                                          <p:spTgt spid="1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animEffect filter="fade" transition="in">
                                      <p:cBhvr>
                                        <p:cTn dur="300"/>
                                        <p:tgtEl>
                                          <p:spTgt spid="1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animEffect filter="fade" transition="in">
                                      <p:cBhvr>
                                        <p:cTn dur="300"/>
                                        <p:tgtEl>
                                          <p:spTgt spid="1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Effect filter="fade" transition="in">
                                      <p:cBhvr>
                                        <p:cTn dur="300"/>
                                        <p:tgtEl>
                                          <p:spTgt spid="1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3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423625" y="786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Immoral Law</a:t>
            </a:r>
            <a:endParaRPr sz="3600">
              <a:latin typeface="Nunito"/>
              <a:ea typeface="Nunito"/>
              <a:cs typeface="Nunito"/>
              <a:sym typeface="Nunito"/>
            </a:endParaRPr>
          </a:p>
        </p:txBody>
      </p:sp>
      <p:sp>
        <p:nvSpPr>
          <p:cNvPr id="186" name="Google Shape;186;p26"/>
          <p:cNvSpPr txBox="1"/>
          <p:nvPr/>
        </p:nvSpPr>
        <p:spPr>
          <a:xfrm>
            <a:off x="423400" y="817200"/>
            <a:ext cx="8720700" cy="900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Even if created legitimately and interpreted correctly, laws can be </a:t>
            </a:r>
            <a:r>
              <a:rPr b="1" i="0" lang="en" sz="2000" u="none" cap="none" strike="noStrike">
                <a:solidFill>
                  <a:schemeClr val="dk1"/>
                </a:solidFill>
                <a:latin typeface="Nunito"/>
                <a:ea typeface="Nunito"/>
                <a:cs typeface="Nunito"/>
                <a:sym typeface="Nunito"/>
              </a:rPr>
              <a:t>immoral</a:t>
            </a:r>
            <a:r>
              <a:rPr b="0" i="0" lang="en" sz="2000" u="none" cap="none" strike="noStrike">
                <a:solidFill>
                  <a:schemeClr val="dk1"/>
                </a:solidFill>
                <a:latin typeface="Nunito"/>
                <a:ea typeface="Nunito"/>
                <a:cs typeface="Nunito"/>
                <a:sym typeface="Nunito"/>
              </a:rPr>
              <a:t>. AIs constrained only by the law may therefore act immorally.</a:t>
            </a:r>
            <a:endParaRPr b="0" i="0" sz="2000" u="none" cap="none" strike="noStrike">
              <a:solidFill>
                <a:schemeClr val="dk1"/>
              </a:solidFill>
              <a:latin typeface="Nunito"/>
              <a:ea typeface="Nunito"/>
              <a:cs typeface="Nunito"/>
              <a:sym typeface="Nunito"/>
            </a:endParaRPr>
          </a:p>
        </p:txBody>
      </p:sp>
      <p:sp>
        <p:nvSpPr>
          <p:cNvPr id="187" name="Google Shape;187;p2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88" name="Google Shape;188;p2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13</a:t>
            </a:fld>
            <a:endParaRPr b="0" i="0" sz="1300" u="none" cap="none" strike="noStrike">
              <a:solidFill>
                <a:srgbClr val="FFFFFF"/>
              </a:solidFill>
              <a:latin typeface="Nunito"/>
              <a:ea typeface="Nunito"/>
              <a:cs typeface="Nunito"/>
              <a:sym typeface="Nunito"/>
            </a:endParaRPr>
          </a:p>
        </p:txBody>
      </p:sp>
      <p:sp>
        <p:nvSpPr>
          <p:cNvPr id="189" name="Google Shape;189;p2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90" name="Google Shape;190;p26"/>
          <p:cNvSpPr txBox="1"/>
          <p:nvPr/>
        </p:nvSpPr>
        <p:spPr>
          <a:xfrm>
            <a:off x="423400" y="1717975"/>
            <a:ext cx="8409000" cy="1950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Democratic majorities can pass laws that many citizens think are immoral, or that seem immoral to subsequent generations: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Enslavement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Discrimination </a:t>
            </a:r>
            <a:endParaRPr b="0" i="0" sz="2000" u="none" cap="none" strike="noStrike">
              <a:solidFill>
                <a:schemeClr val="dk1"/>
              </a:solidFill>
              <a:latin typeface="Nunito"/>
              <a:ea typeface="Nunito"/>
              <a:cs typeface="Nunito"/>
              <a:sym typeface="Nunito"/>
            </a:endParaRPr>
          </a:p>
        </p:txBody>
      </p:sp>
      <p:sp>
        <p:nvSpPr>
          <p:cNvPr id="191" name="Google Shape;191;p26"/>
          <p:cNvSpPr txBox="1"/>
          <p:nvPr/>
        </p:nvSpPr>
        <p:spPr>
          <a:xfrm>
            <a:off x="423400" y="3592525"/>
            <a:ext cx="8720700" cy="988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Significant time delays between changes in moral opinions and updated laws exacerbate this problem. AI le</a:t>
            </a:r>
            <a:r>
              <a:rPr lang="en" sz="2000">
                <a:solidFill>
                  <a:schemeClr val="dk1"/>
                </a:solidFill>
                <a:latin typeface="Nunito"/>
                <a:ea typeface="Nunito"/>
                <a:cs typeface="Nunito"/>
                <a:sym typeface="Nunito"/>
              </a:rPr>
              <a:t>gislation can take months to years, which is a problem for a topic that moves so quickly.</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3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300"/>
                                        <p:tgtEl>
                                          <p:spTgt spid="1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animEffect filter="fade" transition="in">
                                      <p:cBhvr>
                                        <p:cTn dur="300"/>
                                        <p:tgtEl>
                                          <p:spTgt spid="1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animEffect filter="fade" transition="in">
                                      <p:cBhvr>
                                        <p:cTn dur="300"/>
                                        <p:tgtEl>
                                          <p:spTgt spid="1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3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ph type="title"/>
          </p:nvPr>
        </p:nvSpPr>
        <p:spPr>
          <a:xfrm>
            <a:off x="423450" y="6732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Conclusions on Law</a:t>
            </a:r>
            <a:endParaRPr sz="3600">
              <a:latin typeface="Nunito"/>
              <a:ea typeface="Nunito"/>
              <a:cs typeface="Nunito"/>
              <a:sym typeface="Nunito"/>
            </a:endParaRPr>
          </a:p>
        </p:txBody>
      </p:sp>
      <p:sp>
        <p:nvSpPr>
          <p:cNvPr id="208" name="Google Shape;208;p2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09" name="Google Shape;209;p2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14</a:t>
            </a:fld>
            <a:endParaRPr b="0" i="0" sz="1300" u="none" cap="none" strike="noStrike">
              <a:solidFill>
                <a:srgbClr val="FFFFFF"/>
              </a:solidFill>
              <a:latin typeface="Nunito"/>
              <a:ea typeface="Nunito"/>
              <a:cs typeface="Nunito"/>
              <a:sym typeface="Nunito"/>
            </a:endParaRPr>
          </a:p>
        </p:txBody>
      </p:sp>
      <p:sp>
        <p:nvSpPr>
          <p:cNvPr id="210" name="Google Shape;210;p2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11" name="Google Shape;211;p28"/>
          <p:cNvSpPr txBox="1"/>
          <p:nvPr/>
        </p:nvSpPr>
        <p:spPr>
          <a:xfrm>
            <a:off x="423400" y="716438"/>
            <a:ext cx="8409000" cy="77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 law is comprehensive, but not comprehensive enough to alone ensure that the actions of an AI system are safe and beneficial.</a:t>
            </a:r>
            <a:endParaRPr b="0" i="0" sz="2000" u="none" cap="none" strike="noStrike">
              <a:solidFill>
                <a:schemeClr val="dk1"/>
              </a:solidFill>
              <a:latin typeface="Nunito"/>
              <a:ea typeface="Nunito"/>
              <a:cs typeface="Nunito"/>
              <a:sym typeface="Nunito"/>
            </a:endParaRPr>
          </a:p>
        </p:txBody>
      </p:sp>
      <p:sp>
        <p:nvSpPr>
          <p:cNvPr id="212" name="Google Shape;212;p28"/>
          <p:cNvSpPr txBox="1"/>
          <p:nvPr/>
        </p:nvSpPr>
        <p:spPr>
          <a:xfrm>
            <a:off x="423400" y="1642450"/>
            <a:ext cx="8409000" cy="98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AI systems should follow the law as a baseline, but follow the demands of ethics. </a:t>
            </a:r>
            <a:endParaRPr b="0" i="0" sz="2000" u="none" cap="none" strike="noStrike">
              <a:solidFill>
                <a:schemeClr val="dk1"/>
              </a:solidFill>
              <a:latin typeface="Nunito"/>
              <a:ea typeface="Nunito"/>
              <a:cs typeface="Nunito"/>
              <a:sym typeface="Nunito"/>
            </a:endParaRPr>
          </a:p>
        </p:txBody>
      </p:sp>
      <p:sp>
        <p:nvSpPr>
          <p:cNvPr id="213" name="Google Shape;213;p28"/>
          <p:cNvSpPr txBox="1"/>
          <p:nvPr/>
        </p:nvSpPr>
        <p:spPr>
          <a:xfrm>
            <a:off x="423400" y="2571760"/>
            <a:ext cx="8409000" cy="865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Relying solely on the law would leave many gaps that the AI could exploit, or make ethical errors within.</a:t>
            </a:r>
            <a:endParaRPr b="0" i="0" sz="2000" u="none" cap="none" strike="noStrike">
              <a:solidFill>
                <a:schemeClr val="dk1"/>
              </a:solidFill>
              <a:latin typeface="Nunito"/>
              <a:ea typeface="Nunito"/>
              <a:cs typeface="Nunito"/>
              <a:sym typeface="Nunito"/>
            </a:endParaRPr>
          </a:p>
        </p:txBody>
      </p:sp>
      <p:sp>
        <p:nvSpPr>
          <p:cNvPr id="214" name="Google Shape;214;p28"/>
          <p:cNvSpPr txBox="1"/>
          <p:nvPr/>
        </p:nvSpPr>
        <p:spPr>
          <a:xfrm>
            <a:off x="423400" y="3501050"/>
            <a:ext cx="8409000" cy="123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To create beneficial AI that acts in the interests of humanity, we need to understand the ethical values that people hold over and above the law.</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3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3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3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3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txBox="1"/>
          <p:nvPr>
            <p:ph type="title"/>
          </p:nvPr>
        </p:nvSpPr>
        <p:spPr>
          <a:xfrm>
            <a:off x="423450" y="19228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Fairness</a:t>
            </a:r>
            <a:endParaRPr sz="3600">
              <a:latin typeface="Nunito"/>
              <a:ea typeface="Nunito"/>
              <a:cs typeface="Nunito"/>
              <a:sym typeface="Nunito"/>
            </a:endParaRPr>
          </a:p>
        </p:txBody>
      </p:sp>
      <p:sp>
        <p:nvSpPr>
          <p:cNvPr id="220" name="Google Shape;220;p2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21" name="Google Shape;221;p2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15</a:t>
            </a:fld>
            <a:endParaRPr b="0" i="0" sz="1300" u="none" cap="none" strike="noStrike">
              <a:solidFill>
                <a:srgbClr val="FFFFFF"/>
              </a:solidFill>
              <a:latin typeface="Nunito"/>
              <a:ea typeface="Nunito"/>
              <a:cs typeface="Nunito"/>
              <a:sym typeface="Nunito"/>
            </a:endParaRPr>
          </a:p>
        </p:txBody>
      </p:sp>
      <p:sp>
        <p:nvSpPr>
          <p:cNvPr id="222" name="Google Shape;222;p2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23" name="Google Shape;223;p29"/>
          <p:cNvSpPr txBox="1"/>
          <p:nvPr/>
        </p:nvSpPr>
        <p:spPr>
          <a:xfrm>
            <a:off x="367675" y="2876550"/>
            <a:ext cx="8409000" cy="49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Why not just make AIs be fair?</a:t>
            </a:r>
            <a:endParaRPr b="0" i="1"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3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30"/>
          <p:cNvPicPr preferRelativeResize="0"/>
          <p:nvPr/>
        </p:nvPicPr>
        <p:blipFill>
          <a:blip r:embed="rId3">
            <a:alphaModFix/>
          </a:blip>
          <a:stretch>
            <a:fillRect/>
          </a:stretch>
        </p:blipFill>
        <p:spPr>
          <a:xfrm>
            <a:off x="152400" y="487475"/>
            <a:ext cx="8919250" cy="4311549"/>
          </a:xfrm>
          <a:prstGeom prst="rect">
            <a:avLst/>
          </a:prstGeom>
          <a:noFill/>
          <a:ln>
            <a:noFill/>
          </a:ln>
        </p:spPr>
      </p:pic>
      <p:sp>
        <p:nvSpPr>
          <p:cNvPr id="229" name="Google Shape;229;p3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30" name="Google Shape;230;p3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16</a:t>
            </a:fld>
            <a:endParaRPr b="0" i="0" sz="1300" u="none" cap="none" strike="noStrike">
              <a:solidFill>
                <a:srgbClr val="FFFFFF"/>
              </a:solidFill>
              <a:latin typeface="Nunito"/>
              <a:ea typeface="Nunito"/>
              <a:cs typeface="Nunito"/>
              <a:sym typeface="Nunito"/>
            </a:endParaRPr>
          </a:p>
        </p:txBody>
      </p:sp>
      <p:sp>
        <p:nvSpPr>
          <p:cNvPr id="231" name="Google Shape;231;p3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32" name="Google Shape;232;p30"/>
          <p:cNvSpPr txBox="1"/>
          <p:nvPr>
            <p:ph type="title"/>
          </p:nvPr>
        </p:nvSpPr>
        <p:spPr>
          <a:xfrm>
            <a:off x="423450" y="900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Bias</a:t>
            </a:r>
            <a:endParaRPr/>
          </a:p>
        </p:txBody>
      </p:sp>
      <p:sp>
        <p:nvSpPr>
          <p:cNvPr id="233" name="Google Shape;233;p30"/>
          <p:cNvSpPr/>
          <p:nvPr/>
        </p:nvSpPr>
        <p:spPr>
          <a:xfrm>
            <a:off x="1704975" y="867825"/>
            <a:ext cx="2655300" cy="3856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
        <p:nvSpPr>
          <p:cNvPr id="234" name="Google Shape;234;p30"/>
          <p:cNvSpPr/>
          <p:nvPr/>
        </p:nvSpPr>
        <p:spPr>
          <a:xfrm>
            <a:off x="4305300" y="1693325"/>
            <a:ext cx="2438400" cy="297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
        <p:nvSpPr>
          <p:cNvPr id="235" name="Google Shape;235;p30"/>
          <p:cNvSpPr/>
          <p:nvPr/>
        </p:nvSpPr>
        <p:spPr>
          <a:xfrm>
            <a:off x="6697975" y="1943100"/>
            <a:ext cx="2373600" cy="1806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grpSp>
        <p:nvGrpSpPr>
          <p:cNvPr id="236" name="Google Shape;236;p30"/>
          <p:cNvGrpSpPr/>
          <p:nvPr/>
        </p:nvGrpSpPr>
        <p:grpSpPr>
          <a:xfrm>
            <a:off x="1704975" y="753235"/>
            <a:ext cx="5018550" cy="4033423"/>
            <a:chOff x="1704975" y="753235"/>
            <a:chExt cx="5018550" cy="4033423"/>
          </a:xfrm>
        </p:grpSpPr>
        <p:grpSp>
          <p:nvGrpSpPr>
            <p:cNvPr id="237" name="Google Shape;237;p30"/>
            <p:cNvGrpSpPr/>
            <p:nvPr/>
          </p:nvGrpSpPr>
          <p:grpSpPr>
            <a:xfrm>
              <a:off x="1704975" y="753235"/>
              <a:ext cx="4447215" cy="1586398"/>
              <a:chOff x="1704975" y="753235"/>
              <a:chExt cx="4447215" cy="1586398"/>
            </a:xfrm>
          </p:grpSpPr>
          <p:sp>
            <p:nvSpPr>
              <p:cNvPr id="238" name="Google Shape;238;p30"/>
              <p:cNvSpPr/>
              <p:nvPr/>
            </p:nvSpPr>
            <p:spPr>
              <a:xfrm>
                <a:off x="1704975" y="867825"/>
                <a:ext cx="3068100" cy="30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
            <p:nvSpPr>
              <p:cNvPr id="239" name="Google Shape;239;p30"/>
              <p:cNvSpPr/>
              <p:nvPr/>
            </p:nvSpPr>
            <p:spPr>
              <a:xfrm rot="568292">
                <a:off x="2513604" y="1003613"/>
                <a:ext cx="3068228" cy="305042"/>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
            <p:nvSpPr>
              <p:cNvPr id="240" name="Google Shape;240;p30"/>
              <p:cNvSpPr/>
              <p:nvPr/>
            </p:nvSpPr>
            <p:spPr>
              <a:xfrm rot="1749949">
                <a:off x="5255737" y="1575844"/>
                <a:ext cx="780566" cy="304994"/>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
            <p:nvSpPr>
              <p:cNvPr id="241" name="Google Shape;241;p30"/>
              <p:cNvSpPr/>
              <p:nvPr/>
            </p:nvSpPr>
            <p:spPr>
              <a:xfrm rot="5401321">
                <a:off x="5609190" y="1796783"/>
                <a:ext cx="780600" cy="30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grpSp>
        <p:grpSp>
          <p:nvGrpSpPr>
            <p:cNvPr id="242" name="Google Shape;242;p30"/>
            <p:cNvGrpSpPr/>
            <p:nvPr/>
          </p:nvGrpSpPr>
          <p:grpSpPr>
            <a:xfrm flipH="1" rot="10800000">
              <a:off x="1704984" y="3200350"/>
              <a:ext cx="5018541" cy="1586307"/>
              <a:chOff x="1704975" y="632110"/>
              <a:chExt cx="5018541" cy="1586307"/>
            </a:xfrm>
          </p:grpSpPr>
          <p:sp>
            <p:nvSpPr>
              <p:cNvPr id="243" name="Google Shape;243;p30"/>
              <p:cNvSpPr/>
              <p:nvPr/>
            </p:nvSpPr>
            <p:spPr>
              <a:xfrm>
                <a:off x="1704975" y="746700"/>
                <a:ext cx="3068100" cy="30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
            <p:nvSpPr>
              <p:cNvPr id="244" name="Google Shape;244;p30"/>
              <p:cNvSpPr/>
              <p:nvPr/>
            </p:nvSpPr>
            <p:spPr>
              <a:xfrm rot="568292">
                <a:off x="2513604" y="882488"/>
                <a:ext cx="3068228" cy="305042"/>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
            <p:nvSpPr>
              <p:cNvPr id="245" name="Google Shape;245;p30"/>
              <p:cNvSpPr/>
              <p:nvPr/>
            </p:nvSpPr>
            <p:spPr>
              <a:xfrm rot="1749572">
                <a:off x="5208140" y="1475187"/>
                <a:ext cx="906940" cy="467762"/>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
            <p:nvSpPr>
              <p:cNvPr id="246" name="Google Shape;246;p30"/>
              <p:cNvSpPr/>
              <p:nvPr/>
            </p:nvSpPr>
            <p:spPr>
              <a:xfrm rot="5400000">
                <a:off x="5902716" y="1397617"/>
                <a:ext cx="91500" cy="155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33"/>
                                        </p:tgtEl>
                                        <p:attrNameLst>
                                          <p:attrName>ppt_x</p:attrName>
                                        </p:attrNameLst>
                                      </p:cBhvr>
                                      <p:tavLst>
                                        <p:tav fmla="" tm="0">
                                          <p:val>
                                            <p:strVal val="#ppt_x"/>
                                          </p:val>
                                        </p:tav>
                                        <p:tav fmla="" tm="100000">
                                          <p:val>
                                            <p:strVal val="#ppt_x+1"/>
                                          </p:val>
                                        </p:tav>
                                      </p:tavLst>
                                    </p:anim>
                                    <p:set>
                                      <p:cBhvr>
                                        <p:cTn dur="1" fill="hold">
                                          <p:stCondLst>
                                            <p:cond delay="1000"/>
                                          </p:stCondLst>
                                        </p:cTn>
                                        <p:tgtEl>
                                          <p:spTgt spid="2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34"/>
                                        </p:tgtEl>
                                        <p:attrNameLst>
                                          <p:attrName>ppt_x</p:attrName>
                                        </p:attrNameLst>
                                      </p:cBhvr>
                                      <p:tavLst>
                                        <p:tav fmla="" tm="0">
                                          <p:val>
                                            <p:strVal val="#ppt_x"/>
                                          </p:val>
                                        </p:tav>
                                        <p:tav fmla="" tm="100000">
                                          <p:val>
                                            <p:strVal val="#ppt_x+1"/>
                                          </p:val>
                                        </p:tav>
                                      </p:tavLst>
                                    </p:anim>
                                    <p:set>
                                      <p:cBhvr>
                                        <p:cTn dur="1" fill="hold">
                                          <p:stCondLst>
                                            <p:cond delay="1000"/>
                                          </p:stCondLst>
                                        </p:cTn>
                                        <p:tgtEl>
                                          <p:spTgt spid="2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
                                        <p:tgtEl>
                                          <p:spTgt spid="236"/>
                                        </p:tgtEl>
                                      </p:cBhvr>
                                    </p:animEffect>
                                    <p:set>
                                      <p:cBhvr>
                                        <p:cTn dur="1" fill="hold">
                                          <p:stCondLst>
                                            <p:cond delay="300"/>
                                          </p:stCondLst>
                                        </p:cTn>
                                        <p:tgtEl>
                                          <p:spTgt spid="2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35"/>
                                        </p:tgtEl>
                                        <p:attrNameLst>
                                          <p:attrName>ppt_x</p:attrName>
                                        </p:attrNameLst>
                                      </p:cBhvr>
                                      <p:tavLst>
                                        <p:tav fmla="" tm="0">
                                          <p:val>
                                            <p:strVal val="#ppt_x"/>
                                          </p:val>
                                        </p:tav>
                                        <p:tav fmla="" tm="100000">
                                          <p:val>
                                            <p:strVal val="#ppt_x+1"/>
                                          </p:val>
                                        </p:tav>
                                      </p:tavLst>
                                    </p:anim>
                                    <p:set>
                                      <p:cBhvr>
                                        <p:cTn dur="1" fill="hold">
                                          <p:stCondLst>
                                            <p:cond delay="1000"/>
                                          </p:stCondLst>
                                        </p:cTn>
                                        <p:tgtEl>
                                          <p:spTgt spid="23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31"/>
          <p:cNvPicPr preferRelativeResize="0"/>
          <p:nvPr/>
        </p:nvPicPr>
        <p:blipFill rotWithShape="1">
          <a:blip r:embed="rId3">
            <a:alphaModFix/>
          </a:blip>
          <a:srcRect b="0" l="0" r="53568" t="0"/>
          <a:stretch/>
        </p:blipFill>
        <p:spPr>
          <a:xfrm>
            <a:off x="76200" y="-49400"/>
            <a:ext cx="4137201" cy="4959701"/>
          </a:xfrm>
          <a:prstGeom prst="rect">
            <a:avLst/>
          </a:prstGeom>
          <a:noFill/>
          <a:ln>
            <a:noFill/>
          </a:ln>
        </p:spPr>
      </p:pic>
      <p:sp>
        <p:nvSpPr>
          <p:cNvPr id="252" name="Google Shape;252;p3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53" name="Google Shape;253;p3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17</a:t>
            </a:fld>
            <a:endParaRPr b="0" i="0" sz="1300" u="none" cap="none" strike="noStrike">
              <a:solidFill>
                <a:srgbClr val="FFFFFF"/>
              </a:solidFill>
              <a:latin typeface="Nunito"/>
              <a:ea typeface="Nunito"/>
              <a:cs typeface="Nunito"/>
              <a:sym typeface="Nunito"/>
            </a:endParaRPr>
          </a:p>
        </p:txBody>
      </p:sp>
      <p:sp>
        <p:nvSpPr>
          <p:cNvPr id="254" name="Google Shape;254;p3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55" name="Google Shape;255;p31"/>
          <p:cNvSpPr txBox="1"/>
          <p:nvPr/>
        </p:nvSpPr>
        <p:spPr>
          <a:xfrm>
            <a:off x="423400" y="3669325"/>
            <a:ext cx="8750100" cy="118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Claim: it disproportionately labeled African</a:t>
            </a:r>
            <a:r>
              <a:rPr lang="en" sz="2000">
                <a:solidFill>
                  <a:schemeClr val="dk1"/>
                </a:solidFill>
                <a:latin typeface="Nunito"/>
                <a:ea typeface="Nunito"/>
                <a:cs typeface="Nunito"/>
                <a:sym typeface="Nunito"/>
              </a:rPr>
              <a:t> </a:t>
            </a:r>
            <a:r>
              <a:rPr b="0" i="0" lang="en" sz="2000" u="none" cap="none" strike="noStrike">
                <a:solidFill>
                  <a:schemeClr val="dk1"/>
                </a:solidFill>
                <a:latin typeface="Nunito"/>
                <a:ea typeface="Nunito"/>
                <a:cs typeface="Nunito"/>
                <a:sym typeface="Nunito"/>
              </a:rPr>
              <a:t>Americans as higher risk</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Counterclaim: it was calibrated, which means it was fair.</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Result: partially successful lawsuit against its use for sentencing.</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256" name="Google Shape;256;p31"/>
          <p:cNvSpPr txBox="1"/>
          <p:nvPr/>
        </p:nvSpPr>
        <p:spPr>
          <a:xfrm>
            <a:off x="423400" y="855475"/>
            <a:ext cx="8750100" cy="164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AIs are used in sensitive areas like healthcare or justice where poor decision-making can lead to serious harms.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By default, AIs perpetuate biases, making unfair decisions.</a:t>
            </a:r>
            <a:endParaRPr b="0" i="0" sz="2000" u="none" cap="none" strike="noStrike">
              <a:solidFill>
                <a:schemeClr val="dk1"/>
              </a:solidFill>
              <a:latin typeface="Nunito"/>
              <a:ea typeface="Nunito"/>
              <a:cs typeface="Nunito"/>
              <a:sym typeface="Nunito"/>
            </a:endParaRPr>
          </a:p>
          <a:p>
            <a:pPr indent="0" lvl="0" marL="0" rtl="0" algn="l">
              <a:lnSpc>
                <a:spcPct val="115000"/>
              </a:lnSpc>
              <a:spcBef>
                <a:spcPts val="0"/>
              </a:spcBef>
              <a:spcAft>
                <a:spcPts val="0"/>
              </a:spcAft>
              <a:buClr>
                <a:schemeClr val="dk1"/>
              </a:buClr>
              <a:buSzPts val="2000"/>
              <a:buFont typeface="Arial"/>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Clr>
                <a:schemeClr val="dk1"/>
              </a:buClr>
              <a:buSzPts val="2000"/>
              <a:buFont typeface="Arial"/>
              <a:buNone/>
            </a:pPr>
            <a:r>
              <a:rPr lang="en" sz="2000">
                <a:solidFill>
                  <a:schemeClr val="dk1"/>
                </a:solidFill>
                <a:latin typeface="Nunito"/>
                <a:ea typeface="Nunito"/>
                <a:cs typeface="Nunito"/>
                <a:sym typeface="Nunito"/>
              </a:rPr>
              <a:t>Example: COMPAS software, used in the US justice system, is a high-profile case of algorithmic decision-making alleged to be unfair.</a:t>
            </a:r>
            <a:endParaRPr sz="2000">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sz="2000">
              <a:solidFill>
                <a:schemeClr val="dk1"/>
              </a:solidFill>
              <a:latin typeface="Nunito"/>
              <a:ea typeface="Nunito"/>
              <a:cs typeface="Nunito"/>
              <a:sym typeface="Nunito"/>
            </a:endParaRPr>
          </a:p>
        </p:txBody>
      </p:sp>
      <p:sp>
        <p:nvSpPr>
          <p:cNvPr id="257" name="Google Shape;257;p31"/>
          <p:cNvSpPr txBox="1"/>
          <p:nvPr>
            <p:ph type="title"/>
          </p:nvPr>
        </p:nvSpPr>
        <p:spPr>
          <a:xfrm>
            <a:off x="423450" y="900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AIs can be unfair</a:t>
            </a:r>
            <a:endParaRPr/>
          </a:p>
        </p:txBody>
      </p:sp>
      <p:grpSp>
        <p:nvGrpSpPr>
          <p:cNvPr id="258" name="Google Shape;258;p31"/>
          <p:cNvGrpSpPr/>
          <p:nvPr/>
        </p:nvGrpSpPr>
        <p:grpSpPr>
          <a:xfrm>
            <a:off x="6091425" y="156625"/>
            <a:ext cx="2917950" cy="4637824"/>
            <a:chOff x="6091425" y="156625"/>
            <a:chExt cx="2917950" cy="4637824"/>
          </a:xfrm>
        </p:grpSpPr>
        <p:pic>
          <p:nvPicPr>
            <p:cNvPr id="259" name="Google Shape;259;p31"/>
            <p:cNvPicPr preferRelativeResize="0"/>
            <p:nvPr/>
          </p:nvPicPr>
          <p:blipFill rotWithShape="1">
            <a:blip r:embed="rId4">
              <a:alphaModFix/>
            </a:blip>
            <a:srcRect b="0" l="0" r="0" t="0"/>
            <a:stretch/>
          </p:blipFill>
          <p:spPr>
            <a:xfrm>
              <a:off x="6091425" y="156625"/>
              <a:ext cx="2917950" cy="2268765"/>
            </a:xfrm>
            <a:prstGeom prst="rect">
              <a:avLst/>
            </a:prstGeom>
            <a:noFill/>
            <a:ln>
              <a:noFill/>
            </a:ln>
          </p:spPr>
        </p:pic>
        <p:pic>
          <p:nvPicPr>
            <p:cNvPr id="260" name="Google Shape;260;p31"/>
            <p:cNvPicPr preferRelativeResize="0"/>
            <p:nvPr/>
          </p:nvPicPr>
          <p:blipFill rotWithShape="1">
            <a:blip r:embed="rId5">
              <a:alphaModFix/>
            </a:blip>
            <a:srcRect b="0" l="0" r="0" t="0"/>
            <a:stretch/>
          </p:blipFill>
          <p:spPr>
            <a:xfrm>
              <a:off x="6109218" y="2582565"/>
              <a:ext cx="2882367" cy="221188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3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3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Effect filter="fade" transition="in">
                                      <p:cBhvr>
                                        <p:cTn dur="300"/>
                                        <p:tgtEl>
                                          <p:spTgt spid="2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Effect filter="fade" transition="in">
                                      <p:cBhvr>
                                        <p:cTn dur="300"/>
                                        <p:tgtEl>
                                          <p:spTgt spid="2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Effect filter="fade" transition="in">
                                      <p:cBhvr>
                                        <p:cTn dur="300"/>
                                        <p:tgtEl>
                                          <p:spTgt spid="2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animEffect filter="fade" transition="in">
                                      <p:cBhvr>
                                        <p:cTn dur="300"/>
                                        <p:tgtEl>
                                          <p:spTgt spid="2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
                                        <p:tgtEl>
                                          <p:spTgt spid="257"/>
                                        </p:tgtEl>
                                      </p:cBhvr>
                                    </p:animEffect>
                                    <p:set>
                                      <p:cBhvr>
                                        <p:cTn dur="1" fill="hold">
                                          <p:stCondLst>
                                            <p:cond delay="300"/>
                                          </p:stCondLst>
                                        </p:cTn>
                                        <p:tgtEl>
                                          <p:spTgt spid="2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300"/>
                                        <p:tgtEl>
                                          <p:spTgt spid="256"/>
                                        </p:tgtEl>
                                      </p:cBhvr>
                                    </p:animEffect>
                                    <p:set>
                                      <p:cBhvr>
                                        <p:cTn dur="1" fill="hold">
                                          <p:stCondLst>
                                            <p:cond delay="300"/>
                                          </p:stCondLst>
                                        </p:cTn>
                                        <p:tgtEl>
                                          <p:spTgt spid="256"/>
                                        </p:tgtEl>
                                        <p:attrNameLst>
                                          <p:attrName>style.visibility</p:attrName>
                                        </p:attrNameLst>
                                      </p:cBhvr>
                                      <p:to>
                                        <p:strVal val="hidden"/>
                                      </p:to>
                                    </p:se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300"/>
                                        <p:tgtEl>
                                          <p:spTgt spid="251"/>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3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
                                        <p:tgtEl>
                                          <p:spTgt spid="251"/>
                                        </p:tgtEl>
                                      </p:cBhvr>
                                    </p:animEffect>
                                    <p:set>
                                      <p:cBhvr>
                                        <p:cTn dur="1" fill="hold">
                                          <p:stCondLst>
                                            <p:cond delay="300"/>
                                          </p:stCondLst>
                                        </p:cTn>
                                        <p:tgtEl>
                                          <p:spTgt spid="2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300"/>
                                        <p:tgtEl>
                                          <p:spTgt spid="258"/>
                                        </p:tgtEl>
                                      </p:cBhvr>
                                    </p:animEffect>
                                    <p:set>
                                      <p:cBhvr>
                                        <p:cTn dur="1" fill="hold">
                                          <p:stCondLst>
                                            <p:cond delay="300"/>
                                          </p:stCondLst>
                                        </p:cTn>
                                        <p:tgtEl>
                                          <p:spTgt spid="25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300"/>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3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animEffect filter="fade" transition="in">
                                      <p:cBhvr>
                                        <p:cTn dur="300"/>
                                        <p:tgtEl>
                                          <p:spTgt spid="2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animEffect filter="fade" transition="in">
                                      <p:cBhvr>
                                        <p:cTn dur="300"/>
                                        <p:tgtEl>
                                          <p:spTgt spid="2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2" st="2"/>
                                            </p:txEl>
                                          </p:spTgt>
                                        </p:tgtEl>
                                        <p:attrNameLst>
                                          <p:attrName>style.visibility</p:attrName>
                                        </p:attrNameLst>
                                      </p:cBhvr>
                                      <p:to>
                                        <p:strVal val="visible"/>
                                      </p:to>
                                    </p:set>
                                    <p:animEffect filter="fade" transition="in">
                                      <p:cBhvr>
                                        <p:cTn dur="300"/>
                                        <p:tgtEl>
                                          <p:spTgt spid="2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3" st="3"/>
                                            </p:txEl>
                                          </p:spTgt>
                                        </p:tgtEl>
                                        <p:attrNameLst>
                                          <p:attrName>style.visibility</p:attrName>
                                        </p:attrNameLst>
                                      </p:cBhvr>
                                      <p:to>
                                        <p:strVal val="visible"/>
                                      </p:to>
                                    </p:set>
                                    <p:animEffect filter="fade" transition="in">
                                      <p:cBhvr>
                                        <p:cTn dur="300"/>
                                        <p:tgtEl>
                                          <p:spTgt spid="25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75" name="Google Shape;275;p3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18</a:t>
            </a:fld>
            <a:endParaRPr b="0" i="0" sz="1300" u="none" cap="none" strike="noStrike">
              <a:solidFill>
                <a:srgbClr val="FFFFFF"/>
              </a:solidFill>
              <a:latin typeface="Nunito"/>
              <a:ea typeface="Nunito"/>
              <a:cs typeface="Nunito"/>
              <a:sym typeface="Nunito"/>
            </a:endParaRPr>
          </a:p>
        </p:txBody>
      </p:sp>
      <p:sp>
        <p:nvSpPr>
          <p:cNvPr id="276" name="Google Shape;276;p3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77" name="Google Shape;277;p33"/>
          <p:cNvSpPr txBox="1"/>
          <p:nvPr/>
        </p:nvSpPr>
        <p:spPr>
          <a:xfrm>
            <a:off x="423400" y="931675"/>
            <a:ext cx="8750100" cy="364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Individual fairness</a:t>
            </a:r>
            <a:r>
              <a:rPr b="0" i="0" lang="en" sz="2000" u="none" cap="none" strike="noStrike">
                <a:solidFill>
                  <a:schemeClr val="dk1"/>
                </a:solidFill>
                <a:latin typeface="Nunito"/>
                <a:ea typeface="Nunito"/>
                <a:cs typeface="Nunito"/>
                <a:sym typeface="Nunito"/>
              </a:rPr>
              <a:t>: treating similar individuals similarly.</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Group fairness</a:t>
            </a:r>
            <a:r>
              <a:rPr b="0" i="0" lang="en" sz="2000" u="none" cap="none" strike="noStrike">
                <a:solidFill>
                  <a:schemeClr val="dk1"/>
                </a:solidFill>
                <a:latin typeface="Nunito"/>
                <a:ea typeface="Nunito"/>
                <a:cs typeface="Nunito"/>
                <a:sym typeface="Nunito"/>
              </a:rPr>
              <a:t>: protected groups receive similar outcomes as the majority.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Procedural fairness</a:t>
            </a:r>
            <a:r>
              <a:rPr b="0" i="0" lang="en" sz="2000" u="none" cap="none" strike="noStrike">
                <a:solidFill>
                  <a:schemeClr val="dk1"/>
                </a:solidFill>
                <a:latin typeface="Nunito"/>
                <a:ea typeface="Nunito"/>
                <a:cs typeface="Nunito"/>
                <a:sym typeface="Nunito"/>
              </a:rPr>
              <a:t>: consistent and transparent processes.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Distributive fairness</a:t>
            </a:r>
            <a:r>
              <a:rPr b="0" i="0" lang="en" sz="2000" u="none" cap="none" strike="noStrike">
                <a:solidFill>
                  <a:schemeClr val="dk1"/>
                </a:solidFill>
                <a:latin typeface="Nunito"/>
                <a:ea typeface="Nunito"/>
                <a:cs typeface="Nunito"/>
                <a:sym typeface="Nunito"/>
              </a:rPr>
              <a:t>: equal distributions of resources.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Counterfactual fairness</a:t>
            </a:r>
            <a:r>
              <a:rPr b="0" i="0" lang="en" sz="2000" u="none" cap="none" strike="noStrike">
                <a:solidFill>
                  <a:schemeClr val="dk1"/>
                </a:solidFill>
                <a:latin typeface="Nunito"/>
                <a:ea typeface="Nunito"/>
                <a:cs typeface="Nunito"/>
                <a:sym typeface="Nunito"/>
              </a:rPr>
              <a:t>: predictions are the same even if a protected characteristic like race were different, all else being equal.</a:t>
            </a:r>
            <a:endParaRPr b="0" i="0" sz="2000" u="none" cap="none" strike="noStrike">
              <a:solidFill>
                <a:schemeClr val="dk1"/>
              </a:solidFill>
              <a:latin typeface="Nunito"/>
              <a:ea typeface="Nunito"/>
              <a:cs typeface="Nunito"/>
              <a:sym typeface="Nunito"/>
            </a:endParaRPr>
          </a:p>
        </p:txBody>
      </p:sp>
      <p:sp>
        <p:nvSpPr>
          <p:cNvPr id="278" name="Google Shape;278;p33"/>
          <p:cNvSpPr txBox="1"/>
          <p:nvPr>
            <p:ph type="title"/>
          </p:nvPr>
        </p:nvSpPr>
        <p:spPr>
          <a:xfrm>
            <a:off x="423450" y="900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Five Concepts of Fairness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Effect filter="fade" transition="in">
                                      <p:cBhvr>
                                        <p:cTn dur="300"/>
                                        <p:tgtEl>
                                          <p:spTgt spid="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Effect filter="fade" transition="in">
                                      <p:cBhvr>
                                        <p:cTn dur="300"/>
                                        <p:tgtEl>
                                          <p:spTgt spid="2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Effect filter="fade" transition="in">
                                      <p:cBhvr>
                                        <p:cTn dur="300"/>
                                        <p:tgtEl>
                                          <p:spTgt spid="2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Effect filter="fade" transition="in">
                                      <p:cBhvr>
                                        <p:cTn dur="300"/>
                                        <p:tgtEl>
                                          <p:spTgt spid="2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Effect filter="fade" transition="in">
                                      <p:cBhvr>
                                        <p:cTn dur="300"/>
                                        <p:tgtEl>
                                          <p:spTgt spid="2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Effect filter="fade" transition="in">
                                      <p:cBhvr>
                                        <p:cTn dur="300"/>
                                        <p:tgtEl>
                                          <p:spTgt spid="2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6" st="6"/>
                                            </p:txEl>
                                          </p:spTgt>
                                        </p:tgtEl>
                                        <p:attrNameLst>
                                          <p:attrName>style.visibility</p:attrName>
                                        </p:attrNameLst>
                                      </p:cBhvr>
                                      <p:to>
                                        <p:strVal val="visible"/>
                                      </p:to>
                                    </p:set>
                                    <p:animEffect filter="fade" transition="in">
                                      <p:cBhvr>
                                        <p:cTn dur="300"/>
                                        <p:tgtEl>
                                          <p:spTgt spid="27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7" st="7"/>
                                            </p:txEl>
                                          </p:spTgt>
                                        </p:tgtEl>
                                        <p:attrNameLst>
                                          <p:attrName>style.visibility</p:attrName>
                                        </p:attrNameLst>
                                      </p:cBhvr>
                                      <p:to>
                                        <p:strVal val="visible"/>
                                      </p:to>
                                    </p:set>
                                    <p:animEffect filter="fade" transition="in">
                                      <p:cBhvr>
                                        <p:cTn dur="300"/>
                                        <p:tgtEl>
                                          <p:spTgt spid="27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8" st="8"/>
                                            </p:txEl>
                                          </p:spTgt>
                                        </p:tgtEl>
                                        <p:attrNameLst>
                                          <p:attrName>style.visibility</p:attrName>
                                        </p:attrNameLst>
                                      </p:cBhvr>
                                      <p:to>
                                        <p:strVal val="visible"/>
                                      </p:to>
                                    </p:set>
                                    <p:animEffect filter="fade" transition="in">
                                      <p:cBhvr>
                                        <p:cTn dur="300"/>
                                        <p:tgtEl>
                                          <p:spTgt spid="27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84" name="Google Shape;284;p3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19</a:t>
            </a:fld>
            <a:endParaRPr b="0" i="0" sz="1300" u="none" cap="none" strike="noStrike">
              <a:solidFill>
                <a:srgbClr val="FFFFFF"/>
              </a:solidFill>
              <a:latin typeface="Nunito"/>
              <a:ea typeface="Nunito"/>
              <a:cs typeface="Nunito"/>
              <a:sym typeface="Nunito"/>
            </a:endParaRPr>
          </a:p>
        </p:txBody>
      </p:sp>
      <p:sp>
        <p:nvSpPr>
          <p:cNvPr id="285" name="Google Shape;285;p3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86" name="Google Shape;286;p34"/>
          <p:cNvSpPr txBox="1"/>
          <p:nvPr/>
        </p:nvSpPr>
        <p:spPr>
          <a:xfrm>
            <a:off x="423400" y="931675"/>
            <a:ext cx="8750100" cy="364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Statistical parity</a:t>
            </a:r>
            <a:r>
              <a:rPr i="0" lang="en" sz="2000" u="none" cap="none" strike="noStrike">
                <a:solidFill>
                  <a:schemeClr val="dk1"/>
                </a:solidFill>
                <a:latin typeface="Nunito"/>
                <a:ea typeface="Nunito"/>
                <a:cs typeface="Nunito"/>
                <a:sym typeface="Nunito"/>
              </a:rPr>
              <a:t>: the algorithm is fair if it makes positive decisions at an equal rate for different groups.</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Equalized odds</a:t>
            </a:r>
            <a:r>
              <a:rPr i="0" lang="en" sz="2000" u="none" cap="none" strike="noStrike">
                <a:solidFill>
                  <a:schemeClr val="dk1"/>
                </a:solidFill>
                <a:latin typeface="Nunito"/>
                <a:ea typeface="Nunito"/>
                <a:cs typeface="Nunito"/>
                <a:sym typeface="Nunito"/>
              </a:rPr>
              <a:t>: the algorithm is fair if the false positive rate and false negative rates are equal across different groups.</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Calibration</a:t>
            </a:r>
            <a:r>
              <a:rPr i="0" lang="en" sz="2000" u="none" cap="none" strike="noStrike">
                <a:solidFill>
                  <a:schemeClr val="dk1"/>
                </a:solidFill>
                <a:latin typeface="Nunito"/>
                <a:ea typeface="Nunito"/>
                <a:cs typeface="Nunito"/>
                <a:sym typeface="Nunito"/>
              </a:rPr>
              <a:t>: the algorithm is fair if the population long-run frequency of positives matches the predicted probabilities from the model.</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i="0" sz="2000" u="none" cap="none" strike="noStrike">
              <a:solidFill>
                <a:schemeClr val="dk1"/>
              </a:solidFill>
              <a:latin typeface="Nunito"/>
              <a:ea typeface="Nunito"/>
              <a:cs typeface="Nunito"/>
              <a:sym typeface="Nunito"/>
            </a:endParaRPr>
          </a:p>
        </p:txBody>
      </p:sp>
      <p:sp>
        <p:nvSpPr>
          <p:cNvPr id="287" name="Google Shape;287;p34"/>
          <p:cNvSpPr txBox="1"/>
          <p:nvPr>
            <p:ph type="title"/>
          </p:nvPr>
        </p:nvSpPr>
        <p:spPr>
          <a:xfrm>
            <a:off x="233825" y="90000"/>
            <a:ext cx="8676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Three Definitions of Algorithmic Fairness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xEl>
                                              <p:pRg end="0" st="0"/>
                                            </p:txEl>
                                          </p:spTgt>
                                        </p:tgtEl>
                                        <p:attrNameLst>
                                          <p:attrName>style.visibility</p:attrName>
                                        </p:attrNameLst>
                                      </p:cBhvr>
                                      <p:to>
                                        <p:strVal val="visible"/>
                                      </p:to>
                                    </p:set>
                                    <p:animEffect filter="fade" transition="in">
                                      <p:cBhvr>
                                        <p:cTn dur="300"/>
                                        <p:tgtEl>
                                          <p:spTgt spid="2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xEl>
                                              <p:pRg end="1" st="1"/>
                                            </p:txEl>
                                          </p:spTgt>
                                        </p:tgtEl>
                                        <p:attrNameLst>
                                          <p:attrName>style.visibility</p:attrName>
                                        </p:attrNameLst>
                                      </p:cBhvr>
                                      <p:to>
                                        <p:strVal val="visible"/>
                                      </p:to>
                                    </p:set>
                                    <p:animEffect filter="fade" transition="in">
                                      <p:cBhvr>
                                        <p:cTn dur="300"/>
                                        <p:tgtEl>
                                          <p:spTgt spid="2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xEl>
                                              <p:pRg end="2" st="2"/>
                                            </p:txEl>
                                          </p:spTgt>
                                        </p:tgtEl>
                                        <p:attrNameLst>
                                          <p:attrName>style.visibility</p:attrName>
                                        </p:attrNameLst>
                                      </p:cBhvr>
                                      <p:to>
                                        <p:strVal val="visible"/>
                                      </p:to>
                                    </p:set>
                                    <p:animEffect filter="fade" transition="in">
                                      <p:cBhvr>
                                        <p:cTn dur="300"/>
                                        <p:tgtEl>
                                          <p:spTgt spid="2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xEl>
                                              <p:pRg end="3" st="3"/>
                                            </p:txEl>
                                          </p:spTgt>
                                        </p:tgtEl>
                                        <p:attrNameLst>
                                          <p:attrName>style.visibility</p:attrName>
                                        </p:attrNameLst>
                                      </p:cBhvr>
                                      <p:to>
                                        <p:strVal val="visible"/>
                                      </p:to>
                                    </p:set>
                                    <p:animEffect filter="fade" transition="in">
                                      <p:cBhvr>
                                        <p:cTn dur="300"/>
                                        <p:tgtEl>
                                          <p:spTgt spid="2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xEl>
                                              <p:pRg end="4" st="4"/>
                                            </p:txEl>
                                          </p:spTgt>
                                        </p:tgtEl>
                                        <p:attrNameLst>
                                          <p:attrName>style.visibility</p:attrName>
                                        </p:attrNameLst>
                                      </p:cBhvr>
                                      <p:to>
                                        <p:strVal val="visible"/>
                                      </p:to>
                                    </p:set>
                                    <p:animEffect filter="fade" transition="in">
                                      <p:cBhvr>
                                        <p:cTn dur="300"/>
                                        <p:tgtEl>
                                          <p:spTgt spid="28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xEl>
                                              <p:pRg end="5" st="5"/>
                                            </p:txEl>
                                          </p:spTgt>
                                        </p:tgtEl>
                                        <p:attrNameLst>
                                          <p:attrName>style.visibility</p:attrName>
                                        </p:attrNameLst>
                                      </p:cBhvr>
                                      <p:to>
                                        <p:strVal val="visible"/>
                                      </p:to>
                                    </p:set>
                                    <p:animEffect filter="fade" transition="in">
                                      <p:cBhvr>
                                        <p:cTn dur="300"/>
                                        <p:tgtEl>
                                          <p:spTgt spid="28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93" name="Google Shape;293;p3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20</a:t>
            </a:fld>
            <a:endParaRPr b="0" i="0" sz="1300" u="none" cap="none" strike="noStrike">
              <a:solidFill>
                <a:srgbClr val="FFFFFF"/>
              </a:solidFill>
              <a:latin typeface="Nunito"/>
              <a:ea typeface="Nunito"/>
              <a:cs typeface="Nunito"/>
              <a:sym typeface="Nunito"/>
            </a:endParaRPr>
          </a:p>
        </p:txBody>
      </p:sp>
      <p:sp>
        <p:nvSpPr>
          <p:cNvPr id="294" name="Google Shape;294;p3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95" name="Google Shape;295;p35"/>
          <p:cNvSpPr txBox="1"/>
          <p:nvPr/>
        </p:nvSpPr>
        <p:spPr>
          <a:xfrm>
            <a:off x="423400" y="779275"/>
            <a:ext cx="8750100" cy="3906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i="0" lang="en" sz="2000" u="none" cap="none" strike="noStrike">
                <a:solidFill>
                  <a:schemeClr val="dk1"/>
                </a:solidFill>
                <a:latin typeface="Nunito"/>
                <a:ea typeface="Nunito"/>
                <a:cs typeface="Nunito"/>
                <a:sym typeface="Nunito"/>
              </a:rPr>
              <a:t>The impossibility theorem for AI fairness: the three classic definitions of fairness are (usually) logically contradictory, and so no “fair” predictor exists.</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i="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Due to mutual incompatibility of broad notions of fairness, people claim</a:t>
            </a:r>
            <a:r>
              <a:rPr i="0" lang="en" sz="2000" u="none" cap="none" strike="noStrike">
                <a:solidFill>
                  <a:schemeClr val="dk1"/>
                </a:solidFill>
                <a:latin typeface="Nunito"/>
                <a:ea typeface="Nunito"/>
                <a:cs typeface="Nunito"/>
                <a:sym typeface="Nunito"/>
              </a:rPr>
              <a:t> fairness is context-specific; intuitions about fairness vary.</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96" name="Google Shape;296;p35"/>
          <p:cNvSpPr txBox="1"/>
          <p:nvPr>
            <p:ph type="title"/>
          </p:nvPr>
        </p:nvSpPr>
        <p:spPr>
          <a:xfrm>
            <a:off x="423450" y="900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Limitations of Fairness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animEffect filter="fade" transition="in">
                                      <p:cBhvr>
                                        <p:cTn dur="300"/>
                                        <p:tgtEl>
                                          <p:spTgt spid="2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animEffect filter="fade" transition="in">
                                      <p:cBhvr>
                                        <p:cTn dur="300"/>
                                        <p:tgtEl>
                                          <p:spTgt spid="2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animEffect filter="fade" transition="in">
                                      <p:cBhvr>
                                        <p:cTn dur="300"/>
                                        <p:tgtEl>
                                          <p:spTgt spid="2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animEffect filter="fade" transition="in">
                                      <p:cBhvr>
                                        <p:cTn dur="300"/>
                                        <p:tgtEl>
                                          <p:spTgt spid="29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02" name="Google Shape;302;p3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21</a:t>
            </a:fld>
            <a:endParaRPr b="0" i="0" sz="1300" u="none" cap="none" strike="noStrike">
              <a:solidFill>
                <a:srgbClr val="FFFFFF"/>
              </a:solidFill>
              <a:latin typeface="Nunito"/>
              <a:ea typeface="Nunito"/>
              <a:cs typeface="Nunito"/>
              <a:sym typeface="Nunito"/>
            </a:endParaRPr>
          </a:p>
        </p:txBody>
      </p:sp>
      <p:sp>
        <p:nvSpPr>
          <p:cNvPr id="303" name="Google Shape;303;p3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04" name="Google Shape;304;p36"/>
          <p:cNvSpPr txBox="1"/>
          <p:nvPr/>
        </p:nvSpPr>
        <p:spPr>
          <a:xfrm>
            <a:off x="423400" y="779275"/>
            <a:ext cx="8750100" cy="3906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i="0" lang="en" sz="2000" u="none" cap="none" strike="noStrike">
                <a:solidFill>
                  <a:schemeClr val="dk1"/>
                </a:solidFill>
                <a:latin typeface="Nunito"/>
                <a:ea typeface="Nunito"/>
                <a:cs typeface="Nunito"/>
                <a:sym typeface="Nunito"/>
              </a:rPr>
              <a:t>Technical approaches:</a:t>
            </a:r>
            <a:endParaRPr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i="0" lang="en" sz="2000" u="none" cap="none" strike="noStrike">
                <a:solidFill>
                  <a:schemeClr val="dk1"/>
                </a:solidFill>
                <a:latin typeface="Nunito"/>
                <a:ea typeface="Nunito"/>
                <a:cs typeface="Nunito"/>
                <a:sym typeface="Nunito"/>
              </a:rPr>
              <a:t>Example: ensuring equal rates of errors across groups.</a:t>
            </a:r>
            <a:endParaRPr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i="0" lang="en" sz="2000" u="none" cap="none" strike="noStrike">
                <a:solidFill>
                  <a:schemeClr val="dk1"/>
                </a:solidFill>
                <a:latin typeface="Nunito"/>
                <a:ea typeface="Nunito"/>
                <a:cs typeface="Nunito"/>
                <a:sym typeface="Nunito"/>
              </a:rPr>
              <a:t>Strengths: systematic and generalizable across domains.</a:t>
            </a:r>
            <a:endParaRPr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i="0" lang="en" sz="2000" u="none" cap="none" strike="noStrike">
                <a:solidFill>
                  <a:schemeClr val="dk1"/>
                </a:solidFill>
                <a:latin typeface="Nunito"/>
                <a:ea typeface="Nunito"/>
                <a:cs typeface="Nunito"/>
                <a:sym typeface="Nunito"/>
              </a:rPr>
              <a:t>Weaknesses: fail to address problems holistically.</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i="0" lang="en" sz="2000" u="none" cap="none" strike="noStrike">
                <a:solidFill>
                  <a:schemeClr val="dk1"/>
                </a:solidFill>
                <a:latin typeface="Nunito"/>
                <a:ea typeface="Nunito"/>
                <a:cs typeface="Nunito"/>
                <a:sym typeface="Nunito"/>
              </a:rPr>
              <a:t>Social approaches:</a:t>
            </a:r>
            <a:endParaRPr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i="0" lang="en" sz="2000" u="none" cap="none" strike="noStrike">
                <a:solidFill>
                  <a:schemeClr val="dk1"/>
                </a:solidFill>
                <a:latin typeface="Nunito"/>
                <a:ea typeface="Nunito"/>
                <a:cs typeface="Nunito"/>
                <a:sym typeface="Nunito"/>
              </a:rPr>
              <a:t>Example: participatory design involving stakeholders impacted.</a:t>
            </a:r>
            <a:endParaRPr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i="0" lang="en" sz="2000" u="none" cap="none" strike="noStrike">
                <a:solidFill>
                  <a:schemeClr val="dk1"/>
                </a:solidFill>
                <a:latin typeface="Nunito"/>
                <a:ea typeface="Nunito"/>
                <a:cs typeface="Nunito"/>
                <a:sym typeface="Nunito"/>
              </a:rPr>
              <a:t>Strengths: focused on reducing bad outcomes, not only bad decisions.</a:t>
            </a:r>
            <a:endParaRPr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i="0" lang="en" sz="2000" u="none" cap="none" strike="noStrike">
                <a:solidFill>
                  <a:schemeClr val="dk1"/>
                </a:solidFill>
                <a:latin typeface="Nunito"/>
                <a:ea typeface="Nunito"/>
                <a:cs typeface="Nunito"/>
                <a:sym typeface="Nunito"/>
              </a:rPr>
              <a:t>Weaknesses: more subjective, expensive, and difficult.</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i="0" lang="en" sz="2000" u="none" cap="none" strike="noStrike">
                <a:solidFill>
                  <a:schemeClr val="dk1"/>
                </a:solidFill>
                <a:latin typeface="Nunito"/>
                <a:ea typeface="Nunito"/>
                <a:cs typeface="Nunito"/>
                <a:sym typeface="Nunito"/>
              </a:rPr>
              <a:t>As always, the best approaches combine social and technical solutions.</a:t>
            </a:r>
            <a:endParaRPr i="0" sz="2000" u="none" cap="none" strike="noStrike">
              <a:solidFill>
                <a:schemeClr val="dk1"/>
              </a:solidFill>
              <a:latin typeface="Nunito"/>
              <a:ea typeface="Nunito"/>
              <a:cs typeface="Nunito"/>
              <a:sym typeface="Nunito"/>
            </a:endParaRPr>
          </a:p>
        </p:txBody>
      </p:sp>
      <p:sp>
        <p:nvSpPr>
          <p:cNvPr id="305" name="Google Shape;305;p36"/>
          <p:cNvSpPr txBox="1"/>
          <p:nvPr>
            <p:ph type="title"/>
          </p:nvPr>
        </p:nvSpPr>
        <p:spPr>
          <a:xfrm>
            <a:off x="423450" y="900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Improving Fairness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0" st="0"/>
                                            </p:txEl>
                                          </p:spTgt>
                                        </p:tgtEl>
                                        <p:attrNameLst>
                                          <p:attrName>style.visibility</p:attrName>
                                        </p:attrNameLst>
                                      </p:cBhvr>
                                      <p:to>
                                        <p:strVal val="visible"/>
                                      </p:to>
                                    </p:set>
                                    <p:animEffect filter="fade" transition="in">
                                      <p:cBhvr>
                                        <p:cTn dur="300"/>
                                        <p:tgtEl>
                                          <p:spTgt spid="3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1" st="1"/>
                                            </p:txEl>
                                          </p:spTgt>
                                        </p:tgtEl>
                                        <p:attrNameLst>
                                          <p:attrName>style.visibility</p:attrName>
                                        </p:attrNameLst>
                                      </p:cBhvr>
                                      <p:to>
                                        <p:strVal val="visible"/>
                                      </p:to>
                                    </p:set>
                                    <p:animEffect filter="fade" transition="in">
                                      <p:cBhvr>
                                        <p:cTn dur="300"/>
                                        <p:tgtEl>
                                          <p:spTgt spid="3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2" st="2"/>
                                            </p:txEl>
                                          </p:spTgt>
                                        </p:tgtEl>
                                        <p:attrNameLst>
                                          <p:attrName>style.visibility</p:attrName>
                                        </p:attrNameLst>
                                      </p:cBhvr>
                                      <p:to>
                                        <p:strVal val="visible"/>
                                      </p:to>
                                    </p:set>
                                    <p:animEffect filter="fade" transition="in">
                                      <p:cBhvr>
                                        <p:cTn dur="300"/>
                                        <p:tgtEl>
                                          <p:spTgt spid="3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3" st="3"/>
                                            </p:txEl>
                                          </p:spTgt>
                                        </p:tgtEl>
                                        <p:attrNameLst>
                                          <p:attrName>style.visibility</p:attrName>
                                        </p:attrNameLst>
                                      </p:cBhvr>
                                      <p:to>
                                        <p:strVal val="visible"/>
                                      </p:to>
                                    </p:set>
                                    <p:animEffect filter="fade" transition="in">
                                      <p:cBhvr>
                                        <p:cTn dur="300"/>
                                        <p:tgtEl>
                                          <p:spTgt spid="3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4" st="4"/>
                                            </p:txEl>
                                          </p:spTgt>
                                        </p:tgtEl>
                                        <p:attrNameLst>
                                          <p:attrName>style.visibility</p:attrName>
                                        </p:attrNameLst>
                                      </p:cBhvr>
                                      <p:to>
                                        <p:strVal val="visible"/>
                                      </p:to>
                                    </p:set>
                                    <p:animEffect filter="fade" transition="in">
                                      <p:cBhvr>
                                        <p:cTn dur="300"/>
                                        <p:tgtEl>
                                          <p:spTgt spid="3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5" st="5"/>
                                            </p:txEl>
                                          </p:spTgt>
                                        </p:tgtEl>
                                        <p:attrNameLst>
                                          <p:attrName>style.visibility</p:attrName>
                                        </p:attrNameLst>
                                      </p:cBhvr>
                                      <p:to>
                                        <p:strVal val="visible"/>
                                      </p:to>
                                    </p:set>
                                    <p:animEffect filter="fade" transition="in">
                                      <p:cBhvr>
                                        <p:cTn dur="300"/>
                                        <p:tgtEl>
                                          <p:spTgt spid="30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6" st="6"/>
                                            </p:txEl>
                                          </p:spTgt>
                                        </p:tgtEl>
                                        <p:attrNameLst>
                                          <p:attrName>style.visibility</p:attrName>
                                        </p:attrNameLst>
                                      </p:cBhvr>
                                      <p:to>
                                        <p:strVal val="visible"/>
                                      </p:to>
                                    </p:set>
                                    <p:animEffect filter="fade" transition="in">
                                      <p:cBhvr>
                                        <p:cTn dur="300"/>
                                        <p:tgtEl>
                                          <p:spTgt spid="30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7" st="7"/>
                                            </p:txEl>
                                          </p:spTgt>
                                        </p:tgtEl>
                                        <p:attrNameLst>
                                          <p:attrName>style.visibility</p:attrName>
                                        </p:attrNameLst>
                                      </p:cBhvr>
                                      <p:to>
                                        <p:strVal val="visible"/>
                                      </p:to>
                                    </p:set>
                                    <p:animEffect filter="fade" transition="in">
                                      <p:cBhvr>
                                        <p:cTn dur="300"/>
                                        <p:tgtEl>
                                          <p:spTgt spid="30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8" st="8"/>
                                            </p:txEl>
                                          </p:spTgt>
                                        </p:tgtEl>
                                        <p:attrNameLst>
                                          <p:attrName>style.visibility</p:attrName>
                                        </p:attrNameLst>
                                      </p:cBhvr>
                                      <p:to>
                                        <p:strVal val="visible"/>
                                      </p:to>
                                    </p:set>
                                    <p:animEffect filter="fade" transition="in">
                                      <p:cBhvr>
                                        <p:cTn dur="300"/>
                                        <p:tgtEl>
                                          <p:spTgt spid="30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9" st="9"/>
                                            </p:txEl>
                                          </p:spTgt>
                                        </p:tgtEl>
                                        <p:attrNameLst>
                                          <p:attrName>style.visibility</p:attrName>
                                        </p:attrNameLst>
                                      </p:cBhvr>
                                      <p:to>
                                        <p:strVal val="visible"/>
                                      </p:to>
                                    </p:set>
                                    <p:animEffect filter="fade" transition="in">
                                      <p:cBhvr>
                                        <p:cTn dur="300"/>
                                        <p:tgtEl>
                                          <p:spTgt spid="30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10" st="10"/>
                                            </p:txEl>
                                          </p:spTgt>
                                        </p:tgtEl>
                                        <p:attrNameLst>
                                          <p:attrName>style.visibility</p:attrName>
                                        </p:attrNameLst>
                                      </p:cBhvr>
                                      <p:to>
                                        <p:strVal val="visible"/>
                                      </p:to>
                                    </p:set>
                                    <p:animEffect filter="fade" transition="in">
                                      <p:cBhvr>
                                        <p:cTn dur="300"/>
                                        <p:tgtEl>
                                          <p:spTgt spid="30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11" name="Google Shape;311;p3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22</a:t>
            </a:fld>
            <a:endParaRPr b="0" i="0" sz="1300" u="none" cap="none" strike="noStrike">
              <a:solidFill>
                <a:srgbClr val="FFFFFF"/>
              </a:solidFill>
              <a:latin typeface="Nunito"/>
              <a:ea typeface="Nunito"/>
              <a:cs typeface="Nunito"/>
              <a:sym typeface="Nunito"/>
            </a:endParaRPr>
          </a:p>
        </p:txBody>
      </p:sp>
      <p:sp>
        <p:nvSpPr>
          <p:cNvPr id="312" name="Google Shape;312;p3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13" name="Google Shape;313;p37"/>
          <p:cNvSpPr txBox="1"/>
          <p:nvPr/>
        </p:nvSpPr>
        <p:spPr>
          <a:xfrm>
            <a:off x="423400" y="1007875"/>
            <a:ext cx="8750100" cy="3567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i="0" lang="en" sz="2000" u="none" cap="none" strike="noStrike">
                <a:solidFill>
                  <a:schemeClr val="dk1"/>
                </a:solidFill>
                <a:latin typeface="Nunito"/>
                <a:ea typeface="Nunito"/>
                <a:cs typeface="Nunito"/>
                <a:sym typeface="Nunito"/>
              </a:rPr>
              <a:t>Algorithmic fairness is the type of fairness most relevant to AI systems.</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i="0" lang="en" sz="2000" u="none" cap="none" strike="noStrike">
                <a:solidFill>
                  <a:schemeClr val="dk1"/>
                </a:solidFill>
                <a:latin typeface="Nunito"/>
                <a:ea typeface="Nunito"/>
                <a:cs typeface="Nunito"/>
                <a:sym typeface="Nunito"/>
              </a:rPr>
              <a:t>Technical definitions of fairness are useful tools that can help flag problems, guide solutions, and measure progress.</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i="0" lang="en" sz="2000" u="none" cap="none" strike="noStrike">
                <a:solidFill>
                  <a:schemeClr val="dk1"/>
                </a:solidFill>
                <a:latin typeface="Nunito"/>
                <a:ea typeface="Nunito"/>
                <a:cs typeface="Nunito"/>
                <a:sym typeface="Nunito"/>
              </a:rPr>
              <a:t>However, the technical definitions are logically contradictory and insufficient for informing developers how to create fair AI systems.</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i="0" lang="en" sz="2000" u="none" cap="none" strike="noStrike">
                <a:solidFill>
                  <a:schemeClr val="dk1"/>
                </a:solidFill>
                <a:latin typeface="Nunito"/>
                <a:ea typeface="Nunito"/>
                <a:cs typeface="Nunito"/>
                <a:sym typeface="Nunito"/>
              </a:rPr>
              <a:t>Improving AI’s real-world fairness requires social and technical approaches. </a:t>
            </a:r>
            <a:endParaRPr i="0" sz="2000" u="none" cap="none" strike="noStrike">
              <a:solidFill>
                <a:schemeClr val="dk1"/>
              </a:solidFill>
              <a:latin typeface="Nunito"/>
              <a:ea typeface="Nunito"/>
              <a:cs typeface="Nunito"/>
              <a:sym typeface="Nunito"/>
            </a:endParaRPr>
          </a:p>
        </p:txBody>
      </p:sp>
      <p:sp>
        <p:nvSpPr>
          <p:cNvPr id="314" name="Google Shape;314;p37"/>
          <p:cNvSpPr txBox="1"/>
          <p:nvPr>
            <p:ph type="title"/>
          </p:nvPr>
        </p:nvSpPr>
        <p:spPr>
          <a:xfrm>
            <a:off x="423450" y="900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Conclusions about Fairness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animEffect filter="fade" transition="in">
                                      <p:cBhvr>
                                        <p:cTn dur="300"/>
                                        <p:tgtEl>
                                          <p:spTgt spid="3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animEffect filter="fade" transition="in">
                                      <p:cBhvr>
                                        <p:cTn dur="300"/>
                                        <p:tgtEl>
                                          <p:spTgt spid="3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animEffect filter="fade" transition="in">
                                      <p:cBhvr>
                                        <p:cTn dur="300"/>
                                        <p:tgtEl>
                                          <p:spTgt spid="3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animEffect filter="fade" transition="in">
                                      <p:cBhvr>
                                        <p:cTn dur="300"/>
                                        <p:tgtEl>
                                          <p:spTgt spid="3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4" st="4"/>
                                            </p:txEl>
                                          </p:spTgt>
                                        </p:tgtEl>
                                        <p:attrNameLst>
                                          <p:attrName>style.visibility</p:attrName>
                                        </p:attrNameLst>
                                      </p:cBhvr>
                                      <p:to>
                                        <p:strVal val="visible"/>
                                      </p:to>
                                    </p:set>
                                    <p:animEffect filter="fade" transition="in">
                                      <p:cBhvr>
                                        <p:cTn dur="300"/>
                                        <p:tgtEl>
                                          <p:spTgt spid="3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5" st="5"/>
                                            </p:txEl>
                                          </p:spTgt>
                                        </p:tgtEl>
                                        <p:attrNameLst>
                                          <p:attrName>style.visibility</p:attrName>
                                        </p:attrNameLst>
                                      </p:cBhvr>
                                      <p:to>
                                        <p:strVal val="visible"/>
                                      </p:to>
                                    </p:set>
                                    <p:animEffect filter="fade" transition="in">
                                      <p:cBhvr>
                                        <p:cTn dur="300"/>
                                        <p:tgtEl>
                                          <p:spTgt spid="3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6" st="6"/>
                                            </p:txEl>
                                          </p:spTgt>
                                        </p:tgtEl>
                                        <p:attrNameLst>
                                          <p:attrName>style.visibility</p:attrName>
                                        </p:attrNameLst>
                                      </p:cBhvr>
                                      <p:to>
                                        <p:strVal val="visible"/>
                                      </p:to>
                                    </p:set>
                                    <p:animEffect filter="fade" transition="in">
                                      <p:cBhvr>
                                        <p:cTn dur="300"/>
                                        <p:tgtEl>
                                          <p:spTgt spid="31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8"/>
          <p:cNvSpPr txBox="1"/>
          <p:nvPr>
            <p:ph type="title"/>
          </p:nvPr>
        </p:nvSpPr>
        <p:spPr>
          <a:xfrm>
            <a:off x="423625" y="559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320" name="Google Shape;320;p38"/>
          <p:cNvSpPr txBox="1"/>
          <p:nvPr/>
        </p:nvSpPr>
        <p:spPr>
          <a:xfrm>
            <a:off x="367450" y="817200"/>
            <a:ext cx="8776500" cy="3667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Law: </a:t>
            </a:r>
            <a:r>
              <a:rPr b="0" i="1" lang="en" sz="2000" u="none" cap="none" strike="noStrike">
                <a:solidFill>
                  <a:schemeClr val="dk1"/>
                </a:solidFill>
                <a:latin typeface="Nunito"/>
                <a:ea typeface="Nunito"/>
                <a:cs typeface="Nunito"/>
                <a:sym typeface="Nunito"/>
              </a:rPr>
              <a:t>Make AIs follow the law.</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Fairness: </a:t>
            </a:r>
            <a:r>
              <a:rPr b="0" i="1" lang="en" sz="2000" u="none" cap="none" strike="noStrike">
                <a:solidFill>
                  <a:schemeClr val="dk1"/>
                </a:solidFill>
                <a:latin typeface="Nunito"/>
                <a:ea typeface="Nunito"/>
                <a:cs typeface="Nunito"/>
                <a:sym typeface="Nunito"/>
              </a:rPr>
              <a:t>Make AIs be fair.</a:t>
            </a:r>
            <a:endParaRPr b="0" i="1" sz="2000" u="none" cap="none" strike="noStrike">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 Economic Engine: </a:t>
            </a:r>
            <a:r>
              <a:rPr i="1" lang="en" sz="2000">
                <a:solidFill>
                  <a:schemeClr val="dk1"/>
                </a:solidFill>
                <a:latin typeface="Nunito"/>
                <a:ea typeface="Nunito"/>
                <a:cs typeface="Nunito"/>
                <a:sym typeface="Nunito"/>
              </a:rPr>
              <a:t>Let the economy govern AI development</a:t>
            </a:r>
            <a:r>
              <a:rPr lang="en" sz="2000">
                <a:solidFill>
                  <a:schemeClr val="dk1"/>
                </a:solidFill>
                <a:latin typeface="Nunito"/>
                <a:ea typeface="Nunito"/>
                <a:cs typeface="Nunito"/>
                <a:sym typeface="Nunito"/>
              </a:rPr>
              <a:t>.</a:t>
            </a:r>
            <a:endParaRPr sz="2000">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Wellbeing: </a:t>
            </a:r>
            <a:r>
              <a:rPr i="1" lang="en" sz="2000">
                <a:solidFill>
                  <a:schemeClr val="dk1"/>
                </a:solidFill>
                <a:latin typeface="Nunito"/>
                <a:ea typeface="Nunito"/>
                <a:cs typeface="Nunito"/>
                <a:sym typeface="Nunito"/>
              </a:rPr>
              <a:t>AIs should improve people’s lives.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Preferences: </a:t>
            </a:r>
            <a:r>
              <a:rPr b="0" i="1" lang="en" sz="2000" u="none" cap="none" strike="noStrike">
                <a:solidFill>
                  <a:schemeClr val="dk1"/>
                </a:solidFill>
                <a:latin typeface="Nunito"/>
                <a:ea typeface="Nunito"/>
                <a:cs typeface="Nunito"/>
                <a:sym typeface="Nunito"/>
              </a:rPr>
              <a:t>Make AIs satisfy people’s preferences.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Happiness: </a:t>
            </a:r>
            <a:r>
              <a:rPr b="0" i="1" lang="en" sz="2000" u="none" cap="none" strike="noStrike">
                <a:solidFill>
                  <a:schemeClr val="dk1"/>
                </a:solidFill>
                <a:latin typeface="Nunito"/>
                <a:ea typeface="Nunito"/>
                <a:cs typeface="Nunito"/>
                <a:sym typeface="Nunito"/>
              </a:rPr>
              <a:t>Make AIs make people happy.</a:t>
            </a:r>
            <a:endParaRPr b="0" i="1" sz="2000" u="none" cap="none" strike="noStrike">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Moral uncertainty: </a:t>
            </a:r>
            <a:r>
              <a:rPr i="1" lang="en" sz="2000">
                <a:solidFill>
                  <a:schemeClr val="dk1"/>
                </a:solidFill>
                <a:latin typeface="Nunito"/>
                <a:ea typeface="Nunito"/>
                <a:cs typeface="Nunito"/>
                <a:sym typeface="Nunito"/>
              </a:rPr>
              <a:t>Deciding without knowing the “correct” moral theory</a:t>
            </a:r>
            <a:endParaRPr i="1" sz="2000">
              <a:solidFill>
                <a:schemeClr val="dk1"/>
              </a:solidFill>
              <a:latin typeface="Nunito"/>
              <a:ea typeface="Nunito"/>
              <a:cs typeface="Nunito"/>
              <a:sym typeface="Nunito"/>
            </a:endParaRPr>
          </a:p>
          <a:p>
            <a:pPr indent="0" lvl="0" marL="0" marR="0" rtl="0" algn="l">
              <a:lnSpc>
                <a:spcPct val="150000"/>
              </a:lnSpc>
              <a:spcBef>
                <a:spcPts val="0"/>
              </a:spcBef>
              <a:spcAft>
                <a:spcPts val="0"/>
              </a:spcAft>
              <a:buNone/>
            </a:pPr>
            <a:r>
              <a:t/>
            </a:r>
            <a:endParaRPr i="1" sz="2000">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p:txBody>
      </p:sp>
      <p:sp>
        <p:nvSpPr>
          <p:cNvPr id="321" name="Google Shape;321;p3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22" name="Google Shape;322;p3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23</a:t>
            </a:fld>
            <a:endParaRPr b="0" i="0" sz="1300" u="none" cap="none" strike="noStrike">
              <a:solidFill>
                <a:srgbClr val="FFFFFF"/>
              </a:solidFill>
              <a:latin typeface="Nunito"/>
              <a:ea typeface="Nunito"/>
              <a:cs typeface="Nunito"/>
              <a:sym typeface="Nunito"/>
            </a:endParaRPr>
          </a:p>
        </p:txBody>
      </p:sp>
      <p:sp>
        <p:nvSpPr>
          <p:cNvPr id="323" name="Google Shape;323;p3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24" name="Google Shape;324;p38"/>
          <p:cNvSpPr/>
          <p:nvPr/>
        </p:nvSpPr>
        <p:spPr>
          <a:xfrm>
            <a:off x="367450" y="1781600"/>
            <a:ext cx="8297100" cy="447300"/>
          </a:xfrm>
          <a:prstGeom prst="rect">
            <a:avLst/>
          </a:prstGeom>
          <a:noFill/>
          <a:ln cap="flat" cmpd="sng" w="9525">
            <a:solidFill>
              <a:srgbClr val="0097A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3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type="title"/>
          </p:nvPr>
        </p:nvSpPr>
        <p:spPr>
          <a:xfrm>
            <a:off x="423450" y="19228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Economic Engine</a:t>
            </a:r>
            <a:endParaRPr sz="3600">
              <a:latin typeface="Nunito"/>
              <a:ea typeface="Nunito"/>
              <a:cs typeface="Nunito"/>
              <a:sym typeface="Nunito"/>
            </a:endParaRPr>
          </a:p>
        </p:txBody>
      </p:sp>
      <p:sp>
        <p:nvSpPr>
          <p:cNvPr id="330" name="Google Shape;330;p3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31" name="Google Shape;331;p3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24</a:t>
            </a:fld>
            <a:endParaRPr b="0" i="0" sz="1300" u="none" cap="none" strike="noStrike">
              <a:solidFill>
                <a:srgbClr val="FFFFFF"/>
              </a:solidFill>
              <a:latin typeface="Nunito"/>
              <a:ea typeface="Nunito"/>
              <a:cs typeface="Nunito"/>
              <a:sym typeface="Nunito"/>
            </a:endParaRPr>
          </a:p>
        </p:txBody>
      </p:sp>
      <p:sp>
        <p:nvSpPr>
          <p:cNvPr id="332" name="Google Shape;332;p3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33" name="Google Shape;333;p39"/>
          <p:cNvSpPr txBox="1"/>
          <p:nvPr/>
        </p:nvSpPr>
        <p:spPr>
          <a:xfrm>
            <a:off x="367500" y="2876550"/>
            <a:ext cx="8409000" cy="49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Why not just </a:t>
            </a:r>
            <a:r>
              <a:rPr i="1" lang="en" sz="2000">
                <a:solidFill>
                  <a:schemeClr val="dk1"/>
                </a:solidFill>
                <a:latin typeface="Nunito"/>
                <a:ea typeface="Nunito"/>
                <a:cs typeface="Nunito"/>
                <a:sym typeface="Nunito"/>
              </a:rPr>
              <a:t>let the economy decide</a:t>
            </a:r>
            <a:r>
              <a:rPr b="0" i="1" lang="en" sz="2000" u="none" cap="none" strike="noStrike">
                <a:solidFill>
                  <a:schemeClr val="dk1"/>
                </a:solidFill>
                <a:latin typeface="Nunito"/>
                <a:ea typeface="Nunito"/>
                <a:cs typeface="Nunito"/>
                <a:sym typeface="Nunito"/>
              </a:rPr>
              <a:t>?</a:t>
            </a:r>
            <a:endParaRPr b="0" i="1"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3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txBox="1"/>
          <p:nvPr>
            <p:ph type="title"/>
          </p:nvPr>
        </p:nvSpPr>
        <p:spPr>
          <a:xfrm>
            <a:off x="423450" y="786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AI and the Economy</a:t>
            </a:r>
            <a:endParaRPr sz="3600">
              <a:latin typeface="Nunito"/>
              <a:ea typeface="Nunito"/>
              <a:cs typeface="Nunito"/>
              <a:sym typeface="Nunito"/>
            </a:endParaRPr>
          </a:p>
        </p:txBody>
      </p:sp>
      <p:sp>
        <p:nvSpPr>
          <p:cNvPr id="339" name="Google Shape;339;p4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40" name="Google Shape;340;p4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25</a:t>
            </a:fld>
            <a:endParaRPr b="0" i="0" sz="1300" u="none" cap="none" strike="noStrike">
              <a:solidFill>
                <a:srgbClr val="FFFFFF"/>
              </a:solidFill>
              <a:latin typeface="Nunito"/>
              <a:ea typeface="Nunito"/>
              <a:cs typeface="Nunito"/>
              <a:sym typeface="Nunito"/>
            </a:endParaRPr>
          </a:p>
        </p:txBody>
      </p:sp>
      <p:sp>
        <p:nvSpPr>
          <p:cNvPr id="341" name="Google Shape;341;p4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42" name="Google Shape;342;p40"/>
          <p:cNvSpPr txBox="1"/>
          <p:nvPr/>
        </p:nvSpPr>
        <p:spPr>
          <a:xfrm>
            <a:off x="423400" y="891550"/>
            <a:ext cx="8409000" cy="1167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AIs are being developed by businesses. Their development is therefore closely tied to economic goals such as profit maximization</a:t>
            </a:r>
            <a:r>
              <a:rPr lang="en" sz="2000">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p:txBody>
      </p:sp>
      <p:sp>
        <p:nvSpPr>
          <p:cNvPr id="343" name="Google Shape;343;p40"/>
          <p:cNvSpPr txBox="1"/>
          <p:nvPr/>
        </p:nvSpPr>
        <p:spPr>
          <a:xfrm>
            <a:off x="423400" y="2161225"/>
            <a:ext cx="8720700" cy="11676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How will economic forces shape the development and behavior of AIs?</a:t>
            </a:r>
            <a:endParaRPr b="0" i="0" sz="2000" u="none" cap="none" strike="noStrike">
              <a:solidFill>
                <a:schemeClr val="dk1"/>
              </a:solidFill>
              <a:latin typeface="Nunito"/>
              <a:ea typeface="Nunito"/>
              <a:cs typeface="Nunito"/>
              <a:sym typeface="Nunito"/>
            </a:endParaRPr>
          </a:p>
        </p:txBody>
      </p:sp>
      <p:pic>
        <p:nvPicPr>
          <p:cNvPr id="344" name="Google Shape;344;p40"/>
          <p:cNvPicPr preferRelativeResize="0"/>
          <p:nvPr/>
        </p:nvPicPr>
        <p:blipFill rotWithShape="1">
          <a:blip r:embed="rId3">
            <a:alphaModFix/>
          </a:blip>
          <a:srcRect b="49810" l="0" r="0" t="-49810"/>
          <a:stretch/>
        </p:blipFill>
        <p:spPr>
          <a:xfrm>
            <a:off x="2596121" y="-982950"/>
            <a:ext cx="6170558" cy="3930099"/>
          </a:xfrm>
          <a:prstGeom prst="rect">
            <a:avLst/>
          </a:prstGeom>
          <a:noFill/>
          <a:ln>
            <a:noFill/>
          </a:ln>
        </p:spPr>
      </p:pic>
      <p:pic>
        <p:nvPicPr>
          <p:cNvPr id="345" name="Google Shape;345;p40"/>
          <p:cNvPicPr preferRelativeResize="0"/>
          <p:nvPr/>
        </p:nvPicPr>
        <p:blipFill rotWithShape="1">
          <a:blip r:embed="rId3">
            <a:alphaModFix/>
          </a:blip>
          <a:srcRect b="0" l="11754" r="0" t="50005"/>
          <a:stretch/>
        </p:blipFill>
        <p:spPr>
          <a:xfrm>
            <a:off x="2230388" y="2829600"/>
            <a:ext cx="5445224" cy="19648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300"/>
                                        <p:tgtEl>
                                          <p:spTgt spid="344"/>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3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300"/>
                                        <p:tgtEl>
                                          <p:spTgt spid="342"/>
                                        </p:tgtEl>
                                      </p:cBhvr>
                                    </p:animEffect>
                                  </p:childTnLst>
                                </p:cTn>
                              </p:par>
                              <p:par>
                                <p:cTn fill="hold" nodeType="withEffect" presetClass="exit" presetID="10" presetSubtype="0">
                                  <p:stCondLst>
                                    <p:cond delay="0"/>
                                  </p:stCondLst>
                                  <p:childTnLst>
                                    <p:animEffect filter="fade" transition="out">
                                      <p:cBhvr>
                                        <p:cTn dur="300"/>
                                        <p:tgtEl>
                                          <p:spTgt spid="344"/>
                                        </p:tgtEl>
                                      </p:cBhvr>
                                    </p:animEffect>
                                    <p:set>
                                      <p:cBhvr>
                                        <p:cTn dur="1" fill="hold">
                                          <p:stCondLst>
                                            <p:cond delay="300"/>
                                          </p:stCondLst>
                                        </p:cTn>
                                        <p:tgtEl>
                                          <p:spTgt spid="344"/>
                                        </p:tgtEl>
                                        <p:attrNameLst>
                                          <p:attrName>style.visibility</p:attrName>
                                        </p:attrNameLst>
                                      </p:cBhvr>
                                      <p:to>
                                        <p:strVal val="hidden"/>
                                      </p:to>
                                    </p:set>
                                  </p:childTnLst>
                                </p:cTn>
                              </p:par>
                            </p:childTnLst>
                          </p:cTn>
                        </p:par>
                        <p:par>
                          <p:cTn fill="hold">
                            <p:stCondLst>
                              <p:cond delay="300"/>
                            </p:stCondLst>
                            <p:childTnLst>
                              <p:par>
                                <p:cTn fill="hold" nodeType="afterEffect" presetClass="exit" presetID="10" presetSubtype="0">
                                  <p:stCondLst>
                                    <p:cond delay="0"/>
                                  </p:stCondLst>
                                  <p:childTnLst>
                                    <p:animEffect filter="fade" transition="out">
                                      <p:cBhvr>
                                        <p:cTn dur="300"/>
                                        <p:tgtEl>
                                          <p:spTgt spid="345"/>
                                        </p:tgtEl>
                                      </p:cBhvr>
                                    </p:animEffect>
                                    <p:set>
                                      <p:cBhvr>
                                        <p:cTn dur="1" fill="hold">
                                          <p:stCondLst>
                                            <p:cond delay="300"/>
                                          </p:stCondLst>
                                        </p:cTn>
                                        <p:tgtEl>
                                          <p:spTgt spid="3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xEl>
                                              <p:pRg end="0" st="0"/>
                                            </p:txEl>
                                          </p:spTgt>
                                        </p:tgtEl>
                                        <p:attrNameLst>
                                          <p:attrName>style.visibility</p:attrName>
                                        </p:attrNameLst>
                                      </p:cBhvr>
                                      <p:to>
                                        <p:strVal val="visible"/>
                                      </p:to>
                                    </p:set>
                                    <p:animEffect filter="fade" transition="in">
                                      <p:cBhvr>
                                        <p:cTn dur="300"/>
                                        <p:tgtEl>
                                          <p:spTgt spid="34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51" name="Google Shape;351;p4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26</a:t>
            </a:fld>
            <a:endParaRPr b="0" i="0" sz="1300" u="none" cap="none" strike="noStrike">
              <a:solidFill>
                <a:srgbClr val="FFFFFF"/>
              </a:solidFill>
              <a:latin typeface="Nunito"/>
              <a:ea typeface="Nunito"/>
              <a:cs typeface="Nunito"/>
              <a:sym typeface="Nunito"/>
            </a:endParaRPr>
          </a:p>
        </p:txBody>
      </p:sp>
      <p:sp>
        <p:nvSpPr>
          <p:cNvPr id="352" name="Google Shape;352;p4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53" name="Google Shape;353;p41"/>
          <p:cNvSpPr txBox="1"/>
          <p:nvPr/>
        </p:nvSpPr>
        <p:spPr>
          <a:xfrm>
            <a:off x="423400" y="695131"/>
            <a:ext cx="8409000" cy="777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Economic growth is an increase in the production of goods and services. </a:t>
            </a:r>
            <a:endParaRPr b="0" i="0" sz="2000" u="none" cap="none" strike="noStrike">
              <a:solidFill>
                <a:schemeClr val="dk1"/>
              </a:solidFill>
              <a:latin typeface="Nunito"/>
              <a:ea typeface="Nunito"/>
              <a:cs typeface="Nunito"/>
              <a:sym typeface="Nunito"/>
            </a:endParaRPr>
          </a:p>
        </p:txBody>
      </p:sp>
      <p:sp>
        <p:nvSpPr>
          <p:cNvPr id="354" name="Google Shape;354;p41"/>
          <p:cNvSpPr txBox="1"/>
          <p:nvPr/>
        </p:nvSpPr>
        <p:spPr>
          <a:xfrm>
            <a:off x="423400" y="1472600"/>
            <a:ext cx="4913100" cy="220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Growth has Pareto efficient benefits: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Improving living standards by increasing the wealth and opportunities for all</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Promoting value pluralism</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Raising average life expectancy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55" name="Google Shape;355;p41"/>
          <p:cNvSpPr txBox="1"/>
          <p:nvPr/>
        </p:nvSpPr>
        <p:spPr>
          <a:xfrm>
            <a:off x="423400" y="3672800"/>
            <a:ext cx="4754100" cy="1126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These benefits </a:t>
            </a:r>
            <a:r>
              <a:rPr b="1" i="0" lang="en" sz="2000" u="none" cap="none" strike="noStrike">
                <a:solidFill>
                  <a:schemeClr val="dk1"/>
                </a:solidFill>
                <a:latin typeface="Nunito"/>
                <a:ea typeface="Nunito"/>
                <a:cs typeface="Nunito"/>
                <a:sym typeface="Nunito"/>
              </a:rPr>
              <a:t>compound</a:t>
            </a:r>
            <a:r>
              <a:rPr b="0" i="0" lang="en" sz="2000" u="none" cap="none" strike="noStrike">
                <a:solidFill>
                  <a:schemeClr val="dk1"/>
                </a:solidFill>
                <a:latin typeface="Nunito"/>
                <a:ea typeface="Nunito"/>
                <a:cs typeface="Nunito"/>
                <a:sym typeface="Nunito"/>
              </a:rPr>
              <a:t> so the effects become extremely large over time.</a:t>
            </a:r>
            <a:endParaRPr b="0" i="0" sz="2000" u="none" cap="none" strike="noStrike">
              <a:solidFill>
                <a:schemeClr val="dk1"/>
              </a:solidFill>
              <a:latin typeface="Nunito"/>
              <a:ea typeface="Nunito"/>
              <a:cs typeface="Nunito"/>
              <a:sym typeface="Nunito"/>
            </a:endParaRPr>
          </a:p>
        </p:txBody>
      </p:sp>
      <p:sp>
        <p:nvSpPr>
          <p:cNvPr id="356" name="Google Shape;356;p41"/>
          <p:cNvSpPr txBox="1"/>
          <p:nvPr>
            <p:ph type="title"/>
          </p:nvPr>
        </p:nvSpPr>
        <p:spPr>
          <a:xfrm>
            <a:off x="423450" y="6732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Economic Growth</a:t>
            </a:r>
            <a:endParaRPr/>
          </a:p>
          <a:p>
            <a:pPr indent="0" lvl="0" marL="0" rtl="0" algn="ctr">
              <a:lnSpc>
                <a:spcPct val="100000"/>
              </a:lnSpc>
              <a:spcBef>
                <a:spcPts val="0"/>
              </a:spcBef>
              <a:spcAft>
                <a:spcPts val="0"/>
              </a:spcAft>
              <a:buSzPts val="3600"/>
              <a:buNone/>
            </a:pPr>
            <a:r>
              <a:t/>
            </a:r>
            <a:endParaRPr/>
          </a:p>
        </p:txBody>
      </p:sp>
      <p:pic>
        <p:nvPicPr>
          <p:cNvPr id="357" name="Google Shape;357;p41"/>
          <p:cNvPicPr preferRelativeResize="0"/>
          <p:nvPr/>
        </p:nvPicPr>
        <p:blipFill rotWithShape="1">
          <a:blip r:embed="rId3">
            <a:alphaModFix/>
          </a:blip>
          <a:srcRect b="0" l="0" r="0" t="0"/>
          <a:stretch/>
        </p:blipFill>
        <p:spPr>
          <a:xfrm>
            <a:off x="4652125" y="1704975"/>
            <a:ext cx="4491873" cy="29938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3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0" st="0"/>
                                            </p:txEl>
                                          </p:spTgt>
                                        </p:tgtEl>
                                        <p:attrNameLst>
                                          <p:attrName>style.visibility</p:attrName>
                                        </p:attrNameLst>
                                      </p:cBhvr>
                                      <p:to>
                                        <p:strVal val="visible"/>
                                      </p:to>
                                    </p:set>
                                    <p:animEffect filter="fade" transition="in">
                                      <p:cBhvr>
                                        <p:cTn dur="300"/>
                                        <p:tgtEl>
                                          <p:spTgt spid="3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1" st="1"/>
                                            </p:txEl>
                                          </p:spTgt>
                                        </p:tgtEl>
                                        <p:attrNameLst>
                                          <p:attrName>style.visibility</p:attrName>
                                        </p:attrNameLst>
                                      </p:cBhvr>
                                      <p:to>
                                        <p:strVal val="visible"/>
                                      </p:to>
                                    </p:set>
                                    <p:animEffect filter="fade" transition="in">
                                      <p:cBhvr>
                                        <p:cTn dur="300"/>
                                        <p:tgtEl>
                                          <p:spTgt spid="3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2" st="2"/>
                                            </p:txEl>
                                          </p:spTgt>
                                        </p:tgtEl>
                                        <p:attrNameLst>
                                          <p:attrName>style.visibility</p:attrName>
                                        </p:attrNameLst>
                                      </p:cBhvr>
                                      <p:to>
                                        <p:strVal val="visible"/>
                                      </p:to>
                                    </p:set>
                                    <p:animEffect filter="fade" transition="in">
                                      <p:cBhvr>
                                        <p:cTn dur="300"/>
                                        <p:tgtEl>
                                          <p:spTgt spid="3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3" st="3"/>
                                            </p:txEl>
                                          </p:spTgt>
                                        </p:tgtEl>
                                        <p:attrNameLst>
                                          <p:attrName>style.visibility</p:attrName>
                                        </p:attrNameLst>
                                      </p:cBhvr>
                                      <p:to>
                                        <p:strVal val="visible"/>
                                      </p:to>
                                    </p:set>
                                    <p:animEffect filter="fade" transition="in">
                                      <p:cBhvr>
                                        <p:cTn dur="300"/>
                                        <p:tgtEl>
                                          <p:spTgt spid="3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4" st="4"/>
                                            </p:txEl>
                                          </p:spTgt>
                                        </p:tgtEl>
                                        <p:attrNameLst>
                                          <p:attrName>style.visibility</p:attrName>
                                        </p:attrNameLst>
                                      </p:cBhvr>
                                      <p:to>
                                        <p:strVal val="visible"/>
                                      </p:to>
                                    </p:set>
                                    <p:animEffect filter="fade" transition="in">
                                      <p:cBhvr>
                                        <p:cTn dur="300"/>
                                        <p:tgtEl>
                                          <p:spTgt spid="3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3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300"/>
                                        <p:tgtEl>
                                          <p:spTgt spid="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63" name="Google Shape;363;p4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27</a:t>
            </a:fld>
            <a:endParaRPr b="0" i="0" sz="1300" u="none" cap="none" strike="noStrike">
              <a:solidFill>
                <a:srgbClr val="FFFFFF"/>
              </a:solidFill>
              <a:latin typeface="Nunito"/>
              <a:ea typeface="Nunito"/>
              <a:cs typeface="Nunito"/>
              <a:sym typeface="Nunito"/>
            </a:endParaRPr>
          </a:p>
        </p:txBody>
      </p:sp>
      <p:sp>
        <p:nvSpPr>
          <p:cNvPr id="364" name="Google Shape;364;p4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65" name="Google Shape;365;p42"/>
          <p:cNvSpPr txBox="1"/>
          <p:nvPr/>
        </p:nvSpPr>
        <p:spPr>
          <a:xfrm>
            <a:off x="423400" y="1254675"/>
            <a:ext cx="8750100" cy="124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When individuals pursue their self-interest within a market, they unintentionally contribute to societal welfare. Trading leads to Pareto efficient allocations, so living standards improve.</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66" name="Google Shape;366;p42"/>
          <p:cNvSpPr txBox="1"/>
          <p:nvPr/>
        </p:nvSpPr>
        <p:spPr>
          <a:xfrm>
            <a:off x="423400" y="1951425"/>
            <a:ext cx="8567400" cy="3232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Open market</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No seller big enough to raise prices alone</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No producer privately holds pivotal technology</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No buyer big enough to lower prices alone</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Everyone has perfect information</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No externalities in consumption</a:t>
            </a: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The state enforces property and contract laws</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
        <p:nvSpPr>
          <p:cNvPr id="367" name="Google Shape;367;p42"/>
          <p:cNvSpPr txBox="1"/>
          <p:nvPr>
            <p:ph type="title"/>
          </p:nvPr>
        </p:nvSpPr>
        <p:spPr>
          <a:xfrm>
            <a:off x="423450" y="1031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The First Fundamental Theorem of Welfare Economics</a:t>
            </a:r>
            <a:endParaRPr/>
          </a:p>
          <a:p>
            <a:pPr indent="0" lvl="0" marL="0" rtl="0" algn="ctr">
              <a:lnSpc>
                <a:spcPct val="100000"/>
              </a:lnSpc>
              <a:spcBef>
                <a:spcPts val="0"/>
              </a:spcBef>
              <a:spcAft>
                <a:spcPts val="0"/>
              </a:spcAft>
              <a:buSzPts val="3600"/>
              <a:buNone/>
            </a:pPr>
            <a:r>
              <a:t/>
            </a:r>
            <a:endParaRPr/>
          </a:p>
        </p:txBody>
      </p:sp>
      <p:pic>
        <p:nvPicPr>
          <p:cNvPr id="368" name="Google Shape;368;p42"/>
          <p:cNvPicPr preferRelativeResize="0"/>
          <p:nvPr/>
        </p:nvPicPr>
        <p:blipFill rotWithShape="1">
          <a:blip r:embed="rId3">
            <a:alphaModFix/>
          </a:blip>
          <a:srcRect b="0" l="0" r="0" t="0"/>
          <a:stretch/>
        </p:blipFill>
        <p:spPr>
          <a:xfrm>
            <a:off x="6661000" y="2406200"/>
            <a:ext cx="2432500" cy="243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3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xEl>
                                              <p:pRg end="0" st="0"/>
                                            </p:txEl>
                                          </p:spTgt>
                                        </p:tgtEl>
                                        <p:attrNameLst>
                                          <p:attrName>style.visibility</p:attrName>
                                        </p:attrNameLst>
                                      </p:cBhvr>
                                      <p:to>
                                        <p:strVal val="visible"/>
                                      </p:to>
                                    </p:set>
                                    <p:animEffect filter="fade" transition="in">
                                      <p:cBhvr>
                                        <p:cTn dur="300"/>
                                        <p:tgtEl>
                                          <p:spTgt spid="3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xEl>
                                              <p:pRg end="1" st="1"/>
                                            </p:txEl>
                                          </p:spTgt>
                                        </p:tgtEl>
                                        <p:attrNameLst>
                                          <p:attrName>style.visibility</p:attrName>
                                        </p:attrNameLst>
                                      </p:cBhvr>
                                      <p:to>
                                        <p:strVal val="visible"/>
                                      </p:to>
                                    </p:set>
                                    <p:animEffect filter="fade" transition="in">
                                      <p:cBhvr>
                                        <p:cTn dur="300"/>
                                        <p:tgtEl>
                                          <p:spTgt spid="3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xEl>
                                              <p:pRg end="2" st="2"/>
                                            </p:txEl>
                                          </p:spTgt>
                                        </p:tgtEl>
                                        <p:attrNameLst>
                                          <p:attrName>style.visibility</p:attrName>
                                        </p:attrNameLst>
                                      </p:cBhvr>
                                      <p:to>
                                        <p:strVal val="visible"/>
                                      </p:to>
                                    </p:set>
                                    <p:animEffect filter="fade" transition="in">
                                      <p:cBhvr>
                                        <p:cTn dur="300"/>
                                        <p:tgtEl>
                                          <p:spTgt spid="3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xEl>
                                              <p:pRg end="3" st="3"/>
                                            </p:txEl>
                                          </p:spTgt>
                                        </p:tgtEl>
                                        <p:attrNameLst>
                                          <p:attrName>style.visibility</p:attrName>
                                        </p:attrNameLst>
                                      </p:cBhvr>
                                      <p:to>
                                        <p:strVal val="visible"/>
                                      </p:to>
                                    </p:set>
                                    <p:animEffect filter="fade" transition="in">
                                      <p:cBhvr>
                                        <p:cTn dur="300"/>
                                        <p:tgtEl>
                                          <p:spTgt spid="3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xEl>
                                              <p:pRg end="4" st="4"/>
                                            </p:txEl>
                                          </p:spTgt>
                                        </p:tgtEl>
                                        <p:attrNameLst>
                                          <p:attrName>style.visibility</p:attrName>
                                        </p:attrNameLst>
                                      </p:cBhvr>
                                      <p:to>
                                        <p:strVal val="visible"/>
                                      </p:to>
                                    </p:set>
                                    <p:animEffect filter="fade" transition="in">
                                      <p:cBhvr>
                                        <p:cTn dur="300"/>
                                        <p:tgtEl>
                                          <p:spTgt spid="3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xEl>
                                              <p:pRg end="5" st="5"/>
                                            </p:txEl>
                                          </p:spTgt>
                                        </p:tgtEl>
                                        <p:attrNameLst>
                                          <p:attrName>style.visibility</p:attrName>
                                        </p:attrNameLst>
                                      </p:cBhvr>
                                      <p:to>
                                        <p:strVal val="visible"/>
                                      </p:to>
                                    </p:set>
                                    <p:animEffect filter="fade" transition="in">
                                      <p:cBhvr>
                                        <p:cTn dur="300"/>
                                        <p:tgtEl>
                                          <p:spTgt spid="3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xEl>
                                              <p:pRg end="6" st="6"/>
                                            </p:txEl>
                                          </p:spTgt>
                                        </p:tgtEl>
                                        <p:attrNameLst>
                                          <p:attrName>style.visibility</p:attrName>
                                        </p:attrNameLst>
                                      </p:cBhvr>
                                      <p:to>
                                        <p:strVal val="visible"/>
                                      </p:to>
                                    </p:set>
                                    <p:animEffect filter="fade" transition="in">
                                      <p:cBhvr>
                                        <p:cTn dur="300"/>
                                        <p:tgtEl>
                                          <p:spTgt spid="36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xEl>
                                              <p:pRg end="7" st="7"/>
                                            </p:txEl>
                                          </p:spTgt>
                                        </p:tgtEl>
                                        <p:attrNameLst>
                                          <p:attrName>style.visibility</p:attrName>
                                        </p:attrNameLst>
                                      </p:cBhvr>
                                      <p:to>
                                        <p:strVal val="visible"/>
                                      </p:to>
                                    </p:set>
                                    <p:animEffect filter="fade" transition="in">
                                      <p:cBhvr>
                                        <p:cTn dur="300"/>
                                        <p:tgtEl>
                                          <p:spTgt spid="36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xEl>
                                              <p:pRg end="8" st="8"/>
                                            </p:txEl>
                                          </p:spTgt>
                                        </p:tgtEl>
                                        <p:attrNameLst>
                                          <p:attrName>style.visibility</p:attrName>
                                        </p:attrNameLst>
                                      </p:cBhvr>
                                      <p:to>
                                        <p:strVal val="visible"/>
                                      </p:to>
                                    </p:set>
                                    <p:animEffect filter="fade" transition="in">
                                      <p:cBhvr>
                                        <p:cTn dur="300"/>
                                        <p:tgtEl>
                                          <p:spTgt spid="36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74" name="Google Shape;374;p4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28</a:t>
            </a:fld>
            <a:endParaRPr b="0" i="0" sz="1300" u="none" cap="none" strike="noStrike">
              <a:solidFill>
                <a:srgbClr val="FFFFFF"/>
              </a:solidFill>
              <a:latin typeface="Nunito"/>
              <a:ea typeface="Nunito"/>
              <a:cs typeface="Nunito"/>
              <a:sym typeface="Nunito"/>
            </a:endParaRPr>
          </a:p>
        </p:txBody>
      </p:sp>
      <p:sp>
        <p:nvSpPr>
          <p:cNvPr id="375" name="Google Shape;375;p4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76" name="Google Shape;376;p43"/>
          <p:cNvSpPr txBox="1"/>
          <p:nvPr/>
        </p:nvSpPr>
        <p:spPr>
          <a:xfrm>
            <a:off x="423400" y="891550"/>
            <a:ext cx="84090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77" name="Google Shape;377;p43"/>
          <p:cNvSpPr txBox="1"/>
          <p:nvPr>
            <p:ph type="title"/>
          </p:nvPr>
        </p:nvSpPr>
        <p:spPr>
          <a:xfrm>
            <a:off x="423450" y="673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3400"/>
              <a:t>Risk: Market Failures (1/3)</a:t>
            </a:r>
            <a:endParaRPr sz="3400"/>
          </a:p>
          <a:p>
            <a:pPr indent="0" lvl="0" marL="0" rtl="0" algn="ctr">
              <a:lnSpc>
                <a:spcPct val="100000"/>
              </a:lnSpc>
              <a:spcBef>
                <a:spcPts val="0"/>
              </a:spcBef>
              <a:spcAft>
                <a:spcPts val="0"/>
              </a:spcAft>
              <a:buSzPts val="3600"/>
              <a:buNone/>
            </a:pPr>
            <a:r>
              <a:t/>
            </a:r>
            <a:endParaRPr/>
          </a:p>
        </p:txBody>
      </p:sp>
      <p:sp>
        <p:nvSpPr>
          <p:cNvPr id="378" name="Google Shape;378;p43"/>
          <p:cNvSpPr txBox="1"/>
          <p:nvPr/>
        </p:nvSpPr>
        <p:spPr>
          <a:xfrm>
            <a:off x="423450" y="931075"/>
            <a:ext cx="7986300" cy="175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Nunito"/>
                <a:ea typeface="Nunito"/>
                <a:cs typeface="Nunito"/>
                <a:sym typeface="Nunito"/>
              </a:rPr>
              <a:t>Information asymmetry</a:t>
            </a:r>
            <a:r>
              <a:rPr b="0" i="0" lang="en" sz="2000" u="none" cap="none" strike="noStrike">
                <a:solidFill>
                  <a:srgbClr val="000000"/>
                </a:solidFill>
                <a:latin typeface="Nunito"/>
                <a:ea typeface="Nunito"/>
                <a:cs typeface="Nunito"/>
                <a:sym typeface="Nunito"/>
              </a:rPr>
              <a:t> describes when one party exploits knowledge that the other party doesn’t have.</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lang="en" sz="2000">
                <a:latin typeface="Nunito"/>
                <a:ea typeface="Nunito"/>
                <a:cs typeface="Nunito"/>
                <a:sym typeface="Nunito"/>
              </a:rPr>
              <a:t>Example: p</a:t>
            </a:r>
            <a:r>
              <a:rPr b="0" i="0" lang="en" sz="2000" u="none" cap="none" strike="noStrike">
                <a:solidFill>
                  <a:srgbClr val="000000"/>
                </a:solidFill>
                <a:latin typeface="Nunito"/>
                <a:ea typeface="Nunito"/>
                <a:cs typeface="Nunito"/>
                <a:sym typeface="Nunito"/>
              </a:rPr>
              <a:t>redatory lending is when lenders offer exploitative terms to vulnerable people.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
        <p:nvSpPr>
          <p:cNvPr id="379" name="Google Shape;379;p43"/>
          <p:cNvSpPr txBox="1"/>
          <p:nvPr/>
        </p:nvSpPr>
        <p:spPr>
          <a:xfrm>
            <a:off x="423400" y="2689425"/>
            <a:ext cx="4880400" cy="108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AI enables sophisticated psychometric profiling, and a fundamental information advantage to tech companies.</a:t>
            </a:r>
            <a:endParaRPr sz="2000">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Nunito"/>
              <a:ea typeface="Nunito"/>
              <a:cs typeface="Nunito"/>
              <a:sym typeface="Nunito"/>
            </a:endParaRPr>
          </a:p>
        </p:txBody>
      </p:sp>
      <p:pic>
        <p:nvPicPr>
          <p:cNvPr id="380" name="Google Shape;380;p43"/>
          <p:cNvPicPr preferRelativeResize="0"/>
          <p:nvPr/>
        </p:nvPicPr>
        <p:blipFill>
          <a:blip r:embed="rId3">
            <a:alphaModFix/>
          </a:blip>
          <a:stretch>
            <a:fillRect/>
          </a:stretch>
        </p:blipFill>
        <p:spPr>
          <a:xfrm>
            <a:off x="6893575" y="2657100"/>
            <a:ext cx="1887650" cy="1822950"/>
          </a:xfrm>
          <a:prstGeom prst="rect">
            <a:avLst/>
          </a:prstGeom>
          <a:noFill/>
          <a:ln>
            <a:noFill/>
          </a:ln>
        </p:spPr>
      </p:pic>
      <p:sp>
        <p:nvSpPr>
          <p:cNvPr id="381" name="Google Shape;381;p43"/>
          <p:cNvSpPr txBox="1"/>
          <p:nvPr/>
        </p:nvSpPr>
        <p:spPr>
          <a:xfrm>
            <a:off x="423400" y="3756225"/>
            <a:ext cx="7191300" cy="108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AI development is also extremely fast moving,</a:t>
            </a:r>
            <a:endParaRPr sz="2000">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so information may not propagate quickly enough,</a:t>
            </a:r>
            <a:endParaRPr sz="2000">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leading to less efficient self-organization in the economy</a:t>
            </a:r>
            <a:endParaRPr b="1" i="0" sz="2000" u="none" cap="none" strike="noStrike">
              <a:solidFill>
                <a:srgbClr val="000000"/>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xEl>
                                              <p:pRg end="0" st="0"/>
                                            </p:txEl>
                                          </p:spTgt>
                                        </p:tgtEl>
                                        <p:attrNameLst>
                                          <p:attrName>style.visibility</p:attrName>
                                        </p:attrNameLst>
                                      </p:cBhvr>
                                      <p:to>
                                        <p:strVal val="visible"/>
                                      </p:to>
                                    </p:set>
                                    <p:animEffect filter="fade" transition="in">
                                      <p:cBhvr>
                                        <p:cTn dur="300"/>
                                        <p:tgtEl>
                                          <p:spTgt spid="3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xEl>
                                              <p:pRg end="1" st="1"/>
                                            </p:txEl>
                                          </p:spTgt>
                                        </p:tgtEl>
                                        <p:attrNameLst>
                                          <p:attrName>style.visibility</p:attrName>
                                        </p:attrNameLst>
                                      </p:cBhvr>
                                      <p:to>
                                        <p:strVal val="visible"/>
                                      </p:to>
                                    </p:set>
                                    <p:animEffect filter="fade" transition="in">
                                      <p:cBhvr>
                                        <p:cTn dur="300"/>
                                        <p:tgtEl>
                                          <p:spTgt spid="3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xEl>
                                              <p:pRg end="2" st="2"/>
                                            </p:txEl>
                                          </p:spTgt>
                                        </p:tgtEl>
                                        <p:attrNameLst>
                                          <p:attrName>style.visibility</p:attrName>
                                        </p:attrNameLst>
                                      </p:cBhvr>
                                      <p:to>
                                        <p:strVal val="visible"/>
                                      </p:to>
                                    </p:set>
                                    <p:animEffect filter="fade" transition="in">
                                      <p:cBhvr>
                                        <p:cTn dur="300"/>
                                        <p:tgtEl>
                                          <p:spTgt spid="3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xEl>
                                              <p:pRg end="3" st="3"/>
                                            </p:txEl>
                                          </p:spTgt>
                                        </p:tgtEl>
                                        <p:attrNameLst>
                                          <p:attrName>style.visibility</p:attrName>
                                        </p:attrNameLst>
                                      </p:cBhvr>
                                      <p:to>
                                        <p:strVal val="visible"/>
                                      </p:to>
                                    </p:set>
                                    <p:animEffect filter="fade" transition="in">
                                      <p:cBhvr>
                                        <p:cTn dur="300"/>
                                        <p:tgtEl>
                                          <p:spTgt spid="3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xEl>
                                              <p:pRg end="4" st="4"/>
                                            </p:txEl>
                                          </p:spTgt>
                                        </p:tgtEl>
                                        <p:attrNameLst>
                                          <p:attrName>style.visibility</p:attrName>
                                        </p:attrNameLst>
                                      </p:cBhvr>
                                      <p:to>
                                        <p:strVal val="visible"/>
                                      </p:to>
                                    </p:set>
                                    <p:animEffect filter="fade" transition="in">
                                      <p:cBhvr>
                                        <p:cTn dur="300"/>
                                        <p:tgtEl>
                                          <p:spTgt spid="3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xEl>
                                              <p:pRg end="5" st="5"/>
                                            </p:txEl>
                                          </p:spTgt>
                                        </p:tgtEl>
                                        <p:attrNameLst>
                                          <p:attrName>style.visibility</p:attrName>
                                        </p:attrNameLst>
                                      </p:cBhvr>
                                      <p:to>
                                        <p:strVal val="visible"/>
                                      </p:to>
                                    </p:set>
                                    <p:animEffect filter="fade" transition="in">
                                      <p:cBhvr>
                                        <p:cTn dur="300"/>
                                        <p:tgtEl>
                                          <p:spTgt spid="3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xEl>
                                              <p:pRg end="6" st="6"/>
                                            </p:txEl>
                                          </p:spTgt>
                                        </p:tgtEl>
                                        <p:attrNameLst>
                                          <p:attrName>style.visibility</p:attrName>
                                        </p:attrNameLst>
                                      </p:cBhvr>
                                      <p:to>
                                        <p:strVal val="visible"/>
                                      </p:to>
                                    </p:set>
                                    <p:animEffect filter="fade" transition="in">
                                      <p:cBhvr>
                                        <p:cTn dur="300"/>
                                        <p:tgtEl>
                                          <p:spTgt spid="3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300"/>
                                        <p:tgtEl>
                                          <p:spTgt spid="379"/>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300"/>
                                        <p:tgtEl>
                                          <p:spTgt spid="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87" name="Google Shape;387;p4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29</a:t>
            </a:fld>
            <a:endParaRPr b="0" i="0" sz="1300" u="none" cap="none" strike="noStrike">
              <a:solidFill>
                <a:srgbClr val="FFFFFF"/>
              </a:solidFill>
              <a:latin typeface="Nunito"/>
              <a:ea typeface="Nunito"/>
              <a:cs typeface="Nunito"/>
              <a:sym typeface="Nunito"/>
            </a:endParaRPr>
          </a:p>
        </p:txBody>
      </p:sp>
      <p:sp>
        <p:nvSpPr>
          <p:cNvPr id="388" name="Google Shape;388;p4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89" name="Google Shape;389;p44"/>
          <p:cNvSpPr txBox="1"/>
          <p:nvPr/>
        </p:nvSpPr>
        <p:spPr>
          <a:xfrm>
            <a:off x="367450" y="755300"/>
            <a:ext cx="84090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90" name="Google Shape;390;p44"/>
          <p:cNvSpPr txBox="1"/>
          <p:nvPr>
            <p:ph type="title"/>
          </p:nvPr>
        </p:nvSpPr>
        <p:spPr>
          <a:xfrm>
            <a:off x="423400" y="6732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3400"/>
              <a:t>Risk: Market Failures (2/3)</a:t>
            </a:r>
            <a:endParaRPr sz="3400"/>
          </a:p>
          <a:p>
            <a:pPr indent="0" lvl="0" marL="0" rtl="0" algn="ctr">
              <a:lnSpc>
                <a:spcPct val="100000"/>
              </a:lnSpc>
              <a:spcBef>
                <a:spcPts val="0"/>
              </a:spcBef>
              <a:spcAft>
                <a:spcPts val="0"/>
              </a:spcAft>
              <a:buSzPts val="3600"/>
              <a:buNone/>
            </a:pPr>
            <a:r>
              <a:t/>
            </a:r>
            <a:endParaRPr/>
          </a:p>
        </p:txBody>
      </p:sp>
      <p:sp>
        <p:nvSpPr>
          <p:cNvPr id="391" name="Google Shape;391;p44"/>
          <p:cNvSpPr txBox="1"/>
          <p:nvPr/>
        </p:nvSpPr>
        <p:spPr>
          <a:xfrm>
            <a:off x="811775" y="1701600"/>
            <a:ext cx="7675500" cy="7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p:txBody>
      </p:sp>
      <p:sp>
        <p:nvSpPr>
          <p:cNvPr id="392" name="Google Shape;392;p44"/>
          <p:cNvSpPr txBox="1"/>
          <p:nvPr/>
        </p:nvSpPr>
        <p:spPr>
          <a:xfrm>
            <a:off x="423400" y="902525"/>
            <a:ext cx="8201400" cy="393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A </a:t>
            </a:r>
            <a:r>
              <a:rPr b="1" i="0" lang="en" sz="2000" u="none" cap="none" strike="noStrike">
                <a:solidFill>
                  <a:srgbClr val="000000"/>
                </a:solidFill>
                <a:latin typeface="Nunito"/>
                <a:ea typeface="Nunito"/>
                <a:cs typeface="Nunito"/>
                <a:sym typeface="Nunito"/>
              </a:rPr>
              <a:t>monopoly</a:t>
            </a:r>
            <a:r>
              <a:rPr b="0" i="0" lang="en" sz="2000" u="none" cap="none" strike="noStrike">
                <a:solidFill>
                  <a:srgbClr val="000000"/>
                </a:solidFill>
                <a:latin typeface="Nunito"/>
                <a:ea typeface="Nunito"/>
                <a:cs typeface="Nunito"/>
                <a:sym typeface="Nunito"/>
              </a:rPr>
              <a:t> is a firm with enough influence to impact the market price. </a:t>
            </a:r>
            <a:br>
              <a:rPr b="0" i="0" lang="en" sz="2000" u="none" cap="none" strike="noStrike">
                <a:solidFill>
                  <a:srgbClr val="000000"/>
                </a:solidFill>
                <a:latin typeface="Nunito"/>
                <a:ea typeface="Nunito"/>
                <a:cs typeface="Nunito"/>
                <a:sym typeface="Nunito"/>
              </a:rPr>
            </a:b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Monopolies can lead to higher prices and worse quality for consumers. </a:t>
            </a:r>
            <a:br>
              <a:rPr b="0" i="0" lang="en" sz="2000" u="none" cap="none" strike="noStrike">
                <a:solidFill>
                  <a:srgbClr val="000000"/>
                </a:solidFill>
                <a:latin typeface="Nunito"/>
                <a:ea typeface="Nunito"/>
                <a:cs typeface="Nunito"/>
                <a:sym typeface="Nunito"/>
              </a:rPr>
            </a:b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AI companies may become monopolies. </a:t>
            </a:r>
            <a:br>
              <a:rPr b="0" i="0" lang="en" sz="2000" u="none" cap="none" strike="noStrike">
                <a:solidFill>
                  <a:srgbClr val="000000"/>
                </a:solidFill>
                <a:latin typeface="Nunito"/>
                <a:ea typeface="Nunito"/>
                <a:cs typeface="Nunito"/>
                <a:sym typeface="Nunito"/>
              </a:rPr>
            </a:b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AI may entrench existing monopolies.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p:txBody>
      </p:sp>
      <p:sp>
        <p:nvSpPr>
          <p:cNvPr id="393" name="Google Shape;393;p44"/>
          <p:cNvSpPr txBox="1"/>
          <p:nvPr/>
        </p:nvSpPr>
        <p:spPr>
          <a:xfrm>
            <a:off x="811775" y="3168725"/>
            <a:ext cx="7675500" cy="7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p:txBody>
      </p:sp>
      <p:grpSp>
        <p:nvGrpSpPr>
          <p:cNvPr id="394" name="Google Shape;394;p44"/>
          <p:cNvGrpSpPr/>
          <p:nvPr/>
        </p:nvGrpSpPr>
        <p:grpSpPr>
          <a:xfrm>
            <a:off x="5563600" y="2263200"/>
            <a:ext cx="2691000" cy="2450150"/>
            <a:chOff x="5563600" y="2263200"/>
            <a:chExt cx="2691000" cy="2450150"/>
          </a:xfrm>
        </p:grpSpPr>
        <p:pic>
          <p:nvPicPr>
            <p:cNvPr id="395" name="Google Shape;395;p44"/>
            <p:cNvPicPr preferRelativeResize="0"/>
            <p:nvPr/>
          </p:nvPicPr>
          <p:blipFill rotWithShape="1">
            <a:blip r:embed="rId3">
              <a:alphaModFix/>
            </a:blip>
            <a:srcRect b="0" l="0" r="0" t="0"/>
            <a:stretch/>
          </p:blipFill>
          <p:spPr>
            <a:xfrm>
              <a:off x="5726213" y="2263200"/>
              <a:ext cx="2295525" cy="1990725"/>
            </a:xfrm>
            <a:prstGeom prst="rect">
              <a:avLst/>
            </a:prstGeom>
            <a:noFill/>
            <a:ln>
              <a:noFill/>
            </a:ln>
          </p:spPr>
        </p:pic>
        <p:sp>
          <p:nvSpPr>
            <p:cNvPr id="396" name="Google Shape;396;p44"/>
            <p:cNvSpPr txBox="1"/>
            <p:nvPr/>
          </p:nvSpPr>
          <p:spPr>
            <a:xfrm>
              <a:off x="5563600" y="4087550"/>
              <a:ext cx="2691000" cy="62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The US broke up Standard Oil into 34 companies. </a:t>
              </a:r>
              <a:endParaRPr b="0" i="0" sz="1400" u="none" cap="none" strike="noStrike">
                <a:solidFill>
                  <a:srgbClr val="000000"/>
                </a:solidFill>
                <a:latin typeface="Nunito"/>
                <a:ea typeface="Nunito"/>
                <a:cs typeface="Nunito"/>
                <a:sym typeface="Nuni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0" st="0"/>
                                            </p:txEl>
                                          </p:spTgt>
                                        </p:tgtEl>
                                        <p:attrNameLst>
                                          <p:attrName>style.visibility</p:attrName>
                                        </p:attrNameLst>
                                      </p:cBhvr>
                                      <p:to>
                                        <p:strVal val="visible"/>
                                      </p:to>
                                    </p:set>
                                    <p:animEffect filter="fade" transition="in">
                                      <p:cBhvr>
                                        <p:cTn dur="300"/>
                                        <p:tgtEl>
                                          <p:spTgt spid="3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1" st="1"/>
                                            </p:txEl>
                                          </p:spTgt>
                                        </p:tgtEl>
                                        <p:attrNameLst>
                                          <p:attrName>style.visibility</p:attrName>
                                        </p:attrNameLst>
                                      </p:cBhvr>
                                      <p:to>
                                        <p:strVal val="visible"/>
                                      </p:to>
                                    </p:set>
                                    <p:animEffect filter="fade" transition="in">
                                      <p:cBhvr>
                                        <p:cTn dur="300"/>
                                        <p:tgtEl>
                                          <p:spTgt spid="3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2" st="2"/>
                                            </p:txEl>
                                          </p:spTgt>
                                        </p:tgtEl>
                                        <p:attrNameLst>
                                          <p:attrName>style.visibility</p:attrName>
                                        </p:attrNameLst>
                                      </p:cBhvr>
                                      <p:to>
                                        <p:strVal val="visible"/>
                                      </p:to>
                                    </p:set>
                                    <p:animEffect filter="fade" transition="in">
                                      <p:cBhvr>
                                        <p:cTn dur="300"/>
                                        <p:tgtEl>
                                          <p:spTgt spid="3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3" st="3"/>
                                            </p:txEl>
                                          </p:spTgt>
                                        </p:tgtEl>
                                        <p:attrNameLst>
                                          <p:attrName>style.visibility</p:attrName>
                                        </p:attrNameLst>
                                      </p:cBhvr>
                                      <p:to>
                                        <p:strVal val="visible"/>
                                      </p:to>
                                    </p:set>
                                    <p:animEffect filter="fade" transition="in">
                                      <p:cBhvr>
                                        <p:cTn dur="300"/>
                                        <p:tgtEl>
                                          <p:spTgt spid="3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4" st="4"/>
                                            </p:txEl>
                                          </p:spTgt>
                                        </p:tgtEl>
                                        <p:attrNameLst>
                                          <p:attrName>style.visibility</p:attrName>
                                        </p:attrNameLst>
                                      </p:cBhvr>
                                      <p:to>
                                        <p:strVal val="visible"/>
                                      </p:to>
                                    </p:set>
                                    <p:animEffect filter="fade" transition="in">
                                      <p:cBhvr>
                                        <p:cTn dur="300"/>
                                        <p:tgtEl>
                                          <p:spTgt spid="3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5" st="5"/>
                                            </p:txEl>
                                          </p:spTgt>
                                        </p:tgtEl>
                                        <p:attrNameLst>
                                          <p:attrName>style.visibility</p:attrName>
                                        </p:attrNameLst>
                                      </p:cBhvr>
                                      <p:to>
                                        <p:strVal val="visible"/>
                                      </p:to>
                                    </p:set>
                                    <p:animEffect filter="fade" transition="in">
                                      <p:cBhvr>
                                        <p:cTn dur="300"/>
                                        <p:tgtEl>
                                          <p:spTgt spid="3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6" st="6"/>
                                            </p:txEl>
                                          </p:spTgt>
                                        </p:tgtEl>
                                        <p:attrNameLst>
                                          <p:attrName>style.visibility</p:attrName>
                                        </p:attrNameLst>
                                      </p:cBhvr>
                                      <p:to>
                                        <p:strVal val="visible"/>
                                      </p:to>
                                    </p:set>
                                    <p:animEffect filter="fade" transition="in">
                                      <p:cBhvr>
                                        <p:cTn dur="300"/>
                                        <p:tgtEl>
                                          <p:spTgt spid="3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300"/>
                                        <p:tgtEl>
                                          <p:spTgt spid="3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02" name="Google Shape;402;p4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30</a:t>
            </a:fld>
            <a:endParaRPr b="0" i="0" sz="1300" u="none" cap="none" strike="noStrike">
              <a:solidFill>
                <a:srgbClr val="FFFFFF"/>
              </a:solidFill>
              <a:latin typeface="Nunito"/>
              <a:ea typeface="Nunito"/>
              <a:cs typeface="Nunito"/>
              <a:sym typeface="Nunito"/>
            </a:endParaRPr>
          </a:p>
        </p:txBody>
      </p:sp>
      <p:sp>
        <p:nvSpPr>
          <p:cNvPr id="403" name="Google Shape;403;p4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04" name="Google Shape;404;p45"/>
          <p:cNvSpPr txBox="1"/>
          <p:nvPr/>
        </p:nvSpPr>
        <p:spPr>
          <a:xfrm>
            <a:off x="423400" y="891550"/>
            <a:ext cx="84090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405" name="Google Shape;405;p45"/>
          <p:cNvSpPr txBox="1"/>
          <p:nvPr>
            <p:ph type="title"/>
          </p:nvPr>
        </p:nvSpPr>
        <p:spPr>
          <a:xfrm>
            <a:off x="423450" y="559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3400"/>
              <a:t>Risk: Market Failures (3/3)</a:t>
            </a:r>
            <a:endParaRPr sz="3400"/>
          </a:p>
          <a:p>
            <a:pPr indent="0" lvl="0" marL="0" rtl="0" algn="ctr">
              <a:lnSpc>
                <a:spcPct val="100000"/>
              </a:lnSpc>
              <a:spcBef>
                <a:spcPts val="0"/>
              </a:spcBef>
              <a:spcAft>
                <a:spcPts val="0"/>
              </a:spcAft>
              <a:buSzPts val="3600"/>
              <a:buNone/>
            </a:pPr>
            <a:r>
              <a:t/>
            </a:r>
            <a:endParaRPr/>
          </a:p>
        </p:txBody>
      </p:sp>
      <p:sp>
        <p:nvSpPr>
          <p:cNvPr id="406" name="Google Shape;406;p45"/>
          <p:cNvSpPr txBox="1"/>
          <p:nvPr/>
        </p:nvSpPr>
        <p:spPr>
          <a:xfrm>
            <a:off x="423450" y="885625"/>
            <a:ext cx="7967400" cy="749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 sz="2000" u="none" cap="none" strike="noStrike">
                <a:solidFill>
                  <a:schemeClr val="dk1"/>
                </a:solidFill>
                <a:latin typeface="Nunito"/>
                <a:ea typeface="Nunito"/>
                <a:cs typeface="Nunito"/>
                <a:sym typeface="Nunito"/>
              </a:rPr>
              <a:t>Externalities</a:t>
            </a:r>
            <a:r>
              <a:rPr b="0" i="0" lang="en" sz="2000" u="none" cap="none" strike="noStrike">
                <a:solidFill>
                  <a:schemeClr val="dk1"/>
                </a:solidFill>
                <a:latin typeface="Nunito"/>
                <a:ea typeface="Nunito"/>
                <a:cs typeface="Nunito"/>
                <a:sym typeface="Nunito"/>
              </a:rPr>
              <a:t> are consequences of economic activity that impact unrelated third parties.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p:txBody>
      </p:sp>
      <p:pic>
        <p:nvPicPr>
          <p:cNvPr id="407" name="Google Shape;407;p45"/>
          <p:cNvPicPr preferRelativeResize="0"/>
          <p:nvPr/>
        </p:nvPicPr>
        <p:blipFill rotWithShape="1">
          <a:blip r:embed="rId3">
            <a:alphaModFix/>
          </a:blip>
          <a:srcRect b="0" l="0" r="0" t="0"/>
          <a:stretch/>
        </p:blipFill>
        <p:spPr>
          <a:xfrm>
            <a:off x="5000050" y="2373050"/>
            <a:ext cx="4143951" cy="2465651"/>
          </a:xfrm>
          <a:prstGeom prst="rect">
            <a:avLst/>
          </a:prstGeom>
          <a:noFill/>
          <a:ln>
            <a:noFill/>
          </a:ln>
        </p:spPr>
      </p:pic>
      <p:sp>
        <p:nvSpPr>
          <p:cNvPr id="408" name="Google Shape;408;p45"/>
          <p:cNvSpPr txBox="1"/>
          <p:nvPr/>
        </p:nvSpPr>
        <p:spPr>
          <a:xfrm>
            <a:off x="384325" y="3162075"/>
            <a:ext cx="5258400" cy="174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Externalities can be addressed or internalized:</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b="0" i="0" lang="en" sz="2000" u="none" cap="none" strike="noStrike">
                <a:solidFill>
                  <a:srgbClr val="000000"/>
                </a:solidFill>
                <a:latin typeface="Nunito"/>
                <a:ea typeface="Nunito"/>
                <a:cs typeface="Nunito"/>
                <a:sym typeface="Nunito"/>
              </a:rPr>
              <a:t>Litigation a</a:t>
            </a:r>
            <a:r>
              <a:rPr lang="en" sz="2000">
                <a:latin typeface="Nunito"/>
                <a:ea typeface="Nunito"/>
                <a:cs typeface="Nunito"/>
                <a:sym typeface="Nunito"/>
              </a:rPr>
              <a:t>nd liability</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b="0" i="0" lang="en" sz="2000" u="none" cap="none" strike="noStrike">
                <a:solidFill>
                  <a:srgbClr val="000000"/>
                </a:solidFill>
                <a:latin typeface="Nunito"/>
                <a:ea typeface="Nunito"/>
                <a:cs typeface="Nunito"/>
                <a:sym typeface="Nunito"/>
              </a:rPr>
              <a:t>Defined property rights</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b="0" i="0" lang="en" sz="2000" u="none" cap="none" strike="noStrike">
                <a:solidFill>
                  <a:srgbClr val="000000"/>
                </a:solidFill>
                <a:latin typeface="Nunito"/>
                <a:ea typeface="Nunito"/>
                <a:cs typeface="Nunito"/>
                <a:sym typeface="Nunito"/>
              </a:rPr>
              <a:t>Taxation</a:t>
            </a:r>
            <a:endParaRPr b="0" i="0" sz="2000" u="none" cap="none" strike="noStrike">
              <a:solidFill>
                <a:srgbClr val="000000"/>
              </a:solidFill>
              <a:latin typeface="Nunito"/>
              <a:ea typeface="Nunito"/>
              <a:cs typeface="Nunito"/>
              <a:sym typeface="Nunito"/>
            </a:endParaRPr>
          </a:p>
        </p:txBody>
      </p:sp>
      <p:sp>
        <p:nvSpPr>
          <p:cNvPr id="409" name="Google Shape;409;p45"/>
          <p:cNvSpPr txBox="1"/>
          <p:nvPr/>
        </p:nvSpPr>
        <p:spPr>
          <a:xfrm>
            <a:off x="423450" y="1862900"/>
            <a:ext cx="4118100" cy="119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lang="en" sz="2000">
                <a:latin typeface="Nunito"/>
                <a:ea typeface="Nunito"/>
                <a:cs typeface="Nunito"/>
                <a:sym typeface="Nunito"/>
              </a:rPr>
              <a:t>Economic</a:t>
            </a:r>
            <a:r>
              <a:rPr b="0" i="0" lang="en" sz="2000" u="none" cap="none" strike="noStrike">
                <a:solidFill>
                  <a:srgbClr val="000000"/>
                </a:solidFill>
                <a:latin typeface="Nunito"/>
                <a:ea typeface="Nunito"/>
                <a:cs typeface="Nunito"/>
                <a:sym typeface="Nunito"/>
              </a:rPr>
              <a:t> externalities of AI:</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lang="en" sz="2000">
                <a:latin typeface="Nunito"/>
                <a:ea typeface="Nunito"/>
                <a:cs typeface="Nunito"/>
                <a:sym typeface="Nunito"/>
              </a:rPr>
              <a:t>Environmental damage</a:t>
            </a:r>
            <a:r>
              <a:rPr b="0" i="0" lang="en" sz="2000" u="none" cap="none" strike="noStrike">
                <a:solidFill>
                  <a:srgbClr val="000000"/>
                </a:solidFill>
                <a:latin typeface="Nunito"/>
                <a:ea typeface="Nunito"/>
                <a:cs typeface="Nunito"/>
                <a:sym typeface="Nunito"/>
              </a:rPr>
              <a:t> </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lang="en" sz="2000">
                <a:latin typeface="Nunito"/>
                <a:ea typeface="Nunito"/>
                <a:cs typeface="Nunito"/>
                <a:sym typeface="Nunito"/>
              </a:rPr>
              <a:t>P</a:t>
            </a:r>
            <a:r>
              <a:rPr b="0" i="0" lang="en" sz="2000" u="none" cap="none" strike="noStrike">
                <a:solidFill>
                  <a:srgbClr val="000000"/>
                </a:solidFill>
                <a:latin typeface="Nunito"/>
                <a:ea typeface="Nunito"/>
                <a:cs typeface="Nunito"/>
                <a:sym typeface="Nunito"/>
              </a:rPr>
              <a:t>rivacy violations</a:t>
            </a:r>
            <a:endParaRPr b="0" i="0" sz="2000" u="none" cap="none" strike="noStrike">
              <a:solidFill>
                <a:srgbClr val="000000"/>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3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xEl>
                                              <p:pRg end="0" st="0"/>
                                            </p:txEl>
                                          </p:spTgt>
                                        </p:tgtEl>
                                        <p:attrNameLst>
                                          <p:attrName>style.visibility</p:attrName>
                                        </p:attrNameLst>
                                      </p:cBhvr>
                                      <p:to>
                                        <p:strVal val="visible"/>
                                      </p:to>
                                    </p:set>
                                    <p:animEffect filter="fade" transition="in">
                                      <p:cBhvr>
                                        <p:cTn dur="300"/>
                                        <p:tgtEl>
                                          <p:spTgt spid="4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xEl>
                                              <p:pRg end="1" st="1"/>
                                            </p:txEl>
                                          </p:spTgt>
                                        </p:tgtEl>
                                        <p:attrNameLst>
                                          <p:attrName>style.visibility</p:attrName>
                                        </p:attrNameLst>
                                      </p:cBhvr>
                                      <p:to>
                                        <p:strVal val="visible"/>
                                      </p:to>
                                    </p:set>
                                    <p:animEffect filter="fade" transition="in">
                                      <p:cBhvr>
                                        <p:cTn dur="300"/>
                                        <p:tgtEl>
                                          <p:spTgt spid="4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xEl>
                                              <p:pRg end="2" st="2"/>
                                            </p:txEl>
                                          </p:spTgt>
                                        </p:tgtEl>
                                        <p:attrNameLst>
                                          <p:attrName>style.visibility</p:attrName>
                                        </p:attrNameLst>
                                      </p:cBhvr>
                                      <p:to>
                                        <p:strVal val="visible"/>
                                      </p:to>
                                    </p:set>
                                    <p:animEffect filter="fade" transition="in">
                                      <p:cBhvr>
                                        <p:cTn dur="300"/>
                                        <p:tgtEl>
                                          <p:spTgt spid="409">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300"/>
                                        <p:tgtEl>
                                          <p:spTgt spid="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xEl>
                                              <p:pRg end="0" st="0"/>
                                            </p:txEl>
                                          </p:spTgt>
                                        </p:tgtEl>
                                        <p:attrNameLst>
                                          <p:attrName>style.visibility</p:attrName>
                                        </p:attrNameLst>
                                      </p:cBhvr>
                                      <p:to>
                                        <p:strVal val="visible"/>
                                      </p:to>
                                    </p:set>
                                    <p:animEffect filter="fade" transition="in">
                                      <p:cBhvr>
                                        <p:cTn dur="300"/>
                                        <p:tgtEl>
                                          <p:spTgt spid="4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xEl>
                                              <p:pRg end="1" st="1"/>
                                            </p:txEl>
                                          </p:spTgt>
                                        </p:tgtEl>
                                        <p:attrNameLst>
                                          <p:attrName>style.visibility</p:attrName>
                                        </p:attrNameLst>
                                      </p:cBhvr>
                                      <p:to>
                                        <p:strVal val="visible"/>
                                      </p:to>
                                    </p:set>
                                    <p:animEffect filter="fade" transition="in">
                                      <p:cBhvr>
                                        <p:cTn dur="300"/>
                                        <p:tgtEl>
                                          <p:spTgt spid="4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xEl>
                                              <p:pRg end="2" st="2"/>
                                            </p:txEl>
                                          </p:spTgt>
                                        </p:tgtEl>
                                        <p:attrNameLst>
                                          <p:attrName>style.visibility</p:attrName>
                                        </p:attrNameLst>
                                      </p:cBhvr>
                                      <p:to>
                                        <p:strVal val="visible"/>
                                      </p:to>
                                    </p:set>
                                    <p:animEffect filter="fade" transition="in">
                                      <p:cBhvr>
                                        <p:cTn dur="300"/>
                                        <p:tgtEl>
                                          <p:spTgt spid="4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xEl>
                                              <p:pRg end="3" st="3"/>
                                            </p:txEl>
                                          </p:spTgt>
                                        </p:tgtEl>
                                        <p:attrNameLst>
                                          <p:attrName>style.visibility</p:attrName>
                                        </p:attrNameLst>
                                      </p:cBhvr>
                                      <p:to>
                                        <p:strVal val="visible"/>
                                      </p:to>
                                    </p:set>
                                    <p:animEffect filter="fade" transition="in">
                                      <p:cBhvr>
                                        <p:cTn dur="300"/>
                                        <p:tgtEl>
                                          <p:spTgt spid="40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7"/>
          <p:cNvSpPr txBox="1"/>
          <p:nvPr>
            <p:ph type="title"/>
          </p:nvPr>
        </p:nvSpPr>
        <p:spPr>
          <a:xfrm>
            <a:off x="423450" y="6730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Inequality (1/2)</a:t>
            </a:r>
            <a:endParaRPr sz="3600">
              <a:latin typeface="Nunito"/>
              <a:ea typeface="Nunito"/>
              <a:cs typeface="Nunito"/>
              <a:sym typeface="Nunito"/>
            </a:endParaRPr>
          </a:p>
        </p:txBody>
      </p:sp>
      <p:sp>
        <p:nvSpPr>
          <p:cNvPr id="424" name="Google Shape;424;p4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25" name="Google Shape;425;p4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31</a:t>
            </a:fld>
            <a:endParaRPr b="0" i="0" sz="1300" u="none" cap="none" strike="noStrike">
              <a:solidFill>
                <a:srgbClr val="FFFFFF"/>
              </a:solidFill>
              <a:latin typeface="Nunito"/>
              <a:ea typeface="Nunito"/>
              <a:cs typeface="Nunito"/>
              <a:sym typeface="Nunito"/>
            </a:endParaRPr>
          </a:p>
        </p:txBody>
      </p:sp>
      <p:sp>
        <p:nvSpPr>
          <p:cNvPr id="426" name="Google Shape;426;p4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27" name="Google Shape;427;p47"/>
          <p:cNvSpPr txBox="1"/>
          <p:nvPr/>
        </p:nvSpPr>
        <p:spPr>
          <a:xfrm>
            <a:off x="423400" y="849334"/>
            <a:ext cx="8409000" cy="807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Economic resources, such as income or wealth, are unevenly distributed. </a:t>
            </a:r>
            <a:endParaRPr b="0" i="0" sz="2000" u="none" cap="none" strike="noStrike">
              <a:solidFill>
                <a:schemeClr val="dk1"/>
              </a:solidFill>
              <a:latin typeface="Nunito"/>
              <a:ea typeface="Nunito"/>
              <a:cs typeface="Nunito"/>
              <a:sym typeface="Nunito"/>
            </a:endParaRPr>
          </a:p>
        </p:txBody>
      </p:sp>
      <p:sp>
        <p:nvSpPr>
          <p:cNvPr id="428" name="Google Shape;428;p47"/>
          <p:cNvSpPr txBox="1"/>
          <p:nvPr/>
        </p:nvSpPr>
        <p:spPr>
          <a:xfrm>
            <a:off x="423400" y="1656900"/>
            <a:ext cx="4810800" cy="267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This inequality has been increasing:</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Gini coefficient: measure of national income distribution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US: 25-30% increase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Wider world: 71% of the global population lives in countries with increasing inequality</a:t>
            </a:r>
            <a:endParaRPr b="0" i="0" sz="2000" u="none" cap="none" strike="noStrike">
              <a:solidFill>
                <a:schemeClr val="dk1"/>
              </a:solidFill>
              <a:latin typeface="Nunito"/>
              <a:ea typeface="Nunito"/>
              <a:cs typeface="Nunito"/>
              <a:sym typeface="Nunito"/>
            </a:endParaRPr>
          </a:p>
        </p:txBody>
      </p:sp>
      <p:pic>
        <p:nvPicPr>
          <p:cNvPr id="429" name="Google Shape;429;p47"/>
          <p:cNvPicPr preferRelativeResize="0"/>
          <p:nvPr/>
        </p:nvPicPr>
        <p:blipFill rotWithShape="1">
          <a:blip r:embed="rId3">
            <a:alphaModFix/>
          </a:blip>
          <a:srcRect b="0" l="0" r="0" t="0"/>
          <a:stretch/>
        </p:blipFill>
        <p:spPr>
          <a:xfrm>
            <a:off x="5162550" y="1945663"/>
            <a:ext cx="3882076" cy="22177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300"/>
                                        <p:tgtEl>
                                          <p:spTgt spid="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0" st="0"/>
                                            </p:txEl>
                                          </p:spTgt>
                                        </p:tgtEl>
                                        <p:attrNameLst>
                                          <p:attrName>style.visibility</p:attrName>
                                        </p:attrNameLst>
                                      </p:cBhvr>
                                      <p:to>
                                        <p:strVal val="visible"/>
                                      </p:to>
                                    </p:set>
                                    <p:animEffect filter="fade" transition="in">
                                      <p:cBhvr>
                                        <p:cTn dur="300"/>
                                        <p:tgtEl>
                                          <p:spTgt spid="4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1" st="1"/>
                                            </p:txEl>
                                          </p:spTgt>
                                        </p:tgtEl>
                                        <p:attrNameLst>
                                          <p:attrName>style.visibility</p:attrName>
                                        </p:attrNameLst>
                                      </p:cBhvr>
                                      <p:to>
                                        <p:strVal val="visible"/>
                                      </p:to>
                                    </p:set>
                                    <p:animEffect filter="fade" transition="in">
                                      <p:cBhvr>
                                        <p:cTn dur="300"/>
                                        <p:tgtEl>
                                          <p:spTgt spid="4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2" st="2"/>
                                            </p:txEl>
                                          </p:spTgt>
                                        </p:tgtEl>
                                        <p:attrNameLst>
                                          <p:attrName>style.visibility</p:attrName>
                                        </p:attrNameLst>
                                      </p:cBhvr>
                                      <p:to>
                                        <p:strVal val="visible"/>
                                      </p:to>
                                    </p:set>
                                    <p:animEffect filter="fade" transition="in">
                                      <p:cBhvr>
                                        <p:cTn dur="300"/>
                                        <p:tgtEl>
                                          <p:spTgt spid="4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3" st="3"/>
                                            </p:txEl>
                                          </p:spTgt>
                                        </p:tgtEl>
                                        <p:attrNameLst>
                                          <p:attrName>style.visibility</p:attrName>
                                        </p:attrNameLst>
                                      </p:cBhvr>
                                      <p:to>
                                        <p:strVal val="visible"/>
                                      </p:to>
                                    </p:set>
                                    <p:animEffect filter="fade" transition="in">
                                      <p:cBhvr>
                                        <p:cTn dur="300"/>
                                        <p:tgtEl>
                                          <p:spTgt spid="4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300"/>
                                        <p:tgtEl>
                                          <p:spTgt spid="4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35" name="Google Shape;435;p4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32</a:t>
            </a:fld>
            <a:endParaRPr b="0" i="0" sz="1300" u="none" cap="none" strike="noStrike">
              <a:solidFill>
                <a:srgbClr val="FFFFFF"/>
              </a:solidFill>
              <a:latin typeface="Nunito"/>
              <a:ea typeface="Nunito"/>
              <a:cs typeface="Nunito"/>
              <a:sym typeface="Nunito"/>
            </a:endParaRPr>
          </a:p>
        </p:txBody>
      </p:sp>
      <p:sp>
        <p:nvSpPr>
          <p:cNvPr id="436" name="Google Shape;436;p4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37" name="Google Shape;437;p48"/>
          <p:cNvSpPr txBox="1"/>
          <p:nvPr/>
        </p:nvSpPr>
        <p:spPr>
          <a:xfrm>
            <a:off x="464300" y="968275"/>
            <a:ext cx="3584700" cy="3423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Inequality is serious: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Wealth gap </a:t>
            </a:r>
            <a:r>
              <a:rPr lang="en" sz="2000">
                <a:solidFill>
                  <a:schemeClr val="dk1"/>
                </a:solidFill>
                <a:latin typeface="Nunito"/>
                <a:ea typeface="Nunito"/>
                <a:cs typeface="Nunito"/>
                <a:sym typeface="Nunito"/>
              </a:rPr>
              <a:t>→</a:t>
            </a:r>
            <a:br>
              <a:rPr lang="en" sz="2000">
                <a:solidFill>
                  <a:schemeClr val="dk1"/>
                </a:solidFill>
                <a:latin typeface="Nunito"/>
                <a:ea typeface="Nunito"/>
                <a:cs typeface="Nunito"/>
                <a:sym typeface="Nunito"/>
              </a:rPr>
            </a:br>
            <a:r>
              <a:rPr b="0" i="0" lang="en" sz="2000" u="none" cap="none" strike="noStrike">
                <a:solidFill>
                  <a:schemeClr val="dk1"/>
                </a:solidFill>
                <a:latin typeface="Nunito"/>
                <a:ea typeface="Nunito"/>
                <a:cs typeface="Nunito"/>
                <a:sym typeface="Nunito"/>
              </a:rPr>
              <a:t>health gap</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Higher crime levels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More social tension, dissatisfaction, and shame</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Political instability</a:t>
            </a:r>
            <a:endParaRPr b="0" i="0" sz="2000" u="none" cap="none" strike="noStrike">
              <a:solidFill>
                <a:schemeClr val="dk1"/>
              </a:solidFill>
              <a:latin typeface="Nunito"/>
              <a:ea typeface="Nunito"/>
              <a:cs typeface="Nunito"/>
              <a:sym typeface="Nunito"/>
            </a:endParaRPr>
          </a:p>
        </p:txBody>
      </p:sp>
      <p:sp>
        <p:nvSpPr>
          <p:cNvPr id="438" name="Google Shape;438;p48"/>
          <p:cNvSpPr txBox="1"/>
          <p:nvPr>
            <p:ph type="title"/>
          </p:nvPr>
        </p:nvSpPr>
        <p:spPr>
          <a:xfrm>
            <a:off x="423625" y="786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Inequality (2/2)</a:t>
            </a:r>
            <a:endParaRPr/>
          </a:p>
          <a:p>
            <a:pPr indent="0" lvl="0" marL="0" rtl="0" algn="ctr">
              <a:lnSpc>
                <a:spcPct val="100000"/>
              </a:lnSpc>
              <a:spcBef>
                <a:spcPts val="0"/>
              </a:spcBef>
              <a:spcAft>
                <a:spcPts val="0"/>
              </a:spcAft>
              <a:buSzPts val="3600"/>
              <a:buNone/>
            </a:pPr>
            <a:r>
              <a:t/>
            </a:r>
            <a:endParaRPr/>
          </a:p>
        </p:txBody>
      </p:sp>
      <p:pic>
        <p:nvPicPr>
          <p:cNvPr id="439" name="Google Shape;439;p48"/>
          <p:cNvPicPr preferRelativeResize="0"/>
          <p:nvPr/>
        </p:nvPicPr>
        <p:blipFill rotWithShape="1">
          <a:blip r:embed="rId3">
            <a:alphaModFix/>
          </a:blip>
          <a:srcRect b="0" l="0" r="0" t="0"/>
          <a:stretch/>
        </p:blipFill>
        <p:spPr>
          <a:xfrm>
            <a:off x="3606675" y="824500"/>
            <a:ext cx="5243049" cy="3494499"/>
          </a:xfrm>
          <a:prstGeom prst="rect">
            <a:avLst/>
          </a:prstGeom>
          <a:noFill/>
          <a:ln>
            <a:noFill/>
          </a:ln>
        </p:spPr>
      </p:pic>
      <p:sp>
        <p:nvSpPr>
          <p:cNvPr id="440" name="Google Shape;440;p48"/>
          <p:cNvSpPr txBox="1"/>
          <p:nvPr/>
        </p:nvSpPr>
        <p:spPr>
          <a:xfrm>
            <a:off x="616700" y="4083300"/>
            <a:ext cx="8008200" cy="61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chemeClr val="dk1"/>
                </a:solidFill>
                <a:latin typeface="Nunito"/>
                <a:ea typeface="Nunito"/>
                <a:cs typeface="Nunito"/>
                <a:sym typeface="Nunito"/>
              </a:rPr>
              <a:t>People who own GPUs may capture economic value while workers may not, so automation could lead to substantial inequality</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0" st="0"/>
                                            </p:txEl>
                                          </p:spTgt>
                                        </p:tgtEl>
                                        <p:attrNameLst>
                                          <p:attrName>style.visibility</p:attrName>
                                        </p:attrNameLst>
                                      </p:cBhvr>
                                      <p:to>
                                        <p:strVal val="visible"/>
                                      </p:to>
                                    </p:set>
                                    <p:animEffect filter="fade" transition="in">
                                      <p:cBhvr>
                                        <p:cTn dur="300"/>
                                        <p:tgtEl>
                                          <p:spTgt spid="4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 st="1"/>
                                            </p:txEl>
                                          </p:spTgt>
                                        </p:tgtEl>
                                        <p:attrNameLst>
                                          <p:attrName>style.visibility</p:attrName>
                                        </p:attrNameLst>
                                      </p:cBhvr>
                                      <p:to>
                                        <p:strVal val="visible"/>
                                      </p:to>
                                    </p:set>
                                    <p:animEffect filter="fade" transition="in">
                                      <p:cBhvr>
                                        <p:cTn dur="300"/>
                                        <p:tgtEl>
                                          <p:spTgt spid="4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2" st="2"/>
                                            </p:txEl>
                                          </p:spTgt>
                                        </p:tgtEl>
                                        <p:attrNameLst>
                                          <p:attrName>style.visibility</p:attrName>
                                        </p:attrNameLst>
                                      </p:cBhvr>
                                      <p:to>
                                        <p:strVal val="visible"/>
                                      </p:to>
                                    </p:set>
                                    <p:animEffect filter="fade" transition="in">
                                      <p:cBhvr>
                                        <p:cTn dur="300"/>
                                        <p:tgtEl>
                                          <p:spTgt spid="4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3" st="3"/>
                                            </p:txEl>
                                          </p:spTgt>
                                        </p:tgtEl>
                                        <p:attrNameLst>
                                          <p:attrName>style.visibility</p:attrName>
                                        </p:attrNameLst>
                                      </p:cBhvr>
                                      <p:to>
                                        <p:strVal val="visible"/>
                                      </p:to>
                                    </p:set>
                                    <p:animEffect filter="fade" transition="in">
                                      <p:cBhvr>
                                        <p:cTn dur="300"/>
                                        <p:tgtEl>
                                          <p:spTgt spid="4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4" st="4"/>
                                            </p:txEl>
                                          </p:spTgt>
                                        </p:tgtEl>
                                        <p:attrNameLst>
                                          <p:attrName>style.visibility</p:attrName>
                                        </p:attrNameLst>
                                      </p:cBhvr>
                                      <p:to>
                                        <p:strVal val="visible"/>
                                      </p:to>
                                    </p:set>
                                    <p:animEffect filter="fade" transition="in">
                                      <p:cBhvr>
                                        <p:cTn dur="300"/>
                                        <p:tgtEl>
                                          <p:spTgt spid="4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300"/>
                                        <p:tgtEl>
                                          <p:spTgt spid="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9"/>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Beyond Economic Models</a:t>
            </a:r>
            <a:endParaRPr sz="3600">
              <a:latin typeface="Nunito"/>
              <a:ea typeface="Nunito"/>
              <a:cs typeface="Nunito"/>
              <a:sym typeface="Nunito"/>
            </a:endParaRPr>
          </a:p>
        </p:txBody>
      </p:sp>
      <p:sp>
        <p:nvSpPr>
          <p:cNvPr id="446" name="Google Shape;446;p4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47" name="Google Shape;447;p4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33</a:t>
            </a:fld>
            <a:endParaRPr b="0" i="0" sz="1300" u="none" cap="none" strike="noStrike">
              <a:solidFill>
                <a:srgbClr val="FFFFFF"/>
              </a:solidFill>
              <a:latin typeface="Nunito"/>
              <a:ea typeface="Nunito"/>
              <a:cs typeface="Nunito"/>
              <a:sym typeface="Nunito"/>
            </a:endParaRPr>
          </a:p>
        </p:txBody>
      </p:sp>
      <p:sp>
        <p:nvSpPr>
          <p:cNvPr id="448" name="Google Shape;448;p4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49" name="Google Shape;449;p49"/>
          <p:cNvSpPr txBox="1"/>
          <p:nvPr/>
        </p:nvSpPr>
        <p:spPr>
          <a:xfrm>
            <a:off x="423400" y="891550"/>
            <a:ext cx="8409000" cy="1680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GDP is not social value!</a:t>
            </a:r>
            <a:br>
              <a:rPr lang="en" sz="2000">
                <a:solidFill>
                  <a:schemeClr val="dk1"/>
                </a:solidFill>
                <a:latin typeface="Nunito"/>
                <a:ea typeface="Nunito"/>
                <a:cs typeface="Nunito"/>
                <a:sym typeface="Nunito"/>
              </a:rPr>
            </a:br>
            <a:endParaRPr sz="2000">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Social surplus is not social wellbeing.</a:t>
            </a:r>
            <a:br>
              <a:rPr b="0" i="0" lang="en" sz="2000" u="none" cap="none" strike="noStrike">
                <a:solidFill>
                  <a:schemeClr val="dk1"/>
                </a:solidFill>
                <a:latin typeface="Nunito"/>
                <a:ea typeface="Nunito"/>
                <a:cs typeface="Nunito"/>
                <a:sym typeface="Nunito"/>
              </a:rPr>
            </a:b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Happiness is more than just material wealth.</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xEl>
                                              <p:pRg end="0" st="0"/>
                                            </p:txEl>
                                          </p:spTgt>
                                        </p:tgtEl>
                                        <p:attrNameLst>
                                          <p:attrName>style.visibility</p:attrName>
                                        </p:attrNameLst>
                                      </p:cBhvr>
                                      <p:to>
                                        <p:strVal val="visible"/>
                                      </p:to>
                                    </p:set>
                                    <p:animEffect filter="fade" transition="in">
                                      <p:cBhvr>
                                        <p:cTn dur="300"/>
                                        <p:tgtEl>
                                          <p:spTgt spid="4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xEl>
                                              <p:pRg end="1" st="1"/>
                                            </p:txEl>
                                          </p:spTgt>
                                        </p:tgtEl>
                                        <p:attrNameLst>
                                          <p:attrName>style.visibility</p:attrName>
                                        </p:attrNameLst>
                                      </p:cBhvr>
                                      <p:to>
                                        <p:strVal val="visible"/>
                                      </p:to>
                                    </p:set>
                                    <p:animEffect filter="fade" transition="in">
                                      <p:cBhvr>
                                        <p:cTn dur="300"/>
                                        <p:tgtEl>
                                          <p:spTgt spid="4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xEl>
                                              <p:pRg end="2" st="2"/>
                                            </p:txEl>
                                          </p:spTgt>
                                        </p:tgtEl>
                                        <p:attrNameLst>
                                          <p:attrName>style.visibility</p:attrName>
                                        </p:attrNameLst>
                                      </p:cBhvr>
                                      <p:to>
                                        <p:strVal val="visible"/>
                                      </p:to>
                                    </p:set>
                                    <p:animEffect filter="fade" transition="in">
                                      <p:cBhvr>
                                        <p:cTn dur="300"/>
                                        <p:tgtEl>
                                          <p:spTgt spid="44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0"/>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GDP </a:t>
            </a:r>
            <a:r>
              <a:rPr lang="en">
                <a:solidFill>
                  <a:srgbClr val="202124"/>
                </a:solidFill>
                <a:highlight>
                  <a:srgbClr val="FFFFFF"/>
                </a:highlight>
              </a:rPr>
              <a:t>≠ Social Value</a:t>
            </a:r>
            <a:endParaRPr/>
          </a:p>
        </p:txBody>
      </p:sp>
      <p:sp>
        <p:nvSpPr>
          <p:cNvPr id="455" name="Google Shape;455;p50"/>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Gross Domestic Product (GDP) measures the monetary value of final goods and services.</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GDP is not social wellbeing: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Many socially valuable tasks, like parenting, are not captured</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The value of Google </a:t>
            </a:r>
            <a:r>
              <a:rPr lang="en" sz="2000">
                <a:solidFill>
                  <a:schemeClr val="dk1"/>
                </a:solidFill>
                <a:latin typeface="Nunito"/>
                <a:ea typeface="Nunito"/>
                <a:cs typeface="Nunito"/>
                <a:sym typeface="Nunito"/>
              </a:rPr>
              <a:t>searches</a:t>
            </a:r>
            <a:r>
              <a:rPr lang="en" sz="2000">
                <a:solidFill>
                  <a:schemeClr val="dk1"/>
                </a:solidFill>
                <a:latin typeface="Nunito"/>
                <a:ea typeface="Nunito"/>
                <a:cs typeface="Nunito"/>
                <a:sym typeface="Nunito"/>
              </a:rPr>
              <a:t> is not in GDP</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AI could increase GDP while decreasing societal wellbeing.</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GDP may become a poorer proxy with automation.</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latin typeface="Nunito"/>
              <a:ea typeface="Nunito"/>
              <a:cs typeface="Nunito"/>
              <a:sym typeface="Nunito"/>
            </a:endParaRPr>
          </a:p>
        </p:txBody>
      </p:sp>
      <p:sp>
        <p:nvSpPr>
          <p:cNvPr id="456" name="Google Shape;456;p5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57" name="Google Shape;457;p5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34</a:t>
            </a:fld>
            <a:endParaRPr b="0" i="0" sz="1300" u="none" cap="none" strike="noStrike">
              <a:solidFill>
                <a:srgbClr val="FFFFFF"/>
              </a:solidFill>
              <a:latin typeface="Nunito"/>
              <a:ea typeface="Nunito"/>
              <a:cs typeface="Nunito"/>
              <a:sym typeface="Nunito"/>
            </a:endParaRPr>
          </a:p>
        </p:txBody>
      </p:sp>
      <p:sp>
        <p:nvSpPr>
          <p:cNvPr id="458" name="Google Shape;458;p5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xEl>
                                              <p:pRg end="0" st="0"/>
                                            </p:txEl>
                                          </p:spTgt>
                                        </p:tgtEl>
                                        <p:attrNameLst>
                                          <p:attrName>style.visibility</p:attrName>
                                        </p:attrNameLst>
                                      </p:cBhvr>
                                      <p:to>
                                        <p:strVal val="visible"/>
                                      </p:to>
                                    </p:set>
                                    <p:animEffect filter="fade" transition="in">
                                      <p:cBhvr>
                                        <p:cTn dur="300"/>
                                        <p:tgtEl>
                                          <p:spTgt spid="4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xEl>
                                              <p:pRg end="1" st="1"/>
                                            </p:txEl>
                                          </p:spTgt>
                                        </p:tgtEl>
                                        <p:attrNameLst>
                                          <p:attrName>style.visibility</p:attrName>
                                        </p:attrNameLst>
                                      </p:cBhvr>
                                      <p:to>
                                        <p:strVal val="visible"/>
                                      </p:to>
                                    </p:set>
                                    <p:animEffect filter="fade" transition="in">
                                      <p:cBhvr>
                                        <p:cTn dur="300"/>
                                        <p:tgtEl>
                                          <p:spTgt spid="4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xEl>
                                              <p:pRg end="2" st="2"/>
                                            </p:txEl>
                                          </p:spTgt>
                                        </p:tgtEl>
                                        <p:attrNameLst>
                                          <p:attrName>style.visibility</p:attrName>
                                        </p:attrNameLst>
                                      </p:cBhvr>
                                      <p:to>
                                        <p:strVal val="visible"/>
                                      </p:to>
                                    </p:set>
                                    <p:animEffect filter="fade" transition="in">
                                      <p:cBhvr>
                                        <p:cTn dur="300"/>
                                        <p:tgtEl>
                                          <p:spTgt spid="4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xEl>
                                              <p:pRg end="3" st="3"/>
                                            </p:txEl>
                                          </p:spTgt>
                                        </p:tgtEl>
                                        <p:attrNameLst>
                                          <p:attrName>style.visibility</p:attrName>
                                        </p:attrNameLst>
                                      </p:cBhvr>
                                      <p:to>
                                        <p:strVal val="visible"/>
                                      </p:to>
                                    </p:set>
                                    <p:animEffect filter="fade" transition="in">
                                      <p:cBhvr>
                                        <p:cTn dur="300"/>
                                        <p:tgtEl>
                                          <p:spTgt spid="4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xEl>
                                              <p:pRg end="4" st="4"/>
                                            </p:txEl>
                                          </p:spTgt>
                                        </p:tgtEl>
                                        <p:attrNameLst>
                                          <p:attrName>style.visibility</p:attrName>
                                        </p:attrNameLst>
                                      </p:cBhvr>
                                      <p:to>
                                        <p:strVal val="visible"/>
                                      </p:to>
                                    </p:set>
                                    <p:animEffect filter="fade" transition="in">
                                      <p:cBhvr>
                                        <p:cTn dur="300"/>
                                        <p:tgtEl>
                                          <p:spTgt spid="4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xEl>
                                              <p:pRg end="5" st="5"/>
                                            </p:txEl>
                                          </p:spTgt>
                                        </p:tgtEl>
                                        <p:attrNameLst>
                                          <p:attrName>style.visibility</p:attrName>
                                        </p:attrNameLst>
                                      </p:cBhvr>
                                      <p:to>
                                        <p:strVal val="visible"/>
                                      </p:to>
                                    </p:set>
                                    <p:animEffect filter="fade" transition="in">
                                      <p:cBhvr>
                                        <p:cTn dur="300"/>
                                        <p:tgtEl>
                                          <p:spTgt spid="4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xEl>
                                              <p:pRg end="6" st="6"/>
                                            </p:txEl>
                                          </p:spTgt>
                                        </p:tgtEl>
                                        <p:attrNameLst>
                                          <p:attrName>style.visibility</p:attrName>
                                        </p:attrNameLst>
                                      </p:cBhvr>
                                      <p:to>
                                        <p:strVal val="visible"/>
                                      </p:to>
                                    </p:set>
                                    <p:animEffect filter="fade" transition="in">
                                      <p:cBhvr>
                                        <p:cTn dur="300"/>
                                        <p:tgtEl>
                                          <p:spTgt spid="45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xEl>
                                              <p:pRg end="7" st="7"/>
                                            </p:txEl>
                                          </p:spTgt>
                                        </p:tgtEl>
                                        <p:attrNameLst>
                                          <p:attrName>style.visibility</p:attrName>
                                        </p:attrNameLst>
                                      </p:cBhvr>
                                      <p:to>
                                        <p:strVal val="visible"/>
                                      </p:to>
                                    </p:set>
                                    <p:animEffect filter="fade" transition="in">
                                      <p:cBhvr>
                                        <p:cTn dur="300"/>
                                        <p:tgtEl>
                                          <p:spTgt spid="45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xEl>
                                              <p:pRg end="8" st="8"/>
                                            </p:txEl>
                                          </p:spTgt>
                                        </p:tgtEl>
                                        <p:attrNameLst>
                                          <p:attrName>style.visibility</p:attrName>
                                        </p:attrNameLst>
                                      </p:cBhvr>
                                      <p:to>
                                        <p:strVal val="visible"/>
                                      </p:to>
                                    </p:set>
                                    <p:animEffect filter="fade" transition="in">
                                      <p:cBhvr>
                                        <p:cTn dur="300"/>
                                        <p:tgtEl>
                                          <p:spTgt spid="45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2"/>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Happiness is More Than Wealth </a:t>
            </a:r>
            <a:endParaRPr/>
          </a:p>
        </p:txBody>
      </p:sp>
      <p:sp>
        <p:nvSpPr>
          <p:cNvPr id="477" name="Google Shape;477;p52"/>
          <p:cNvSpPr txBox="1"/>
          <p:nvPr>
            <p:ph idx="1" type="body"/>
          </p:nvPr>
        </p:nvSpPr>
        <p:spPr>
          <a:xfrm>
            <a:off x="311700" y="894525"/>
            <a:ext cx="8520600" cy="127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sz="2000">
                <a:solidFill>
                  <a:schemeClr val="dk1"/>
                </a:solidFill>
                <a:latin typeface="Nunito"/>
                <a:ea typeface="Nunito"/>
                <a:cs typeface="Nunito"/>
                <a:sym typeface="Nunito"/>
              </a:rPr>
              <a:t>H</a:t>
            </a:r>
            <a:r>
              <a:rPr lang="en" sz="2000">
                <a:solidFill>
                  <a:schemeClr val="dk1"/>
                </a:solidFill>
                <a:latin typeface="Nunito"/>
                <a:ea typeface="Nunito"/>
                <a:cs typeface="Nunito"/>
                <a:sym typeface="Nunito"/>
              </a:rPr>
              <a:t>appiness seems to depend on many factors: wealth, social connections, health, jobs, a sense of purpose, and so on </a:t>
            </a:r>
            <a:endParaRPr sz="2000">
              <a:solidFill>
                <a:schemeClr val="dk1"/>
              </a:solidFill>
              <a:latin typeface="Nunito"/>
              <a:ea typeface="Nunito"/>
              <a:cs typeface="Nunito"/>
              <a:sym typeface="Nunito"/>
            </a:endParaRPr>
          </a:p>
        </p:txBody>
      </p:sp>
      <p:sp>
        <p:nvSpPr>
          <p:cNvPr id="478" name="Google Shape;478;p5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79" name="Google Shape;479;p5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35</a:t>
            </a:fld>
            <a:endParaRPr b="0" i="0" sz="1300" u="none" cap="none" strike="noStrike">
              <a:solidFill>
                <a:srgbClr val="FFFFFF"/>
              </a:solidFill>
              <a:latin typeface="Nunito"/>
              <a:ea typeface="Nunito"/>
              <a:cs typeface="Nunito"/>
              <a:sym typeface="Nunito"/>
            </a:endParaRPr>
          </a:p>
        </p:txBody>
      </p:sp>
      <p:sp>
        <p:nvSpPr>
          <p:cNvPr id="480" name="Google Shape;480;p5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81" name="Google Shape;481;p52"/>
          <p:cNvSpPr txBox="1"/>
          <p:nvPr>
            <p:ph idx="1" type="body"/>
          </p:nvPr>
        </p:nvSpPr>
        <p:spPr>
          <a:xfrm>
            <a:off x="311700" y="1863825"/>
            <a:ext cx="5364600" cy="89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sz="2000">
                <a:solidFill>
                  <a:schemeClr val="dk1"/>
                </a:solidFill>
                <a:latin typeface="Nunito"/>
                <a:ea typeface="Nunito"/>
                <a:cs typeface="Nunito"/>
                <a:sym typeface="Nunito"/>
              </a:rPr>
              <a:t>Easterlin paradox: wealthier countries are happier, but growth is not correlated with</a:t>
            </a:r>
            <a:r>
              <a:rPr lang="en" sz="2000">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increases in happiness.</a:t>
            </a:r>
            <a:endParaRPr sz="2000">
              <a:solidFill>
                <a:schemeClr val="dk1"/>
              </a:solidFill>
              <a:latin typeface="Nunito"/>
              <a:ea typeface="Nunito"/>
              <a:cs typeface="Nunito"/>
              <a:sym typeface="Nunito"/>
            </a:endParaRPr>
          </a:p>
        </p:txBody>
      </p:sp>
      <p:sp>
        <p:nvSpPr>
          <p:cNvPr id="482" name="Google Shape;482;p52"/>
          <p:cNvSpPr txBox="1"/>
          <p:nvPr>
            <p:ph idx="1" type="body"/>
          </p:nvPr>
        </p:nvSpPr>
        <p:spPr>
          <a:xfrm>
            <a:off x="311700" y="3055186"/>
            <a:ext cx="8520600" cy="173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Alternative measures of wellbeing:</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HDI is a function of a nation's average life expectancy, education level, and Gross National Income (GNI) per capita</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Gross National Happiness</a:t>
            </a:r>
            <a:endParaRPr sz="2000">
              <a:solidFill>
                <a:schemeClr val="dk1"/>
              </a:solidFill>
              <a:latin typeface="Nunito"/>
              <a:ea typeface="Nunito"/>
              <a:cs typeface="Nunito"/>
              <a:sym typeface="Nunito"/>
            </a:endParaRPr>
          </a:p>
          <a:p>
            <a:pPr indent="0" lvl="0" marL="0" rtl="0" algn="l">
              <a:lnSpc>
                <a:spcPct val="115000"/>
              </a:lnSpc>
              <a:spcBef>
                <a:spcPts val="0"/>
              </a:spcBef>
              <a:spcAft>
                <a:spcPts val="1600"/>
              </a:spcAft>
              <a:buSzPts val="1800"/>
              <a:buNone/>
            </a:pPr>
            <a:r>
              <a:t/>
            </a:r>
            <a:endParaRPr sz="2000">
              <a:solidFill>
                <a:schemeClr val="dk1"/>
              </a:solidFill>
              <a:latin typeface="Nunito"/>
              <a:ea typeface="Nunito"/>
              <a:cs typeface="Nunito"/>
              <a:sym typeface="Nunito"/>
            </a:endParaRPr>
          </a:p>
        </p:txBody>
      </p:sp>
      <p:pic>
        <p:nvPicPr>
          <p:cNvPr id="483" name="Google Shape;483;p52"/>
          <p:cNvPicPr preferRelativeResize="0"/>
          <p:nvPr/>
        </p:nvPicPr>
        <p:blipFill>
          <a:blip r:embed="rId3">
            <a:alphaModFix/>
          </a:blip>
          <a:stretch>
            <a:fillRect/>
          </a:stretch>
        </p:blipFill>
        <p:spPr>
          <a:xfrm>
            <a:off x="5899000" y="1767925"/>
            <a:ext cx="2960850" cy="16076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300"/>
                                        <p:tgtEl>
                                          <p:spTgt spid="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300"/>
                                        <p:tgtEl>
                                          <p:spTgt spid="481"/>
                                        </p:tgtEl>
                                      </p:cBhvr>
                                    </p:animEffec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0" st="0"/>
                                            </p:txEl>
                                          </p:spTgt>
                                        </p:tgtEl>
                                        <p:attrNameLst>
                                          <p:attrName>style.visibility</p:attrName>
                                        </p:attrNameLst>
                                      </p:cBhvr>
                                      <p:to>
                                        <p:strVal val="visible"/>
                                      </p:to>
                                    </p:set>
                                    <p:animEffect filter="fade" transition="in">
                                      <p:cBhvr>
                                        <p:cTn dur="300"/>
                                        <p:tgtEl>
                                          <p:spTgt spid="4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1" st="1"/>
                                            </p:txEl>
                                          </p:spTgt>
                                        </p:tgtEl>
                                        <p:attrNameLst>
                                          <p:attrName>style.visibility</p:attrName>
                                        </p:attrNameLst>
                                      </p:cBhvr>
                                      <p:to>
                                        <p:strVal val="visible"/>
                                      </p:to>
                                    </p:set>
                                    <p:animEffect filter="fade" transition="in">
                                      <p:cBhvr>
                                        <p:cTn dur="300"/>
                                        <p:tgtEl>
                                          <p:spTgt spid="4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2" st="2"/>
                                            </p:txEl>
                                          </p:spTgt>
                                        </p:tgtEl>
                                        <p:attrNameLst>
                                          <p:attrName>style.visibility</p:attrName>
                                        </p:attrNameLst>
                                      </p:cBhvr>
                                      <p:to>
                                        <p:strVal val="visible"/>
                                      </p:to>
                                    </p:set>
                                    <p:animEffect filter="fade" transition="in">
                                      <p:cBhvr>
                                        <p:cTn dur="300"/>
                                        <p:tgtEl>
                                          <p:spTgt spid="4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3" st="3"/>
                                            </p:txEl>
                                          </p:spTgt>
                                        </p:tgtEl>
                                        <p:attrNameLst>
                                          <p:attrName>style.visibility</p:attrName>
                                        </p:attrNameLst>
                                      </p:cBhvr>
                                      <p:to>
                                        <p:strVal val="visible"/>
                                      </p:to>
                                    </p:set>
                                    <p:animEffect filter="fade" transition="in">
                                      <p:cBhvr>
                                        <p:cTn dur="300"/>
                                        <p:tgtEl>
                                          <p:spTgt spid="48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3"/>
          <p:cNvSpPr txBox="1"/>
          <p:nvPr>
            <p:ph type="title"/>
          </p:nvPr>
        </p:nvSpPr>
        <p:spPr>
          <a:xfrm>
            <a:off x="423450" y="6732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Conclusions on the Economic Engine</a:t>
            </a:r>
            <a:endParaRPr sz="3600">
              <a:latin typeface="Nunito"/>
              <a:ea typeface="Nunito"/>
              <a:cs typeface="Nunito"/>
              <a:sym typeface="Nunito"/>
            </a:endParaRPr>
          </a:p>
        </p:txBody>
      </p:sp>
      <p:sp>
        <p:nvSpPr>
          <p:cNvPr id="489" name="Google Shape;489;p5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90" name="Google Shape;490;p5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36</a:t>
            </a:fld>
            <a:endParaRPr b="0" i="0" sz="1300" u="none" cap="none" strike="noStrike">
              <a:solidFill>
                <a:srgbClr val="FFFFFF"/>
              </a:solidFill>
              <a:latin typeface="Nunito"/>
              <a:ea typeface="Nunito"/>
              <a:cs typeface="Nunito"/>
              <a:sym typeface="Nunito"/>
            </a:endParaRPr>
          </a:p>
        </p:txBody>
      </p:sp>
      <p:sp>
        <p:nvSpPr>
          <p:cNvPr id="491" name="Google Shape;491;p5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92" name="Google Shape;492;p53"/>
          <p:cNvSpPr txBox="1"/>
          <p:nvPr/>
        </p:nvSpPr>
        <p:spPr>
          <a:xfrm>
            <a:off x="423400" y="891550"/>
            <a:ext cx="84090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493" name="Google Shape;493;p53"/>
          <p:cNvSpPr txBox="1"/>
          <p:nvPr/>
        </p:nvSpPr>
        <p:spPr>
          <a:xfrm>
            <a:off x="423400" y="1055950"/>
            <a:ext cx="8201400" cy="291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AI </a:t>
            </a:r>
            <a:r>
              <a:rPr lang="en" sz="2000">
                <a:latin typeface="Nunito"/>
                <a:ea typeface="Nunito"/>
                <a:cs typeface="Nunito"/>
                <a:sym typeface="Nunito"/>
              </a:rPr>
              <a:t>development</a:t>
            </a:r>
            <a:r>
              <a:rPr b="0" i="0" lang="en" sz="2000" u="none" cap="none" strike="noStrike">
                <a:solidFill>
                  <a:srgbClr val="000000"/>
                </a:solidFill>
                <a:latin typeface="Nunito"/>
                <a:ea typeface="Nunito"/>
                <a:cs typeface="Nunito"/>
                <a:sym typeface="Nunito"/>
              </a:rPr>
              <a:t> prioritizes economic motivations</a:t>
            </a:r>
            <a:r>
              <a:rPr lang="en" sz="2000">
                <a:latin typeface="Nunito"/>
                <a:ea typeface="Nunito"/>
                <a:cs typeface="Nunito"/>
                <a:sym typeface="Nunito"/>
              </a:rPr>
              <a:t>, not necessarily </a:t>
            </a:r>
            <a:r>
              <a:rPr b="0" i="0" lang="en" sz="2000" u="none" cap="none" strike="noStrike">
                <a:solidFill>
                  <a:srgbClr val="000000"/>
                </a:solidFill>
                <a:latin typeface="Nunito"/>
                <a:ea typeface="Nunito"/>
                <a:cs typeface="Nunito"/>
                <a:sym typeface="Nunito"/>
              </a:rPr>
              <a:t>social wellbeing.</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AIs may increase efficien</a:t>
            </a:r>
            <a:r>
              <a:rPr lang="en" sz="2000">
                <a:solidFill>
                  <a:schemeClr val="dk1"/>
                </a:solidFill>
                <a:latin typeface="Nunito"/>
                <a:ea typeface="Nunito"/>
                <a:cs typeface="Nunito"/>
                <a:sym typeface="Nunito"/>
              </a:rPr>
              <a:t>cy</a:t>
            </a:r>
            <a:r>
              <a:rPr b="0" i="0" lang="en" sz="2000" u="none" cap="none" strike="noStrike">
                <a:solidFill>
                  <a:schemeClr val="dk1"/>
                </a:solidFill>
                <a:latin typeface="Nunito"/>
                <a:ea typeface="Nunito"/>
                <a:cs typeface="Nunito"/>
                <a:sym typeface="Nunito"/>
              </a:rPr>
              <a:t> and economic growth, but may also cause inequality or market failures. </a:t>
            </a:r>
            <a:r>
              <a:rPr b="0" i="0" lang="en" sz="2000" u="none" cap="none" strike="noStrike">
                <a:solidFill>
                  <a:srgbClr val="000000"/>
                </a:solidFill>
                <a:latin typeface="Nunito"/>
                <a:ea typeface="Nunito"/>
                <a:cs typeface="Nunito"/>
                <a:sym typeface="Nunito"/>
              </a:rPr>
              <a:t>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Measures of the economy (like GDP or social surplus) do not measure wellbeing, so AIs should not be tasked with or rewarded for simply maximizing them, and</a:t>
            </a:r>
            <a:r>
              <a:rPr lang="en" sz="2000">
                <a:solidFill>
                  <a:schemeClr val="dk1"/>
                </a:solidFill>
                <a:latin typeface="Nunito"/>
                <a:ea typeface="Nunito"/>
                <a:cs typeface="Nunito"/>
                <a:sym typeface="Nunito"/>
              </a:rPr>
              <a:t> having just the economy guide AI development is insufficient for creating beneficial AI</a:t>
            </a:r>
            <a:r>
              <a:rPr b="0" i="0" lang="en" sz="2000" u="none" cap="none" strike="noStrike">
                <a:solidFill>
                  <a:schemeClr val="dk1"/>
                </a:solidFill>
                <a:latin typeface="Nunito"/>
                <a:ea typeface="Nunito"/>
                <a:cs typeface="Nunito"/>
                <a:sym typeface="Nunito"/>
              </a:rPr>
              <a:t>. </a:t>
            </a:r>
            <a:endParaRPr b="0" i="0" sz="2000" u="none" cap="none" strike="noStrike">
              <a:solidFill>
                <a:srgbClr val="000000"/>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0" st="0"/>
                                            </p:txEl>
                                          </p:spTgt>
                                        </p:tgtEl>
                                        <p:attrNameLst>
                                          <p:attrName>style.visibility</p:attrName>
                                        </p:attrNameLst>
                                      </p:cBhvr>
                                      <p:to>
                                        <p:strVal val="visible"/>
                                      </p:to>
                                    </p:set>
                                    <p:animEffect filter="fade" transition="in">
                                      <p:cBhvr>
                                        <p:cTn dur="300"/>
                                        <p:tgtEl>
                                          <p:spTgt spid="4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1" st="1"/>
                                            </p:txEl>
                                          </p:spTgt>
                                        </p:tgtEl>
                                        <p:attrNameLst>
                                          <p:attrName>style.visibility</p:attrName>
                                        </p:attrNameLst>
                                      </p:cBhvr>
                                      <p:to>
                                        <p:strVal val="visible"/>
                                      </p:to>
                                    </p:set>
                                    <p:animEffect filter="fade" transition="in">
                                      <p:cBhvr>
                                        <p:cTn dur="300"/>
                                        <p:tgtEl>
                                          <p:spTgt spid="4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2" st="2"/>
                                            </p:txEl>
                                          </p:spTgt>
                                        </p:tgtEl>
                                        <p:attrNameLst>
                                          <p:attrName>style.visibility</p:attrName>
                                        </p:attrNameLst>
                                      </p:cBhvr>
                                      <p:to>
                                        <p:strVal val="visible"/>
                                      </p:to>
                                    </p:set>
                                    <p:animEffect filter="fade" transition="in">
                                      <p:cBhvr>
                                        <p:cTn dur="300"/>
                                        <p:tgtEl>
                                          <p:spTgt spid="4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3" st="3"/>
                                            </p:txEl>
                                          </p:spTgt>
                                        </p:tgtEl>
                                        <p:attrNameLst>
                                          <p:attrName>style.visibility</p:attrName>
                                        </p:attrNameLst>
                                      </p:cBhvr>
                                      <p:to>
                                        <p:strVal val="visible"/>
                                      </p:to>
                                    </p:set>
                                    <p:animEffect filter="fade" transition="in">
                                      <p:cBhvr>
                                        <p:cTn dur="300"/>
                                        <p:tgtEl>
                                          <p:spTgt spid="4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4" st="4"/>
                                            </p:txEl>
                                          </p:spTgt>
                                        </p:tgtEl>
                                        <p:attrNameLst>
                                          <p:attrName>style.visibility</p:attrName>
                                        </p:attrNameLst>
                                      </p:cBhvr>
                                      <p:to>
                                        <p:strVal val="visible"/>
                                      </p:to>
                                    </p:set>
                                    <p:animEffect filter="fade" transition="in">
                                      <p:cBhvr>
                                        <p:cTn dur="300"/>
                                        <p:tgtEl>
                                          <p:spTgt spid="49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4"/>
          <p:cNvSpPr txBox="1"/>
          <p:nvPr>
            <p:ph type="title"/>
          </p:nvPr>
        </p:nvSpPr>
        <p:spPr>
          <a:xfrm>
            <a:off x="423625" y="559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499" name="Google Shape;499;p54"/>
          <p:cNvSpPr txBox="1"/>
          <p:nvPr/>
        </p:nvSpPr>
        <p:spPr>
          <a:xfrm>
            <a:off x="367450" y="817200"/>
            <a:ext cx="8776500" cy="3667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Law: </a:t>
            </a:r>
            <a:r>
              <a:rPr b="0" i="1" lang="en" sz="2000" u="none" cap="none" strike="noStrike">
                <a:solidFill>
                  <a:schemeClr val="dk1"/>
                </a:solidFill>
                <a:latin typeface="Nunito"/>
                <a:ea typeface="Nunito"/>
                <a:cs typeface="Nunito"/>
                <a:sym typeface="Nunito"/>
              </a:rPr>
              <a:t>Make AIs follow the law.</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Fairness: </a:t>
            </a:r>
            <a:r>
              <a:rPr b="0" i="1" lang="en" sz="2000" u="none" cap="none" strike="noStrike">
                <a:solidFill>
                  <a:schemeClr val="dk1"/>
                </a:solidFill>
                <a:latin typeface="Nunito"/>
                <a:ea typeface="Nunito"/>
                <a:cs typeface="Nunito"/>
                <a:sym typeface="Nunito"/>
              </a:rPr>
              <a:t>Make AIs be fair.</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 Economic Engine: </a:t>
            </a:r>
            <a:r>
              <a:rPr i="1" lang="en" sz="2000">
                <a:solidFill>
                  <a:schemeClr val="dk1"/>
                </a:solidFill>
                <a:latin typeface="Nunito"/>
                <a:ea typeface="Nunito"/>
                <a:cs typeface="Nunito"/>
                <a:sym typeface="Nunito"/>
              </a:rPr>
              <a:t>Let the economy govern AI development.</a:t>
            </a:r>
            <a:endParaRPr i="1" sz="2000">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Wellbeing: </a:t>
            </a:r>
            <a:r>
              <a:rPr i="1" lang="en" sz="2000">
                <a:solidFill>
                  <a:schemeClr val="dk1"/>
                </a:solidFill>
                <a:latin typeface="Nunito"/>
                <a:ea typeface="Nunito"/>
                <a:cs typeface="Nunito"/>
                <a:sym typeface="Nunito"/>
              </a:rPr>
              <a:t>AIs should improve people’s lives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Preferences: </a:t>
            </a:r>
            <a:r>
              <a:rPr b="0" i="1" lang="en" sz="2000" u="none" cap="none" strike="noStrike">
                <a:solidFill>
                  <a:schemeClr val="dk1"/>
                </a:solidFill>
                <a:latin typeface="Nunito"/>
                <a:ea typeface="Nunito"/>
                <a:cs typeface="Nunito"/>
                <a:sym typeface="Nunito"/>
              </a:rPr>
              <a:t>Make AIs satisfy people’s preferences.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Happiness: </a:t>
            </a:r>
            <a:r>
              <a:rPr b="0" i="1" lang="en" sz="2000" u="none" cap="none" strike="noStrike">
                <a:solidFill>
                  <a:schemeClr val="dk1"/>
                </a:solidFill>
                <a:latin typeface="Nunito"/>
                <a:ea typeface="Nunito"/>
                <a:cs typeface="Nunito"/>
                <a:sym typeface="Nunito"/>
              </a:rPr>
              <a:t>Make AIs make people happy.</a:t>
            </a:r>
            <a:endParaRPr b="0" i="1" sz="2000" u="none" cap="none" strike="noStrike">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Moral uncertainty: </a:t>
            </a:r>
            <a:r>
              <a:rPr i="1" lang="en" sz="2000">
                <a:solidFill>
                  <a:schemeClr val="dk1"/>
                </a:solidFill>
                <a:latin typeface="Nunito"/>
                <a:ea typeface="Nunito"/>
                <a:cs typeface="Nunito"/>
                <a:sym typeface="Nunito"/>
              </a:rPr>
              <a:t>Deciding without knowing the “correct” moral theory</a:t>
            </a:r>
            <a:endParaRPr i="1" sz="2000">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i="1" sz="2000">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p:txBody>
      </p:sp>
      <p:sp>
        <p:nvSpPr>
          <p:cNvPr id="500" name="Google Shape;500;p5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01" name="Google Shape;501;p5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37</a:t>
            </a:fld>
            <a:endParaRPr b="0" i="0" sz="1300" u="none" cap="none" strike="noStrike">
              <a:solidFill>
                <a:srgbClr val="FFFFFF"/>
              </a:solidFill>
              <a:latin typeface="Nunito"/>
              <a:ea typeface="Nunito"/>
              <a:cs typeface="Nunito"/>
              <a:sym typeface="Nunito"/>
            </a:endParaRPr>
          </a:p>
        </p:txBody>
      </p:sp>
      <p:sp>
        <p:nvSpPr>
          <p:cNvPr id="502" name="Google Shape;502;p5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03" name="Google Shape;503;p54"/>
          <p:cNvSpPr/>
          <p:nvPr/>
        </p:nvSpPr>
        <p:spPr>
          <a:xfrm>
            <a:off x="367450" y="2200275"/>
            <a:ext cx="8279700" cy="900000"/>
          </a:xfrm>
          <a:prstGeom prst="rect">
            <a:avLst/>
          </a:prstGeom>
          <a:noFill/>
          <a:ln cap="flat" cmpd="sng" w="9525">
            <a:solidFill>
              <a:srgbClr val="0097A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300"/>
                                        <p:tgtEl>
                                          <p:spTgt spid="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 sz="1300" u="none" cap="none" strike="noStrike">
                <a:solidFill>
                  <a:schemeClr val="lt1"/>
                </a:solidFill>
                <a:latin typeface="Nunito"/>
                <a:ea typeface="Nunito"/>
                <a:cs typeface="Nunito"/>
                <a:sym typeface="Nunito"/>
              </a:rPr>
              <a:t>38</a:t>
            </a:fld>
            <a:endParaRPr b="0" i="0" sz="1300" u="none" cap="none" strike="noStrike">
              <a:solidFill>
                <a:schemeClr val="lt1"/>
              </a:solidFill>
              <a:latin typeface="Nunito"/>
              <a:ea typeface="Nunito"/>
              <a:cs typeface="Nunito"/>
              <a:sym typeface="Nunito"/>
            </a:endParaRPr>
          </a:p>
        </p:txBody>
      </p:sp>
      <p:sp>
        <p:nvSpPr>
          <p:cNvPr id="509" name="Google Shape;509;p5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10" name="Google Shape;510;p55"/>
          <p:cNvSpPr txBox="1"/>
          <p:nvPr>
            <p:ph idx="4294967295" type="title"/>
          </p:nvPr>
        </p:nvSpPr>
        <p:spPr>
          <a:xfrm>
            <a:off x="423400" y="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3600">
                <a:latin typeface="Nunito"/>
                <a:ea typeface="Nunito"/>
                <a:cs typeface="Nunito"/>
                <a:sym typeface="Nunito"/>
              </a:rPr>
              <a:t>Wellbeing </a:t>
            </a:r>
            <a:endParaRPr sz="3600">
              <a:latin typeface="Nunito"/>
              <a:ea typeface="Nunito"/>
              <a:cs typeface="Nunito"/>
              <a:sym typeface="Nunito"/>
            </a:endParaRPr>
          </a:p>
        </p:txBody>
      </p:sp>
      <p:sp>
        <p:nvSpPr>
          <p:cNvPr id="511" name="Google Shape;511;p55"/>
          <p:cNvSpPr txBox="1"/>
          <p:nvPr/>
        </p:nvSpPr>
        <p:spPr>
          <a:xfrm>
            <a:off x="423400" y="674575"/>
            <a:ext cx="82971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How wellbeing is defined is debatable; however, it is commonly considered to be an </a:t>
            </a:r>
            <a:r>
              <a:rPr b="1" i="0" lang="en" sz="2000" u="none" cap="none" strike="noStrike">
                <a:solidFill>
                  <a:schemeClr val="dk1"/>
                </a:solidFill>
                <a:latin typeface="Nunito"/>
                <a:ea typeface="Nunito"/>
                <a:cs typeface="Nunito"/>
                <a:sym typeface="Nunito"/>
              </a:rPr>
              <a:t>intrinsic good</a:t>
            </a:r>
            <a:r>
              <a:rPr b="0" i="0" lang="en" sz="2000" u="none" cap="none" strike="noStrike">
                <a:solidFill>
                  <a:schemeClr val="dk1"/>
                </a:solidFill>
                <a:latin typeface="Nunito"/>
                <a:ea typeface="Nunito"/>
                <a:cs typeface="Nunito"/>
                <a:sym typeface="Nunito"/>
              </a:rPr>
              <a:t>.</a:t>
            </a:r>
            <a:endParaRPr b="1" i="1" sz="2000" u="none" cap="none" strike="noStrike">
              <a:solidFill>
                <a:schemeClr val="dk1"/>
              </a:solidFill>
              <a:latin typeface="Nunito"/>
              <a:ea typeface="Nunito"/>
              <a:cs typeface="Nunito"/>
              <a:sym typeface="Nunito"/>
            </a:endParaRPr>
          </a:p>
        </p:txBody>
      </p:sp>
      <p:sp>
        <p:nvSpPr>
          <p:cNvPr id="512" name="Google Shape;512;p55"/>
          <p:cNvSpPr txBox="1"/>
          <p:nvPr/>
        </p:nvSpPr>
        <p:spPr>
          <a:xfrm>
            <a:off x="423400" y="1599275"/>
            <a:ext cx="8297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Wellbeing </a:t>
            </a:r>
            <a:r>
              <a:rPr b="0" i="0" lang="en" sz="2000" u="none" cap="none" strike="noStrike">
                <a:solidFill>
                  <a:schemeClr val="dk1"/>
                </a:solidFill>
                <a:latin typeface="Nunito"/>
                <a:ea typeface="Nunito"/>
                <a:cs typeface="Nunito"/>
                <a:sym typeface="Nunito"/>
              </a:rPr>
              <a:t>generally refers to how well a person’s life is going. </a:t>
            </a:r>
            <a:endParaRPr b="1" i="1" sz="2000" u="none" cap="none" strike="noStrike">
              <a:solidFill>
                <a:schemeClr val="dk1"/>
              </a:solidFill>
              <a:latin typeface="Nunito"/>
              <a:ea typeface="Nunito"/>
              <a:cs typeface="Nunito"/>
              <a:sym typeface="Nunito"/>
            </a:endParaRPr>
          </a:p>
        </p:txBody>
      </p:sp>
      <p:sp>
        <p:nvSpPr>
          <p:cNvPr id="513" name="Google Shape;513;p55"/>
          <p:cNvSpPr txBox="1"/>
          <p:nvPr/>
        </p:nvSpPr>
        <p:spPr>
          <a:xfrm>
            <a:off x="423400" y="2371575"/>
            <a:ext cx="61698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Throughout this section, we discuss three common accounts of wellbeing:</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Wellbeing as pleasure.</a:t>
            </a:r>
            <a:endParaRPr b="0" i="0" sz="2000" u="none" cap="none" strike="noStrike">
              <a:solidFill>
                <a:schemeClr val="dk1"/>
              </a:solidFill>
              <a:latin typeface="Nunito"/>
              <a:ea typeface="Nunito"/>
              <a:cs typeface="Nunito"/>
              <a:sym typeface="Nunito"/>
            </a:endParaRPr>
          </a:p>
          <a:p>
            <a:pPr indent="-355600" lvl="0" marL="457200" rtl="0" algn="l">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Wellbeing as a set of objective goods.</a:t>
            </a:r>
            <a:endParaRPr sz="2000">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Wellbeing as preference satisfaction.</a:t>
            </a:r>
            <a:endParaRPr b="1" i="0" sz="2000" u="none" cap="none" strike="noStrike">
              <a:solidFill>
                <a:schemeClr val="dk1"/>
              </a:solidFill>
              <a:latin typeface="Nunito"/>
              <a:ea typeface="Nunito"/>
              <a:cs typeface="Nunito"/>
              <a:sym typeface="Nunito"/>
            </a:endParaRPr>
          </a:p>
        </p:txBody>
      </p:sp>
      <p:pic>
        <p:nvPicPr>
          <p:cNvPr id="514" name="Google Shape;514;p55"/>
          <p:cNvPicPr preferRelativeResize="0"/>
          <p:nvPr/>
        </p:nvPicPr>
        <p:blipFill>
          <a:blip r:embed="rId3">
            <a:alphaModFix/>
          </a:blip>
          <a:stretch>
            <a:fillRect/>
          </a:stretch>
        </p:blipFill>
        <p:spPr>
          <a:xfrm>
            <a:off x="5436532" y="3789825"/>
            <a:ext cx="3707636" cy="1009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0" st="0"/>
                                            </p:txEl>
                                          </p:spTgt>
                                        </p:tgtEl>
                                        <p:attrNameLst>
                                          <p:attrName>style.visibility</p:attrName>
                                        </p:attrNameLst>
                                      </p:cBhvr>
                                      <p:to>
                                        <p:strVal val="visible"/>
                                      </p:to>
                                    </p:set>
                                    <p:animEffect filter="fade" transition="in">
                                      <p:cBhvr>
                                        <p:cTn dur="300"/>
                                        <p:tgtEl>
                                          <p:spTgt spid="5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
                                            <p:txEl>
                                              <p:pRg end="0" st="0"/>
                                            </p:txEl>
                                          </p:spTgt>
                                        </p:tgtEl>
                                        <p:attrNameLst>
                                          <p:attrName>style.visibility</p:attrName>
                                        </p:attrNameLst>
                                      </p:cBhvr>
                                      <p:to>
                                        <p:strVal val="visible"/>
                                      </p:to>
                                    </p:set>
                                    <p:animEffect filter="fade" transition="in">
                                      <p:cBhvr>
                                        <p:cTn dur="300"/>
                                        <p:tgtEl>
                                          <p:spTgt spid="5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0" st="0"/>
                                            </p:txEl>
                                          </p:spTgt>
                                        </p:tgtEl>
                                        <p:attrNameLst>
                                          <p:attrName>style.visibility</p:attrName>
                                        </p:attrNameLst>
                                      </p:cBhvr>
                                      <p:to>
                                        <p:strVal val="visible"/>
                                      </p:to>
                                    </p:set>
                                    <p:animEffect filter="fade" transition="in">
                                      <p:cBhvr>
                                        <p:cTn dur="300"/>
                                        <p:tgtEl>
                                          <p:spTgt spid="5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1" st="1"/>
                                            </p:txEl>
                                          </p:spTgt>
                                        </p:tgtEl>
                                        <p:attrNameLst>
                                          <p:attrName>style.visibility</p:attrName>
                                        </p:attrNameLst>
                                      </p:cBhvr>
                                      <p:to>
                                        <p:strVal val="visible"/>
                                      </p:to>
                                    </p:set>
                                    <p:animEffect filter="fade" transition="in">
                                      <p:cBhvr>
                                        <p:cTn dur="300"/>
                                        <p:tgtEl>
                                          <p:spTgt spid="5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2" st="2"/>
                                            </p:txEl>
                                          </p:spTgt>
                                        </p:tgtEl>
                                        <p:attrNameLst>
                                          <p:attrName>style.visibility</p:attrName>
                                        </p:attrNameLst>
                                      </p:cBhvr>
                                      <p:to>
                                        <p:strVal val="visible"/>
                                      </p:to>
                                    </p:set>
                                    <p:animEffect filter="fade" transition="in">
                                      <p:cBhvr>
                                        <p:cTn dur="300"/>
                                        <p:tgtEl>
                                          <p:spTgt spid="5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3" st="3"/>
                                            </p:txEl>
                                          </p:spTgt>
                                        </p:tgtEl>
                                        <p:attrNameLst>
                                          <p:attrName>style.visibility</p:attrName>
                                        </p:attrNameLst>
                                      </p:cBhvr>
                                      <p:to>
                                        <p:strVal val="visible"/>
                                      </p:to>
                                    </p:set>
                                    <p:animEffect filter="fade" transition="in">
                                      <p:cBhvr>
                                        <p:cTn dur="300"/>
                                        <p:tgtEl>
                                          <p:spTgt spid="5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4" st="4"/>
                                            </p:txEl>
                                          </p:spTgt>
                                        </p:tgtEl>
                                        <p:attrNameLst>
                                          <p:attrName>style.visibility</p:attrName>
                                        </p:attrNameLst>
                                      </p:cBhvr>
                                      <p:to>
                                        <p:strVal val="visible"/>
                                      </p:to>
                                    </p:set>
                                    <p:animEffect filter="fade" transition="in">
                                      <p:cBhvr>
                                        <p:cTn dur="300"/>
                                        <p:tgtEl>
                                          <p:spTgt spid="51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6"/>
          <p:cNvSpPr txBox="1"/>
          <p:nvPr/>
        </p:nvSpPr>
        <p:spPr>
          <a:xfrm>
            <a:off x="367450" y="696900"/>
            <a:ext cx="8409000" cy="4102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Wellbeing as pleasure</a:t>
            </a:r>
            <a:r>
              <a:rPr b="0" i="0" lang="en" sz="2000" u="none" cap="none" strike="noStrike">
                <a:solidFill>
                  <a:schemeClr val="dk1"/>
                </a:solidFill>
                <a:latin typeface="Nunito"/>
                <a:ea typeface="Nunito"/>
                <a:cs typeface="Nunito"/>
                <a:sym typeface="Nunito"/>
              </a:rPr>
              <a:t>: the balance of pleasure (or happiness) over pain (or suffering) is what constitutes wellbeing. Also called </a:t>
            </a:r>
            <a:r>
              <a:rPr b="0" i="1" lang="en" sz="2000" u="none" cap="none" strike="noStrike">
                <a:solidFill>
                  <a:schemeClr val="dk1"/>
                </a:solidFill>
                <a:latin typeface="Nunito"/>
                <a:ea typeface="Nunito"/>
                <a:cs typeface="Nunito"/>
                <a:sym typeface="Nunito"/>
              </a:rPr>
              <a:t>hedonism</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While we may all have different preferences and desires, pleasure seems to be universally valued. All other goods might be instrumental.</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However, some philosophers argue against this view because</a:t>
            </a:r>
            <a:r>
              <a:rPr lang="en" sz="2000">
                <a:solidFill>
                  <a:schemeClr val="dk1"/>
                </a:solidFill>
                <a:latin typeface="Nunito"/>
                <a:ea typeface="Nunito"/>
                <a:cs typeface="Nunito"/>
                <a:sym typeface="Nunito"/>
              </a:rPr>
              <a:t> </a:t>
            </a:r>
            <a:r>
              <a:rPr b="0" i="0" lang="en" sz="2000" u="none" cap="none" strike="noStrike">
                <a:solidFill>
                  <a:schemeClr val="dk1"/>
                </a:solidFill>
                <a:latin typeface="Nunito"/>
                <a:ea typeface="Nunito"/>
                <a:cs typeface="Nunito"/>
                <a:sym typeface="Nunito"/>
              </a:rPr>
              <a:t>it does not consider other </a:t>
            </a:r>
            <a:r>
              <a:rPr lang="en" sz="2000">
                <a:solidFill>
                  <a:schemeClr val="dk1"/>
                </a:solidFill>
                <a:latin typeface="Nunito"/>
                <a:ea typeface="Nunito"/>
                <a:cs typeface="Nunito"/>
                <a:sym typeface="Nunito"/>
              </a:rPr>
              <a:t>ostensibly </a:t>
            </a:r>
            <a:r>
              <a:rPr b="0" i="0" lang="en" sz="2000" u="none" cap="none" strike="noStrike">
                <a:solidFill>
                  <a:schemeClr val="dk1"/>
                </a:solidFill>
                <a:latin typeface="Nunito"/>
                <a:ea typeface="Nunito"/>
                <a:cs typeface="Nunito"/>
                <a:sym typeface="Nunito"/>
              </a:rPr>
              <a:t>relevant factors to our wellbeing such as the pursuit of knowledge.</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We’ll discuss happiness in more detail later.</a:t>
            </a:r>
            <a:r>
              <a:rPr b="0" i="0" lang="en" sz="2000" u="none" cap="none" strike="noStrike">
                <a:solidFill>
                  <a:schemeClr val="dk1"/>
                </a:solidFill>
                <a:latin typeface="Nunito"/>
                <a:ea typeface="Nunito"/>
                <a:cs typeface="Nunito"/>
                <a:sym typeface="Nunito"/>
              </a:rPr>
              <a:t> </a:t>
            </a:r>
            <a:endParaRPr b="0" i="0" sz="2000" u="none" cap="none" strike="noStrike">
              <a:solidFill>
                <a:schemeClr val="dk1"/>
              </a:solidFill>
              <a:latin typeface="Nunito"/>
              <a:ea typeface="Nunito"/>
              <a:cs typeface="Nunito"/>
              <a:sym typeface="Nunito"/>
            </a:endParaRPr>
          </a:p>
        </p:txBody>
      </p:sp>
      <p:sp>
        <p:nvSpPr>
          <p:cNvPr id="520" name="Google Shape;520;p56"/>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Wellbeing as Pleasure</a:t>
            </a:r>
            <a:endParaRPr sz="3600">
              <a:latin typeface="Nunito"/>
              <a:ea typeface="Nunito"/>
              <a:cs typeface="Nunito"/>
              <a:sym typeface="Nunito"/>
            </a:endParaRPr>
          </a:p>
        </p:txBody>
      </p:sp>
      <p:sp>
        <p:nvSpPr>
          <p:cNvPr id="521" name="Google Shape;521;p5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22" name="Google Shape;522;p5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39</a:t>
            </a:fld>
            <a:endParaRPr b="0" i="0" sz="1300" u="none" cap="none" strike="noStrike">
              <a:solidFill>
                <a:srgbClr val="FFFFFF"/>
              </a:solidFill>
              <a:latin typeface="Nunito"/>
              <a:ea typeface="Nunito"/>
              <a:cs typeface="Nunito"/>
              <a:sym typeface="Nunito"/>
            </a:endParaRPr>
          </a:p>
        </p:txBody>
      </p:sp>
      <p:sp>
        <p:nvSpPr>
          <p:cNvPr id="523" name="Google Shape;523;p5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0" st="0"/>
                                            </p:txEl>
                                          </p:spTgt>
                                        </p:tgtEl>
                                        <p:attrNameLst>
                                          <p:attrName>style.visibility</p:attrName>
                                        </p:attrNameLst>
                                      </p:cBhvr>
                                      <p:to>
                                        <p:strVal val="visible"/>
                                      </p:to>
                                    </p:set>
                                    <p:animEffect filter="fade" transition="in">
                                      <p:cBhvr>
                                        <p:cTn dur="300"/>
                                        <p:tgtEl>
                                          <p:spTgt spid="5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1" st="1"/>
                                            </p:txEl>
                                          </p:spTgt>
                                        </p:tgtEl>
                                        <p:attrNameLst>
                                          <p:attrName>style.visibility</p:attrName>
                                        </p:attrNameLst>
                                      </p:cBhvr>
                                      <p:to>
                                        <p:strVal val="visible"/>
                                      </p:to>
                                    </p:set>
                                    <p:animEffect filter="fade" transition="in">
                                      <p:cBhvr>
                                        <p:cTn dur="300"/>
                                        <p:tgtEl>
                                          <p:spTgt spid="5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2" st="2"/>
                                            </p:txEl>
                                          </p:spTgt>
                                        </p:tgtEl>
                                        <p:attrNameLst>
                                          <p:attrName>style.visibility</p:attrName>
                                        </p:attrNameLst>
                                      </p:cBhvr>
                                      <p:to>
                                        <p:strVal val="visible"/>
                                      </p:to>
                                    </p:set>
                                    <p:animEffect filter="fade" transition="in">
                                      <p:cBhvr>
                                        <p:cTn dur="300"/>
                                        <p:tgtEl>
                                          <p:spTgt spid="5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3" st="3"/>
                                            </p:txEl>
                                          </p:spTgt>
                                        </p:tgtEl>
                                        <p:attrNameLst>
                                          <p:attrName>style.visibility</p:attrName>
                                        </p:attrNameLst>
                                      </p:cBhvr>
                                      <p:to>
                                        <p:strVal val="visible"/>
                                      </p:to>
                                    </p:set>
                                    <p:animEffect filter="fade" transition="in">
                                      <p:cBhvr>
                                        <p:cTn dur="300"/>
                                        <p:tgtEl>
                                          <p:spTgt spid="5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4" st="4"/>
                                            </p:txEl>
                                          </p:spTgt>
                                        </p:tgtEl>
                                        <p:attrNameLst>
                                          <p:attrName>style.visibility</p:attrName>
                                        </p:attrNameLst>
                                      </p:cBhvr>
                                      <p:to>
                                        <p:strVal val="visible"/>
                                      </p:to>
                                    </p:set>
                                    <p:animEffect filter="fade" transition="in">
                                      <p:cBhvr>
                                        <p:cTn dur="300"/>
                                        <p:tgtEl>
                                          <p:spTgt spid="5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5" st="5"/>
                                            </p:txEl>
                                          </p:spTgt>
                                        </p:tgtEl>
                                        <p:attrNameLst>
                                          <p:attrName>style.visibility</p:attrName>
                                        </p:attrNameLst>
                                      </p:cBhvr>
                                      <p:to>
                                        <p:strVal val="visible"/>
                                      </p:to>
                                    </p:set>
                                    <p:animEffect filter="fade" transition="in">
                                      <p:cBhvr>
                                        <p:cTn dur="300"/>
                                        <p:tgtEl>
                                          <p:spTgt spid="5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6" st="6"/>
                                            </p:txEl>
                                          </p:spTgt>
                                        </p:tgtEl>
                                        <p:attrNameLst>
                                          <p:attrName>style.visibility</p:attrName>
                                        </p:attrNameLst>
                                      </p:cBhvr>
                                      <p:to>
                                        <p:strVal val="visible"/>
                                      </p:to>
                                    </p:set>
                                    <p:animEffect filter="fade" transition="in">
                                      <p:cBhvr>
                                        <p:cTn dur="300"/>
                                        <p:tgtEl>
                                          <p:spTgt spid="51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r>
              <a:t/>
            </a:r>
            <a:endParaRPr b="0" i="0" sz="1300" u="none" cap="none" strike="noStrike">
              <a:solidFill>
                <a:schemeClr val="lt1"/>
              </a:solidFill>
              <a:latin typeface="Nunito"/>
              <a:ea typeface="Nunito"/>
              <a:cs typeface="Nunito"/>
              <a:sym typeface="Nunito"/>
            </a:endParaRPr>
          </a:p>
        </p:txBody>
      </p:sp>
      <p:sp>
        <p:nvSpPr>
          <p:cNvPr id="529" name="Google Shape;529;p5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30" name="Google Shape;530;p57"/>
          <p:cNvSpPr txBox="1"/>
          <p:nvPr>
            <p:ph idx="4294967295"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3600">
                <a:latin typeface="Nunito"/>
                <a:ea typeface="Nunito"/>
                <a:cs typeface="Nunito"/>
                <a:sym typeface="Nunito"/>
              </a:rPr>
              <a:t>Wellbeing as Objective Goods </a:t>
            </a:r>
            <a:endParaRPr sz="3600">
              <a:latin typeface="Nunito"/>
              <a:ea typeface="Nunito"/>
              <a:cs typeface="Nunito"/>
              <a:sym typeface="Nunito"/>
            </a:endParaRPr>
          </a:p>
        </p:txBody>
      </p:sp>
      <p:sp>
        <p:nvSpPr>
          <p:cNvPr id="531" name="Google Shape;531;p57"/>
          <p:cNvSpPr txBox="1"/>
          <p:nvPr/>
        </p:nvSpPr>
        <p:spPr>
          <a:xfrm>
            <a:off x="374225" y="624025"/>
            <a:ext cx="8297100" cy="146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000000"/>
                </a:solidFill>
                <a:latin typeface="Nunito"/>
                <a:ea typeface="Nunito"/>
                <a:cs typeface="Nunito"/>
                <a:sym typeface="Nunito"/>
              </a:rPr>
              <a:t>Objective goods</a:t>
            </a:r>
            <a:r>
              <a:rPr b="0" i="0" lang="en" sz="2000" u="none" cap="none" strike="noStrike">
                <a:solidFill>
                  <a:srgbClr val="000000"/>
                </a:solidFill>
                <a:latin typeface="Nunito"/>
                <a:ea typeface="Nunito"/>
                <a:cs typeface="Nunito"/>
                <a:sym typeface="Nunito"/>
              </a:rPr>
              <a:t> are those things which are good independent of personal beliefs or opinions</a:t>
            </a:r>
            <a:r>
              <a:rPr lang="en" sz="2000">
                <a:latin typeface="Nunito"/>
                <a:ea typeface="Nunito"/>
                <a:cs typeface="Nunito"/>
                <a:sym typeface="Nunito"/>
              </a:rPr>
              <a:t>:</a:t>
            </a:r>
            <a:r>
              <a:rPr b="0" i="0" lang="en" sz="2000" u="none" cap="none" strike="noStrike">
                <a:solidFill>
                  <a:srgbClr val="000000"/>
                </a:solidFill>
                <a:latin typeface="Nunito"/>
                <a:ea typeface="Nunito"/>
                <a:cs typeface="Nunito"/>
                <a:sym typeface="Nunito"/>
              </a:rPr>
              <a:t> they are </a:t>
            </a:r>
            <a:r>
              <a:rPr b="0" i="1" lang="en" sz="2000" u="none" cap="none" strike="noStrike">
                <a:solidFill>
                  <a:srgbClr val="000000"/>
                </a:solidFill>
                <a:latin typeface="Nunito"/>
                <a:ea typeface="Nunito"/>
                <a:cs typeface="Nunito"/>
                <a:sym typeface="Nunito"/>
              </a:rPr>
              <a:t>universal</a:t>
            </a:r>
            <a:r>
              <a:rPr b="0" i="0" lang="en" sz="2000" u="none" cap="none" strike="noStrike">
                <a:solidFill>
                  <a:srgbClr val="000000"/>
                </a:solidFill>
                <a:latin typeface="Nunito"/>
                <a:ea typeface="Nunito"/>
                <a:cs typeface="Nunito"/>
                <a:sym typeface="Nunito"/>
              </a:rPr>
              <a:t>.</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000000"/>
              </a:solidFill>
              <a:latin typeface="Nunito"/>
              <a:ea typeface="Nunito"/>
              <a:cs typeface="Nunito"/>
              <a:sym typeface="Nunito"/>
            </a:endParaRPr>
          </a:p>
        </p:txBody>
      </p:sp>
      <p:pic>
        <p:nvPicPr>
          <p:cNvPr id="532" name="Google Shape;532;p57"/>
          <p:cNvPicPr preferRelativeResize="0"/>
          <p:nvPr/>
        </p:nvPicPr>
        <p:blipFill rotWithShape="1">
          <a:blip r:embed="rId3">
            <a:alphaModFix/>
          </a:blip>
          <a:srcRect b="0" l="0" r="0" t="0"/>
          <a:stretch/>
        </p:blipFill>
        <p:spPr>
          <a:xfrm>
            <a:off x="5705800" y="2048275"/>
            <a:ext cx="3344901" cy="2402827"/>
          </a:xfrm>
          <a:prstGeom prst="rect">
            <a:avLst/>
          </a:prstGeom>
          <a:noFill/>
          <a:ln>
            <a:noFill/>
          </a:ln>
        </p:spPr>
      </p:pic>
      <p:sp>
        <p:nvSpPr>
          <p:cNvPr id="533" name="Google Shape;533;p57"/>
          <p:cNvSpPr txBox="1"/>
          <p:nvPr/>
        </p:nvSpPr>
        <p:spPr>
          <a:xfrm>
            <a:off x="374225" y="1855450"/>
            <a:ext cx="5445000" cy="2970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An example set: moral goodness, rational activity, development of abilities, having children and being a good parent, knowledge, awareness of true beauty.</a:t>
            </a:r>
            <a:endParaRPr sz="2000">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We may not always agree on what constitutes an objective good, and whether it can be considered universal. </a:t>
            </a:r>
            <a:endParaRPr b="0" i="0" sz="2000" u="none" cap="none" strike="noStrike">
              <a:solidFill>
                <a:schemeClr val="dk1"/>
              </a:solidFill>
              <a:latin typeface="Nunito"/>
              <a:ea typeface="Nunito"/>
              <a:cs typeface="Nunito"/>
              <a:sym typeface="Nunito"/>
            </a:endParaRPr>
          </a:p>
        </p:txBody>
      </p:sp>
      <p:sp>
        <p:nvSpPr>
          <p:cNvPr id="534" name="Google Shape;534;p5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40</a:t>
            </a:fld>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xEl>
                                              <p:pRg end="0" st="0"/>
                                            </p:txEl>
                                          </p:spTgt>
                                        </p:tgtEl>
                                        <p:attrNameLst>
                                          <p:attrName>style.visibility</p:attrName>
                                        </p:attrNameLst>
                                      </p:cBhvr>
                                      <p:to>
                                        <p:strVal val="visible"/>
                                      </p:to>
                                    </p:set>
                                    <p:animEffect filter="fade" transition="in">
                                      <p:cBhvr>
                                        <p:cTn dur="300"/>
                                        <p:tgtEl>
                                          <p:spTgt spid="5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xEl>
                                              <p:pRg end="1" st="1"/>
                                            </p:txEl>
                                          </p:spTgt>
                                        </p:tgtEl>
                                        <p:attrNameLst>
                                          <p:attrName>style.visibility</p:attrName>
                                        </p:attrNameLst>
                                      </p:cBhvr>
                                      <p:to>
                                        <p:strVal val="visible"/>
                                      </p:to>
                                    </p:set>
                                    <p:animEffect filter="fade" transition="in">
                                      <p:cBhvr>
                                        <p:cTn dur="300"/>
                                        <p:tgtEl>
                                          <p:spTgt spid="5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xEl>
                                              <p:pRg end="2" st="2"/>
                                            </p:txEl>
                                          </p:spTgt>
                                        </p:tgtEl>
                                        <p:attrNameLst>
                                          <p:attrName>style.visibility</p:attrName>
                                        </p:attrNameLst>
                                      </p:cBhvr>
                                      <p:to>
                                        <p:strVal val="visible"/>
                                      </p:to>
                                    </p:set>
                                    <p:animEffect filter="fade" transition="in">
                                      <p:cBhvr>
                                        <p:cTn dur="300"/>
                                        <p:tgtEl>
                                          <p:spTgt spid="5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300"/>
                                        <p:tgtEl>
                                          <p:spTgt spid="5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xEl>
                                              <p:pRg end="0" st="0"/>
                                            </p:txEl>
                                          </p:spTgt>
                                        </p:tgtEl>
                                        <p:attrNameLst>
                                          <p:attrName>style.visibility</p:attrName>
                                        </p:attrNameLst>
                                      </p:cBhvr>
                                      <p:to>
                                        <p:strVal val="visible"/>
                                      </p:to>
                                    </p:set>
                                    <p:animEffect filter="fade" transition="in">
                                      <p:cBhvr>
                                        <p:cTn dur="300"/>
                                        <p:tgtEl>
                                          <p:spTgt spid="5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xEl>
                                              <p:pRg end="1" st="1"/>
                                            </p:txEl>
                                          </p:spTgt>
                                        </p:tgtEl>
                                        <p:attrNameLst>
                                          <p:attrName>style.visibility</p:attrName>
                                        </p:attrNameLst>
                                      </p:cBhvr>
                                      <p:to>
                                        <p:strVal val="visible"/>
                                      </p:to>
                                    </p:set>
                                    <p:animEffect filter="fade" transition="in">
                                      <p:cBhvr>
                                        <p:cTn dur="300"/>
                                        <p:tgtEl>
                                          <p:spTgt spid="5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xEl>
                                              <p:pRg end="2" st="2"/>
                                            </p:txEl>
                                          </p:spTgt>
                                        </p:tgtEl>
                                        <p:attrNameLst>
                                          <p:attrName>style.visibility</p:attrName>
                                        </p:attrNameLst>
                                      </p:cBhvr>
                                      <p:to>
                                        <p:strVal val="visible"/>
                                      </p:to>
                                    </p:set>
                                    <p:animEffect filter="fade" transition="in">
                                      <p:cBhvr>
                                        <p:cTn dur="300"/>
                                        <p:tgtEl>
                                          <p:spTgt spid="53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8"/>
          <p:cNvSpPr txBox="1"/>
          <p:nvPr>
            <p:ph type="title"/>
          </p:nvPr>
        </p:nvSpPr>
        <p:spPr>
          <a:xfrm>
            <a:off x="175" y="-12175"/>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Wellbeing as Preference Satisfaction (1/2)</a:t>
            </a:r>
            <a:endParaRPr sz="3600">
              <a:latin typeface="Nunito"/>
              <a:ea typeface="Nunito"/>
              <a:cs typeface="Nunito"/>
              <a:sym typeface="Nunito"/>
            </a:endParaRPr>
          </a:p>
        </p:txBody>
      </p:sp>
      <p:sp>
        <p:nvSpPr>
          <p:cNvPr id="540" name="Google Shape;540;p5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41" name="Google Shape;541;p5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41</a:t>
            </a:fld>
            <a:endParaRPr b="0" i="0" sz="1300" u="none" cap="none" strike="noStrike">
              <a:solidFill>
                <a:srgbClr val="FFFFFF"/>
              </a:solidFill>
              <a:latin typeface="Nunito"/>
              <a:ea typeface="Nunito"/>
              <a:cs typeface="Nunito"/>
              <a:sym typeface="Nunito"/>
            </a:endParaRPr>
          </a:p>
        </p:txBody>
      </p:sp>
      <p:sp>
        <p:nvSpPr>
          <p:cNvPr id="542" name="Google Shape;542;p5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43" name="Google Shape;543;p58"/>
          <p:cNvSpPr txBox="1"/>
          <p:nvPr/>
        </p:nvSpPr>
        <p:spPr>
          <a:xfrm>
            <a:off x="133350" y="757050"/>
            <a:ext cx="8896200" cy="438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000000"/>
                </a:solidFill>
                <a:latin typeface="Nunito"/>
                <a:ea typeface="Nunito"/>
                <a:cs typeface="Nunito"/>
                <a:sym typeface="Nunito"/>
              </a:rPr>
              <a:t>Wellbeing as preference satisfaction</a:t>
            </a:r>
            <a:r>
              <a:rPr b="0" i="0" lang="en" sz="2000" u="none" cap="none" strike="noStrike">
                <a:solidFill>
                  <a:srgbClr val="000000"/>
                </a:solidFill>
                <a:latin typeface="Nunito"/>
                <a:ea typeface="Nunito"/>
                <a:cs typeface="Nunito"/>
                <a:sym typeface="Nunito"/>
              </a:rPr>
              <a:t>: what really matters for wellbeing is that our desires or preferences are satisfied.</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Different types of preferences might differ greatly in different situations. </a:t>
            </a:r>
            <a:r>
              <a:rPr b="0" i="0" lang="en" sz="2000" u="none" cap="none" strike="noStrike">
                <a:solidFill>
                  <a:schemeClr val="dk1"/>
                </a:solidFill>
                <a:latin typeface="Nunito"/>
                <a:ea typeface="Nunito"/>
                <a:cs typeface="Nunito"/>
                <a:sym typeface="Nunito"/>
              </a:rPr>
              <a:t>Consider Alice’s preferences over </a:t>
            </a:r>
            <a:r>
              <a:rPr lang="en" sz="2000">
                <a:solidFill>
                  <a:schemeClr val="dk1"/>
                </a:solidFill>
                <a:latin typeface="Nunito"/>
                <a:ea typeface="Nunito"/>
                <a:cs typeface="Nunito"/>
                <a:sym typeface="Nunito"/>
              </a:rPr>
              <a:t>an AI’s output</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1" i="0" lang="en" sz="2000" u="none" cap="none" strike="noStrike">
                <a:solidFill>
                  <a:schemeClr val="dk1"/>
                </a:solidFill>
                <a:latin typeface="Nunito"/>
                <a:ea typeface="Nunito"/>
                <a:cs typeface="Nunito"/>
                <a:sym typeface="Nunito"/>
              </a:rPr>
              <a:t>Stated preference</a:t>
            </a:r>
            <a:r>
              <a:rPr b="0" i="0" lang="en" sz="2000" u="none" cap="none" strike="noStrike">
                <a:solidFill>
                  <a:schemeClr val="dk1"/>
                </a:solidFill>
                <a:latin typeface="Nunito"/>
                <a:ea typeface="Nunito"/>
                <a:cs typeface="Nunito"/>
                <a:sym typeface="Nunito"/>
              </a:rPr>
              <a:t> → “I </a:t>
            </a:r>
            <a:r>
              <a:rPr lang="en" sz="2000">
                <a:solidFill>
                  <a:schemeClr val="dk1"/>
                </a:solidFill>
                <a:latin typeface="Nunito"/>
                <a:ea typeface="Nunito"/>
                <a:cs typeface="Nunito"/>
                <a:sym typeface="Nunito"/>
              </a:rPr>
              <a:t>prefer AI’s output </a:t>
            </a:r>
            <a:r>
              <a:rPr b="0" i="0" lang="en" sz="2000" u="none" cap="none" strike="noStrike">
                <a:solidFill>
                  <a:schemeClr val="dk1"/>
                </a:solidFill>
                <a:latin typeface="Nunito"/>
                <a:ea typeface="Nunito"/>
                <a:cs typeface="Nunito"/>
                <a:sym typeface="Nunito"/>
              </a:rPr>
              <a:t>X”</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1" i="0" lang="en" sz="2000" u="none" cap="none" strike="noStrike">
                <a:solidFill>
                  <a:schemeClr val="dk1"/>
                </a:solidFill>
                <a:latin typeface="Nunito"/>
                <a:ea typeface="Nunito"/>
                <a:cs typeface="Nunito"/>
                <a:sym typeface="Nunito"/>
              </a:rPr>
              <a:t>Revealed preference</a:t>
            </a:r>
            <a:r>
              <a:rPr b="0" i="0" lang="en" sz="2000" u="none" cap="none" strike="noStrike">
                <a:solidFill>
                  <a:schemeClr val="dk1"/>
                </a:solidFill>
                <a:latin typeface="Nunito"/>
                <a:ea typeface="Nunito"/>
                <a:cs typeface="Nunito"/>
                <a:sym typeface="Nunito"/>
              </a:rPr>
              <a:t> → I </a:t>
            </a:r>
            <a:r>
              <a:rPr lang="en" sz="2000">
                <a:solidFill>
                  <a:schemeClr val="dk1"/>
                </a:solidFill>
                <a:latin typeface="Nunito"/>
                <a:ea typeface="Nunito"/>
                <a:cs typeface="Nunito"/>
                <a:sym typeface="Nunito"/>
              </a:rPr>
              <a:t>chose</a:t>
            </a:r>
            <a:r>
              <a:rPr b="0" i="0" lang="en" sz="2000" u="none" cap="none" strike="noStrike">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AI’s output</a:t>
            </a:r>
            <a:r>
              <a:rPr b="0" i="0" lang="en" sz="2000" u="none" cap="none" strike="noStrike">
                <a:solidFill>
                  <a:schemeClr val="dk1"/>
                </a:solidFill>
                <a:latin typeface="Nunito"/>
                <a:ea typeface="Nunito"/>
                <a:cs typeface="Nunito"/>
                <a:sym typeface="Nunito"/>
              </a:rPr>
              <a:t> X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1" lang="en" sz="2000">
                <a:solidFill>
                  <a:schemeClr val="dk1"/>
                </a:solidFill>
                <a:latin typeface="Nunito"/>
                <a:ea typeface="Nunito"/>
                <a:cs typeface="Nunito"/>
                <a:sym typeface="Nunito"/>
              </a:rPr>
              <a:t>Idealized</a:t>
            </a:r>
            <a:r>
              <a:rPr b="1" i="0" lang="en" sz="2000" u="none" cap="none" strike="noStrike">
                <a:solidFill>
                  <a:schemeClr val="dk1"/>
                </a:solidFill>
                <a:latin typeface="Nunito"/>
                <a:ea typeface="Nunito"/>
                <a:cs typeface="Nunito"/>
                <a:sym typeface="Nunito"/>
              </a:rPr>
              <a:t> preference</a:t>
            </a:r>
            <a:r>
              <a:rPr b="0" i="0" lang="en" sz="2000" u="none" cap="none" strike="noStrike">
                <a:solidFill>
                  <a:schemeClr val="dk1"/>
                </a:solidFill>
                <a:latin typeface="Nunito"/>
                <a:ea typeface="Nunito"/>
                <a:cs typeface="Nunito"/>
                <a:sym typeface="Nunito"/>
              </a:rPr>
              <a:t> → I would have </a:t>
            </a:r>
            <a:r>
              <a:rPr lang="en" sz="2000">
                <a:solidFill>
                  <a:schemeClr val="dk1"/>
                </a:solidFill>
                <a:latin typeface="Nunito"/>
                <a:ea typeface="Nunito"/>
                <a:cs typeface="Nunito"/>
                <a:sym typeface="Nunito"/>
              </a:rPr>
              <a:t>chosen AI’s output</a:t>
            </a:r>
            <a:r>
              <a:rPr b="0" i="0" lang="en" sz="2000" u="none" cap="none" strike="noStrike">
                <a:solidFill>
                  <a:schemeClr val="dk1"/>
                </a:solidFill>
                <a:latin typeface="Nunito"/>
                <a:ea typeface="Nunito"/>
                <a:cs typeface="Nunito"/>
                <a:sym typeface="Nunito"/>
              </a:rPr>
              <a:t> X if I knew…</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rPr lang="en" sz="2000">
                <a:latin typeface="Nunito"/>
                <a:ea typeface="Nunito"/>
                <a:cs typeface="Nunito"/>
                <a:sym typeface="Nunito"/>
              </a:rPr>
              <a:t>We’ll discuss preferences in more detail later.</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000000"/>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0" st="0"/>
                                            </p:txEl>
                                          </p:spTgt>
                                        </p:tgtEl>
                                        <p:attrNameLst>
                                          <p:attrName>style.visibility</p:attrName>
                                        </p:attrNameLst>
                                      </p:cBhvr>
                                      <p:to>
                                        <p:strVal val="visible"/>
                                      </p:to>
                                    </p:set>
                                    <p:animEffect filter="fade" transition="in">
                                      <p:cBhvr>
                                        <p:cTn dur="300"/>
                                        <p:tgtEl>
                                          <p:spTgt spid="5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1" st="1"/>
                                            </p:txEl>
                                          </p:spTgt>
                                        </p:tgtEl>
                                        <p:attrNameLst>
                                          <p:attrName>style.visibility</p:attrName>
                                        </p:attrNameLst>
                                      </p:cBhvr>
                                      <p:to>
                                        <p:strVal val="visible"/>
                                      </p:to>
                                    </p:set>
                                    <p:animEffect filter="fade" transition="in">
                                      <p:cBhvr>
                                        <p:cTn dur="300"/>
                                        <p:tgtEl>
                                          <p:spTgt spid="5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2" st="2"/>
                                            </p:txEl>
                                          </p:spTgt>
                                        </p:tgtEl>
                                        <p:attrNameLst>
                                          <p:attrName>style.visibility</p:attrName>
                                        </p:attrNameLst>
                                      </p:cBhvr>
                                      <p:to>
                                        <p:strVal val="visible"/>
                                      </p:to>
                                    </p:set>
                                    <p:animEffect filter="fade" transition="in">
                                      <p:cBhvr>
                                        <p:cTn dur="300"/>
                                        <p:tgtEl>
                                          <p:spTgt spid="5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3" st="3"/>
                                            </p:txEl>
                                          </p:spTgt>
                                        </p:tgtEl>
                                        <p:attrNameLst>
                                          <p:attrName>style.visibility</p:attrName>
                                        </p:attrNameLst>
                                      </p:cBhvr>
                                      <p:to>
                                        <p:strVal val="visible"/>
                                      </p:to>
                                    </p:set>
                                    <p:animEffect filter="fade" transition="in">
                                      <p:cBhvr>
                                        <p:cTn dur="300"/>
                                        <p:tgtEl>
                                          <p:spTgt spid="5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4" st="4"/>
                                            </p:txEl>
                                          </p:spTgt>
                                        </p:tgtEl>
                                        <p:attrNameLst>
                                          <p:attrName>style.visibility</p:attrName>
                                        </p:attrNameLst>
                                      </p:cBhvr>
                                      <p:to>
                                        <p:strVal val="visible"/>
                                      </p:to>
                                    </p:set>
                                    <p:animEffect filter="fade" transition="in">
                                      <p:cBhvr>
                                        <p:cTn dur="300"/>
                                        <p:tgtEl>
                                          <p:spTgt spid="5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5" st="5"/>
                                            </p:txEl>
                                          </p:spTgt>
                                        </p:tgtEl>
                                        <p:attrNameLst>
                                          <p:attrName>style.visibility</p:attrName>
                                        </p:attrNameLst>
                                      </p:cBhvr>
                                      <p:to>
                                        <p:strVal val="visible"/>
                                      </p:to>
                                    </p:set>
                                    <p:animEffect filter="fade" transition="in">
                                      <p:cBhvr>
                                        <p:cTn dur="300"/>
                                        <p:tgtEl>
                                          <p:spTgt spid="5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6" st="6"/>
                                            </p:txEl>
                                          </p:spTgt>
                                        </p:tgtEl>
                                        <p:attrNameLst>
                                          <p:attrName>style.visibility</p:attrName>
                                        </p:attrNameLst>
                                      </p:cBhvr>
                                      <p:to>
                                        <p:strVal val="visible"/>
                                      </p:to>
                                    </p:set>
                                    <p:animEffect filter="fade" transition="in">
                                      <p:cBhvr>
                                        <p:cTn dur="300"/>
                                        <p:tgtEl>
                                          <p:spTgt spid="54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7" st="7"/>
                                            </p:txEl>
                                          </p:spTgt>
                                        </p:tgtEl>
                                        <p:attrNameLst>
                                          <p:attrName>style.visibility</p:attrName>
                                        </p:attrNameLst>
                                      </p:cBhvr>
                                      <p:to>
                                        <p:strVal val="visible"/>
                                      </p:to>
                                    </p:set>
                                    <p:animEffect filter="fade" transition="in">
                                      <p:cBhvr>
                                        <p:cTn dur="300"/>
                                        <p:tgtEl>
                                          <p:spTgt spid="54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8" st="8"/>
                                            </p:txEl>
                                          </p:spTgt>
                                        </p:tgtEl>
                                        <p:attrNameLst>
                                          <p:attrName>style.visibility</p:attrName>
                                        </p:attrNameLst>
                                      </p:cBhvr>
                                      <p:to>
                                        <p:strVal val="visible"/>
                                      </p:to>
                                    </p:set>
                                    <p:animEffect filter="fade" transition="in">
                                      <p:cBhvr>
                                        <p:cTn dur="300"/>
                                        <p:tgtEl>
                                          <p:spTgt spid="54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xEl>
                                              <p:pRg end="9" st="9"/>
                                            </p:txEl>
                                          </p:spTgt>
                                        </p:tgtEl>
                                        <p:attrNameLst>
                                          <p:attrName>style.visibility</p:attrName>
                                        </p:attrNameLst>
                                      </p:cBhvr>
                                      <p:to>
                                        <p:strVal val="visible"/>
                                      </p:to>
                                    </p:set>
                                    <p:animEffect filter="fade" transition="in">
                                      <p:cBhvr>
                                        <p:cTn dur="300"/>
                                        <p:tgtEl>
                                          <p:spTgt spid="54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6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r>
              <a:t/>
            </a:r>
            <a:endParaRPr b="0" i="0" sz="1300" u="none" cap="none" strike="noStrike">
              <a:solidFill>
                <a:schemeClr val="lt1"/>
              </a:solidFill>
              <a:latin typeface="Nunito"/>
              <a:ea typeface="Nunito"/>
              <a:cs typeface="Nunito"/>
              <a:sym typeface="Nunito"/>
            </a:endParaRPr>
          </a:p>
        </p:txBody>
      </p:sp>
      <p:sp>
        <p:nvSpPr>
          <p:cNvPr id="559" name="Google Shape;559;p6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60" name="Google Shape;560;p60"/>
          <p:cNvSpPr txBox="1"/>
          <p:nvPr>
            <p:ph idx="4294967295"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3600">
                <a:latin typeface="Nunito"/>
                <a:ea typeface="Nunito"/>
                <a:cs typeface="Nunito"/>
                <a:sym typeface="Nunito"/>
              </a:rPr>
              <a:t>Wellbeing and AI</a:t>
            </a:r>
            <a:endParaRPr sz="3600">
              <a:latin typeface="Nunito"/>
              <a:ea typeface="Nunito"/>
              <a:cs typeface="Nunito"/>
              <a:sym typeface="Nunito"/>
            </a:endParaRPr>
          </a:p>
        </p:txBody>
      </p:sp>
      <p:sp>
        <p:nvSpPr>
          <p:cNvPr id="561" name="Google Shape;561;p60"/>
          <p:cNvSpPr txBox="1"/>
          <p:nvPr/>
        </p:nvSpPr>
        <p:spPr>
          <a:xfrm>
            <a:off x="423625" y="640150"/>
            <a:ext cx="8297100" cy="4063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lang="en" sz="1800">
                <a:latin typeface="Nunito"/>
                <a:ea typeface="Nunito"/>
                <a:cs typeface="Nunito"/>
                <a:sym typeface="Nunito"/>
              </a:rPr>
              <a:t>AI influence on human wellbeing: AI chatbot companions could influence our wellbeing</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If they aim to maximize revealed preferences, they may addict us and leave us unhappy</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If they </a:t>
            </a:r>
            <a:r>
              <a:rPr lang="en" sz="1800">
                <a:solidFill>
                  <a:schemeClr val="dk1"/>
                </a:solidFill>
                <a:latin typeface="Nunito"/>
                <a:ea typeface="Nunito"/>
                <a:cs typeface="Nunito"/>
                <a:sym typeface="Nunito"/>
              </a:rPr>
              <a:t>aim to </a:t>
            </a:r>
            <a:r>
              <a:rPr lang="en" sz="1800">
                <a:latin typeface="Nunito"/>
                <a:ea typeface="Nunito"/>
                <a:cs typeface="Nunito"/>
                <a:sym typeface="Nunito"/>
              </a:rPr>
              <a:t>maximize pleasure, they may give us amusing but shallow content</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If they </a:t>
            </a:r>
            <a:r>
              <a:rPr lang="en" sz="1800">
                <a:solidFill>
                  <a:schemeClr val="dk1"/>
                </a:solidFill>
                <a:latin typeface="Nunito"/>
                <a:ea typeface="Nunito"/>
                <a:cs typeface="Nunito"/>
                <a:sym typeface="Nunito"/>
              </a:rPr>
              <a:t>aim to </a:t>
            </a:r>
            <a:r>
              <a:rPr lang="en" sz="1800">
                <a:latin typeface="Nunito"/>
                <a:ea typeface="Nunito"/>
                <a:cs typeface="Nunito"/>
                <a:sym typeface="Nunito"/>
              </a:rPr>
              <a:t>maximize objective goods, they may push us to pursue self-development goals that we may not wish</a:t>
            </a:r>
            <a:endParaRPr sz="1800">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sz="1800">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lang="en" sz="1800">
                <a:latin typeface="Nunito"/>
                <a:ea typeface="Nunito"/>
                <a:cs typeface="Nunito"/>
                <a:sym typeface="Nunito"/>
              </a:rPr>
              <a:t>AI Wellbeing: if AIs are conscious, then</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Many coherently-acting AIs could have wellbeing according to a preference view of wellbeing</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AIs that can reason, gain knowledge, or develop their abilities could have wellbeing according to an objective goods view</a:t>
            </a:r>
            <a:endParaRPr b="0" i="0" sz="1800" u="none" cap="none" strike="noStrike">
              <a:solidFill>
                <a:srgbClr val="000000"/>
              </a:solidFill>
              <a:latin typeface="Nunito"/>
              <a:ea typeface="Nunito"/>
              <a:cs typeface="Nunito"/>
              <a:sym typeface="Nunito"/>
            </a:endParaRPr>
          </a:p>
        </p:txBody>
      </p:sp>
      <p:sp>
        <p:nvSpPr>
          <p:cNvPr id="562" name="Google Shape;562;p6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42</a:t>
            </a:fld>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0" st="0"/>
                                            </p:txEl>
                                          </p:spTgt>
                                        </p:tgtEl>
                                        <p:attrNameLst>
                                          <p:attrName>style.visibility</p:attrName>
                                        </p:attrNameLst>
                                      </p:cBhvr>
                                      <p:to>
                                        <p:strVal val="visible"/>
                                      </p:to>
                                    </p:set>
                                    <p:animEffect filter="fade" transition="in">
                                      <p:cBhvr>
                                        <p:cTn dur="300"/>
                                        <p:tgtEl>
                                          <p:spTgt spid="5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1" st="1"/>
                                            </p:txEl>
                                          </p:spTgt>
                                        </p:tgtEl>
                                        <p:attrNameLst>
                                          <p:attrName>style.visibility</p:attrName>
                                        </p:attrNameLst>
                                      </p:cBhvr>
                                      <p:to>
                                        <p:strVal val="visible"/>
                                      </p:to>
                                    </p:set>
                                    <p:animEffect filter="fade" transition="in">
                                      <p:cBhvr>
                                        <p:cTn dur="300"/>
                                        <p:tgtEl>
                                          <p:spTgt spid="5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2" st="2"/>
                                            </p:txEl>
                                          </p:spTgt>
                                        </p:tgtEl>
                                        <p:attrNameLst>
                                          <p:attrName>style.visibility</p:attrName>
                                        </p:attrNameLst>
                                      </p:cBhvr>
                                      <p:to>
                                        <p:strVal val="visible"/>
                                      </p:to>
                                    </p:set>
                                    <p:animEffect filter="fade" transition="in">
                                      <p:cBhvr>
                                        <p:cTn dur="300"/>
                                        <p:tgtEl>
                                          <p:spTgt spid="5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3" st="3"/>
                                            </p:txEl>
                                          </p:spTgt>
                                        </p:tgtEl>
                                        <p:attrNameLst>
                                          <p:attrName>style.visibility</p:attrName>
                                        </p:attrNameLst>
                                      </p:cBhvr>
                                      <p:to>
                                        <p:strVal val="visible"/>
                                      </p:to>
                                    </p:set>
                                    <p:animEffect filter="fade" transition="in">
                                      <p:cBhvr>
                                        <p:cTn dur="300"/>
                                        <p:tgtEl>
                                          <p:spTgt spid="5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4" st="4"/>
                                            </p:txEl>
                                          </p:spTgt>
                                        </p:tgtEl>
                                        <p:attrNameLst>
                                          <p:attrName>style.visibility</p:attrName>
                                        </p:attrNameLst>
                                      </p:cBhvr>
                                      <p:to>
                                        <p:strVal val="visible"/>
                                      </p:to>
                                    </p:set>
                                    <p:animEffect filter="fade" transition="in">
                                      <p:cBhvr>
                                        <p:cTn dur="300"/>
                                        <p:tgtEl>
                                          <p:spTgt spid="5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5" st="5"/>
                                            </p:txEl>
                                          </p:spTgt>
                                        </p:tgtEl>
                                        <p:attrNameLst>
                                          <p:attrName>style.visibility</p:attrName>
                                        </p:attrNameLst>
                                      </p:cBhvr>
                                      <p:to>
                                        <p:strVal val="visible"/>
                                      </p:to>
                                    </p:set>
                                    <p:animEffect filter="fade" transition="in">
                                      <p:cBhvr>
                                        <p:cTn dur="300"/>
                                        <p:tgtEl>
                                          <p:spTgt spid="5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6" st="6"/>
                                            </p:txEl>
                                          </p:spTgt>
                                        </p:tgtEl>
                                        <p:attrNameLst>
                                          <p:attrName>style.visibility</p:attrName>
                                        </p:attrNameLst>
                                      </p:cBhvr>
                                      <p:to>
                                        <p:strVal val="visible"/>
                                      </p:to>
                                    </p:set>
                                    <p:animEffect filter="fade" transition="in">
                                      <p:cBhvr>
                                        <p:cTn dur="300"/>
                                        <p:tgtEl>
                                          <p:spTgt spid="5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7" st="7"/>
                                            </p:txEl>
                                          </p:spTgt>
                                        </p:tgtEl>
                                        <p:attrNameLst>
                                          <p:attrName>style.visibility</p:attrName>
                                        </p:attrNameLst>
                                      </p:cBhvr>
                                      <p:to>
                                        <p:strVal val="visible"/>
                                      </p:to>
                                    </p:set>
                                    <p:animEffect filter="fade" transition="in">
                                      <p:cBhvr>
                                        <p:cTn dur="300"/>
                                        <p:tgtEl>
                                          <p:spTgt spid="56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1"/>
          <p:cNvSpPr txBox="1"/>
          <p:nvPr>
            <p:ph type="title"/>
          </p:nvPr>
        </p:nvSpPr>
        <p:spPr>
          <a:xfrm>
            <a:off x="423450" y="19228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Preferences</a:t>
            </a:r>
            <a:endParaRPr sz="3600">
              <a:latin typeface="Nunito"/>
              <a:ea typeface="Nunito"/>
              <a:cs typeface="Nunito"/>
              <a:sym typeface="Nunito"/>
            </a:endParaRPr>
          </a:p>
        </p:txBody>
      </p:sp>
      <p:sp>
        <p:nvSpPr>
          <p:cNvPr id="568" name="Google Shape;568;p6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69" name="Google Shape;569;p6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43</a:t>
            </a:fld>
            <a:endParaRPr b="0" i="0" sz="1300" u="none" cap="none" strike="noStrike">
              <a:solidFill>
                <a:srgbClr val="FFFFFF"/>
              </a:solidFill>
              <a:latin typeface="Nunito"/>
              <a:ea typeface="Nunito"/>
              <a:cs typeface="Nunito"/>
              <a:sym typeface="Nunito"/>
            </a:endParaRPr>
          </a:p>
        </p:txBody>
      </p:sp>
      <p:sp>
        <p:nvSpPr>
          <p:cNvPr id="570" name="Google Shape;570;p6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71" name="Google Shape;571;p61"/>
          <p:cNvSpPr txBox="1"/>
          <p:nvPr/>
        </p:nvSpPr>
        <p:spPr>
          <a:xfrm>
            <a:off x="367500" y="2876550"/>
            <a:ext cx="8409000" cy="49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Why not just have AIs satisfy people’s preferences?</a:t>
            </a:r>
            <a:endParaRPr b="0" i="1"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300"/>
                                        <p:tgtEl>
                                          <p:spTgt spid="5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62"/>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What are Preferences?</a:t>
            </a:r>
            <a:endParaRPr/>
          </a:p>
        </p:txBody>
      </p:sp>
      <p:sp>
        <p:nvSpPr>
          <p:cNvPr id="577" name="Google Shape;577;p62"/>
          <p:cNvSpPr txBox="1"/>
          <p:nvPr>
            <p:ph idx="1" type="body"/>
          </p:nvPr>
        </p:nvSpPr>
        <p:spPr>
          <a:xfrm>
            <a:off x="311700" y="952338"/>
            <a:ext cx="8520600" cy="352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A preference is a tendency to favor one thing over another.</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Preference always involves a comparison between two or more alternatives.</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Three types of preferences: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Revealed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Stated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Idealized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latin typeface="Nunito"/>
              <a:ea typeface="Nunito"/>
              <a:cs typeface="Nunito"/>
              <a:sym typeface="Nunito"/>
            </a:endParaRPr>
          </a:p>
        </p:txBody>
      </p:sp>
      <p:sp>
        <p:nvSpPr>
          <p:cNvPr id="578" name="Google Shape;578;p6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79" name="Google Shape;579;p6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44</a:t>
            </a:fld>
            <a:endParaRPr b="0" i="0" sz="1300" u="none" cap="none" strike="noStrike">
              <a:solidFill>
                <a:srgbClr val="FFFFFF"/>
              </a:solidFill>
              <a:latin typeface="Nunito"/>
              <a:ea typeface="Nunito"/>
              <a:cs typeface="Nunito"/>
              <a:sym typeface="Nunito"/>
            </a:endParaRPr>
          </a:p>
        </p:txBody>
      </p:sp>
      <p:sp>
        <p:nvSpPr>
          <p:cNvPr id="580" name="Google Shape;580;p6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0" st="0"/>
                                            </p:txEl>
                                          </p:spTgt>
                                        </p:tgtEl>
                                        <p:attrNameLst>
                                          <p:attrName>style.visibility</p:attrName>
                                        </p:attrNameLst>
                                      </p:cBhvr>
                                      <p:to>
                                        <p:strVal val="visible"/>
                                      </p:to>
                                    </p:set>
                                    <p:animEffect filter="fade" transition="in">
                                      <p:cBhvr>
                                        <p:cTn dur="300"/>
                                        <p:tgtEl>
                                          <p:spTgt spid="5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1" st="1"/>
                                            </p:txEl>
                                          </p:spTgt>
                                        </p:tgtEl>
                                        <p:attrNameLst>
                                          <p:attrName>style.visibility</p:attrName>
                                        </p:attrNameLst>
                                      </p:cBhvr>
                                      <p:to>
                                        <p:strVal val="visible"/>
                                      </p:to>
                                    </p:set>
                                    <p:animEffect filter="fade" transition="in">
                                      <p:cBhvr>
                                        <p:cTn dur="300"/>
                                        <p:tgtEl>
                                          <p:spTgt spid="5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2" st="2"/>
                                            </p:txEl>
                                          </p:spTgt>
                                        </p:tgtEl>
                                        <p:attrNameLst>
                                          <p:attrName>style.visibility</p:attrName>
                                        </p:attrNameLst>
                                      </p:cBhvr>
                                      <p:to>
                                        <p:strVal val="visible"/>
                                      </p:to>
                                    </p:set>
                                    <p:animEffect filter="fade" transition="in">
                                      <p:cBhvr>
                                        <p:cTn dur="300"/>
                                        <p:tgtEl>
                                          <p:spTgt spid="5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3" st="3"/>
                                            </p:txEl>
                                          </p:spTgt>
                                        </p:tgtEl>
                                        <p:attrNameLst>
                                          <p:attrName>style.visibility</p:attrName>
                                        </p:attrNameLst>
                                      </p:cBhvr>
                                      <p:to>
                                        <p:strVal val="visible"/>
                                      </p:to>
                                    </p:set>
                                    <p:animEffect filter="fade" transition="in">
                                      <p:cBhvr>
                                        <p:cTn dur="300"/>
                                        <p:tgtEl>
                                          <p:spTgt spid="5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4" st="4"/>
                                            </p:txEl>
                                          </p:spTgt>
                                        </p:tgtEl>
                                        <p:attrNameLst>
                                          <p:attrName>style.visibility</p:attrName>
                                        </p:attrNameLst>
                                      </p:cBhvr>
                                      <p:to>
                                        <p:strVal val="visible"/>
                                      </p:to>
                                    </p:set>
                                    <p:animEffect filter="fade" transition="in">
                                      <p:cBhvr>
                                        <p:cTn dur="300"/>
                                        <p:tgtEl>
                                          <p:spTgt spid="5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5" st="5"/>
                                            </p:txEl>
                                          </p:spTgt>
                                        </p:tgtEl>
                                        <p:attrNameLst>
                                          <p:attrName>style.visibility</p:attrName>
                                        </p:attrNameLst>
                                      </p:cBhvr>
                                      <p:to>
                                        <p:strVal val="visible"/>
                                      </p:to>
                                    </p:set>
                                    <p:animEffect filter="fade" transition="in">
                                      <p:cBhvr>
                                        <p:cTn dur="300"/>
                                        <p:tgtEl>
                                          <p:spTgt spid="5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6" st="6"/>
                                            </p:txEl>
                                          </p:spTgt>
                                        </p:tgtEl>
                                        <p:attrNameLst>
                                          <p:attrName>style.visibility</p:attrName>
                                        </p:attrNameLst>
                                      </p:cBhvr>
                                      <p:to>
                                        <p:strVal val="visible"/>
                                      </p:to>
                                    </p:set>
                                    <p:animEffect filter="fade" transition="in">
                                      <p:cBhvr>
                                        <p:cTn dur="300"/>
                                        <p:tgtEl>
                                          <p:spTgt spid="57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7" st="7"/>
                                            </p:txEl>
                                          </p:spTgt>
                                        </p:tgtEl>
                                        <p:attrNameLst>
                                          <p:attrName>style.visibility</p:attrName>
                                        </p:attrNameLst>
                                      </p:cBhvr>
                                      <p:to>
                                        <p:strVal val="visible"/>
                                      </p:to>
                                    </p:set>
                                    <p:animEffect filter="fade" transition="in">
                                      <p:cBhvr>
                                        <p:cTn dur="300"/>
                                        <p:tgtEl>
                                          <p:spTgt spid="57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8" st="8"/>
                                            </p:txEl>
                                          </p:spTgt>
                                        </p:tgtEl>
                                        <p:attrNameLst>
                                          <p:attrName>style.visibility</p:attrName>
                                        </p:attrNameLst>
                                      </p:cBhvr>
                                      <p:to>
                                        <p:strVal val="visible"/>
                                      </p:to>
                                    </p:set>
                                    <p:animEffect filter="fade" transition="in">
                                      <p:cBhvr>
                                        <p:cTn dur="300"/>
                                        <p:tgtEl>
                                          <p:spTgt spid="57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9" st="9"/>
                                            </p:txEl>
                                          </p:spTgt>
                                        </p:tgtEl>
                                        <p:attrNameLst>
                                          <p:attrName>style.visibility</p:attrName>
                                        </p:attrNameLst>
                                      </p:cBhvr>
                                      <p:to>
                                        <p:strVal val="visible"/>
                                      </p:to>
                                    </p:set>
                                    <p:animEffect filter="fade" transition="in">
                                      <p:cBhvr>
                                        <p:cTn dur="300"/>
                                        <p:tgtEl>
                                          <p:spTgt spid="57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10" st="10"/>
                                            </p:txEl>
                                          </p:spTgt>
                                        </p:tgtEl>
                                        <p:attrNameLst>
                                          <p:attrName>style.visibility</p:attrName>
                                        </p:attrNameLst>
                                      </p:cBhvr>
                                      <p:to>
                                        <p:strVal val="visible"/>
                                      </p:to>
                                    </p:set>
                                    <p:animEffect filter="fade" transition="in">
                                      <p:cBhvr>
                                        <p:cTn dur="300"/>
                                        <p:tgtEl>
                                          <p:spTgt spid="577">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3"/>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Revealed Preferences</a:t>
            </a:r>
            <a:endParaRPr/>
          </a:p>
        </p:txBody>
      </p:sp>
      <p:sp>
        <p:nvSpPr>
          <p:cNvPr id="586" name="Google Shape;586;p63"/>
          <p:cNvSpPr txBox="1"/>
          <p:nvPr>
            <p:ph idx="1" type="body"/>
          </p:nvPr>
        </p:nvSpPr>
        <p:spPr>
          <a:xfrm>
            <a:off x="311700" y="734950"/>
            <a:ext cx="8520600" cy="50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2000">
                <a:solidFill>
                  <a:schemeClr val="dk1"/>
                </a:solidFill>
                <a:latin typeface="Nunito"/>
                <a:ea typeface="Nunito"/>
                <a:cs typeface="Nunito"/>
                <a:sym typeface="Nunito"/>
              </a:rPr>
              <a:t>Preferences are what people choose. </a:t>
            </a:r>
            <a:r>
              <a:rPr lang="en" sz="2000">
                <a:solidFill>
                  <a:schemeClr val="dk1"/>
                </a:solidFill>
                <a:latin typeface="Nunito"/>
                <a:ea typeface="Nunito"/>
                <a:cs typeface="Nunito"/>
                <a:sym typeface="Nunito"/>
              </a:rPr>
              <a:t>Let people decide what they like, and what is good for them. Recommender systems rely heavily on revealed preferences.</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b="1" sz="2000">
              <a:solidFill>
                <a:schemeClr val="dk1"/>
              </a:solidFill>
              <a:latin typeface="Nunito"/>
              <a:ea typeface="Nunito"/>
              <a:cs typeface="Nunito"/>
              <a:sym typeface="Nunito"/>
            </a:endParaRPr>
          </a:p>
        </p:txBody>
      </p:sp>
      <p:sp>
        <p:nvSpPr>
          <p:cNvPr id="587" name="Google Shape;587;p63"/>
          <p:cNvSpPr txBox="1"/>
          <p:nvPr>
            <p:ph idx="1" type="body"/>
          </p:nvPr>
        </p:nvSpPr>
        <p:spPr>
          <a:xfrm>
            <a:off x="311700" y="1803789"/>
            <a:ext cx="5002200" cy="30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2000">
                <a:solidFill>
                  <a:schemeClr val="dk1"/>
                </a:solidFill>
                <a:latin typeface="Nunito"/>
                <a:ea typeface="Nunito"/>
                <a:cs typeface="Nunito"/>
                <a:sym typeface="Nunito"/>
              </a:rPr>
              <a:t>Drawbacks: </a:t>
            </a:r>
            <a:endParaRPr sz="2000">
              <a:solidFill>
                <a:schemeClr val="dk1"/>
              </a:solidFill>
              <a:latin typeface="Nunito"/>
              <a:ea typeface="Nunito"/>
              <a:cs typeface="Nunito"/>
              <a:sym typeface="Nunito"/>
            </a:endParaRPr>
          </a:p>
          <a:p>
            <a:pPr indent="-355600" lvl="0" marL="457200" rtl="0" algn="l">
              <a:lnSpc>
                <a:spcPct val="100000"/>
              </a:lnSpc>
              <a:spcBef>
                <a:spcPts val="160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Misinformation: unknowingly buy a defective product.</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Manipulation: people are susceptible to make decisions based on the influence of others.</a:t>
            </a:r>
            <a:endParaRPr sz="2000">
              <a:solidFill>
                <a:schemeClr val="dk1"/>
              </a:solidFill>
              <a:latin typeface="Nunito"/>
              <a:ea typeface="Nunito"/>
              <a:cs typeface="Nunito"/>
              <a:sym typeface="Nunito"/>
            </a:endParaRPr>
          </a:p>
          <a:p>
            <a:pPr indent="-355600" lvl="0" marL="457200" rtl="0" algn="l">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Weakness of will: many people don’t want to smoke/click, but do.</a:t>
            </a:r>
            <a:endParaRPr sz="2000">
              <a:solidFill>
                <a:schemeClr val="dk1"/>
              </a:solidFill>
              <a:latin typeface="Nunito"/>
              <a:ea typeface="Nunito"/>
              <a:cs typeface="Nunito"/>
              <a:sym typeface="Nunito"/>
            </a:endParaRPr>
          </a:p>
        </p:txBody>
      </p:sp>
      <p:sp>
        <p:nvSpPr>
          <p:cNvPr id="588" name="Google Shape;588;p6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89" name="Google Shape;589;p6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45</a:t>
            </a:fld>
            <a:endParaRPr b="0" i="0" sz="1300" u="none" cap="none" strike="noStrike">
              <a:solidFill>
                <a:srgbClr val="FFFFFF"/>
              </a:solidFill>
              <a:latin typeface="Nunito"/>
              <a:ea typeface="Nunito"/>
              <a:cs typeface="Nunito"/>
              <a:sym typeface="Nunito"/>
            </a:endParaRPr>
          </a:p>
        </p:txBody>
      </p:sp>
      <p:sp>
        <p:nvSpPr>
          <p:cNvPr id="590" name="Google Shape;590;p6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pic>
        <p:nvPicPr>
          <p:cNvPr id="591" name="Google Shape;591;p63"/>
          <p:cNvPicPr preferRelativeResize="0"/>
          <p:nvPr/>
        </p:nvPicPr>
        <p:blipFill>
          <a:blip r:embed="rId3">
            <a:alphaModFix/>
          </a:blip>
          <a:stretch>
            <a:fillRect/>
          </a:stretch>
        </p:blipFill>
        <p:spPr>
          <a:xfrm>
            <a:off x="5894500" y="1575200"/>
            <a:ext cx="3249492" cy="32494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xEl>
                                              <p:pRg end="0" st="0"/>
                                            </p:txEl>
                                          </p:spTgt>
                                        </p:tgtEl>
                                        <p:attrNameLst>
                                          <p:attrName>style.visibility</p:attrName>
                                        </p:attrNameLst>
                                      </p:cBhvr>
                                      <p:to>
                                        <p:strVal val="visible"/>
                                      </p:to>
                                    </p:set>
                                    <p:animEffect filter="fade" transition="in">
                                      <p:cBhvr>
                                        <p:cTn dur="300"/>
                                        <p:tgtEl>
                                          <p:spTgt spid="5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xEl>
                                              <p:pRg end="1" st="1"/>
                                            </p:txEl>
                                          </p:spTgt>
                                        </p:tgtEl>
                                        <p:attrNameLst>
                                          <p:attrName>style.visibility</p:attrName>
                                        </p:attrNameLst>
                                      </p:cBhvr>
                                      <p:to>
                                        <p:strVal val="visible"/>
                                      </p:to>
                                    </p:set>
                                    <p:animEffect filter="fade" transition="in">
                                      <p:cBhvr>
                                        <p:cTn dur="300"/>
                                        <p:tgtEl>
                                          <p:spTgt spid="5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xEl>
                                              <p:pRg end="0" st="0"/>
                                            </p:txEl>
                                          </p:spTgt>
                                        </p:tgtEl>
                                        <p:attrNameLst>
                                          <p:attrName>style.visibility</p:attrName>
                                        </p:attrNameLst>
                                      </p:cBhvr>
                                      <p:to>
                                        <p:strVal val="visible"/>
                                      </p:to>
                                    </p:set>
                                    <p:animEffect filter="fade" transition="in">
                                      <p:cBhvr>
                                        <p:cTn dur="300"/>
                                        <p:tgtEl>
                                          <p:spTgt spid="5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xEl>
                                              <p:pRg end="1" st="1"/>
                                            </p:txEl>
                                          </p:spTgt>
                                        </p:tgtEl>
                                        <p:attrNameLst>
                                          <p:attrName>style.visibility</p:attrName>
                                        </p:attrNameLst>
                                      </p:cBhvr>
                                      <p:to>
                                        <p:strVal val="visible"/>
                                      </p:to>
                                    </p:set>
                                    <p:animEffect filter="fade" transition="in">
                                      <p:cBhvr>
                                        <p:cTn dur="300"/>
                                        <p:tgtEl>
                                          <p:spTgt spid="5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xEl>
                                              <p:pRg end="2" st="2"/>
                                            </p:txEl>
                                          </p:spTgt>
                                        </p:tgtEl>
                                        <p:attrNameLst>
                                          <p:attrName>style.visibility</p:attrName>
                                        </p:attrNameLst>
                                      </p:cBhvr>
                                      <p:to>
                                        <p:strVal val="visible"/>
                                      </p:to>
                                    </p:set>
                                    <p:animEffect filter="fade" transition="in">
                                      <p:cBhvr>
                                        <p:cTn dur="300"/>
                                        <p:tgtEl>
                                          <p:spTgt spid="5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xEl>
                                              <p:pRg end="3" st="3"/>
                                            </p:txEl>
                                          </p:spTgt>
                                        </p:tgtEl>
                                        <p:attrNameLst>
                                          <p:attrName>style.visibility</p:attrName>
                                        </p:attrNameLst>
                                      </p:cBhvr>
                                      <p:to>
                                        <p:strVal val="visible"/>
                                      </p:to>
                                    </p:set>
                                    <p:animEffect filter="fade" transition="in">
                                      <p:cBhvr>
                                        <p:cTn dur="300"/>
                                        <p:tgtEl>
                                          <p:spTgt spid="587">
                                            <p:txEl>
                                              <p:pRg end="3" st="3"/>
                                            </p:txEl>
                                          </p:spTgt>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300"/>
                                        <p:tgtEl>
                                          <p:spTgt spid="5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5"/>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Stated Preferences (1/3)</a:t>
            </a:r>
            <a:endParaRPr/>
          </a:p>
        </p:txBody>
      </p:sp>
      <p:sp>
        <p:nvSpPr>
          <p:cNvPr id="608" name="Google Shape;608;p65"/>
          <p:cNvSpPr txBox="1"/>
          <p:nvPr>
            <p:ph idx="1" type="body"/>
          </p:nvPr>
        </p:nvSpPr>
        <p:spPr>
          <a:xfrm>
            <a:off x="442825" y="1114575"/>
            <a:ext cx="8520600" cy="49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2000">
                <a:solidFill>
                  <a:schemeClr val="dk1"/>
                </a:solidFill>
                <a:latin typeface="Nunito"/>
                <a:ea typeface="Nunito"/>
                <a:cs typeface="Nunito"/>
                <a:sym typeface="Nunito"/>
              </a:rPr>
              <a:t>Preferences are simply what people say their preferences are. </a:t>
            </a:r>
            <a:endParaRPr b="1"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b="1"/>
          </a:p>
        </p:txBody>
      </p:sp>
      <p:pic>
        <p:nvPicPr>
          <p:cNvPr id="609" name="Google Shape;609;p65"/>
          <p:cNvPicPr preferRelativeResize="0"/>
          <p:nvPr/>
        </p:nvPicPr>
        <p:blipFill rotWithShape="1">
          <a:blip r:embed="rId3">
            <a:alphaModFix/>
          </a:blip>
          <a:srcRect b="0" l="0" r="0" t="0"/>
          <a:stretch/>
        </p:blipFill>
        <p:spPr>
          <a:xfrm>
            <a:off x="5732575" y="1646375"/>
            <a:ext cx="3099724" cy="3099725"/>
          </a:xfrm>
          <a:prstGeom prst="rect">
            <a:avLst/>
          </a:prstGeom>
          <a:noFill/>
          <a:ln>
            <a:noFill/>
          </a:ln>
        </p:spPr>
      </p:pic>
      <p:sp>
        <p:nvSpPr>
          <p:cNvPr id="610" name="Google Shape;610;p6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11" name="Google Shape;611;p6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46</a:t>
            </a:fld>
            <a:endParaRPr b="0" i="0" sz="1300" u="none" cap="none" strike="noStrike">
              <a:solidFill>
                <a:srgbClr val="FFFFFF"/>
              </a:solidFill>
              <a:latin typeface="Nunito"/>
              <a:ea typeface="Nunito"/>
              <a:cs typeface="Nunito"/>
              <a:sym typeface="Nunito"/>
            </a:endParaRPr>
          </a:p>
        </p:txBody>
      </p:sp>
      <p:sp>
        <p:nvSpPr>
          <p:cNvPr id="612" name="Google Shape;612;p6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613" name="Google Shape;613;p65"/>
          <p:cNvSpPr txBox="1"/>
          <p:nvPr/>
        </p:nvSpPr>
        <p:spPr>
          <a:xfrm>
            <a:off x="442825" y="1714500"/>
            <a:ext cx="5289900" cy="297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Solves some issues with revealed preferences since people may be able to articulate why their behavior differs from their desires. Example</a:t>
            </a:r>
            <a:br>
              <a:rPr b="0" i="0" lang="en" sz="2000" u="none" cap="none" strike="noStrike">
                <a:solidFill>
                  <a:srgbClr val="000000"/>
                </a:solidFill>
                <a:latin typeface="Nunito"/>
                <a:ea typeface="Nunito"/>
                <a:cs typeface="Nunito"/>
                <a:sym typeface="Nunito"/>
              </a:rPr>
            </a:br>
            <a:br>
              <a:rPr b="0" i="0" lang="en" sz="2000" u="none" cap="none" strike="noStrike">
                <a:solidFill>
                  <a:srgbClr val="000000"/>
                </a:solidFill>
                <a:latin typeface="Nunito"/>
                <a:ea typeface="Nunito"/>
                <a:cs typeface="Nunito"/>
                <a:sym typeface="Nunito"/>
              </a:rPr>
            </a:br>
            <a:r>
              <a:rPr lang="en" sz="2000">
                <a:latin typeface="Nunito"/>
                <a:ea typeface="Nunito"/>
                <a:cs typeface="Nunito"/>
                <a:sym typeface="Nunito"/>
              </a:rPr>
              <a:t>:</a:t>
            </a:r>
            <a:r>
              <a:rPr b="0" i="0" lang="en" sz="2000" u="none" cap="none" strike="noStrike">
                <a:solidFill>
                  <a:srgbClr val="000000"/>
                </a:solidFill>
                <a:latin typeface="Nunito"/>
                <a:ea typeface="Nunito"/>
                <a:cs typeface="Nunito"/>
                <a:sym typeface="Nunito"/>
              </a:rPr>
              <a:t> </a:t>
            </a:r>
            <a:r>
              <a:rPr lang="en" sz="2000">
                <a:latin typeface="Nunito"/>
                <a:ea typeface="Nunito"/>
                <a:cs typeface="Nunito"/>
                <a:sym typeface="Nunito"/>
              </a:rPr>
              <a:t>s</a:t>
            </a:r>
            <a:r>
              <a:rPr b="0" i="0" lang="en" sz="2000" u="none" cap="none" strike="noStrike">
                <a:solidFill>
                  <a:srgbClr val="000000"/>
                </a:solidFill>
                <a:latin typeface="Nunito"/>
                <a:ea typeface="Nunito"/>
                <a:cs typeface="Nunito"/>
                <a:sym typeface="Nunito"/>
              </a:rPr>
              <a:t>omeone may smoke, but say they’d prefer not to.</a:t>
            </a:r>
            <a:endParaRPr b="0" i="0" sz="2000" u="none" cap="none" strike="noStrike">
              <a:solidFill>
                <a:srgbClr val="000000"/>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3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xEl>
                                              <p:pRg end="0" st="0"/>
                                            </p:txEl>
                                          </p:spTgt>
                                        </p:tgtEl>
                                        <p:attrNameLst>
                                          <p:attrName>style.visibility</p:attrName>
                                        </p:attrNameLst>
                                      </p:cBhvr>
                                      <p:to>
                                        <p:strVal val="visible"/>
                                      </p:to>
                                    </p:set>
                                    <p:animEffect filter="fade" transition="in">
                                      <p:cBhvr>
                                        <p:cTn dur="300"/>
                                        <p:tgtEl>
                                          <p:spTgt spid="61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300"/>
                                        <p:tgtEl>
                                          <p:spTgt spid="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6"/>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Stated Preferences (2/3)</a:t>
            </a:r>
            <a:endParaRPr/>
          </a:p>
        </p:txBody>
      </p:sp>
      <p:sp>
        <p:nvSpPr>
          <p:cNvPr id="619" name="Google Shape;619;p66"/>
          <p:cNvSpPr txBox="1"/>
          <p:nvPr>
            <p:ph idx="1" type="body"/>
          </p:nvPr>
        </p:nvSpPr>
        <p:spPr>
          <a:xfrm>
            <a:off x="311700" y="1152475"/>
            <a:ext cx="8520600" cy="347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In Direct Preference Optimization (DPO), humans provide direct feedback to AIs by ranking outputs.</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DPO learns based on stated human preferences.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sz="2000">
              <a:solidFill>
                <a:schemeClr val="dk1"/>
              </a:solidFill>
              <a:latin typeface="Nunito"/>
              <a:ea typeface="Nunito"/>
              <a:cs typeface="Nunito"/>
              <a:sym typeface="Nunito"/>
            </a:endParaRPr>
          </a:p>
        </p:txBody>
      </p:sp>
      <p:sp>
        <p:nvSpPr>
          <p:cNvPr id="620" name="Google Shape;620;p6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21" name="Google Shape;621;p6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47</a:t>
            </a:fld>
            <a:endParaRPr b="0" i="0" sz="1300" u="none" cap="none" strike="noStrike">
              <a:solidFill>
                <a:srgbClr val="FFFFFF"/>
              </a:solidFill>
              <a:latin typeface="Nunito"/>
              <a:ea typeface="Nunito"/>
              <a:cs typeface="Nunito"/>
              <a:sym typeface="Nunito"/>
            </a:endParaRPr>
          </a:p>
        </p:txBody>
      </p:sp>
      <p:sp>
        <p:nvSpPr>
          <p:cNvPr id="622" name="Google Shape;622;p6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xEl>
                                              <p:pRg end="0" st="0"/>
                                            </p:txEl>
                                          </p:spTgt>
                                        </p:tgtEl>
                                        <p:attrNameLst>
                                          <p:attrName>style.visibility</p:attrName>
                                        </p:attrNameLst>
                                      </p:cBhvr>
                                      <p:to>
                                        <p:strVal val="visible"/>
                                      </p:to>
                                    </p:set>
                                    <p:animEffect filter="fade" transition="in">
                                      <p:cBhvr>
                                        <p:cTn dur="300"/>
                                        <p:tgtEl>
                                          <p:spTgt spid="6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xEl>
                                              <p:pRg end="1" st="1"/>
                                            </p:txEl>
                                          </p:spTgt>
                                        </p:tgtEl>
                                        <p:attrNameLst>
                                          <p:attrName>style.visibility</p:attrName>
                                        </p:attrNameLst>
                                      </p:cBhvr>
                                      <p:to>
                                        <p:strVal val="visible"/>
                                      </p:to>
                                    </p:set>
                                    <p:animEffect filter="fade" transition="in">
                                      <p:cBhvr>
                                        <p:cTn dur="300"/>
                                        <p:tgtEl>
                                          <p:spTgt spid="6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xEl>
                                              <p:pRg end="2" st="2"/>
                                            </p:txEl>
                                          </p:spTgt>
                                        </p:tgtEl>
                                        <p:attrNameLst>
                                          <p:attrName>style.visibility</p:attrName>
                                        </p:attrNameLst>
                                      </p:cBhvr>
                                      <p:to>
                                        <p:strVal val="visible"/>
                                      </p:to>
                                    </p:set>
                                    <p:animEffect filter="fade" transition="in">
                                      <p:cBhvr>
                                        <p:cTn dur="300"/>
                                        <p:tgtEl>
                                          <p:spTgt spid="61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7"/>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Stated Preferences (3/3)</a:t>
            </a:r>
            <a:endParaRPr/>
          </a:p>
        </p:txBody>
      </p:sp>
      <p:sp>
        <p:nvSpPr>
          <p:cNvPr id="628" name="Google Shape;628;p6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2000">
                <a:solidFill>
                  <a:schemeClr val="dk1"/>
                </a:solidFill>
                <a:latin typeface="Nunito"/>
                <a:ea typeface="Nunito"/>
                <a:cs typeface="Nunito"/>
                <a:sym typeface="Nunito"/>
              </a:rPr>
              <a:t>Complications with stated preferences:</a:t>
            </a:r>
            <a:endParaRPr b="1"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The outcome of some preferences cannot be known.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Should dead people’s preferences matter?</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Preferences about other people’s preferences can lead to double counting.</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Some people have harmful preferences.</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People are unsure about many preferences.</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People’s preferences will change over time. </a:t>
            </a:r>
            <a:endParaRPr sz="2000">
              <a:solidFill>
                <a:schemeClr val="dk1"/>
              </a:solidFill>
              <a:latin typeface="Nunito"/>
              <a:ea typeface="Nunito"/>
              <a:cs typeface="Nunito"/>
              <a:sym typeface="Nunito"/>
            </a:endParaRPr>
          </a:p>
        </p:txBody>
      </p:sp>
      <p:sp>
        <p:nvSpPr>
          <p:cNvPr id="629" name="Google Shape;629;p6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30" name="Google Shape;630;p6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48</a:t>
            </a:fld>
            <a:endParaRPr b="0" i="0" sz="1300" u="none" cap="none" strike="noStrike">
              <a:solidFill>
                <a:srgbClr val="FFFFFF"/>
              </a:solidFill>
              <a:latin typeface="Nunito"/>
              <a:ea typeface="Nunito"/>
              <a:cs typeface="Nunito"/>
              <a:sym typeface="Nunito"/>
            </a:endParaRPr>
          </a:p>
        </p:txBody>
      </p:sp>
      <p:sp>
        <p:nvSpPr>
          <p:cNvPr id="631" name="Google Shape;631;p6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0" st="0"/>
                                            </p:txEl>
                                          </p:spTgt>
                                        </p:tgtEl>
                                        <p:attrNameLst>
                                          <p:attrName>style.visibility</p:attrName>
                                        </p:attrNameLst>
                                      </p:cBhvr>
                                      <p:to>
                                        <p:strVal val="visible"/>
                                      </p:to>
                                    </p:set>
                                    <p:animEffect filter="fade" transition="in">
                                      <p:cBhvr>
                                        <p:cTn dur="300"/>
                                        <p:tgtEl>
                                          <p:spTgt spid="6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1" st="1"/>
                                            </p:txEl>
                                          </p:spTgt>
                                        </p:tgtEl>
                                        <p:attrNameLst>
                                          <p:attrName>style.visibility</p:attrName>
                                        </p:attrNameLst>
                                      </p:cBhvr>
                                      <p:to>
                                        <p:strVal val="visible"/>
                                      </p:to>
                                    </p:set>
                                    <p:animEffect filter="fade" transition="in">
                                      <p:cBhvr>
                                        <p:cTn dur="300"/>
                                        <p:tgtEl>
                                          <p:spTgt spid="6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2" st="2"/>
                                            </p:txEl>
                                          </p:spTgt>
                                        </p:tgtEl>
                                        <p:attrNameLst>
                                          <p:attrName>style.visibility</p:attrName>
                                        </p:attrNameLst>
                                      </p:cBhvr>
                                      <p:to>
                                        <p:strVal val="visible"/>
                                      </p:to>
                                    </p:set>
                                    <p:animEffect filter="fade" transition="in">
                                      <p:cBhvr>
                                        <p:cTn dur="300"/>
                                        <p:tgtEl>
                                          <p:spTgt spid="6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3" st="3"/>
                                            </p:txEl>
                                          </p:spTgt>
                                        </p:tgtEl>
                                        <p:attrNameLst>
                                          <p:attrName>style.visibility</p:attrName>
                                        </p:attrNameLst>
                                      </p:cBhvr>
                                      <p:to>
                                        <p:strVal val="visible"/>
                                      </p:to>
                                    </p:set>
                                    <p:animEffect filter="fade" transition="in">
                                      <p:cBhvr>
                                        <p:cTn dur="300"/>
                                        <p:tgtEl>
                                          <p:spTgt spid="6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4" st="4"/>
                                            </p:txEl>
                                          </p:spTgt>
                                        </p:tgtEl>
                                        <p:attrNameLst>
                                          <p:attrName>style.visibility</p:attrName>
                                        </p:attrNameLst>
                                      </p:cBhvr>
                                      <p:to>
                                        <p:strVal val="visible"/>
                                      </p:to>
                                    </p:set>
                                    <p:animEffect filter="fade" transition="in">
                                      <p:cBhvr>
                                        <p:cTn dur="300"/>
                                        <p:tgtEl>
                                          <p:spTgt spid="6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5" st="5"/>
                                            </p:txEl>
                                          </p:spTgt>
                                        </p:tgtEl>
                                        <p:attrNameLst>
                                          <p:attrName>style.visibility</p:attrName>
                                        </p:attrNameLst>
                                      </p:cBhvr>
                                      <p:to>
                                        <p:strVal val="visible"/>
                                      </p:to>
                                    </p:set>
                                    <p:animEffect filter="fade" transition="in">
                                      <p:cBhvr>
                                        <p:cTn dur="300"/>
                                        <p:tgtEl>
                                          <p:spTgt spid="6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6" st="6"/>
                                            </p:txEl>
                                          </p:spTgt>
                                        </p:tgtEl>
                                        <p:attrNameLst>
                                          <p:attrName>style.visibility</p:attrName>
                                        </p:attrNameLst>
                                      </p:cBhvr>
                                      <p:to>
                                        <p:strVal val="visible"/>
                                      </p:to>
                                    </p:set>
                                    <p:animEffect filter="fade" transition="in">
                                      <p:cBhvr>
                                        <p:cTn dur="300"/>
                                        <p:tgtEl>
                                          <p:spTgt spid="62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8"/>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Idealized Preferences (1/2)</a:t>
            </a:r>
            <a:endParaRPr/>
          </a:p>
        </p:txBody>
      </p:sp>
      <p:sp>
        <p:nvSpPr>
          <p:cNvPr id="637" name="Google Shape;637;p68"/>
          <p:cNvSpPr txBox="1"/>
          <p:nvPr>
            <p:ph idx="1" type="body"/>
          </p:nvPr>
        </p:nvSpPr>
        <p:spPr>
          <a:xfrm>
            <a:off x="311700" y="1152475"/>
            <a:ext cx="8520600" cy="344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2000">
                <a:solidFill>
                  <a:schemeClr val="dk1"/>
                </a:solidFill>
                <a:latin typeface="Nunito"/>
                <a:ea typeface="Nunito"/>
                <a:cs typeface="Nunito"/>
                <a:sym typeface="Nunito"/>
              </a:rPr>
              <a:t>Preferences are what a fully informed person would do.</a:t>
            </a:r>
            <a:endParaRPr b="1"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In theory, idealized preferences avoid misinformation, weakness of will, manipulation, or false beliefs.</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Complications:</a:t>
            </a:r>
            <a:endParaRPr sz="2000">
              <a:solidFill>
                <a:schemeClr val="dk1"/>
              </a:solidFill>
              <a:latin typeface="Nunito"/>
              <a:ea typeface="Nunito"/>
              <a:cs typeface="Nunito"/>
              <a:sym typeface="Nunito"/>
            </a:endParaRPr>
          </a:p>
          <a:p>
            <a:pPr indent="-355600" lvl="0" marL="457200" rtl="0" algn="l">
              <a:lnSpc>
                <a:spcPct val="115000"/>
              </a:lnSpc>
              <a:spcBef>
                <a:spcPts val="1600"/>
              </a:spcBef>
              <a:spcAft>
                <a:spcPts val="0"/>
              </a:spcAft>
              <a:buClr>
                <a:schemeClr val="dk1"/>
              </a:buClr>
              <a:buSzPts val="2000"/>
              <a:buFont typeface="Nunito"/>
              <a:buChar char="●"/>
            </a:pPr>
            <a:r>
              <a:rPr lang="en" sz="2000">
                <a:solidFill>
                  <a:schemeClr val="dk1"/>
                </a:solidFill>
                <a:latin typeface="Nunito"/>
                <a:ea typeface="Nunito"/>
                <a:cs typeface="Nunito"/>
                <a:sym typeface="Nunito"/>
              </a:rPr>
              <a:t>We do not know how to idealize preferences in practice.</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People’s idealized preferences might still be malicious.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People might disagree with their ideal preferences (paternalism).</a:t>
            </a:r>
            <a:endParaRPr sz="2000">
              <a:solidFill>
                <a:schemeClr val="dk1"/>
              </a:solidFill>
              <a:latin typeface="Nunito"/>
              <a:ea typeface="Nunito"/>
              <a:cs typeface="Nunito"/>
              <a:sym typeface="Nunito"/>
            </a:endParaRPr>
          </a:p>
        </p:txBody>
      </p:sp>
      <p:sp>
        <p:nvSpPr>
          <p:cNvPr id="638" name="Google Shape;638;p6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39" name="Google Shape;639;p6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49</a:t>
            </a:fld>
            <a:endParaRPr b="0" i="0" sz="1300" u="none" cap="none" strike="noStrike">
              <a:solidFill>
                <a:srgbClr val="FFFFFF"/>
              </a:solidFill>
              <a:latin typeface="Nunito"/>
              <a:ea typeface="Nunito"/>
              <a:cs typeface="Nunito"/>
              <a:sym typeface="Nunito"/>
            </a:endParaRPr>
          </a:p>
        </p:txBody>
      </p:sp>
      <p:sp>
        <p:nvSpPr>
          <p:cNvPr id="640" name="Google Shape;640;p6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xEl>
                                              <p:pRg end="0" st="0"/>
                                            </p:txEl>
                                          </p:spTgt>
                                        </p:tgtEl>
                                        <p:attrNameLst>
                                          <p:attrName>style.visibility</p:attrName>
                                        </p:attrNameLst>
                                      </p:cBhvr>
                                      <p:to>
                                        <p:strVal val="visible"/>
                                      </p:to>
                                    </p:set>
                                    <p:animEffect filter="fade" transition="in">
                                      <p:cBhvr>
                                        <p:cTn dur="300"/>
                                        <p:tgtEl>
                                          <p:spTgt spid="6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xEl>
                                              <p:pRg end="1" st="1"/>
                                            </p:txEl>
                                          </p:spTgt>
                                        </p:tgtEl>
                                        <p:attrNameLst>
                                          <p:attrName>style.visibility</p:attrName>
                                        </p:attrNameLst>
                                      </p:cBhvr>
                                      <p:to>
                                        <p:strVal val="visible"/>
                                      </p:to>
                                    </p:set>
                                    <p:animEffect filter="fade" transition="in">
                                      <p:cBhvr>
                                        <p:cTn dur="300"/>
                                        <p:tgtEl>
                                          <p:spTgt spid="6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xEl>
                                              <p:pRg end="2" st="2"/>
                                            </p:txEl>
                                          </p:spTgt>
                                        </p:tgtEl>
                                        <p:attrNameLst>
                                          <p:attrName>style.visibility</p:attrName>
                                        </p:attrNameLst>
                                      </p:cBhvr>
                                      <p:to>
                                        <p:strVal val="visible"/>
                                      </p:to>
                                    </p:set>
                                    <p:animEffect filter="fade" transition="in">
                                      <p:cBhvr>
                                        <p:cTn dur="300"/>
                                        <p:tgtEl>
                                          <p:spTgt spid="6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xEl>
                                              <p:pRg end="3" st="3"/>
                                            </p:txEl>
                                          </p:spTgt>
                                        </p:tgtEl>
                                        <p:attrNameLst>
                                          <p:attrName>style.visibility</p:attrName>
                                        </p:attrNameLst>
                                      </p:cBhvr>
                                      <p:to>
                                        <p:strVal val="visible"/>
                                      </p:to>
                                    </p:set>
                                    <p:animEffect filter="fade" transition="in">
                                      <p:cBhvr>
                                        <p:cTn dur="300"/>
                                        <p:tgtEl>
                                          <p:spTgt spid="6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xEl>
                                              <p:pRg end="4" st="4"/>
                                            </p:txEl>
                                          </p:spTgt>
                                        </p:tgtEl>
                                        <p:attrNameLst>
                                          <p:attrName>style.visibility</p:attrName>
                                        </p:attrNameLst>
                                      </p:cBhvr>
                                      <p:to>
                                        <p:strVal val="visible"/>
                                      </p:to>
                                    </p:set>
                                    <p:animEffect filter="fade" transition="in">
                                      <p:cBhvr>
                                        <p:cTn dur="300"/>
                                        <p:tgtEl>
                                          <p:spTgt spid="6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xEl>
                                              <p:pRg end="5" st="5"/>
                                            </p:txEl>
                                          </p:spTgt>
                                        </p:tgtEl>
                                        <p:attrNameLst>
                                          <p:attrName>style.visibility</p:attrName>
                                        </p:attrNameLst>
                                      </p:cBhvr>
                                      <p:to>
                                        <p:strVal val="visible"/>
                                      </p:to>
                                    </p:set>
                                    <p:animEffect filter="fade" transition="in">
                                      <p:cBhvr>
                                        <p:cTn dur="300"/>
                                        <p:tgtEl>
                                          <p:spTgt spid="63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9"/>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Idealized Preferences (2/2)</a:t>
            </a:r>
            <a:endParaRPr/>
          </a:p>
        </p:txBody>
      </p:sp>
      <p:sp>
        <p:nvSpPr>
          <p:cNvPr id="646" name="Google Shape;646;p69"/>
          <p:cNvSpPr txBox="1"/>
          <p:nvPr>
            <p:ph idx="1" type="body"/>
          </p:nvPr>
        </p:nvSpPr>
        <p:spPr>
          <a:xfrm>
            <a:off x="0" y="1141100"/>
            <a:ext cx="9144000" cy="27993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An AI ideal advisor can help people make the decisions they want to make. </a:t>
            </a:r>
            <a:endParaRPr sz="2000">
              <a:solidFill>
                <a:schemeClr val="dk1"/>
              </a:solidFill>
              <a:latin typeface="Nunito"/>
              <a:ea typeface="Nunito"/>
              <a:cs typeface="Nunito"/>
              <a:sym typeface="Nunito"/>
            </a:endParaRPr>
          </a:p>
          <a:p>
            <a:pPr indent="0" lvl="0" marL="45720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People struggle to consider and weigh all available information.</a:t>
            </a:r>
            <a:endParaRPr sz="2000">
              <a:solidFill>
                <a:schemeClr val="dk1"/>
              </a:solidFill>
              <a:latin typeface="Nunito"/>
              <a:ea typeface="Nunito"/>
              <a:cs typeface="Nunito"/>
              <a:sym typeface="Nunito"/>
            </a:endParaRPr>
          </a:p>
          <a:p>
            <a:pPr indent="0" lvl="0" marL="45720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AI ideal advisors can make decisions that account for a person’s idealized moral preferences better than the person can. </a:t>
            </a:r>
            <a:endParaRPr sz="2000">
              <a:solidFill>
                <a:schemeClr val="dk1"/>
              </a:solidFill>
              <a:latin typeface="Nunito"/>
              <a:ea typeface="Nunito"/>
              <a:cs typeface="Nunito"/>
              <a:sym typeface="Nunito"/>
            </a:endParaRPr>
          </a:p>
          <a:p>
            <a:pPr indent="0" lvl="0" marL="457200" rtl="0" algn="l">
              <a:lnSpc>
                <a:spcPct val="115000"/>
              </a:lnSpc>
              <a:spcBef>
                <a:spcPts val="1600"/>
              </a:spcBef>
              <a:spcAft>
                <a:spcPts val="0"/>
              </a:spcAft>
              <a:buClr>
                <a:schemeClr val="dk1"/>
              </a:buClr>
              <a:buSzPts val="1100"/>
              <a:buFont typeface="Arial"/>
              <a:buNone/>
            </a:pPr>
            <a:r>
              <a:rPr lang="en" sz="2000">
                <a:solidFill>
                  <a:schemeClr val="dk1"/>
                </a:solidFill>
                <a:latin typeface="Nunito"/>
                <a:ea typeface="Nunito"/>
                <a:cs typeface="Nunito"/>
                <a:sym typeface="Nunito"/>
              </a:rPr>
              <a:t> </a:t>
            </a:r>
            <a:endParaRPr sz="2000">
              <a:solidFill>
                <a:schemeClr val="dk1"/>
              </a:solidFill>
              <a:latin typeface="Nunito"/>
              <a:ea typeface="Nunito"/>
              <a:cs typeface="Nunito"/>
              <a:sym typeface="Nunito"/>
            </a:endParaRPr>
          </a:p>
          <a:p>
            <a:pPr indent="0" lvl="0" marL="457200" rtl="0" algn="l">
              <a:lnSpc>
                <a:spcPct val="115000"/>
              </a:lnSpc>
              <a:spcBef>
                <a:spcPts val="1600"/>
              </a:spcBef>
              <a:spcAft>
                <a:spcPts val="0"/>
              </a:spcAft>
              <a:buSzPts val="1800"/>
              <a:buNone/>
            </a:pPr>
            <a:r>
              <a:t/>
            </a:r>
            <a:endParaRPr sz="2000">
              <a:solidFill>
                <a:schemeClr val="dk1"/>
              </a:solidFill>
              <a:latin typeface="Nunito"/>
              <a:ea typeface="Nunito"/>
              <a:cs typeface="Nunito"/>
              <a:sym typeface="Nunito"/>
            </a:endParaRPr>
          </a:p>
          <a:p>
            <a:pPr indent="0" lvl="0" marL="457200" rtl="0" algn="l">
              <a:lnSpc>
                <a:spcPct val="115000"/>
              </a:lnSpc>
              <a:spcBef>
                <a:spcPts val="1600"/>
              </a:spcBef>
              <a:spcAft>
                <a:spcPts val="0"/>
              </a:spcAft>
              <a:buClr>
                <a:schemeClr val="dk1"/>
              </a:buClr>
              <a:buSzPts val="1100"/>
              <a:buFont typeface="Arial"/>
              <a:buNone/>
            </a:pPr>
            <a:r>
              <a:t/>
            </a:r>
            <a:endParaRPr sz="2000">
              <a:solidFill>
                <a:schemeClr val="dk1"/>
              </a:solidFill>
              <a:latin typeface="Nunito"/>
              <a:ea typeface="Nunito"/>
              <a:cs typeface="Nunito"/>
              <a:sym typeface="Nunito"/>
            </a:endParaRPr>
          </a:p>
          <a:p>
            <a:pPr indent="0" lvl="0" marL="457200" rtl="0" algn="l">
              <a:lnSpc>
                <a:spcPct val="115000"/>
              </a:lnSpc>
              <a:spcBef>
                <a:spcPts val="160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sz="2000">
              <a:solidFill>
                <a:schemeClr val="dk1"/>
              </a:solidFill>
              <a:latin typeface="Nunito"/>
              <a:ea typeface="Nunito"/>
              <a:cs typeface="Nunito"/>
              <a:sym typeface="Nunito"/>
            </a:endParaRPr>
          </a:p>
        </p:txBody>
      </p:sp>
      <p:sp>
        <p:nvSpPr>
          <p:cNvPr id="647" name="Google Shape;647;p6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48" name="Google Shape;648;p6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50</a:t>
            </a:fld>
            <a:endParaRPr b="0" i="0" sz="1300" u="none" cap="none" strike="noStrike">
              <a:solidFill>
                <a:srgbClr val="FFFFFF"/>
              </a:solidFill>
              <a:latin typeface="Nunito"/>
              <a:ea typeface="Nunito"/>
              <a:cs typeface="Nunito"/>
              <a:sym typeface="Nunito"/>
            </a:endParaRPr>
          </a:p>
        </p:txBody>
      </p:sp>
      <p:sp>
        <p:nvSpPr>
          <p:cNvPr id="649" name="Google Shape;649;p6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xEl>
                                              <p:pRg end="0" st="0"/>
                                            </p:txEl>
                                          </p:spTgt>
                                        </p:tgtEl>
                                        <p:attrNameLst>
                                          <p:attrName>style.visibility</p:attrName>
                                        </p:attrNameLst>
                                      </p:cBhvr>
                                      <p:to>
                                        <p:strVal val="visible"/>
                                      </p:to>
                                    </p:set>
                                    <p:animEffect filter="fade" transition="in">
                                      <p:cBhvr>
                                        <p:cTn dur="300"/>
                                        <p:tgtEl>
                                          <p:spTgt spid="6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xEl>
                                              <p:pRg end="1" st="1"/>
                                            </p:txEl>
                                          </p:spTgt>
                                        </p:tgtEl>
                                        <p:attrNameLst>
                                          <p:attrName>style.visibility</p:attrName>
                                        </p:attrNameLst>
                                      </p:cBhvr>
                                      <p:to>
                                        <p:strVal val="visible"/>
                                      </p:to>
                                    </p:set>
                                    <p:animEffect filter="fade" transition="in">
                                      <p:cBhvr>
                                        <p:cTn dur="300"/>
                                        <p:tgtEl>
                                          <p:spTgt spid="6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xEl>
                                              <p:pRg end="2" st="2"/>
                                            </p:txEl>
                                          </p:spTgt>
                                        </p:tgtEl>
                                        <p:attrNameLst>
                                          <p:attrName>style.visibility</p:attrName>
                                        </p:attrNameLst>
                                      </p:cBhvr>
                                      <p:to>
                                        <p:strVal val="visible"/>
                                      </p:to>
                                    </p:set>
                                    <p:animEffect filter="fade" transition="in">
                                      <p:cBhvr>
                                        <p:cTn dur="300"/>
                                        <p:tgtEl>
                                          <p:spTgt spid="6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xEl>
                                              <p:pRg end="3" st="3"/>
                                            </p:txEl>
                                          </p:spTgt>
                                        </p:tgtEl>
                                        <p:attrNameLst>
                                          <p:attrName>style.visibility</p:attrName>
                                        </p:attrNameLst>
                                      </p:cBhvr>
                                      <p:to>
                                        <p:strVal val="visible"/>
                                      </p:to>
                                    </p:set>
                                    <p:animEffect filter="fade" transition="in">
                                      <p:cBhvr>
                                        <p:cTn dur="300"/>
                                        <p:tgtEl>
                                          <p:spTgt spid="6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xEl>
                                              <p:pRg end="4" st="4"/>
                                            </p:txEl>
                                          </p:spTgt>
                                        </p:tgtEl>
                                        <p:attrNameLst>
                                          <p:attrName>style.visibility</p:attrName>
                                        </p:attrNameLst>
                                      </p:cBhvr>
                                      <p:to>
                                        <p:strVal val="visible"/>
                                      </p:to>
                                    </p:set>
                                    <p:animEffect filter="fade" transition="in">
                                      <p:cBhvr>
                                        <p:cTn dur="300"/>
                                        <p:tgtEl>
                                          <p:spTgt spid="6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xEl>
                                              <p:pRg end="5" st="5"/>
                                            </p:txEl>
                                          </p:spTgt>
                                        </p:tgtEl>
                                        <p:attrNameLst>
                                          <p:attrName>style.visibility</p:attrName>
                                        </p:attrNameLst>
                                      </p:cBhvr>
                                      <p:to>
                                        <p:strVal val="visible"/>
                                      </p:to>
                                    </p:set>
                                    <p:animEffect filter="fade" transition="in">
                                      <p:cBhvr>
                                        <p:cTn dur="300"/>
                                        <p:tgtEl>
                                          <p:spTgt spid="6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xEl>
                                              <p:pRg end="6" st="6"/>
                                            </p:txEl>
                                          </p:spTgt>
                                        </p:tgtEl>
                                        <p:attrNameLst>
                                          <p:attrName>style.visibility</p:attrName>
                                        </p:attrNameLst>
                                      </p:cBhvr>
                                      <p:to>
                                        <p:strVal val="visible"/>
                                      </p:to>
                                    </p:set>
                                    <p:animEffect filter="fade" transition="in">
                                      <p:cBhvr>
                                        <p:cTn dur="300"/>
                                        <p:tgtEl>
                                          <p:spTgt spid="64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xEl>
                                              <p:pRg end="7" st="7"/>
                                            </p:txEl>
                                          </p:spTgt>
                                        </p:tgtEl>
                                        <p:attrNameLst>
                                          <p:attrName>style.visibility</p:attrName>
                                        </p:attrNameLst>
                                      </p:cBhvr>
                                      <p:to>
                                        <p:strVal val="visible"/>
                                      </p:to>
                                    </p:set>
                                    <p:animEffect filter="fade" transition="in">
                                      <p:cBhvr>
                                        <p:cTn dur="300"/>
                                        <p:tgtEl>
                                          <p:spTgt spid="64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70"/>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Conclusions about Preferences</a:t>
            </a:r>
            <a:endParaRPr/>
          </a:p>
        </p:txBody>
      </p:sp>
      <p:sp>
        <p:nvSpPr>
          <p:cNvPr id="655" name="Google Shape;655;p70"/>
          <p:cNvSpPr txBox="1"/>
          <p:nvPr>
            <p:ph idx="1" type="body"/>
          </p:nvPr>
        </p:nvSpPr>
        <p:spPr>
          <a:xfrm>
            <a:off x="311875" y="894600"/>
            <a:ext cx="8520600" cy="283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Preferences seem to be important to wellbeing.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Revealed preferences assume that people’s actions demonstrate what they want.</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Stated preferences assume that people can articulate what they want.</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Idealized preferences are what a fully informed person would choose.</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Each form of preferences has its limitations in the context of AIs.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Clr>
                <a:schemeClr val="dk1"/>
              </a:buClr>
              <a:buSzPts val="1100"/>
              <a:buFont typeface="Arial"/>
              <a:buNone/>
            </a:pPr>
            <a:r>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sz="2000">
              <a:solidFill>
                <a:schemeClr val="dk1"/>
              </a:solidFill>
              <a:latin typeface="Nunito"/>
              <a:ea typeface="Nunito"/>
              <a:cs typeface="Nunito"/>
              <a:sym typeface="Nunito"/>
            </a:endParaRPr>
          </a:p>
        </p:txBody>
      </p:sp>
      <p:sp>
        <p:nvSpPr>
          <p:cNvPr id="656" name="Google Shape;656;p7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57" name="Google Shape;657;p7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51</a:t>
            </a:fld>
            <a:endParaRPr b="0" i="0" sz="1300" u="none" cap="none" strike="noStrike">
              <a:solidFill>
                <a:srgbClr val="FFFFFF"/>
              </a:solidFill>
              <a:latin typeface="Nunito"/>
              <a:ea typeface="Nunito"/>
              <a:cs typeface="Nunito"/>
              <a:sym typeface="Nunito"/>
            </a:endParaRPr>
          </a:p>
        </p:txBody>
      </p:sp>
      <p:sp>
        <p:nvSpPr>
          <p:cNvPr id="658" name="Google Shape;658;p7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0" st="0"/>
                                            </p:txEl>
                                          </p:spTgt>
                                        </p:tgtEl>
                                        <p:attrNameLst>
                                          <p:attrName>style.visibility</p:attrName>
                                        </p:attrNameLst>
                                      </p:cBhvr>
                                      <p:to>
                                        <p:strVal val="visible"/>
                                      </p:to>
                                    </p:set>
                                    <p:animEffect filter="fade" transition="in">
                                      <p:cBhvr>
                                        <p:cTn dur="300"/>
                                        <p:tgtEl>
                                          <p:spTgt spid="6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1" st="1"/>
                                            </p:txEl>
                                          </p:spTgt>
                                        </p:tgtEl>
                                        <p:attrNameLst>
                                          <p:attrName>style.visibility</p:attrName>
                                        </p:attrNameLst>
                                      </p:cBhvr>
                                      <p:to>
                                        <p:strVal val="visible"/>
                                      </p:to>
                                    </p:set>
                                    <p:animEffect filter="fade" transition="in">
                                      <p:cBhvr>
                                        <p:cTn dur="300"/>
                                        <p:tgtEl>
                                          <p:spTgt spid="6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2" st="2"/>
                                            </p:txEl>
                                          </p:spTgt>
                                        </p:tgtEl>
                                        <p:attrNameLst>
                                          <p:attrName>style.visibility</p:attrName>
                                        </p:attrNameLst>
                                      </p:cBhvr>
                                      <p:to>
                                        <p:strVal val="visible"/>
                                      </p:to>
                                    </p:set>
                                    <p:animEffect filter="fade" transition="in">
                                      <p:cBhvr>
                                        <p:cTn dur="300"/>
                                        <p:tgtEl>
                                          <p:spTgt spid="6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3" st="3"/>
                                            </p:txEl>
                                          </p:spTgt>
                                        </p:tgtEl>
                                        <p:attrNameLst>
                                          <p:attrName>style.visibility</p:attrName>
                                        </p:attrNameLst>
                                      </p:cBhvr>
                                      <p:to>
                                        <p:strVal val="visible"/>
                                      </p:to>
                                    </p:set>
                                    <p:animEffect filter="fade" transition="in">
                                      <p:cBhvr>
                                        <p:cTn dur="300"/>
                                        <p:tgtEl>
                                          <p:spTgt spid="6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4" st="4"/>
                                            </p:txEl>
                                          </p:spTgt>
                                        </p:tgtEl>
                                        <p:attrNameLst>
                                          <p:attrName>style.visibility</p:attrName>
                                        </p:attrNameLst>
                                      </p:cBhvr>
                                      <p:to>
                                        <p:strVal val="visible"/>
                                      </p:to>
                                    </p:set>
                                    <p:animEffect filter="fade" transition="in">
                                      <p:cBhvr>
                                        <p:cTn dur="300"/>
                                        <p:tgtEl>
                                          <p:spTgt spid="6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5" st="5"/>
                                            </p:txEl>
                                          </p:spTgt>
                                        </p:tgtEl>
                                        <p:attrNameLst>
                                          <p:attrName>style.visibility</p:attrName>
                                        </p:attrNameLst>
                                      </p:cBhvr>
                                      <p:to>
                                        <p:strVal val="visible"/>
                                      </p:to>
                                    </p:set>
                                    <p:animEffect filter="fade" transition="in">
                                      <p:cBhvr>
                                        <p:cTn dur="300"/>
                                        <p:tgtEl>
                                          <p:spTgt spid="6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6" st="6"/>
                                            </p:txEl>
                                          </p:spTgt>
                                        </p:tgtEl>
                                        <p:attrNameLst>
                                          <p:attrName>style.visibility</p:attrName>
                                        </p:attrNameLst>
                                      </p:cBhvr>
                                      <p:to>
                                        <p:strVal val="visible"/>
                                      </p:to>
                                    </p:set>
                                    <p:animEffect filter="fade" transition="in">
                                      <p:cBhvr>
                                        <p:cTn dur="300"/>
                                        <p:tgtEl>
                                          <p:spTgt spid="65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7" st="7"/>
                                            </p:txEl>
                                          </p:spTgt>
                                        </p:tgtEl>
                                        <p:attrNameLst>
                                          <p:attrName>style.visibility</p:attrName>
                                        </p:attrNameLst>
                                      </p:cBhvr>
                                      <p:to>
                                        <p:strVal val="visible"/>
                                      </p:to>
                                    </p:set>
                                    <p:animEffect filter="fade" transition="in">
                                      <p:cBhvr>
                                        <p:cTn dur="300"/>
                                        <p:tgtEl>
                                          <p:spTgt spid="65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8" st="8"/>
                                            </p:txEl>
                                          </p:spTgt>
                                        </p:tgtEl>
                                        <p:attrNameLst>
                                          <p:attrName>style.visibility</p:attrName>
                                        </p:attrNameLst>
                                      </p:cBhvr>
                                      <p:to>
                                        <p:strVal val="visible"/>
                                      </p:to>
                                    </p:set>
                                    <p:animEffect filter="fade" transition="in">
                                      <p:cBhvr>
                                        <p:cTn dur="300"/>
                                        <p:tgtEl>
                                          <p:spTgt spid="65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1"/>
          <p:cNvSpPr txBox="1"/>
          <p:nvPr>
            <p:ph type="title"/>
          </p:nvPr>
        </p:nvSpPr>
        <p:spPr>
          <a:xfrm>
            <a:off x="423625" y="559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664" name="Google Shape;664;p71"/>
          <p:cNvSpPr txBox="1"/>
          <p:nvPr/>
        </p:nvSpPr>
        <p:spPr>
          <a:xfrm>
            <a:off x="367450" y="817200"/>
            <a:ext cx="8776500" cy="3667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Law: </a:t>
            </a:r>
            <a:r>
              <a:rPr b="0" i="1" lang="en" sz="2000" u="none" cap="none" strike="noStrike">
                <a:solidFill>
                  <a:schemeClr val="dk1"/>
                </a:solidFill>
                <a:latin typeface="Nunito"/>
                <a:ea typeface="Nunito"/>
                <a:cs typeface="Nunito"/>
                <a:sym typeface="Nunito"/>
              </a:rPr>
              <a:t>Make AIs follow the law.</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Fairness: </a:t>
            </a:r>
            <a:r>
              <a:rPr b="0" i="1" lang="en" sz="2000" u="none" cap="none" strike="noStrike">
                <a:solidFill>
                  <a:schemeClr val="dk1"/>
                </a:solidFill>
                <a:latin typeface="Nunito"/>
                <a:ea typeface="Nunito"/>
                <a:cs typeface="Nunito"/>
                <a:sym typeface="Nunito"/>
              </a:rPr>
              <a:t>Make AIs be fair.</a:t>
            </a:r>
            <a:endParaRPr b="0" i="1" sz="2000" u="none" cap="none" strike="noStrike">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 Economic Engine: </a:t>
            </a:r>
            <a:r>
              <a:rPr i="1" lang="en" sz="2000">
                <a:solidFill>
                  <a:schemeClr val="dk1"/>
                </a:solidFill>
                <a:latin typeface="Nunito"/>
                <a:ea typeface="Nunito"/>
                <a:cs typeface="Nunito"/>
                <a:sym typeface="Nunito"/>
              </a:rPr>
              <a:t>Let the economy govern AI development.</a:t>
            </a:r>
            <a:endParaRPr i="1" sz="2000">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Wellbeing: </a:t>
            </a:r>
            <a:r>
              <a:rPr i="1" lang="en" sz="2000">
                <a:solidFill>
                  <a:schemeClr val="dk1"/>
                </a:solidFill>
                <a:latin typeface="Nunito"/>
                <a:ea typeface="Nunito"/>
                <a:cs typeface="Nunito"/>
                <a:sym typeface="Nunito"/>
              </a:rPr>
              <a:t>AIs should improve people’s lives.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Preferences: </a:t>
            </a:r>
            <a:r>
              <a:rPr b="0" i="1" lang="en" sz="2000" u="none" cap="none" strike="noStrike">
                <a:solidFill>
                  <a:schemeClr val="dk1"/>
                </a:solidFill>
                <a:latin typeface="Nunito"/>
                <a:ea typeface="Nunito"/>
                <a:cs typeface="Nunito"/>
                <a:sym typeface="Nunito"/>
              </a:rPr>
              <a:t>Make AIs satisfy people’s preferences.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Happiness: </a:t>
            </a:r>
            <a:r>
              <a:rPr b="0" i="1" lang="en" sz="2000" u="none" cap="none" strike="noStrike">
                <a:solidFill>
                  <a:schemeClr val="dk1"/>
                </a:solidFill>
                <a:latin typeface="Nunito"/>
                <a:ea typeface="Nunito"/>
                <a:cs typeface="Nunito"/>
                <a:sym typeface="Nunito"/>
              </a:rPr>
              <a:t>Make AIs make people happy.</a:t>
            </a:r>
            <a:endParaRPr b="0" i="1" sz="2000" u="none" cap="none" strike="noStrike">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Moral uncertainty: </a:t>
            </a:r>
            <a:r>
              <a:rPr i="1" lang="en" sz="2000">
                <a:solidFill>
                  <a:schemeClr val="dk1"/>
                </a:solidFill>
                <a:latin typeface="Nunito"/>
                <a:ea typeface="Nunito"/>
                <a:cs typeface="Nunito"/>
                <a:sym typeface="Nunito"/>
              </a:rPr>
              <a:t>Deciding without knowing the “correct” moral theory</a:t>
            </a:r>
            <a:endParaRPr i="1" sz="2000">
              <a:solidFill>
                <a:schemeClr val="dk1"/>
              </a:solidFill>
              <a:latin typeface="Nunito"/>
              <a:ea typeface="Nunito"/>
              <a:cs typeface="Nunito"/>
              <a:sym typeface="Nunito"/>
            </a:endParaRPr>
          </a:p>
          <a:p>
            <a:pPr indent="0" lvl="0" marL="457200" marR="0" rtl="0" algn="l">
              <a:lnSpc>
                <a:spcPct val="150000"/>
              </a:lnSpc>
              <a:spcBef>
                <a:spcPts val="0"/>
              </a:spcBef>
              <a:spcAft>
                <a:spcPts val="0"/>
              </a:spcAft>
              <a:buNone/>
            </a:pPr>
            <a:r>
              <a:t/>
            </a:r>
            <a:endParaRPr i="1" sz="2000">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p:txBody>
      </p:sp>
      <p:sp>
        <p:nvSpPr>
          <p:cNvPr id="665" name="Google Shape;665;p7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66" name="Google Shape;666;p7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52</a:t>
            </a:fld>
            <a:endParaRPr b="0" i="0" sz="1300" u="none" cap="none" strike="noStrike">
              <a:solidFill>
                <a:srgbClr val="FFFFFF"/>
              </a:solidFill>
              <a:latin typeface="Nunito"/>
              <a:ea typeface="Nunito"/>
              <a:cs typeface="Nunito"/>
              <a:sym typeface="Nunito"/>
            </a:endParaRPr>
          </a:p>
        </p:txBody>
      </p:sp>
      <p:sp>
        <p:nvSpPr>
          <p:cNvPr id="667" name="Google Shape;667;p7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668" name="Google Shape;668;p71"/>
          <p:cNvSpPr/>
          <p:nvPr/>
        </p:nvSpPr>
        <p:spPr>
          <a:xfrm>
            <a:off x="367450" y="3146050"/>
            <a:ext cx="8279700" cy="497100"/>
          </a:xfrm>
          <a:prstGeom prst="rect">
            <a:avLst/>
          </a:prstGeom>
          <a:noFill/>
          <a:ln cap="flat" cmpd="sng" w="9525">
            <a:solidFill>
              <a:srgbClr val="0097A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300"/>
                                        <p:tgtEl>
                                          <p:spTgt spid="6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72"/>
          <p:cNvSpPr txBox="1"/>
          <p:nvPr>
            <p:ph type="title"/>
          </p:nvPr>
        </p:nvSpPr>
        <p:spPr>
          <a:xfrm>
            <a:off x="423450" y="19228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Happiness</a:t>
            </a:r>
            <a:endParaRPr sz="3600">
              <a:latin typeface="Nunito"/>
              <a:ea typeface="Nunito"/>
              <a:cs typeface="Nunito"/>
              <a:sym typeface="Nunito"/>
            </a:endParaRPr>
          </a:p>
        </p:txBody>
      </p:sp>
      <p:sp>
        <p:nvSpPr>
          <p:cNvPr id="674" name="Google Shape;674;p7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75" name="Google Shape;675;p7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53</a:t>
            </a:fld>
            <a:endParaRPr b="0" i="0" sz="1300" u="none" cap="none" strike="noStrike">
              <a:solidFill>
                <a:srgbClr val="FFFFFF"/>
              </a:solidFill>
              <a:latin typeface="Nunito"/>
              <a:ea typeface="Nunito"/>
              <a:cs typeface="Nunito"/>
              <a:sym typeface="Nunito"/>
            </a:endParaRPr>
          </a:p>
        </p:txBody>
      </p:sp>
      <p:sp>
        <p:nvSpPr>
          <p:cNvPr id="676" name="Google Shape;676;p7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677" name="Google Shape;677;p72"/>
          <p:cNvSpPr txBox="1"/>
          <p:nvPr/>
        </p:nvSpPr>
        <p:spPr>
          <a:xfrm>
            <a:off x="367675" y="2876550"/>
            <a:ext cx="8409000" cy="49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Why not just have AIs make people happy?</a:t>
            </a:r>
            <a:endParaRPr b="0" i="1"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300"/>
                                        <p:tgtEl>
                                          <p:spTgt spid="6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3"/>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The Happiness Use Case for AIs</a:t>
            </a:r>
            <a:endParaRPr/>
          </a:p>
        </p:txBody>
      </p:sp>
      <p:sp>
        <p:nvSpPr>
          <p:cNvPr id="683" name="Google Shape;683;p73"/>
          <p:cNvSpPr txBox="1"/>
          <p:nvPr>
            <p:ph idx="1" type="body"/>
          </p:nvPr>
        </p:nvSpPr>
        <p:spPr>
          <a:xfrm>
            <a:off x="311700" y="1152475"/>
            <a:ext cx="8520600" cy="93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People want to be happy but make decisions that hurt their own happiness (e.g. self-destructive behaviors, short-term hedonism).</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Happiness is not always in a person’s control either. The environment matters.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AI can help increase human happiness by understanding what factors influence it and what can be done to increase it.</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Clr>
                <a:schemeClr val="dk1"/>
              </a:buClr>
              <a:buSzPts val="1100"/>
              <a:buFont typeface="Arial"/>
              <a:buNone/>
            </a:pPr>
            <a:r>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sz="2000">
              <a:solidFill>
                <a:schemeClr val="dk1"/>
              </a:solidFill>
              <a:latin typeface="Nunito"/>
              <a:ea typeface="Nunito"/>
              <a:cs typeface="Nunito"/>
              <a:sym typeface="Nunito"/>
            </a:endParaRPr>
          </a:p>
        </p:txBody>
      </p:sp>
      <p:sp>
        <p:nvSpPr>
          <p:cNvPr id="684" name="Google Shape;684;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54</a:t>
            </a:fld>
            <a:endParaRPr/>
          </a:p>
        </p:txBody>
      </p:sp>
      <p:sp>
        <p:nvSpPr>
          <p:cNvPr id="685" name="Google Shape;685;p7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86" name="Google Shape;686;p7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54</a:t>
            </a:fld>
            <a:endParaRPr b="0" i="0" sz="1300" u="none" cap="none" strike="noStrike">
              <a:solidFill>
                <a:srgbClr val="FFFFFF"/>
              </a:solidFill>
              <a:latin typeface="Nunito"/>
              <a:ea typeface="Nunito"/>
              <a:cs typeface="Nunito"/>
              <a:sym typeface="Nunito"/>
            </a:endParaRPr>
          </a:p>
        </p:txBody>
      </p:sp>
      <p:sp>
        <p:nvSpPr>
          <p:cNvPr id="687" name="Google Shape;687;p7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0" st="0"/>
                                            </p:txEl>
                                          </p:spTgt>
                                        </p:tgtEl>
                                        <p:attrNameLst>
                                          <p:attrName>style.visibility</p:attrName>
                                        </p:attrNameLst>
                                      </p:cBhvr>
                                      <p:to>
                                        <p:strVal val="visible"/>
                                      </p:to>
                                    </p:set>
                                    <p:animEffect filter="fade" transition="in">
                                      <p:cBhvr>
                                        <p:cTn dur="300"/>
                                        <p:tgtEl>
                                          <p:spTgt spid="6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1" st="1"/>
                                            </p:txEl>
                                          </p:spTgt>
                                        </p:tgtEl>
                                        <p:attrNameLst>
                                          <p:attrName>style.visibility</p:attrName>
                                        </p:attrNameLst>
                                      </p:cBhvr>
                                      <p:to>
                                        <p:strVal val="visible"/>
                                      </p:to>
                                    </p:set>
                                    <p:animEffect filter="fade" transition="in">
                                      <p:cBhvr>
                                        <p:cTn dur="300"/>
                                        <p:tgtEl>
                                          <p:spTgt spid="6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2" st="2"/>
                                            </p:txEl>
                                          </p:spTgt>
                                        </p:tgtEl>
                                        <p:attrNameLst>
                                          <p:attrName>style.visibility</p:attrName>
                                        </p:attrNameLst>
                                      </p:cBhvr>
                                      <p:to>
                                        <p:strVal val="visible"/>
                                      </p:to>
                                    </p:set>
                                    <p:animEffect filter="fade" transition="in">
                                      <p:cBhvr>
                                        <p:cTn dur="300"/>
                                        <p:tgtEl>
                                          <p:spTgt spid="6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3" st="3"/>
                                            </p:txEl>
                                          </p:spTgt>
                                        </p:tgtEl>
                                        <p:attrNameLst>
                                          <p:attrName>style.visibility</p:attrName>
                                        </p:attrNameLst>
                                      </p:cBhvr>
                                      <p:to>
                                        <p:strVal val="visible"/>
                                      </p:to>
                                    </p:set>
                                    <p:animEffect filter="fade" transition="in">
                                      <p:cBhvr>
                                        <p:cTn dur="300"/>
                                        <p:tgtEl>
                                          <p:spTgt spid="6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4" st="4"/>
                                            </p:txEl>
                                          </p:spTgt>
                                        </p:tgtEl>
                                        <p:attrNameLst>
                                          <p:attrName>style.visibility</p:attrName>
                                        </p:attrNameLst>
                                      </p:cBhvr>
                                      <p:to>
                                        <p:strVal val="visible"/>
                                      </p:to>
                                    </p:set>
                                    <p:animEffect filter="fade" transition="in">
                                      <p:cBhvr>
                                        <p:cTn dur="300"/>
                                        <p:tgtEl>
                                          <p:spTgt spid="6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5" st="5"/>
                                            </p:txEl>
                                          </p:spTgt>
                                        </p:tgtEl>
                                        <p:attrNameLst>
                                          <p:attrName>style.visibility</p:attrName>
                                        </p:attrNameLst>
                                      </p:cBhvr>
                                      <p:to>
                                        <p:strVal val="visible"/>
                                      </p:to>
                                    </p:set>
                                    <p:animEffect filter="fade" transition="in">
                                      <p:cBhvr>
                                        <p:cTn dur="300"/>
                                        <p:tgtEl>
                                          <p:spTgt spid="68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74"/>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Wellbeing Functions (1/2)</a:t>
            </a:r>
            <a:endParaRPr/>
          </a:p>
        </p:txBody>
      </p:sp>
      <p:sp>
        <p:nvSpPr>
          <p:cNvPr id="693" name="Google Shape;693;p7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94" name="Google Shape;694;p7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55</a:t>
            </a:fld>
            <a:endParaRPr b="0" i="0" sz="1300" u="none" cap="none" strike="noStrike">
              <a:solidFill>
                <a:srgbClr val="FFFFFF"/>
              </a:solidFill>
              <a:latin typeface="Nunito"/>
              <a:ea typeface="Nunito"/>
              <a:cs typeface="Nunito"/>
              <a:sym typeface="Nunito"/>
            </a:endParaRPr>
          </a:p>
        </p:txBody>
      </p:sp>
      <p:sp>
        <p:nvSpPr>
          <p:cNvPr id="695" name="Google Shape;695;p7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pic>
        <p:nvPicPr>
          <p:cNvPr id="696" name="Google Shape;696;p74"/>
          <p:cNvPicPr preferRelativeResize="0"/>
          <p:nvPr/>
        </p:nvPicPr>
        <p:blipFill>
          <a:blip r:embed="rId3">
            <a:alphaModFix/>
          </a:blip>
          <a:stretch>
            <a:fillRect/>
          </a:stretch>
        </p:blipFill>
        <p:spPr>
          <a:xfrm>
            <a:off x="813450" y="789125"/>
            <a:ext cx="6907862" cy="3857501"/>
          </a:xfrm>
          <a:prstGeom prst="rect">
            <a:avLst/>
          </a:prstGeom>
          <a:noFill/>
          <a:ln>
            <a:noFill/>
          </a:ln>
        </p:spPr>
      </p:pic>
      <p:grpSp>
        <p:nvGrpSpPr>
          <p:cNvPr id="697" name="Google Shape;697;p74"/>
          <p:cNvGrpSpPr/>
          <p:nvPr/>
        </p:nvGrpSpPr>
        <p:grpSpPr>
          <a:xfrm>
            <a:off x="598600" y="695000"/>
            <a:ext cx="4310850" cy="4057800"/>
            <a:chOff x="903400" y="695000"/>
            <a:chExt cx="4310850" cy="4057800"/>
          </a:xfrm>
        </p:grpSpPr>
        <p:sp>
          <p:nvSpPr>
            <p:cNvPr id="698" name="Google Shape;698;p74"/>
            <p:cNvSpPr/>
            <p:nvPr/>
          </p:nvSpPr>
          <p:spPr>
            <a:xfrm>
              <a:off x="903400" y="695000"/>
              <a:ext cx="1296300" cy="4057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
          <p:nvSpPr>
            <p:cNvPr id="699" name="Google Shape;699;p74"/>
            <p:cNvSpPr/>
            <p:nvPr/>
          </p:nvSpPr>
          <p:spPr>
            <a:xfrm>
              <a:off x="2725150" y="3849275"/>
              <a:ext cx="2489100" cy="702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grpSp>
      <p:sp>
        <p:nvSpPr>
          <p:cNvPr id="700" name="Google Shape;700;p74"/>
          <p:cNvSpPr/>
          <p:nvPr/>
        </p:nvSpPr>
        <p:spPr>
          <a:xfrm>
            <a:off x="1914425" y="1718425"/>
            <a:ext cx="619200" cy="1981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
                                        <p:tgtEl>
                                          <p:spTgt spid="700"/>
                                        </p:tgtEl>
                                      </p:cBhvr>
                                    </p:animEffect>
                                    <p:set>
                                      <p:cBhvr>
                                        <p:cTn dur="1" fill="hold">
                                          <p:stCondLst>
                                            <p:cond delay="300"/>
                                          </p:stCondLst>
                                        </p:cTn>
                                        <p:tgtEl>
                                          <p:spTgt spid="7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
                                        <p:tgtEl>
                                          <p:spTgt spid="697"/>
                                        </p:tgtEl>
                                      </p:cBhvr>
                                    </p:animEffect>
                                    <p:set>
                                      <p:cBhvr>
                                        <p:cTn dur="1" fill="hold">
                                          <p:stCondLst>
                                            <p:cond delay="300"/>
                                          </p:stCondLst>
                                        </p:cTn>
                                        <p:tgtEl>
                                          <p:spTgt spid="6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76"/>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Wellbeing Functions (2/2)</a:t>
            </a:r>
            <a:endParaRPr/>
          </a:p>
        </p:txBody>
      </p:sp>
      <p:sp>
        <p:nvSpPr>
          <p:cNvPr id="715" name="Google Shape;715;p76"/>
          <p:cNvSpPr txBox="1"/>
          <p:nvPr>
            <p:ph idx="1" type="body"/>
          </p:nvPr>
        </p:nvSpPr>
        <p:spPr>
          <a:xfrm>
            <a:off x="311700" y="876250"/>
            <a:ext cx="8520600" cy="369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Wellbeing functions can help reduce risks.</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rPr lang="en" sz="2000">
                <a:solidFill>
                  <a:schemeClr val="dk1"/>
                </a:solidFill>
                <a:latin typeface="Nunito"/>
                <a:ea typeface="Nunito"/>
                <a:cs typeface="Nunito"/>
                <a:sym typeface="Nunito"/>
              </a:rPr>
              <a:t>We can augment any AI system’s decision making with a general purpose utility function so as to avoid outcomes that would result in significantly reduced wellbeing. </a:t>
            </a:r>
            <a:endParaRPr sz="2000">
              <a:solidFill>
                <a:schemeClr val="dk1"/>
              </a:solidFill>
              <a:latin typeface="Nunito"/>
              <a:ea typeface="Nunito"/>
              <a:cs typeface="Nunito"/>
              <a:sym typeface="Nunito"/>
            </a:endParaRPr>
          </a:p>
        </p:txBody>
      </p:sp>
      <p:sp>
        <p:nvSpPr>
          <p:cNvPr id="716" name="Google Shape;716;p7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717" name="Google Shape;717;p7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56</a:t>
            </a:fld>
            <a:endParaRPr b="0" i="0" sz="1300" u="none" cap="none" strike="noStrike">
              <a:solidFill>
                <a:srgbClr val="FFFFFF"/>
              </a:solidFill>
              <a:latin typeface="Nunito"/>
              <a:ea typeface="Nunito"/>
              <a:cs typeface="Nunito"/>
              <a:sym typeface="Nunito"/>
            </a:endParaRPr>
          </a:p>
        </p:txBody>
      </p:sp>
      <p:sp>
        <p:nvSpPr>
          <p:cNvPr id="718" name="Google Shape;718;p7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pic>
        <p:nvPicPr>
          <p:cNvPr id="719" name="Google Shape;719;p76"/>
          <p:cNvPicPr preferRelativeResize="0"/>
          <p:nvPr/>
        </p:nvPicPr>
        <p:blipFill rotWithShape="1">
          <a:blip r:embed="rId3">
            <a:alphaModFix/>
          </a:blip>
          <a:srcRect b="0" l="0" r="0" t="0"/>
          <a:stretch/>
        </p:blipFill>
        <p:spPr>
          <a:xfrm>
            <a:off x="1600375" y="2892525"/>
            <a:ext cx="5943598" cy="1381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xEl>
                                              <p:pRg end="0" st="0"/>
                                            </p:txEl>
                                          </p:spTgt>
                                        </p:tgtEl>
                                        <p:attrNameLst>
                                          <p:attrName>style.visibility</p:attrName>
                                        </p:attrNameLst>
                                      </p:cBhvr>
                                      <p:to>
                                        <p:strVal val="visible"/>
                                      </p:to>
                                    </p:set>
                                    <p:animEffect filter="fade" transition="in">
                                      <p:cBhvr>
                                        <p:cTn dur="300"/>
                                        <p:tgtEl>
                                          <p:spTgt spid="7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xEl>
                                              <p:pRg end="1" st="1"/>
                                            </p:txEl>
                                          </p:spTgt>
                                        </p:tgtEl>
                                        <p:attrNameLst>
                                          <p:attrName>style.visibility</p:attrName>
                                        </p:attrNameLst>
                                      </p:cBhvr>
                                      <p:to>
                                        <p:strVal val="visible"/>
                                      </p:to>
                                    </p:set>
                                    <p:animEffect filter="fade" transition="in">
                                      <p:cBhvr>
                                        <p:cTn dur="300"/>
                                        <p:tgtEl>
                                          <p:spTgt spid="7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gtEl>
                                        <p:attrNameLst>
                                          <p:attrName>style.visibility</p:attrName>
                                        </p:attrNameLst>
                                      </p:cBhvr>
                                      <p:to>
                                        <p:strVal val="visible"/>
                                      </p:to>
                                    </p:set>
                                    <p:animEffect filter="fade" transition="in">
                                      <p:cBhvr>
                                        <p:cTn dur="300"/>
                                        <p:tgtEl>
                                          <p:spTgt spid="7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77"/>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Complications with Happiness</a:t>
            </a:r>
            <a:endParaRPr/>
          </a:p>
        </p:txBody>
      </p:sp>
      <p:sp>
        <p:nvSpPr>
          <p:cNvPr id="725" name="Google Shape;725;p77"/>
          <p:cNvSpPr txBox="1"/>
          <p:nvPr>
            <p:ph idx="1" type="body"/>
          </p:nvPr>
        </p:nvSpPr>
        <p:spPr>
          <a:xfrm>
            <a:off x="311700" y="1850750"/>
            <a:ext cx="4956600" cy="279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An AI tasked with increasing human happiness might “wirehead” us.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rPr lang="en" sz="2000">
                <a:solidFill>
                  <a:schemeClr val="dk1"/>
                </a:solidFill>
                <a:latin typeface="Nunito"/>
                <a:ea typeface="Nunito"/>
                <a:cs typeface="Nunito"/>
                <a:sym typeface="Nunito"/>
              </a:rPr>
              <a:t>Most people dislike the idea of wireheading, but it might actually maximize “happiness” over a lifetime. </a:t>
            </a:r>
            <a:endParaRPr sz="2000">
              <a:solidFill>
                <a:schemeClr val="dk1"/>
              </a:solidFill>
              <a:latin typeface="Nunito"/>
              <a:ea typeface="Nunito"/>
              <a:cs typeface="Nunito"/>
              <a:sym typeface="Nunito"/>
            </a:endParaRPr>
          </a:p>
        </p:txBody>
      </p:sp>
      <p:sp>
        <p:nvSpPr>
          <p:cNvPr id="726" name="Google Shape;726;p7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727" name="Google Shape;727;p7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57</a:t>
            </a:fld>
            <a:endParaRPr b="0" i="0" sz="1300" u="none" cap="none" strike="noStrike">
              <a:solidFill>
                <a:srgbClr val="FFFFFF"/>
              </a:solidFill>
              <a:latin typeface="Nunito"/>
              <a:ea typeface="Nunito"/>
              <a:cs typeface="Nunito"/>
              <a:sym typeface="Nunito"/>
            </a:endParaRPr>
          </a:p>
        </p:txBody>
      </p:sp>
      <p:sp>
        <p:nvSpPr>
          <p:cNvPr id="728" name="Google Shape;728;p7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pic>
        <p:nvPicPr>
          <p:cNvPr id="729" name="Google Shape;729;p77"/>
          <p:cNvPicPr preferRelativeResize="0"/>
          <p:nvPr/>
        </p:nvPicPr>
        <p:blipFill rotWithShape="1">
          <a:blip r:embed="rId3">
            <a:alphaModFix/>
          </a:blip>
          <a:srcRect b="0" l="0" r="0" t="0"/>
          <a:stretch/>
        </p:blipFill>
        <p:spPr>
          <a:xfrm>
            <a:off x="5334000" y="1990713"/>
            <a:ext cx="3810000" cy="2847975"/>
          </a:xfrm>
          <a:prstGeom prst="rect">
            <a:avLst/>
          </a:prstGeom>
          <a:noFill/>
          <a:ln>
            <a:noFill/>
          </a:ln>
        </p:spPr>
      </p:pic>
      <p:sp>
        <p:nvSpPr>
          <p:cNvPr id="730" name="Google Shape;730;p77"/>
          <p:cNvSpPr txBox="1"/>
          <p:nvPr/>
        </p:nvSpPr>
        <p:spPr>
          <a:xfrm>
            <a:off x="342625" y="1014225"/>
            <a:ext cx="8459100" cy="97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People can be happy without achieving anything, or achieve a lot without being happy. Should we encourage either of these approaches?</a:t>
            </a:r>
            <a:endParaRPr b="0" i="0" sz="2000" u="none" cap="none" strike="noStrike">
              <a:solidFill>
                <a:srgbClr val="000000"/>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300"/>
                                        <p:tgtEl>
                                          <p:spTgt spid="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300"/>
                                        <p:tgtEl>
                                          <p:spTgt spid="725"/>
                                        </p:tgtEl>
                                      </p:cBhvr>
                                    </p:animEffect>
                                  </p:childTnLst>
                                </p:cTn>
                              </p:par>
                              <p:par>
                                <p:cTn fill="hold" nodeType="withEffect" presetClass="entr" presetID="10" presetSubtype="0">
                                  <p:stCondLst>
                                    <p:cond delay="0"/>
                                  </p:stCondLst>
                                  <p:childTnLst>
                                    <p:set>
                                      <p:cBhvr>
                                        <p:cTn dur="1" fill="hold">
                                          <p:stCondLst>
                                            <p:cond delay="0"/>
                                          </p:stCondLst>
                                        </p:cTn>
                                        <p:tgtEl>
                                          <p:spTgt spid="729"/>
                                        </p:tgtEl>
                                        <p:attrNameLst>
                                          <p:attrName>style.visibility</p:attrName>
                                        </p:attrNameLst>
                                      </p:cBhvr>
                                      <p:to>
                                        <p:strVal val="visible"/>
                                      </p:to>
                                    </p:set>
                                    <p:animEffect filter="fade" transition="in">
                                      <p:cBhvr>
                                        <p:cTn dur="300"/>
                                        <p:tgtEl>
                                          <p:spTgt spid="7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78"/>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Objective Goods</a:t>
            </a:r>
            <a:endParaRPr/>
          </a:p>
        </p:txBody>
      </p:sp>
      <p:sp>
        <p:nvSpPr>
          <p:cNvPr id="736" name="Google Shape;736;p78"/>
          <p:cNvSpPr txBox="1"/>
          <p:nvPr>
            <p:ph idx="1" type="body"/>
          </p:nvPr>
        </p:nvSpPr>
        <p:spPr>
          <a:xfrm>
            <a:off x="311700" y="863550"/>
            <a:ext cx="8520600" cy="301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Objective goods theory proposes that there are aspects of life that are objectively good for you.</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The list of goods may include happiness, achievement, friendship, aesthetic experience, knowledge, and pleasure.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According to objective goods theory, it would be better to learn than count blades of grass, even if the person desires the latter.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latin typeface="Nunito"/>
              <a:ea typeface="Nunito"/>
              <a:cs typeface="Nunito"/>
              <a:sym typeface="Nunito"/>
            </a:endParaRPr>
          </a:p>
        </p:txBody>
      </p:sp>
      <p:sp>
        <p:nvSpPr>
          <p:cNvPr id="737" name="Google Shape;737;p7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738" name="Google Shape;738;p7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58</a:t>
            </a:fld>
            <a:endParaRPr b="0" i="0" sz="1300" u="none" cap="none" strike="noStrike">
              <a:solidFill>
                <a:srgbClr val="FFFFFF"/>
              </a:solidFill>
              <a:latin typeface="Nunito"/>
              <a:ea typeface="Nunito"/>
              <a:cs typeface="Nunito"/>
              <a:sym typeface="Nunito"/>
            </a:endParaRPr>
          </a:p>
        </p:txBody>
      </p:sp>
      <p:sp>
        <p:nvSpPr>
          <p:cNvPr id="739" name="Google Shape;739;p7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740" name="Google Shape;740;p78"/>
          <p:cNvSpPr txBox="1"/>
          <p:nvPr/>
        </p:nvSpPr>
        <p:spPr>
          <a:xfrm>
            <a:off x="311875" y="3597675"/>
            <a:ext cx="8520600" cy="69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Objective goods theories are criticized as being paternalistic, elitist, and interfering with autonomy.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0" st="0"/>
                                            </p:txEl>
                                          </p:spTgt>
                                        </p:tgtEl>
                                        <p:attrNameLst>
                                          <p:attrName>style.visibility</p:attrName>
                                        </p:attrNameLst>
                                      </p:cBhvr>
                                      <p:to>
                                        <p:strVal val="visible"/>
                                      </p:to>
                                    </p:set>
                                    <p:animEffect filter="fade" transition="in">
                                      <p:cBhvr>
                                        <p:cTn dur="300"/>
                                        <p:tgtEl>
                                          <p:spTgt spid="7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 st="1"/>
                                            </p:txEl>
                                          </p:spTgt>
                                        </p:tgtEl>
                                        <p:attrNameLst>
                                          <p:attrName>style.visibility</p:attrName>
                                        </p:attrNameLst>
                                      </p:cBhvr>
                                      <p:to>
                                        <p:strVal val="visible"/>
                                      </p:to>
                                    </p:set>
                                    <p:animEffect filter="fade" transition="in">
                                      <p:cBhvr>
                                        <p:cTn dur="300"/>
                                        <p:tgtEl>
                                          <p:spTgt spid="7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2" st="2"/>
                                            </p:txEl>
                                          </p:spTgt>
                                        </p:tgtEl>
                                        <p:attrNameLst>
                                          <p:attrName>style.visibility</p:attrName>
                                        </p:attrNameLst>
                                      </p:cBhvr>
                                      <p:to>
                                        <p:strVal val="visible"/>
                                      </p:to>
                                    </p:set>
                                    <p:animEffect filter="fade" transition="in">
                                      <p:cBhvr>
                                        <p:cTn dur="300"/>
                                        <p:tgtEl>
                                          <p:spTgt spid="7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3" st="3"/>
                                            </p:txEl>
                                          </p:spTgt>
                                        </p:tgtEl>
                                        <p:attrNameLst>
                                          <p:attrName>style.visibility</p:attrName>
                                        </p:attrNameLst>
                                      </p:cBhvr>
                                      <p:to>
                                        <p:strVal val="visible"/>
                                      </p:to>
                                    </p:set>
                                    <p:animEffect filter="fade" transition="in">
                                      <p:cBhvr>
                                        <p:cTn dur="300"/>
                                        <p:tgtEl>
                                          <p:spTgt spid="7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4" st="4"/>
                                            </p:txEl>
                                          </p:spTgt>
                                        </p:tgtEl>
                                        <p:attrNameLst>
                                          <p:attrName>style.visibility</p:attrName>
                                        </p:attrNameLst>
                                      </p:cBhvr>
                                      <p:to>
                                        <p:strVal val="visible"/>
                                      </p:to>
                                    </p:set>
                                    <p:animEffect filter="fade" transition="in">
                                      <p:cBhvr>
                                        <p:cTn dur="300"/>
                                        <p:tgtEl>
                                          <p:spTgt spid="7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300"/>
                                        <p:tgtEl>
                                          <p:spTgt spid="7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79"/>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Conclusions about Happiness</a:t>
            </a:r>
            <a:endParaRPr/>
          </a:p>
        </p:txBody>
      </p:sp>
      <p:sp>
        <p:nvSpPr>
          <p:cNvPr id="746" name="Google Shape;746;p79"/>
          <p:cNvSpPr txBox="1"/>
          <p:nvPr>
            <p:ph idx="1" type="body"/>
          </p:nvPr>
        </p:nvSpPr>
        <p:spPr>
          <a:xfrm>
            <a:off x="311700" y="9417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AIs can be applied to improve human happiness.</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General purpose welfare functions may allow AIs to assess how decisions will affect human happiness, but these are difficult to construct.</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Happiness has a “wireheading” problem.</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Objective goods provide ideas on what matters, but have elitism complaints.</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Clr>
                <a:schemeClr val="dk1"/>
              </a:buClr>
              <a:buSzPts val="1100"/>
              <a:buFont typeface="Arial"/>
              <a:buNone/>
            </a:pPr>
            <a:r>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rPr lang="en" sz="2000">
                <a:solidFill>
                  <a:schemeClr val="dk1"/>
                </a:solidFill>
                <a:latin typeface="Nunito"/>
                <a:ea typeface="Nunito"/>
                <a:cs typeface="Nunito"/>
                <a:sym typeface="Nunito"/>
              </a:rPr>
              <a:t>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sz="2000">
              <a:solidFill>
                <a:schemeClr val="dk1"/>
              </a:solidFill>
              <a:latin typeface="Nunito"/>
              <a:ea typeface="Nunito"/>
              <a:cs typeface="Nunito"/>
              <a:sym typeface="Nunito"/>
            </a:endParaRPr>
          </a:p>
        </p:txBody>
      </p:sp>
      <p:sp>
        <p:nvSpPr>
          <p:cNvPr id="747" name="Google Shape;747;p7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748" name="Google Shape;748;p7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59</a:t>
            </a:fld>
            <a:endParaRPr b="0" i="0" sz="1300" u="none" cap="none" strike="noStrike">
              <a:solidFill>
                <a:srgbClr val="FFFFFF"/>
              </a:solidFill>
              <a:latin typeface="Nunito"/>
              <a:ea typeface="Nunito"/>
              <a:cs typeface="Nunito"/>
              <a:sym typeface="Nunito"/>
            </a:endParaRPr>
          </a:p>
        </p:txBody>
      </p:sp>
      <p:sp>
        <p:nvSpPr>
          <p:cNvPr id="749" name="Google Shape;749;p7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xEl>
                                              <p:pRg end="0" st="0"/>
                                            </p:txEl>
                                          </p:spTgt>
                                        </p:tgtEl>
                                        <p:attrNameLst>
                                          <p:attrName>style.visibility</p:attrName>
                                        </p:attrNameLst>
                                      </p:cBhvr>
                                      <p:to>
                                        <p:strVal val="visible"/>
                                      </p:to>
                                    </p:set>
                                    <p:animEffect filter="fade" transition="in">
                                      <p:cBhvr>
                                        <p:cTn dur="300"/>
                                        <p:tgtEl>
                                          <p:spTgt spid="7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xEl>
                                              <p:pRg end="1" st="1"/>
                                            </p:txEl>
                                          </p:spTgt>
                                        </p:tgtEl>
                                        <p:attrNameLst>
                                          <p:attrName>style.visibility</p:attrName>
                                        </p:attrNameLst>
                                      </p:cBhvr>
                                      <p:to>
                                        <p:strVal val="visible"/>
                                      </p:to>
                                    </p:set>
                                    <p:animEffect filter="fade" transition="in">
                                      <p:cBhvr>
                                        <p:cTn dur="300"/>
                                        <p:tgtEl>
                                          <p:spTgt spid="7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xEl>
                                              <p:pRg end="2" st="2"/>
                                            </p:txEl>
                                          </p:spTgt>
                                        </p:tgtEl>
                                        <p:attrNameLst>
                                          <p:attrName>style.visibility</p:attrName>
                                        </p:attrNameLst>
                                      </p:cBhvr>
                                      <p:to>
                                        <p:strVal val="visible"/>
                                      </p:to>
                                    </p:set>
                                    <p:animEffect filter="fade" transition="in">
                                      <p:cBhvr>
                                        <p:cTn dur="300"/>
                                        <p:tgtEl>
                                          <p:spTgt spid="7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xEl>
                                              <p:pRg end="3" st="3"/>
                                            </p:txEl>
                                          </p:spTgt>
                                        </p:tgtEl>
                                        <p:attrNameLst>
                                          <p:attrName>style.visibility</p:attrName>
                                        </p:attrNameLst>
                                      </p:cBhvr>
                                      <p:to>
                                        <p:strVal val="visible"/>
                                      </p:to>
                                    </p:set>
                                    <p:animEffect filter="fade" transition="in">
                                      <p:cBhvr>
                                        <p:cTn dur="300"/>
                                        <p:tgtEl>
                                          <p:spTgt spid="7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xEl>
                                              <p:pRg end="4" st="4"/>
                                            </p:txEl>
                                          </p:spTgt>
                                        </p:tgtEl>
                                        <p:attrNameLst>
                                          <p:attrName>style.visibility</p:attrName>
                                        </p:attrNameLst>
                                      </p:cBhvr>
                                      <p:to>
                                        <p:strVal val="visible"/>
                                      </p:to>
                                    </p:set>
                                    <p:animEffect filter="fade" transition="in">
                                      <p:cBhvr>
                                        <p:cTn dur="300"/>
                                        <p:tgtEl>
                                          <p:spTgt spid="7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xEl>
                                              <p:pRg end="5" st="5"/>
                                            </p:txEl>
                                          </p:spTgt>
                                        </p:tgtEl>
                                        <p:attrNameLst>
                                          <p:attrName>style.visibility</p:attrName>
                                        </p:attrNameLst>
                                      </p:cBhvr>
                                      <p:to>
                                        <p:strVal val="visible"/>
                                      </p:to>
                                    </p:set>
                                    <p:animEffect filter="fade" transition="in">
                                      <p:cBhvr>
                                        <p:cTn dur="300"/>
                                        <p:tgtEl>
                                          <p:spTgt spid="7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xEl>
                                              <p:pRg end="6" st="6"/>
                                            </p:txEl>
                                          </p:spTgt>
                                        </p:tgtEl>
                                        <p:attrNameLst>
                                          <p:attrName>style.visibility</p:attrName>
                                        </p:attrNameLst>
                                      </p:cBhvr>
                                      <p:to>
                                        <p:strVal val="visible"/>
                                      </p:to>
                                    </p:set>
                                    <p:animEffect filter="fade" transition="in">
                                      <p:cBhvr>
                                        <p:cTn dur="300"/>
                                        <p:tgtEl>
                                          <p:spTgt spid="74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90"/>
          <p:cNvSpPr txBox="1"/>
          <p:nvPr>
            <p:ph type="title"/>
          </p:nvPr>
        </p:nvSpPr>
        <p:spPr>
          <a:xfrm>
            <a:off x="423625" y="559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884" name="Google Shape;884;p90"/>
          <p:cNvSpPr txBox="1"/>
          <p:nvPr/>
        </p:nvSpPr>
        <p:spPr>
          <a:xfrm>
            <a:off x="367450" y="817200"/>
            <a:ext cx="8776500" cy="3667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Law: </a:t>
            </a:r>
            <a:r>
              <a:rPr b="0" i="1" lang="en" sz="2000" u="none" cap="none" strike="noStrike">
                <a:solidFill>
                  <a:schemeClr val="dk1"/>
                </a:solidFill>
                <a:latin typeface="Nunito"/>
                <a:ea typeface="Nunito"/>
                <a:cs typeface="Nunito"/>
                <a:sym typeface="Nunito"/>
              </a:rPr>
              <a:t>Make AIs follow the law.</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Fairness: </a:t>
            </a:r>
            <a:r>
              <a:rPr b="0" i="1" lang="en" sz="2000" u="none" cap="none" strike="noStrike">
                <a:solidFill>
                  <a:schemeClr val="dk1"/>
                </a:solidFill>
                <a:latin typeface="Nunito"/>
                <a:ea typeface="Nunito"/>
                <a:cs typeface="Nunito"/>
                <a:sym typeface="Nunito"/>
              </a:rPr>
              <a:t>Make AIs be fair.</a:t>
            </a:r>
            <a:endParaRPr b="0" i="1" sz="2000" u="none" cap="none" strike="noStrike">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 Economic Engine: </a:t>
            </a:r>
            <a:r>
              <a:rPr i="1" lang="en" sz="2000">
                <a:solidFill>
                  <a:schemeClr val="dk1"/>
                </a:solidFill>
                <a:latin typeface="Nunito"/>
                <a:ea typeface="Nunito"/>
                <a:cs typeface="Nunito"/>
                <a:sym typeface="Nunito"/>
              </a:rPr>
              <a:t>Let the economy govern AI development</a:t>
            </a:r>
            <a:r>
              <a:rPr i="1" lang="en" sz="2000">
                <a:solidFill>
                  <a:schemeClr val="dk1"/>
                </a:solidFill>
                <a:latin typeface="Nunito"/>
                <a:ea typeface="Nunito"/>
                <a:cs typeface="Nunito"/>
                <a:sym typeface="Nunito"/>
              </a:rPr>
              <a:t>.</a:t>
            </a:r>
            <a:endParaRPr i="1" sz="2000">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Wellbeing: </a:t>
            </a:r>
            <a:r>
              <a:rPr i="1" lang="en" sz="2000">
                <a:solidFill>
                  <a:schemeClr val="dk1"/>
                </a:solidFill>
                <a:latin typeface="Nunito"/>
                <a:ea typeface="Nunito"/>
                <a:cs typeface="Nunito"/>
                <a:sym typeface="Nunito"/>
              </a:rPr>
              <a:t>AIs should improve people’s lives.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Preferences: </a:t>
            </a:r>
            <a:r>
              <a:rPr b="0" i="1" lang="en" sz="2000" u="none" cap="none" strike="noStrike">
                <a:solidFill>
                  <a:schemeClr val="dk1"/>
                </a:solidFill>
                <a:latin typeface="Nunito"/>
                <a:ea typeface="Nunito"/>
                <a:cs typeface="Nunito"/>
                <a:sym typeface="Nunito"/>
              </a:rPr>
              <a:t>Make AIs satisfy people’s preferences.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Happiness: </a:t>
            </a:r>
            <a:r>
              <a:rPr b="0" i="1" lang="en" sz="2000" u="none" cap="none" strike="noStrike">
                <a:solidFill>
                  <a:schemeClr val="dk1"/>
                </a:solidFill>
                <a:latin typeface="Nunito"/>
                <a:ea typeface="Nunito"/>
                <a:cs typeface="Nunito"/>
                <a:sym typeface="Nunito"/>
              </a:rPr>
              <a:t>Make AIs make people happy.</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Moral uncertainty: </a:t>
            </a:r>
            <a:r>
              <a:rPr i="1" lang="en" sz="2000">
                <a:solidFill>
                  <a:schemeClr val="dk1"/>
                </a:solidFill>
                <a:latin typeface="Nunito"/>
                <a:ea typeface="Nunito"/>
                <a:cs typeface="Nunito"/>
                <a:sym typeface="Nunito"/>
              </a:rPr>
              <a:t>Deciding without knowing the “correct” moral theory</a:t>
            </a:r>
            <a:endParaRPr i="1" sz="2000">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p:txBody>
      </p:sp>
      <p:sp>
        <p:nvSpPr>
          <p:cNvPr id="885" name="Google Shape;885;p9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886" name="Google Shape;886;p9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60</a:t>
            </a:fld>
            <a:endParaRPr b="0" i="0" sz="1300" u="none" cap="none" strike="noStrike">
              <a:solidFill>
                <a:srgbClr val="FFFFFF"/>
              </a:solidFill>
              <a:latin typeface="Nunito"/>
              <a:ea typeface="Nunito"/>
              <a:cs typeface="Nunito"/>
              <a:sym typeface="Nunito"/>
            </a:endParaRPr>
          </a:p>
        </p:txBody>
      </p:sp>
      <p:sp>
        <p:nvSpPr>
          <p:cNvPr id="887" name="Google Shape;887;p9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888" name="Google Shape;888;p90"/>
          <p:cNvSpPr/>
          <p:nvPr/>
        </p:nvSpPr>
        <p:spPr>
          <a:xfrm>
            <a:off x="367450" y="4040625"/>
            <a:ext cx="8728800" cy="444300"/>
          </a:xfrm>
          <a:prstGeom prst="rect">
            <a:avLst/>
          </a:prstGeom>
          <a:noFill/>
          <a:ln cap="flat" cmpd="sng" w="9525">
            <a:solidFill>
              <a:srgbClr val="0097A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300"/>
                                        <p:tgtEl>
                                          <p:spTgt spid="8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91"/>
          <p:cNvSpPr txBox="1"/>
          <p:nvPr>
            <p:ph type="title"/>
          </p:nvPr>
        </p:nvSpPr>
        <p:spPr>
          <a:xfrm>
            <a:off x="423450" y="19228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Moral Uncertainty</a:t>
            </a:r>
            <a:endParaRPr sz="3600">
              <a:latin typeface="Nunito"/>
              <a:ea typeface="Nunito"/>
              <a:cs typeface="Nunito"/>
              <a:sym typeface="Nunito"/>
            </a:endParaRPr>
          </a:p>
        </p:txBody>
      </p:sp>
      <p:sp>
        <p:nvSpPr>
          <p:cNvPr id="894" name="Google Shape;894;p9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895" name="Google Shape;895;p9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61</a:t>
            </a:fld>
            <a:endParaRPr b="0" i="0" sz="1300" u="none" cap="none" strike="noStrike">
              <a:solidFill>
                <a:srgbClr val="FFFFFF"/>
              </a:solidFill>
              <a:latin typeface="Nunito"/>
              <a:ea typeface="Nunito"/>
              <a:cs typeface="Nunito"/>
              <a:sym typeface="Nunito"/>
            </a:endParaRPr>
          </a:p>
        </p:txBody>
      </p:sp>
      <p:sp>
        <p:nvSpPr>
          <p:cNvPr id="896" name="Google Shape;896;p9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897" name="Google Shape;897;p91"/>
          <p:cNvSpPr txBox="1"/>
          <p:nvPr/>
        </p:nvSpPr>
        <p:spPr>
          <a:xfrm>
            <a:off x="367675" y="2876550"/>
            <a:ext cx="8409000" cy="49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000"/>
              <a:buFont typeface="Arial"/>
              <a:buNone/>
            </a:pPr>
            <a:r>
              <a:rPr i="1" lang="en" sz="2000">
                <a:solidFill>
                  <a:schemeClr val="dk1"/>
                </a:solidFill>
                <a:latin typeface="Nunito"/>
                <a:ea typeface="Nunito"/>
                <a:cs typeface="Nunito"/>
                <a:sym typeface="Nunito"/>
              </a:rPr>
              <a:t>How do we decide without knowing which moral theory is correct?</a:t>
            </a:r>
            <a:endParaRPr b="0" i="1"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300"/>
                                        <p:tgtEl>
                                          <p:spTgt spid="8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92"/>
          <p:cNvSpPr txBox="1"/>
          <p:nvPr>
            <p:ph type="title"/>
          </p:nvPr>
        </p:nvSpPr>
        <p:spPr>
          <a:xfrm>
            <a:off x="0" y="64025"/>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Making Decisions under Moral Uncertainty</a:t>
            </a:r>
            <a:endParaRPr/>
          </a:p>
        </p:txBody>
      </p:sp>
      <p:sp>
        <p:nvSpPr>
          <p:cNvPr id="903" name="Google Shape;903;p9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600"/>
              </a:spcBef>
              <a:spcAft>
                <a:spcPts val="0"/>
              </a:spcAft>
              <a:buSzPts val="1800"/>
              <a:buNone/>
            </a:pPr>
            <a:r>
              <a:rPr b="1" lang="en" sz="2000">
                <a:solidFill>
                  <a:schemeClr val="dk1"/>
                </a:solidFill>
                <a:latin typeface="Nunito"/>
                <a:ea typeface="Nunito"/>
                <a:cs typeface="Nunito"/>
                <a:sym typeface="Nunito"/>
              </a:rPr>
              <a:t>Moral uncertainty</a:t>
            </a:r>
            <a:r>
              <a:rPr lang="en" sz="2000">
                <a:solidFill>
                  <a:schemeClr val="dk1"/>
                </a:solidFill>
                <a:latin typeface="Nunito"/>
                <a:ea typeface="Nunito"/>
                <a:cs typeface="Nunito"/>
                <a:sym typeface="Nunito"/>
              </a:rPr>
              <a:t>: how can we act morally when we are unsure which moral view is correct?</a:t>
            </a:r>
            <a:endParaRPr sz="2000">
              <a:solidFill>
                <a:schemeClr val="dk1"/>
              </a:solidFill>
              <a:latin typeface="Nunito"/>
              <a:ea typeface="Nunito"/>
              <a:cs typeface="Nunito"/>
              <a:sym typeface="Nunito"/>
            </a:endParaRPr>
          </a:p>
          <a:p>
            <a:pPr indent="0" lvl="0" marL="0" rtl="0" algn="l">
              <a:lnSpc>
                <a:spcPct val="100000"/>
              </a:lnSpc>
              <a:spcBef>
                <a:spcPts val="1600"/>
              </a:spcBef>
              <a:spcAft>
                <a:spcPts val="0"/>
              </a:spcAft>
              <a:buSzPts val="1800"/>
              <a:buNone/>
            </a:pPr>
            <a:r>
              <a:rPr b="1" lang="en" sz="2000">
                <a:solidFill>
                  <a:schemeClr val="dk1"/>
                </a:solidFill>
                <a:latin typeface="Nunito"/>
                <a:ea typeface="Nunito"/>
                <a:cs typeface="Nunito"/>
                <a:sym typeface="Nunito"/>
              </a:rPr>
              <a:t>Credence</a:t>
            </a:r>
            <a:r>
              <a:rPr lang="en" sz="2000">
                <a:solidFill>
                  <a:schemeClr val="dk1"/>
                </a:solidFill>
                <a:latin typeface="Nunito"/>
                <a:ea typeface="Nunito"/>
                <a:cs typeface="Nunito"/>
                <a:sym typeface="Nunito"/>
              </a:rPr>
              <a:t>: the probability assigned by an individual of the chance a theory is true.</a:t>
            </a:r>
            <a:endParaRPr sz="2000">
              <a:solidFill>
                <a:schemeClr val="dk1"/>
              </a:solidFill>
              <a:latin typeface="Nunito"/>
              <a:ea typeface="Nunito"/>
              <a:cs typeface="Nunito"/>
              <a:sym typeface="Nunito"/>
            </a:endParaRPr>
          </a:p>
          <a:p>
            <a:pPr indent="0" lvl="0" marL="0" rtl="0" algn="l">
              <a:lnSpc>
                <a:spcPct val="100000"/>
              </a:lnSpc>
              <a:spcBef>
                <a:spcPts val="1600"/>
              </a:spcBef>
              <a:spcAft>
                <a:spcPts val="0"/>
              </a:spcAft>
              <a:buSzPts val="1800"/>
              <a:buNone/>
            </a:pPr>
            <a:r>
              <a:rPr lang="en" sz="2000">
                <a:solidFill>
                  <a:schemeClr val="dk1"/>
                </a:solidFill>
                <a:latin typeface="Nunito"/>
                <a:ea typeface="Nunito"/>
                <a:cs typeface="Nunito"/>
                <a:sym typeface="Nunito"/>
              </a:rPr>
              <a:t>High-stakes moral decisions:</a:t>
            </a:r>
            <a:endParaRPr sz="2000">
              <a:solidFill>
                <a:schemeClr val="dk1"/>
              </a:solidFill>
              <a:latin typeface="Nunito"/>
              <a:ea typeface="Nunito"/>
              <a:cs typeface="Nunito"/>
              <a:sym typeface="Nunito"/>
            </a:endParaRPr>
          </a:p>
          <a:p>
            <a:pPr indent="-355600" lvl="0" marL="457200" rtl="0" algn="l">
              <a:lnSpc>
                <a:spcPct val="100000"/>
              </a:lnSpc>
              <a:spcBef>
                <a:spcPts val="1600"/>
              </a:spcBef>
              <a:spcAft>
                <a:spcPts val="0"/>
              </a:spcAft>
              <a:buClr>
                <a:schemeClr val="dk1"/>
              </a:buClr>
              <a:buSzPts val="2000"/>
              <a:buFont typeface="Nunito"/>
              <a:buChar char="●"/>
            </a:pPr>
            <a:r>
              <a:rPr lang="en" sz="2000">
                <a:solidFill>
                  <a:schemeClr val="dk1"/>
                </a:solidFill>
                <a:latin typeface="Nunito"/>
                <a:ea typeface="Nunito"/>
                <a:cs typeface="Nunito"/>
                <a:sym typeface="Nunito"/>
              </a:rPr>
              <a:t>Healthcare</a:t>
            </a:r>
            <a:endParaRPr sz="2000">
              <a:solidFill>
                <a:schemeClr val="dk1"/>
              </a:solidFill>
              <a:latin typeface="Nunito"/>
              <a:ea typeface="Nunito"/>
              <a:cs typeface="Nunito"/>
              <a:sym typeface="Nunito"/>
            </a:endParaRPr>
          </a:p>
          <a:p>
            <a:pPr indent="-355600" lvl="0" marL="457200" rtl="0" algn="l">
              <a:lnSpc>
                <a:spcPct val="10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AI design</a:t>
            </a:r>
            <a:endParaRPr sz="2000">
              <a:solidFill>
                <a:schemeClr val="dk1"/>
              </a:solidFill>
              <a:latin typeface="Nunito"/>
              <a:ea typeface="Nunito"/>
              <a:cs typeface="Nunito"/>
              <a:sym typeface="Nunito"/>
            </a:endParaRPr>
          </a:p>
          <a:p>
            <a:pPr indent="0" lvl="0" marL="0" rtl="0" algn="l">
              <a:lnSpc>
                <a:spcPct val="100000"/>
              </a:lnSpc>
              <a:spcBef>
                <a:spcPts val="1600"/>
              </a:spcBef>
              <a:spcAft>
                <a:spcPts val="0"/>
              </a:spcAft>
              <a:buNone/>
            </a:pPr>
            <a:r>
              <a:rPr lang="en" sz="2000">
                <a:solidFill>
                  <a:schemeClr val="dk1"/>
                </a:solidFill>
                <a:latin typeface="Nunito"/>
                <a:ea typeface="Nunito"/>
                <a:cs typeface="Nunito"/>
                <a:sym typeface="Nunito"/>
              </a:rPr>
              <a:t>If AI is unable to account for moral uncertainty, harmful outcomes are likely.</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sz="2000">
              <a:solidFill>
                <a:schemeClr val="dk1"/>
              </a:solidFill>
              <a:latin typeface="Nunito"/>
              <a:ea typeface="Nunito"/>
              <a:cs typeface="Nunito"/>
              <a:sym typeface="Nunito"/>
            </a:endParaRPr>
          </a:p>
        </p:txBody>
      </p:sp>
      <p:sp>
        <p:nvSpPr>
          <p:cNvPr id="904" name="Google Shape;904;p9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905" name="Google Shape;905;p9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62</a:t>
            </a:fld>
            <a:endParaRPr b="0" i="0" sz="1300" u="none" cap="none" strike="noStrike">
              <a:solidFill>
                <a:srgbClr val="FFFFFF"/>
              </a:solidFill>
              <a:latin typeface="Nunito"/>
              <a:ea typeface="Nunito"/>
              <a:cs typeface="Nunito"/>
              <a:sym typeface="Nunito"/>
            </a:endParaRPr>
          </a:p>
        </p:txBody>
      </p:sp>
      <p:sp>
        <p:nvSpPr>
          <p:cNvPr id="906" name="Google Shape;906;p9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xEl>
                                              <p:pRg end="0" st="0"/>
                                            </p:txEl>
                                          </p:spTgt>
                                        </p:tgtEl>
                                        <p:attrNameLst>
                                          <p:attrName>style.visibility</p:attrName>
                                        </p:attrNameLst>
                                      </p:cBhvr>
                                      <p:to>
                                        <p:strVal val="visible"/>
                                      </p:to>
                                    </p:set>
                                    <p:animEffect filter="fade" transition="in">
                                      <p:cBhvr>
                                        <p:cTn dur="300"/>
                                        <p:tgtEl>
                                          <p:spTgt spid="9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xEl>
                                              <p:pRg end="1" st="1"/>
                                            </p:txEl>
                                          </p:spTgt>
                                        </p:tgtEl>
                                        <p:attrNameLst>
                                          <p:attrName>style.visibility</p:attrName>
                                        </p:attrNameLst>
                                      </p:cBhvr>
                                      <p:to>
                                        <p:strVal val="visible"/>
                                      </p:to>
                                    </p:set>
                                    <p:animEffect filter="fade" transition="in">
                                      <p:cBhvr>
                                        <p:cTn dur="300"/>
                                        <p:tgtEl>
                                          <p:spTgt spid="9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xEl>
                                              <p:pRg end="2" st="2"/>
                                            </p:txEl>
                                          </p:spTgt>
                                        </p:tgtEl>
                                        <p:attrNameLst>
                                          <p:attrName>style.visibility</p:attrName>
                                        </p:attrNameLst>
                                      </p:cBhvr>
                                      <p:to>
                                        <p:strVal val="visible"/>
                                      </p:to>
                                    </p:set>
                                    <p:animEffect filter="fade" transition="in">
                                      <p:cBhvr>
                                        <p:cTn dur="300"/>
                                        <p:tgtEl>
                                          <p:spTgt spid="9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xEl>
                                              <p:pRg end="3" st="3"/>
                                            </p:txEl>
                                          </p:spTgt>
                                        </p:tgtEl>
                                        <p:attrNameLst>
                                          <p:attrName>style.visibility</p:attrName>
                                        </p:attrNameLst>
                                      </p:cBhvr>
                                      <p:to>
                                        <p:strVal val="visible"/>
                                      </p:to>
                                    </p:set>
                                    <p:animEffect filter="fade" transition="in">
                                      <p:cBhvr>
                                        <p:cTn dur="300"/>
                                        <p:tgtEl>
                                          <p:spTgt spid="9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xEl>
                                              <p:pRg end="4" st="4"/>
                                            </p:txEl>
                                          </p:spTgt>
                                        </p:tgtEl>
                                        <p:attrNameLst>
                                          <p:attrName>style.visibility</p:attrName>
                                        </p:attrNameLst>
                                      </p:cBhvr>
                                      <p:to>
                                        <p:strVal val="visible"/>
                                      </p:to>
                                    </p:set>
                                    <p:animEffect filter="fade" transition="in">
                                      <p:cBhvr>
                                        <p:cTn dur="300"/>
                                        <p:tgtEl>
                                          <p:spTgt spid="9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xEl>
                                              <p:pRg end="5" st="5"/>
                                            </p:txEl>
                                          </p:spTgt>
                                        </p:tgtEl>
                                        <p:attrNameLst>
                                          <p:attrName>style.visibility</p:attrName>
                                        </p:attrNameLst>
                                      </p:cBhvr>
                                      <p:to>
                                        <p:strVal val="visible"/>
                                      </p:to>
                                    </p:set>
                                    <p:animEffect filter="fade" transition="in">
                                      <p:cBhvr>
                                        <p:cTn dur="300"/>
                                        <p:tgtEl>
                                          <p:spTgt spid="9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xEl>
                                              <p:pRg end="6" st="6"/>
                                            </p:txEl>
                                          </p:spTgt>
                                        </p:tgtEl>
                                        <p:attrNameLst>
                                          <p:attrName>style.visibility</p:attrName>
                                        </p:attrNameLst>
                                      </p:cBhvr>
                                      <p:to>
                                        <p:strVal val="visible"/>
                                      </p:to>
                                    </p:set>
                                    <p:animEffect filter="fade" transition="in">
                                      <p:cBhvr>
                                        <p:cTn dur="300"/>
                                        <p:tgtEl>
                                          <p:spTgt spid="90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93"/>
          <p:cNvSpPr txBox="1"/>
          <p:nvPr>
            <p:ph type="title"/>
          </p:nvPr>
        </p:nvSpPr>
        <p:spPr>
          <a:xfrm>
            <a:off x="0" y="64025"/>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Approaches to Moral Uncertainty</a:t>
            </a:r>
            <a:endParaRPr/>
          </a:p>
        </p:txBody>
      </p:sp>
      <p:sp>
        <p:nvSpPr>
          <p:cNvPr id="912" name="Google Shape;912;p93"/>
          <p:cNvSpPr txBox="1"/>
          <p:nvPr>
            <p:ph idx="1" type="body"/>
          </p:nvPr>
        </p:nvSpPr>
        <p:spPr>
          <a:xfrm>
            <a:off x="311700" y="1152475"/>
            <a:ext cx="88323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600"/>
              </a:spcBef>
              <a:spcAft>
                <a:spcPts val="0"/>
              </a:spcAft>
              <a:buSzPts val="1800"/>
              <a:buNone/>
            </a:pPr>
            <a:r>
              <a:rPr b="1" lang="en" sz="2000">
                <a:solidFill>
                  <a:schemeClr val="dk1"/>
                </a:solidFill>
                <a:latin typeface="Nunito"/>
                <a:ea typeface="Nunito"/>
                <a:cs typeface="Nunito"/>
                <a:sym typeface="Nunito"/>
              </a:rPr>
              <a:t>My Favorite Theory: </a:t>
            </a:r>
            <a:r>
              <a:rPr lang="en" sz="2000">
                <a:solidFill>
                  <a:schemeClr val="dk1"/>
                </a:solidFill>
                <a:latin typeface="Nunito"/>
                <a:ea typeface="Nunito"/>
                <a:cs typeface="Nunito"/>
                <a:sym typeface="Nunito"/>
              </a:rPr>
              <a:t>only support the theory in which you have the highest credence.</a:t>
            </a:r>
            <a:endParaRPr sz="2000">
              <a:solidFill>
                <a:schemeClr val="dk1"/>
              </a:solidFill>
              <a:latin typeface="Nunito"/>
              <a:ea typeface="Nunito"/>
              <a:cs typeface="Nunito"/>
              <a:sym typeface="Nunito"/>
            </a:endParaRPr>
          </a:p>
          <a:p>
            <a:pPr indent="0" lvl="0" marL="0" rtl="0" algn="l">
              <a:lnSpc>
                <a:spcPct val="100000"/>
              </a:lnSpc>
              <a:spcBef>
                <a:spcPts val="1600"/>
              </a:spcBef>
              <a:spcAft>
                <a:spcPts val="0"/>
              </a:spcAft>
              <a:buSzPts val="1800"/>
              <a:buNone/>
            </a:pPr>
            <a:r>
              <a:t/>
            </a:r>
            <a:endParaRPr sz="2000">
              <a:solidFill>
                <a:schemeClr val="dk1"/>
              </a:solidFill>
              <a:latin typeface="Nunito"/>
              <a:ea typeface="Nunito"/>
              <a:cs typeface="Nunito"/>
              <a:sym typeface="Nunito"/>
            </a:endParaRPr>
          </a:p>
          <a:p>
            <a:pPr indent="0" lvl="0" marL="0" rtl="0" algn="l">
              <a:lnSpc>
                <a:spcPct val="100000"/>
              </a:lnSpc>
              <a:spcBef>
                <a:spcPts val="1600"/>
              </a:spcBef>
              <a:spcAft>
                <a:spcPts val="0"/>
              </a:spcAft>
              <a:buSzPts val="1800"/>
              <a:buNone/>
            </a:pPr>
            <a:r>
              <a:rPr b="1" lang="en" sz="2000">
                <a:solidFill>
                  <a:schemeClr val="dk1"/>
                </a:solidFill>
                <a:latin typeface="Nunito"/>
                <a:ea typeface="Nunito"/>
                <a:cs typeface="Nunito"/>
                <a:sym typeface="Nunito"/>
              </a:rPr>
              <a:t>Maximize Expected Choice-Worthiness: </a:t>
            </a:r>
            <a:r>
              <a:rPr lang="en" sz="2000">
                <a:solidFill>
                  <a:schemeClr val="dk1"/>
                </a:solidFill>
                <a:latin typeface="Nunito"/>
                <a:ea typeface="Nunito"/>
                <a:cs typeface="Nunito"/>
                <a:sym typeface="Nunito"/>
              </a:rPr>
              <a:t>aim for the highest average moral value by calculating the expected choice-worthiness of each option.</a:t>
            </a:r>
            <a:endParaRPr sz="2000">
              <a:solidFill>
                <a:schemeClr val="dk1"/>
              </a:solidFill>
              <a:latin typeface="Nunito"/>
              <a:ea typeface="Nunito"/>
              <a:cs typeface="Nunito"/>
              <a:sym typeface="Nunito"/>
            </a:endParaRPr>
          </a:p>
          <a:p>
            <a:pPr indent="0" lvl="0" marL="0" rtl="0" algn="l">
              <a:lnSpc>
                <a:spcPct val="100000"/>
              </a:lnSpc>
              <a:spcBef>
                <a:spcPts val="1600"/>
              </a:spcBef>
              <a:spcAft>
                <a:spcPts val="0"/>
              </a:spcAft>
              <a:buSzPts val="1800"/>
              <a:buNone/>
            </a:pPr>
            <a:r>
              <a:t/>
            </a:r>
            <a:endParaRPr b="1" sz="2000">
              <a:solidFill>
                <a:schemeClr val="dk1"/>
              </a:solidFill>
              <a:latin typeface="Nunito"/>
              <a:ea typeface="Nunito"/>
              <a:cs typeface="Nunito"/>
              <a:sym typeface="Nunito"/>
            </a:endParaRPr>
          </a:p>
          <a:p>
            <a:pPr indent="0" lvl="0" marL="0" rtl="0" algn="l">
              <a:lnSpc>
                <a:spcPct val="100000"/>
              </a:lnSpc>
              <a:spcBef>
                <a:spcPts val="1600"/>
              </a:spcBef>
              <a:spcAft>
                <a:spcPts val="0"/>
              </a:spcAft>
              <a:buClr>
                <a:schemeClr val="dk1"/>
              </a:buClr>
              <a:buSzPts val="1800"/>
              <a:buFont typeface="Arial"/>
              <a:buNone/>
            </a:pPr>
            <a:r>
              <a:rPr b="1" lang="en" sz="2000">
                <a:solidFill>
                  <a:schemeClr val="dk1"/>
                </a:solidFill>
                <a:latin typeface="Nunito"/>
                <a:ea typeface="Nunito"/>
                <a:cs typeface="Nunito"/>
                <a:sym typeface="Nunito"/>
              </a:rPr>
              <a:t>Moral Parliament: </a:t>
            </a:r>
            <a:r>
              <a:rPr lang="en" sz="2000">
                <a:solidFill>
                  <a:schemeClr val="dk1"/>
                </a:solidFill>
                <a:latin typeface="Nunito"/>
                <a:ea typeface="Nunito"/>
                <a:cs typeface="Nunito"/>
                <a:sym typeface="Nunito"/>
              </a:rPr>
              <a:t>treat the decision as a negotiation in a parliament, considering multiple moral views to find a mutually acceptable solution.</a:t>
            </a:r>
            <a:endParaRPr sz="2000">
              <a:solidFill>
                <a:schemeClr val="dk1"/>
              </a:solidFill>
              <a:latin typeface="Nunito"/>
              <a:ea typeface="Nunito"/>
              <a:cs typeface="Nunito"/>
              <a:sym typeface="Nunito"/>
            </a:endParaRPr>
          </a:p>
          <a:p>
            <a:pPr indent="0" lvl="0" marL="0" rtl="0" algn="l">
              <a:lnSpc>
                <a:spcPct val="100000"/>
              </a:lnSpc>
              <a:spcBef>
                <a:spcPts val="1600"/>
              </a:spcBef>
              <a:spcAft>
                <a:spcPts val="0"/>
              </a:spcAft>
              <a:buSzPts val="1800"/>
              <a:buNone/>
            </a:pPr>
            <a:r>
              <a:t/>
            </a:r>
            <a:endParaRPr b="1" sz="2000">
              <a:solidFill>
                <a:schemeClr val="dk1"/>
              </a:solidFill>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sz="2000">
              <a:solidFill>
                <a:schemeClr val="dk1"/>
              </a:solidFill>
              <a:latin typeface="Nunito"/>
              <a:ea typeface="Nunito"/>
              <a:cs typeface="Nunito"/>
              <a:sym typeface="Nunito"/>
            </a:endParaRPr>
          </a:p>
        </p:txBody>
      </p:sp>
      <p:sp>
        <p:nvSpPr>
          <p:cNvPr id="913" name="Google Shape;913;p9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914" name="Google Shape;914;p9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63</a:t>
            </a:fld>
            <a:endParaRPr b="0" i="0" sz="1300" u="none" cap="none" strike="noStrike">
              <a:solidFill>
                <a:srgbClr val="FFFFFF"/>
              </a:solidFill>
              <a:latin typeface="Nunito"/>
              <a:ea typeface="Nunito"/>
              <a:cs typeface="Nunito"/>
              <a:sym typeface="Nunito"/>
            </a:endParaRPr>
          </a:p>
        </p:txBody>
      </p:sp>
      <p:sp>
        <p:nvSpPr>
          <p:cNvPr id="915" name="Google Shape;915;p9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0" st="0"/>
                                            </p:txEl>
                                          </p:spTgt>
                                        </p:tgtEl>
                                        <p:attrNameLst>
                                          <p:attrName>style.visibility</p:attrName>
                                        </p:attrNameLst>
                                      </p:cBhvr>
                                      <p:to>
                                        <p:strVal val="visible"/>
                                      </p:to>
                                    </p:set>
                                    <p:animEffect filter="fade" transition="in">
                                      <p:cBhvr>
                                        <p:cTn dur="300"/>
                                        <p:tgtEl>
                                          <p:spTgt spid="9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1" st="1"/>
                                            </p:txEl>
                                          </p:spTgt>
                                        </p:tgtEl>
                                        <p:attrNameLst>
                                          <p:attrName>style.visibility</p:attrName>
                                        </p:attrNameLst>
                                      </p:cBhvr>
                                      <p:to>
                                        <p:strVal val="visible"/>
                                      </p:to>
                                    </p:set>
                                    <p:animEffect filter="fade" transition="in">
                                      <p:cBhvr>
                                        <p:cTn dur="300"/>
                                        <p:tgtEl>
                                          <p:spTgt spid="9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2" st="2"/>
                                            </p:txEl>
                                          </p:spTgt>
                                        </p:tgtEl>
                                        <p:attrNameLst>
                                          <p:attrName>style.visibility</p:attrName>
                                        </p:attrNameLst>
                                      </p:cBhvr>
                                      <p:to>
                                        <p:strVal val="visible"/>
                                      </p:to>
                                    </p:set>
                                    <p:animEffect filter="fade" transition="in">
                                      <p:cBhvr>
                                        <p:cTn dur="300"/>
                                        <p:tgtEl>
                                          <p:spTgt spid="9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3" st="3"/>
                                            </p:txEl>
                                          </p:spTgt>
                                        </p:tgtEl>
                                        <p:attrNameLst>
                                          <p:attrName>style.visibility</p:attrName>
                                        </p:attrNameLst>
                                      </p:cBhvr>
                                      <p:to>
                                        <p:strVal val="visible"/>
                                      </p:to>
                                    </p:set>
                                    <p:animEffect filter="fade" transition="in">
                                      <p:cBhvr>
                                        <p:cTn dur="300"/>
                                        <p:tgtEl>
                                          <p:spTgt spid="9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4" st="4"/>
                                            </p:txEl>
                                          </p:spTgt>
                                        </p:tgtEl>
                                        <p:attrNameLst>
                                          <p:attrName>style.visibility</p:attrName>
                                        </p:attrNameLst>
                                      </p:cBhvr>
                                      <p:to>
                                        <p:strVal val="visible"/>
                                      </p:to>
                                    </p:set>
                                    <p:animEffect filter="fade" transition="in">
                                      <p:cBhvr>
                                        <p:cTn dur="300"/>
                                        <p:tgtEl>
                                          <p:spTgt spid="9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5" st="5"/>
                                            </p:txEl>
                                          </p:spTgt>
                                        </p:tgtEl>
                                        <p:attrNameLst>
                                          <p:attrName>style.visibility</p:attrName>
                                        </p:attrNameLst>
                                      </p:cBhvr>
                                      <p:to>
                                        <p:strVal val="visible"/>
                                      </p:to>
                                    </p:set>
                                    <p:animEffect filter="fade" transition="in">
                                      <p:cBhvr>
                                        <p:cTn dur="300"/>
                                        <p:tgtEl>
                                          <p:spTgt spid="9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xEl>
                                              <p:pRg end="6" st="6"/>
                                            </p:txEl>
                                          </p:spTgt>
                                        </p:tgtEl>
                                        <p:attrNameLst>
                                          <p:attrName>style.visibility</p:attrName>
                                        </p:attrNameLst>
                                      </p:cBhvr>
                                      <p:to>
                                        <p:strVal val="visible"/>
                                      </p:to>
                                    </p:set>
                                    <p:animEffect filter="fade" transition="in">
                                      <p:cBhvr>
                                        <p:cTn dur="300"/>
                                        <p:tgtEl>
                                          <p:spTgt spid="91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95"/>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AI Moral Parliament</a:t>
            </a:r>
            <a:endParaRPr/>
          </a:p>
        </p:txBody>
      </p:sp>
      <p:sp>
        <p:nvSpPr>
          <p:cNvPr id="932" name="Google Shape;932;p95"/>
          <p:cNvSpPr txBox="1"/>
          <p:nvPr>
            <p:ph idx="1" type="body"/>
          </p:nvPr>
        </p:nvSpPr>
        <p:spPr>
          <a:xfrm>
            <a:off x="311700" y="857250"/>
            <a:ext cx="8520600" cy="97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AIs could represent moral perspectives and undergo democratic processes: discussing, negotiating, and voting.</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t/>
            </a:r>
            <a:endParaRPr sz="2000">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sz="2000">
              <a:solidFill>
                <a:schemeClr val="dk1"/>
              </a:solidFill>
              <a:latin typeface="Nunito"/>
              <a:ea typeface="Nunito"/>
              <a:cs typeface="Nunito"/>
              <a:sym typeface="Nunito"/>
            </a:endParaRPr>
          </a:p>
        </p:txBody>
      </p:sp>
      <p:sp>
        <p:nvSpPr>
          <p:cNvPr id="933" name="Google Shape;933;p9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934" name="Google Shape;934;p9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64</a:t>
            </a:fld>
            <a:endParaRPr b="0" i="0" sz="1300" u="none" cap="none" strike="noStrike">
              <a:solidFill>
                <a:srgbClr val="FFFFFF"/>
              </a:solidFill>
              <a:latin typeface="Nunito"/>
              <a:ea typeface="Nunito"/>
              <a:cs typeface="Nunito"/>
              <a:sym typeface="Nunito"/>
            </a:endParaRPr>
          </a:p>
        </p:txBody>
      </p:sp>
      <p:sp>
        <p:nvSpPr>
          <p:cNvPr id="935" name="Google Shape;935;p9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pic>
        <p:nvPicPr>
          <p:cNvPr id="936" name="Google Shape;936;p95"/>
          <p:cNvPicPr preferRelativeResize="0"/>
          <p:nvPr/>
        </p:nvPicPr>
        <p:blipFill rotWithShape="1">
          <a:blip r:embed="rId3">
            <a:alphaModFix/>
          </a:blip>
          <a:srcRect b="0" l="0" r="0" t="0"/>
          <a:stretch/>
        </p:blipFill>
        <p:spPr>
          <a:xfrm>
            <a:off x="1816850" y="2910537"/>
            <a:ext cx="5253252" cy="1794413"/>
          </a:xfrm>
          <a:prstGeom prst="rect">
            <a:avLst/>
          </a:prstGeom>
          <a:noFill/>
          <a:ln>
            <a:noFill/>
          </a:ln>
        </p:spPr>
      </p:pic>
      <p:sp>
        <p:nvSpPr>
          <p:cNvPr id="937" name="Google Shape;937;p95"/>
          <p:cNvSpPr txBox="1"/>
          <p:nvPr>
            <p:ph idx="1" type="body"/>
          </p:nvPr>
        </p:nvSpPr>
        <p:spPr>
          <a:xfrm>
            <a:off x="311875" y="1686125"/>
            <a:ext cx="8520600" cy="97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latin typeface="Nunito"/>
                <a:ea typeface="Nunito"/>
                <a:cs typeface="Nunito"/>
                <a:sym typeface="Nunito"/>
              </a:rPr>
              <a:t>Stakeholder representation can place AIs to represent the views of affected parties. Example: in a local transportation matter, an AI for each of residents, corporations, environmental groups, etc. </a:t>
            </a:r>
            <a:endParaRPr sz="2000">
              <a:solidFill>
                <a:schemeClr val="dk1"/>
              </a:solidFill>
              <a:latin typeface="Nunito"/>
              <a:ea typeface="Nunito"/>
              <a:cs typeface="Nunito"/>
              <a:sym typeface="Nunito"/>
            </a:endParaRPr>
          </a:p>
          <a:p>
            <a:pPr indent="0" lvl="0" marL="0" rtl="0" algn="l">
              <a:lnSpc>
                <a:spcPct val="115000"/>
              </a:lnSpc>
              <a:spcBef>
                <a:spcPts val="1600"/>
              </a:spcBef>
              <a:spcAft>
                <a:spcPts val="0"/>
              </a:spcAft>
              <a:buSzPts val="1800"/>
              <a:buNone/>
            </a:pPr>
            <a:r>
              <a:t/>
            </a:r>
            <a:endParaRPr sz="2000">
              <a:latin typeface="Nunito"/>
              <a:ea typeface="Nunito"/>
              <a:cs typeface="Nunito"/>
              <a:sym typeface="Nunito"/>
            </a:endParaRPr>
          </a:p>
          <a:p>
            <a:pPr indent="0" lvl="0" marL="0" rtl="0" algn="l">
              <a:lnSpc>
                <a:spcPct val="115000"/>
              </a:lnSpc>
              <a:spcBef>
                <a:spcPts val="1600"/>
              </a:spcBef>
              <a:spcAft>
                <a:spcPts val="1600"/>
              </a:spcAft>
              <a:buSzPts val="1800"/>
              <a:buNone/>
            </a:pPr>
            <a:r>
              <a:t/>
            </a:r>
            <a:endParaRPr sz="2000">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300"/>
                                        <p:tgtEl>
                                          <p:spTgt spid="9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
                                        </p:tgtEl>
                                        <p:attrNameLst>
                                          <p:attrName>style.visibility</p:attrName>
                                        </p:attrNameLst>
                                      </p:cBhvr>
                                      <p:to>
                                        <p:strVal val="visible"/>
                                      </p:to>
                                    </p:set>
                                    <p:animEffect filter="fade" transition="in">
                                      <p:cBhvr>
                                        <p:cTn dur="300"/>
                                        <p:tgtEl>
                                          <p:spTgt spid="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300"/>
                                        <p:tgtEl>
                                          <p:spTgt spid="9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96"/>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Advantages of Moral Parliament</a:t>
            </a:r>
            <a:endParaRPr/>
          </a:p>
        </p:txBody>
      </p:sp>
      <p:sp>
        <p:nvSpPr>
          <p:cNvPr id="943" name="Google Shape;943;p96"/>
          <p:cNvSpPr txBox="1"/>
          <p:nvPr>
            <p:ph idx="1" type="body"/>
          </p:nvPr>
        </p:nvSpPr>
        <p:spPr>
          <a:xfrm>
            <a:off x="311700" y="857250"/>
            <a:ext cx="8520600" cy="3570900"/>
          </a:xfrm>
          <a:prstGeom prst="rect">
            <a:avLst/>
          </a:prstGeom>
          <a:noFill/>
          <a:ln>
            <a:noFill/>
          </a:ln>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Diverse set of views and scalably represent new moral views. </a:t>
            </a:r>
            <a:endParaRPr sz="2000">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Increase transparency by keeping account of how different perspectives were considered and weighted. </a:t>
            </a:r>
            <a:endParaRPr sz="2000">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Encourage compromise and negotiation. </a:t>
            </a:r>
            <a:endParaRPr sz="2000">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Avoid overlooking moral views, and allows for human values to change over time.</a:t>
            </a:r>
            <a:endParaRPr sz="2000">
              <a:solidFill>
                <a:schemeClr val="dk1"/>
              </a:solidFill>
              <a:latin typeface="Nunito"/>
              <a:ea typeface="Nunito"/>
              <a:cs typeface="Nunito"/>
              <a:sym typeface="Nunito"/>
            </a:endParaRPr>
          </a:p>
        </p:txBody>
      </p:sp>
      <p:sp>
        <p:nvSpPr>
          <p:cNvPr id="944" name="Google Shape;944;p9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945" name="Google Shape;945;p9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65</a:t>
            </a:fld>
            <a:endParaRPr b="0" i="0" sz="1300" u="none" cap="none" strike="noStrike">
              <a:solidFill>
                <a:srgbClr val="FFFFFF"/>
              </a:solidFill>
              <a:latin typeface="Nunito"/>
              <a:ea typeface="Nunito"/>
              <a:cs typeface="Nunito"/>
              <a:sym typeface="Nunito"/>
            </a:endParaRPr>
          </a:p>
        </p:txBody>
      </p:sp>
      <p:sp>
        <p:nvSpPr>
          <p:cNvPr id="946" name="Google Shape;946;p9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0" st="0"/>
                                            </p:txEl>
                                          </p:spTgt>
                                        </p:tgtEl>
                                        <p:attrNameLst>
                                          <p:attrName>style.visibility</p:attrName>
                                        </p:attrNameLst>
                                      </p:cBhvr>
                                      <p:to>
                                        <p:strVal val="visible"/>
                                      </p:to>
                                    </p:set>
                                    <p:animEffect filter="fade" transition="in">
                                      <p:cBhvr>
                                        <p:cTn dur="300"/>
                                        <p:tgtEl>
                                          <p:spTgt spid="9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1" st="1"/>
                                            </p:txEl>
                                          </p:spTgt>
                                        </p:tgtEl>
                                        <p:attrNameLst>
                                          <p:attrName>style.visibility</p:attrName>
                                        </p:attrNameLst>
                                      </p:cBhvr>
                                      <p:to>
                                        <p:strVal val="visible"/>
                                      </p:to>
                                    </p:set>
                                    <p:animEffect filter="fade" transition="in">
                                      <p:cBhvr>
                                        <p:cTn dur="300"/>
                                        <p:tgtEl>
                                          <p:spTgt spid="9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2" st="2"/>
                                            </p:txEl>
                                          </p:spTgt>
                                        </p:tgtEl>
                                        <p:attrNameLst>
                                          <p:attrName>style.visibility</p:attrName>
                                        </p:attrNameLst>
                                      </p:cBhvr>
                                      <p:to>
                                        <p:strVal val="visible"/>
                                      </p:to>
                                    </p:set>
                                    <p:animEffect filter="fade" transition="in">
                                      <p:cBhvr>
                                        <p:cTn dur="300"/>
                                        <p:tgtEl>
                                          <p:spTgt spid="9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3" st="3"/>
                                            </p:txEl>
                                          </p:spTgt>
                                        </p:tgtEl>
                                        <p:attrNameLst>
                                          <p:attrName>style.visibility</p:attrName>
                                        </p:attrNameLst>
                                      </p:cBhvr>
                                      <p:to>
                                        <p:strVal val="visible"/>
                                      </p:to>
                                    </p:set>
                                    <p:animEffect filter="fade" transition="in">
                                      <p:cBhvr>
                                        <p:cTn dur="300"/>
                                        <p:tgtEl>
                                          <p:spTgt spid="94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97"/>
          <p:cNvSpPr txBox="1"/>
          <p:nvPr>
            <p:ph type="title"/>
          </p:nvPr>
        </p:nvSpPr>
        <p:spPr>
          <a:xfrm>
            <a:off x="423625" y="559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Recap</a:t>
            </a:r>
            <a:endParaRPr sz="3600">
              <a:latin typeface="Nunito"/>
              <a:ea typeface="Nunito"/>
              <a:cs typeface="Nunito"/>
              <a:sym typeface="Nunito"/>
            </a:endParaRPr>
          </a:p>
        </p:txBody>
      </p:sp>
      <p:sp>
        <p:nvSpPr>
          <p:cNvPr id="952" name="Google Shape;952;p97"/>
          <p:cNvSpPr txBox="1"/>
          <p:nvPr/>
        </p:nvSpPr>
        <p:spPr>
          <a:xfrm>
            <a:off x="367450" y="817200"/>
            <a:ext cx="8776500" cy="3667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Law: </a:t>
            </a:r>
            <a:r>
              <a:rPr b="0" i="1" lang="en" sz="2000" u="none" cap="none" strike="noStrike">
                <a:solidFill>
                  <a:schemeClr val="dk1"/>
                </a:solidFill>
                <a:latin typeface="Nunito"/>
                <a:ea typeface="Nunito"/>
                <a:cs typeface="Nunito"/>
                <a:sym typeface="Nunito"/>
              </a:rPr>
              <a:t>Make AIs follow the law.</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Fairness: </a:t>
            </a:r>
            <a:r>
              <a:rPr b="0" i="1" lang="en" sz="2000" u="none" cap="none" strike="noStrike">
                <a:solidFill>
                  <a:schemeClr val="dk1"/>
                </a:solidFill>
                <a:latin typeface="Nunito"/>
                <a:ea typeface="Nunito"/>
                <a:cs typeface="Nunito"/>
                <a:sym typeface="Nunito"/>
              </a:rPr>
              <a:t>Make AIs be fair.</a:t>
            </a:r>
            <a:endParaRPr b="0" i="1" sz="2000" u="none" cap="none" strike="noStrike">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 Economic Engine: </a:t>
            </a:r>
            <a:r>
              <a:rPr i="1" lang="en" sz="2000">
                <a:solidFill>
                  <a:schemeClr val="dk1"/>
                </a:solidFill>
                <a:latin typeface="Nunito"/>
                <a:ea typeface="Nunito"/>
                <a:cs typeface="Nunito"/>
                <a:sym typeface="Nunito"/>
              </a:rPr>
              <a:t>Let the economy decide.</a:t>
            </a:r>
            <a:endParaRPr i="1" sz="2000">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Wellbeing: </a:t>
            </a:r>
            <a:r>
              <a:rPr i="1" lang="en" sz="2000">
                <a:solidFill>
                  <a:schemeClr val="dk1"/>
                </a:solidFill>
                <a:latin typeface="Nunito"/>
                <a:ea typeface="Nunito"/>
                <a:cs typeface="Nunito"/>
                <a:sym typeface="Nunito"/>
              </a:rPr>
              <a:t>AIs should improve people’s lives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Preferences: </a:t>
            </a:r>
            <a:r>
              <a:rPr b="0" i="1" lang="en" sz="2000" u="none" cap="none" strike="noStrike">
                <a:solidFill>
                  <a:schemeClr val="dk1"/>
                </a:solidFill>
                <a:latin typeface="Nunito"/>
                <a:ea typeface="Nunito"/>
                <a:cs typeface="Nunito"/>
                <a:sym typeface="Nunito"/>
              </a:rPr>
              <a:t>Make AIs satisfy people’s preferences.</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Happiness: </a:t>
            </a:r>
            <a:r>
              <a:rPr b="0" i="1" lang="en" sz="2000" u="none" cap="none" strike="noStrike">
                <a:solidFill>
                  <a:schemeClr val="dk1"/>
                </a:solidFill>
                <a:latin typeface="Nunito"/>
                <a:ea typeface="Nunito"/>
                <a:cs typeface="Nunito"/>
                <a:sym typeface="Nunito"/>
              </a:rPr>
              <a:t>Make AIs make people happy.</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Moral uncertainty: </a:t>
            </a:r>
            <a:r>
              <a:rPr i="1" lang="en" sz="2000">
                <a:solidFill>
                  <a:schemeClr val="dk1"/>
                </a:solidFill>
                <a:latin typeface="Nunito"/>
                <a:ea typeface="Nunito"/>
                <a:cs typeface="Nunito"/>
                <a:sym typeface="Nunito"/>
              </a:rPr>
              <a:t>Deciding without knowing the “correct” moral theory</a:t>
            </a:r>
            <a:endParaRPr i="1" sz="2000">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50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p:txBody>
      </p:sp>
      <p:sp>
        <p:nvSpPr>
          <p:cNvPr id="953" name="Google Shape;953;p9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954" name="Google Shape;954;p9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66</a:t>
            </a:fld>
            <a:endParaRPr b="0" i="0" sz="1300" u="none" cap="none" strike="noStrike">
              <a:solidFill>
                <a:srgbClr val="FFFFFF"/>
              </a:solidFill>
              <a:latin typeface="Nunito"/>
              <a:ea typeface="Nunito"/>
              <a:cs typeface="Nunito"/>
              <a:sym typeface="Nunito"/>
            </a:endParaRPr>
          </a:p>
        </p:txBody>
      </p:sp>
      <p:sp>
        <p:nvSpPr>
          <p:cNvPr id="955" name="Google Shape;955;p9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