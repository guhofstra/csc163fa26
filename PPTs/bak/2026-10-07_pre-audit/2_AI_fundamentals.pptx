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336" r:id="rId32"/>
  </p:sldIdLst>
  <p:sldSz cx="9144000" cy="5143500" type="screen16x9"/>
  <p:notesSz cx="6858000" cy="9144000"/>
  <p:embeddedFontLst>
    <p:embeddedFont>
      <p:font typeface="Nunito" pitchFamily="2" charset="0"/>
      <p:regular r:id="rId34"/>
      <p:bold r:id="rId35"/>
      <p:italic r:id="rId36"/>
      <p:boldItalic r:id="rId37"/>
    </p:embeddedFont>
    <p:embeddedFont>
      <p:font typeface="Nunito Light" pitchFamily="2" charset="0"/>
      <p:regular r:id="rId38"/>
      <p:bold r:id="rId39"/>
      <p:italic r:id="rId40"/>
      <p:boldItalic r:id="rId41"/>
    </p:embeddedFont>
    <p:embeddedFont>
      <p:font typeface="Port Lligat Sans" panose="020B0604020202020204" charset="0"/>
      <p:regular r:id="rId42"/>
    </p:embeddedFont>
    <p:embeddedFont>
      <p:font typeface="Telex" panose="020B0604020202020204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pos="5184">
          <p15:clr>
            <a:srgbClr val="A4A3A4"/>
          </p15:clr>
        </p15:guide>
        <p15:guide id="3" pos="576">
          <p15:clr>
            <a:srgbClr val="747775"/>
          </p15:clr>
        </p15:guide>
        <p15:guide id="4" orient="horz" pos="10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720"/>
        <p:guide pos="5184"/>
        <p:guide pos="576"/>
        <p:guide orient="horz" pos="1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74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aimultiple.com/image-classific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thinkautonomous.ai/blog/lidar-datasets/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74fb14c71_0_2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a74fb14c71_0_2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74fb14c71_0_2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2a74fb14c71_0_2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74fb14c71_0_2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a74fb14c71_0_2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74fb14c71_0_2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a74fb14c71_0_2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74fb14c71_0_2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a74fb14c71_0_2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74fb14c71_0_2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2a74fb14c71_0_2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74fb14c71_0_2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2a74fb14c71_0_2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74fb14c71_0_2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2a74fb14c71_0_2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cc6d9b9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2acc6d9b9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acc6d9b92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2acc6d9b92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74fb14c71_0_2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2a74fb14c71_0_2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ML models can be intricate and varied, making understanding their characteristics and distinctions a challenge. It can be helpful to focus on key high-level aspects that almost all ML systems have, to abstract away from the details.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74fb14c71_0_2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2a74fb14c71_0_2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classification image from: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https://research.aimultiple.com/image-classification/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from: https://www.datacamp.com/tutorial/comprehensive-introduction-graph-neural-networks-gnns-tutorial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Lidar image from: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https://www.thinkautonomous.ai/blog/lidar-datasets/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a74fb14c71_0_2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2a74fb14c71_0_2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74fb14c71_0_2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2a74fb14c71_0_2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a74fb14c71_0_2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g2a74fb14c71_0_2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74fb14c71_0_2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g2a74fb14c71_0_2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a74fb14c71_0_2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g2a74fb14c71_0_2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a74fb14c71_0_2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a74fb14c71_0_26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a74fb14c71_0_2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2a74fb14c71_0_2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a74fb14c71_0_2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g2a74fb14c71_0_2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a74fb14c71_0_2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2a74fb14c71_0_2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a74fb14c71_0_2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g2a74fb14c71_0_2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a74fb14c71_0_2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g2a74fb14c71_0_2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a74fb14c71_0_2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g2a74fb14c71_0_2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a74fb14c71_0_2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g2a74fb14c71_0_2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aa295dbd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g2aa295dbd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a74fb14c71_0_2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g2a74fb14c71_0_2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74fb14c71_0_2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g2a74fb14c71_0_2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a74fb14c71_0_2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2a74fb14c71_0_2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a74fb14c71_0_2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2a74fb14c71_0_2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a74fb14c71_0_4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7" name="Google Shape;1777;g2a74fb14c71_0_4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sz="2800" b="0" i="0" u="none" strike="noStrike" cap="non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elex"/>
              <a:buChar char="●"/>
              <a:defRPr sz="18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■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●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■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●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Telex"/>
              <a:buChar char="■"/>
              <a:defRPr sz="1400" b="0" i="0" u="none" strike="noStrike" cap="non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937695"/>
            <a:ext cx="9144000" cy="22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Introduction to</a:t>
            </a:r>
            <a:endParaRPr sz="4000" b="0" i="0" u="none" strike="noStrike" cap="non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AI Safety, Ethics, and Society</a:t>
            </a:r>
            <a:endParaRPr sz="4000" b="0" i="0" u="none" strike="noStrike" cap="non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Artificial Intelligence Fundamentals</a:t>
            </a:r>
            <a:endParaRPr sz="3000" b="0" i="0" u="none" strike="noStrike" cap="non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23450" y="192285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Artificial Intelligence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67675" y="29300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Definitions, history, and types</a:t>
            </a:r>
            <a:endParaRPr sz="2000" b="0" i="1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Definition of AI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423400" y="741000"/>
            <a:ext cx="8720700" cy="3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There is no single universally-accepted definition of “artificial intelligence.” It is used to describe different (but related) ideas: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Branch of computer science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Type of machine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Tool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Component of a business model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Philosophical idea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Our definition: computer systems that perform tasks typically associated with intelligence such as problem solving, decision making, forecasting.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Modern History of AI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9036850" y="1521625"/>
            <a:ext cx="107100" cy="130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grpSp>
        <p:nvGrpSpPr>
          <p:cNvPr id="95" name="Google Shape;95;p17"/>
          <p:cNvGrpSpPr/>
          <p:nvPr/>
        </p:nvGrpSpPr>
        <p:grpSpPr>
          <a:xfrm>
            <a:off x="7922387" y="2629618"/>
            <a:ext cx="1446840" cy="2232056"/>
            <a:chOff x="8024750" y="2612175"/>
            <a:chExt cx="1484700" cy="2249150"/>
          </a:xfrm>
        </p:grpSpPr>
        <p:cxnSp>
          <p:nvCxnSpPr>
            <p:cNvPr id="96" name="Google Shape;96;p17"/>
            <p:cNvCxnSpPr/>
            <p:nvPr/>
          </p:nvCxnSpPr>
          <p:spPr>
            <a:xfrm rot="10800000" flipH="1">
              <a:off x="8939225" y="2612175"/>
              <a:ext cx="900" cy="185610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7" name="Google Shape;97;p17"/>
            <p:cNvSpPr/>
            <p:nvPr/>
          </p:nvSpPr>
          <p:spPr>
            <a:xfrm>
              <a:off x="8390300" y="4436138"/>
              <a:ext cx="753600" cy="2643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E691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8024750" y="4369625"/>
              <a:ext cx="1484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ChatGPT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9" name="Google Shape;99;p17"/>
          <p:cNvGrpSpPr/>
          <p:nvPr/>
        </p:nvGrpSpPr>
        <p:grpSpPr>
          <a:xfrm>
            <a:off x="7699678" y="1865892"/>
            <a:ext cx="2161636" cy="749014"/>
            <a:chOff x="7034213" y="1842600"/>
            <a:chExt cx="2218200" cy="754750"/>
          </a:xfrm>
        </p:grpSpPr>
        <p:grpSp>
          <p:nvGrpSpPr>
            <p:cNvPr id="100" name="Google Shape;100;p17"/>
            <p:cNvGrpSpPr/>
            <p:nvPr/>
          </p:nvGrpSpPr>
          <p:grpSpPr>
            <a:xfrm>
              <a:off x="7034256" y="1854375"/>
              <a:ext cx="2086048" cy="742975"/>
              <a:chOff x="929825" y="1997850"/>
              <a:chExt cx="2221800" cy="742975"/>
            </a:xfrm>
          </p:grpSpPr>
          <p:sp>
            <p:nvSpPr>
              <p:cNvPr id="101" name="Google Shape;101;p17"/>
              <p:cNvSpPr/>
              <p:nvPr/>
            </p:nvSpPr>
            <p:spPr>
              <a:xfrm>
                <a:off x="2260925" y="2137125"/>
                <a:ext cx="8907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E69138"/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02" name="Google Shape;102;p17"/>
              <p:cNvSpPr/>
              <p:nvPr/>
            </p:nvSpPr>
            <p:spPr>
              <a:xfrm>
                <a:off x="2234850" y="2124050"/>
                <a:ext cx="8907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E69138"/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grpSp>
            <p:nvGrpSpPr>
              <p:cNvPr id="103" name="Google Shape;103;p17"/>
              <p:cNvGrpSpPr/>
              <p:nvPr/>
            </p:nvGrpSpPr>
            <p:grpSpPr>
              <a:xfrm>
                <a:off x="1724767" y="1997850"/>
                <a:ext cx="677002" cy="403636"/>
                <a:chOff x="1724767" y="1997850"/>
                <a:chExt cx="677002" cy="403636"/>
              </a:xfrm>
            </p:grpSpPr>
            <p:grpSp>
              <p:nvGrpSpPr>
                <p:cNvPr id="104" name="Google Shape;104;p17"/>
                <p:cNvGrpSpPr/>
                <p:nvPr/>
              </p:nvGrpSpPr>
              <p:grpSpPr>
                <a:xfrm>
                  <a:off x="1850775" y="1997850"/>
                  <a:ext cx="361500" cy="385607"/>
                  <a:chOff x="1850775" y="1997850"/>
                  <a:chExt cx="361500" cy="385607"/>
                </a:xfrm>
              </p:grpSpPr>
              <p:sp>
                <p:nvSpPr>
                  <p:cNvPr id="105" name="Google Shape;105;p17"/>
                  <p:cNvSpPr/>
                  <p:nvPr/>
                </p:nvSpPr>
                <p:spPr>
                  <a:xfrm rot="-2700000">
                    <a:off x="1897033" y="2081580"/>
                    <a:ext cx="268983" cy="242255"/>
                  </a:xfrm>
                  <a:prstGeom prst="teardrop">
                    <a:avLst>
                      <a:gd name="adj" fmla="val 100000"/>
                    </a:avLst>
                  </a:prstGeom>
                  <a:solidFill>
                    <a:srgbClr val="E69138"/>
                  </a:solidFill>
                  <a:ln w="9525" cap="flat" cmpd="sng">
                    <a:solidFill>
                      <a:srgbClr val="E69138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06" name="Google Shape;106;p17"/>
                  <p:cNvSpPr/>
                  <p:nvPr/>
                </p:nvSpPr>
                <p:spPr>
                  <a:xfrm>
                    <a:off x="2025875" y="1997850"/>
                    <a:ext cx="26100" cy="5940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E69138"/>
                  </a:solidFill>
                  <a:ln w="9525" cap="flat" cmpd="sng">
                    <a:solidFill>
                      <a:srgbClr val="E69138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</p:grpSp>
            <p:sp>
              <p:nvSpPr>
                <p:cNvPr id="107" name="Google Shape;107;p17"/>
                <p:cNvSpPr/>
                <p:nvPr/>
              </p:nvSpPr>
              <p:spPr>
                <a:xfrm rot="-1379323">
                  <a:off x="1829457" y="2102297"/>
                  <a:ext cx="268852" cy="242105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E69138"/>
                </a:solidFill>
                <a:ln w="9525" cap="flat" cmpd="sng">
                  <a:solidFill>
                    <a:srgbClr val="E6913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08" name="Google Shape;108;p17"/>
                <p:cNvSpPr/>
                <p:nvPr/>
              </p:nvSpPr>
              <p:spPr>
                <a:xfrm rot="-438443">
                  <a:off x="1739125" y="2114210"/>
                  <a:ext cx="268884" cy="241981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E69138"/>
                </a:solidFill>
                <a:ln w="9525" cap="flat" cmpd="sng">
                  <a:solidFill>
                    <a:srgbClr val="E6913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09" name="Google Shape;109;p17"/>
                <p:cNvSpPr/>
                <p:nvPr/>
              </p:nvSpPr>
              <p:spPr>
                <a:xfrm rot="-4491759">
                  <a:off x="2008128" y="2119025"/>
                  <a:ext cx="268828" cy="242121"/>
                </a:xfrm>
                <a:prstGeom prst="teardrop">
                  <a:avLst>
                    <a:gd name="adj" fmla="val 116147"/>
                  </a:avLst>
                </a:prstGeom>
                <a:solidFill>
                  <a:srgbClr val="E69138"/>
                </a:solidFill>
                <a:ln w="9525" cap="flat" cmpd="sng">
                  <a:solidFill>
                    <a:srgbClr val="E6913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10" name="Google Shape;110;p17"/>
                <p:cNvSpPr/>
                <p:nvPr/>
              </p:nvSpPr>
              <p:spPr>
                <a:xfrm rot="-5400000">
                  <a:off x="2146319" y="2131926"/>
                  <a:ext cx="268800" cy="242100"/>
                </a:xfrm>
                <a:prstGeom prst="teardrop">
                  <a:avLst>
                    <a:gd name="adj" fmla="val 116147"/>
                  </a:avLst>
                </a:prstGeom>
                <a:solidFill>
                  <a:srgbClr val="E69138"/>
                </a:solidFill>
                <a:ln w="9525" cap="flat" cmpd="sng">
                  <a:solidFill>
                    <a:srgbClr val="E6913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sp>
            <p:nvSpPr>
              <p:cNvPr id="111" name="Google Shape;111;p17"/>
              <p:cNvSpPr/>
              <p:nvPr/>
            </p:nvSpPr>
            <p:spPr>
              <a:xfrm flipH="1">
                <a:off x="966925" y="2124050"/>
                <a:ext cx="9393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E69138"/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 flipH="1">
                <a:off x="929825" y="2132350"/>
                <a:ext cx="8859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E69138"/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13" name="Google Shape;113;p17"/>
              <p:cNvSpPr/>
              <p:nvPr/>
            </p:nvSpPr>
            <p:spPr>
              <a:xfrm>
                <a:off x="929825" y="2321725"/>
                <a:ext cx="2221800" cy="419100"/>
              </a:xfrm>
              <a:prstGeom prst="rect">
                <a:avLst/>
              </a:prstGeom>
              <a:solidFill>
                <a:srgbClr val="E69138"/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114" name="Google Shape;114;p17"/>
            <p:cNvSpPr/>
            <p:nvPr/>
          </p:nvSpPr>
          <p:spPr>
            <a:xfrm rot="5400000">
              <a:off x="8011163" y="865650"/>
              <a:ext cx="264300" cy="2218200"/>
            </a:xfrm>
            <a:prstGeom prst="leftBrace">
              <a:avLst>
                <a:gd name="adj1" fmla="val 84695"/>
                <a:gd name="adj2" fmla="val 5308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4764203" y="1865892"/>
            <a:ext cx="2935490" cy="746384"/>
            <a:chOff x="4783925" y="1842600"/>
            <a:chExt cx="3012304" cy="752100"/>
          </a:xfrm>
        </p:grpSpPr>
        <p:grpSp>
          <p:nvGrpSpPr>
            <p:cNvPr id="116" name="Google Shape;116;p17"/>
            <p:cNvGrpSpPr/>
            <p:nvPr/>
          </p:nvGrpSpPr>
          <p:grpSpPr>
            <a:xfrm>
              <a:off x="4783925" y="1882410"/>
              <a:ext cx="3012300" cy="712290"/>
              <a:chOff x="4783925" y="1882410"/>
              <a:chExt cx="3012300" cy="712290"/>
            </a:xfrm>
          </p:grpSpPr>
          <p:sp>
            <p:nvSpPr>
              <p:cNvPr id="117" name="Google Shape;117;p17"/>
              <p:cNvSpPr/>
              <p:nvPr/>
            </p:nvSpPr>
            <p:spPr>
              <a:xfrm rot="-2532165">
                <a:off x="6224951" y="1909950"/>
                <a:ext cx="130404" cy="125521"/>
              </a:xfrm>
              <a:prstGeom prst="teardrop">
                <a:avLst>
                  <a:gd name="adj" fmla="val 133291"/>
                </a:avLst>
              </a:prstGeom>
              <a:solidFill>
                <a:srgbClr val="EA9999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grpSp>
            <p:nvGrpSpPr>
              <p:cNvPr id="118" name="Google Shape;118;p17"/>
              <p:cNvGrpSpPr/>
              <p:nvPr/>
            </p:nvGrpSpPr>
            <p:grpSpPr>
              <a:xfrm>
                <a:off x="5973248" y="1928130"/>
                <a:ext cx="341822" cy="168966"/>
                <a:chOff x="3256742" y="1929699"/>
                <a:chExt cx="293158" cy="171140"/>
              </a:xfrm>
            </p:grpSpPr>
            <p:sp>
              <p:nvSpPr>
                <p:cNvPr id="119" name="Google Shape;119;p17"/>
                <p:cNvSpPr/>
                <p:nvPr/>
              </p:nvSpPr>
              <p:spPr>
                <a:xfrm rot="-1472264">
                  <a:off x="3410020" y="1949674"/>
                  <a:ext cx="121360" cy="115451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0" name="Google Shape;120;p17"/>
                <p:cNvSpPr/>
                <p:nvPr/>
              </p:nvSpPr>
              <p:spPr>
                <a:xfrm rot="-710256">
                  <a:off x="3355784" y="1971548"/>
                  <a:ext cx="121381" cy="115263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1" name="Google Shape;121;p17"/>
                <p:cNvSpPr/>
                <p:nvPr/>
              </p:nvSpPr>
              <p:spPr>
                <a:xfrm rot="416972">
                  <a:off x="3263196" y="1978774"/>
                  <a:ext cx="121493" cy="115130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22" name="Google Shape;122;p17"/>
              <p:cNvGrpSpPr/>
              <p:nvPr/>
            </p:nvGrpSpPr>
            <p:grpSpPr>
              <a:xfrm flipH="1">
                <a:off x="6256089" y="1928131"/>
                <a:ext cx="341851" cy="168966"/>
                <a:chOff x="3256742" y="1929699"/>
                <a:chExt cx="293158" cy="171140"/>
              </a:xfrm>
            </p:grpSpPr>
            <p:sp>
              <p:nvSpPr>
                <p:cNvPr id="123" name="Google Shape;123;p17"/>
                <p:cNvSpPr/>
                <p:nvPr/>
              </p:nvSpPr>
              <p:spPr>
                <a:xfrm rot="-1472264">
                  <a:off x="3410020" y="1949674"/>
                  <a:ext cx="121360" cy="115451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4" name="Google Shape;124;p17"/>
                <p:cNvSpPr/>
                <p:nvPr/>
              </p:nvSpPr>
              <p:spPr>
                <a:xfrm rot="-710256">
                  <a:off x="3355784" y="1971548"/>
                  <a:ext cx="121381" cy="115263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5" name="Google Shape;125;p17"/>
                <p:cNvSpPr/>
                <p:nvPr/>
              </p:nvSpPr>
              <p:spPr>
                <a:xfrm rot="416972">
                  <a:off x="3263196" y="1978774"/>
                  <a:ext cx="121493" cy="115130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26" name="Google Shape;126;p17"/>
              <p:cNvGrpSpPr/>
              <p:nvPr/>
            </p:nvGrpSpPr>
            <p:grpSpPr>
              <a:xfrm>
                <a:off x="7455500" y="1962553"/>
                <a:ext cx="336300" cy="214772"/>
                <a:chOff x="6387450" y="1959878"/>
                <a:chExt cx="336300" cy="214772"/>
              </a:xfrm>
            </p:grpSpPr>
            <p:sp>
              <p:nvSpPr>
                <p:cNvPr id="127" name="Google Shape;127;p17"/>
                <p:cNvSpPr/>
                <p:nvPr/>
              </p:nvSpPr>
              <p:spPr>
                <a:xfrm>
                  <a:off x="6387450" y="2019550"/>
                  <a:ext cx="336300" cy="1551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8" name="Google Shape;128;p17"/>
                <p:cNvSpPr/>
                <p:nvPr/>
              </p:nvSpPr>
              <p:spPr>
                <a:xfrm rot="1125160">
                  <a:off x="6537737" y="1994853"/>
                  <a:ext cx="153974" cy="101416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29" name="Google Shape;129;p17"/>
                <p:cNvSpPr/>
                <p:nvPr/>
              </p:nvSpPr>
              <p:spPr>
                <a:xfrm rot="1125160">
                  <a:off x="6494683" y="1981920"/>
                  <a:ext cx="153974" cy="101416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30" name="Google Shape;130;p17"/>
              <p:cNvGrpSpPr/>
              <p:nvPr/>
            </p:nvGrpSpPr>
            <p:grpSpPr>
              <a:xfrm flipH="1">
                <a:off x="4789847" y="1961801"/>
                <a:ext cx="341901" cy="212634"/>
                <a:chOff x="3611975" y="1964084"/>
                <a:chExt cx="293100" cy="215391"/>
              </a:xfrm>
            </p:grpSpPr>
            <p:sp>
              <p:nvSpPr>
                <p:cNvPr id="131" name="Google Shape;131;p17"/>
                <p:cNvSpPr/>
                <p:nvPr/>
              </p:nvSpPr>
              <p:spPr>
                <a:xfrm>
                  <a:off x="3611975" y="2022275"/>
                  <a:ext cx="293100" cy="1572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32" name="Google Shape;132;p17"/>
                <p:cNvSpPr/>
                <p:nvPr/>
              </p:nvSpPr>
              <p:spPr>
                <a:xfrm rot="1309506">
                  <a:off x="3739625" y="1998641"/>
                  <a:ext cx="134759" cy="99886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33" name="Google Shape;133;p17"/>
                <p:cNvSpPr/>
                <p:nvPr/>
              </p:nvSpPr>
              <p:spPr>
                <a:xfrm rot="1309506">
                  <a:off x="3702700" y="1985541"/>
                  <a:ext cx="134759" cy="99886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rgbClr val="EA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sp>
            <p:nvSpPr>
              <p:cNvPr id="134" name="Google Shape;134;p17"/>
              <p:cNvSpPr/>
              <p:nvPr/>
            </p:nvSpPr>
            <p:spPr>
              <a:xfrm>
                <a:off x="4983950" y="1979750"/>
                <a:ext cx="2643300" cy="212700"/>
              </a:xfrm>
              <a:prstGeom prst="rect">
                <a:avLst/>
              </a:prstGeom>
              <a:solidFill>
                <a:srgbClr val="EA9999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4783925" y="2106900"/>
                <a:ext cx="3012300" cy="487800"/>
              </a:xfrm>
              <a:prstGeom prst="rect">
                <a:avLst/>
              </a:prstGeom>
              <a:solidFill>
                <a:srgbClr val="EA9999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136" name="Google Shape;136;p17"/>
            <p:cNvSpPr/>
            <p:nvPr/>
          </p:nvSpPr>
          <p:spPr>
            <a:xfrm rot="5400000">
              <a:off x="6157929" y="468600"/>
              <a:ext cx="264300" cy="3012300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3907921" y="1865892"/>
            <a:ext cx="856306" cy="746459"/>
            <a:chOff x="3905236" y="1842600"/>
            <a:chExt cx="878714" cy="752176"/>
          </a:xfrm>
        </p:grpSpPr>
        <p:grpSp>
          <p:nvGrpSpPr>
            <p:cNvPr id="138" name="Google Shape;138;p17"/>
            <p:cNvGrpSpPr/>
            <p:nvPr/>
          </p:nvGrpSpPr>
          <p:grpSpPr>
            <a:xfrm>
              <a:off x="3905236" y="1889917"/>
              <a:ext cx="878698" cy="704859"/>
              <a:chOff x="3151650" y="1890985"/>
              <a:chExt cx="753600" cy="713926"/>
            </a:xfrm>
          </p:grpSpPr>
          <p:sp>
            <p:nvSpPr>
              <p:cNvPr id="139" name="Google Shape;139;p17"/>
              <p:cNvSpPr/>
              <p:nvPr/>
            </p:nvSpPr>
            <p:spPr>
              <a:xfrm rot="-2820152">
                <a:off x="3467729" y="1917056"/>
                <a:ext cx="121414" cy="115258"/>
              </a:xfrm>
              <a:prstGeom prst="teardrop">
                <a:avLst>
                  <a:gd name="adj" fmla="val 133291"/>
                </a:avLst>
              </a:prstGeom>
              <a:solidFill>
                <a:srgbClr val="FFE599"/>
              </a:solidFill>
              <a:ln w="9525" cap="flat" cmpd="sng">
                <a:solidFill>
                  <a:srgbClr val="FFE5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grpSp>
            <p:nvGrpSpPr>
              <p:cNvPr id="140" name="Google Shape;140;p17"/>
              <p:cNvGrpSpPr/>
              <p:nvPr/>
            </p:nvGrpSpPr>
            <p:grpSpPr>
              <a:xfrm>
                <a:off x="3256742" y="1929699"/>
                <a:ext cx="293158" cy="171140"/>
                <a:chOff x="3256742" y="1929699"/>
                <a:chExt cx="293158" cy="171140"/>
              </a:xfrm>
            </p:grpSpPr>
            <p:sp>
              <p:nvSpPr>
                <p:cNvPr id="141" name="Google Shape;141;p17"/>
                <p:cNvSpPr/>
                <p:nvPr/>
              </p:nvSpPr>
              <p:spPr>
                <a:xfrm rot="-1472264">
                  <a:off x="3410020" y="1949674"/>
                  <a:ext cx="121360" cy="115451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42" name="Google Shape;142;p17"/>
                <p:cNvSpPr/>
                <p:nvPr/>
              </p:nvSpPr>
              <p:spPr>
                <a:xfrm rot="-710256">
                  <a:off x="3355784" y="1971548"/>
                  <a:ext cx="121381" cy="115263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43" name="Google Shape;143;p17"/>
                <p:cNvSpPr/>
                <p:nvPr/>
              </p:nvSpPr>
              <p:spPr>
                <a:xfrm rot="416972">
                  <a:off x="3263196" y="1978774"/>
                  <a:ext cx="121493" cy="115130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44" name="Google Shape;144;p17"/>
              <p:cNvGrpSpPr/>
              <p:nvPr/>
            </p:nvGrpSpPr>
            <p:grpSpPr>
              <a:xfrm>
                <a:off x="3499268" y="1929700"/>
                <a:ext cx="401003" cy="249787"/>
                <a:chOff x="3499268" y="1929700"/>
                <a:chExt cx="401003" cy="249787"/>
              </a:xfrm>
            </p:grpSpPr>
            <p:grpSp>
              <p:nvGrpSpPr>
                <p:cNvPr id="145" name="Google Shape;145;p17"/>
                <p:cNvGrpSpPr/>
                <p:nvPr/>
              </p:nvGrpSpPr>
              <p:grpSpPr>
                <a:xfrm flipH="1">
                  <a:off x="3499268" y="1929700"/>
                  <a:ext cx="293187" cy="171140"/>
                  <a:chOff x="3256742" y="1929699"/>
                  <a:chExt cx="293158" cy="171140"/>
                </a:xfrm>
              </p:grpSpPr>
              <p:sp>
                <p:nvSpPr>
                  <p:cNvPr id="146" name="Google Shape;146;p17"/>
                  <p:cNvSpPr/>
                  <p:nvPr/>
                </p:nvSpPr>
                <p:spPr>
                  <a:xfrm rot="-1472264">
                    <a:off x="3410020" y="1949674"/>
                    <a:ext cx="121360" cy="115451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FFE599"/>
                  </a:solidFill>
                  <a:ln w="9525" cap="flat" cmpd="sng">
                    <a:solidFill>
                      <a:srgbClr val="FFE5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47" name="Google Shape;147;p17"/>
                  <p:cNvSpPr/>
                  <p:nvPr/>
                </p:nvSpPr>
                <p:spPr>
                  <a:xfrm rot="-710256">
                    <a:off x="3355784" y="1971548"/>
                    <a:ext cx="121381" cy="115263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FFE599"/>
                  </a:solidFill>
                  <a:ln w="9525" cap="flat" cmpd="sng">
                    <a:solidFill>
                      <a:srgbClr val="FFE5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48" name="Google Shape;148;p17"/>
                  <p:cNvSpPr/>
                  <p:nvPr/>
                </p:nvSpPr>
                <p:spPr>
                  <a:xfrm rot="416972">
                    <a:off x="3263196" y="1978774"/>
                    <a:ext cx="121493" cy="115130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FFE599"/>
                  </a:solidFill>
                  <a:ln w="9525" cap="flat" cmpd="sng">
                    <a:solidFill>
                      <a:srgbClr val="FFE5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</p:grpSp>
            <p:sp>
              <p:nvSpPr>
                <p:cNvPr id="149" name="Google Shape;149;p17"/>
                <p:cNvSpPr/>
                <p:nvPr/>
              </p:nvSpPr>
              <p:spPr>
                <a:xfrm>
                  <a:off x="3611971" y="2022287"/>
                  <a:ext cx="288300" cy="1572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50" name="Google Shape;150;p17"/>
                <p:cNvSpPr/>
                <p:nvPr/>
              </p:nvSpPr>
              <p:spPr>
                <a:xfrm rot="1309506">
                  <a:off x="3739625" y="1998641"/>
                  <a:ext cx="134759" cy="99886"/>
                </a:xfrm>
                <a:prstGeom prst="ellipse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51" name="Google Shape;151;p17"/>
                <p:cNvSpPr/>
                <p:nvPr/>
              </p:nvSpPr>
              <p:spPr>
                <a:xfrm rot="1309506">
                  <a:off x="3702700" y="1985541"/>
                  <a:ext cx="134759" cy="99886"/>
                </a:xfrm>
                <a:prstGeom prst="ellipse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52" name="Google Shape;152;p17"/>
              <p:cNvGrpSpPr/>
              <p:nvPr/>
            </p:nvGrpSpPr>
            <p:grpSpPr>
              <a:xfrm flipH="1">
                <a:off x="3156847" y="1963795"/>
                <a:ext cx="293217" cy="215370"/>
                <a:chOff x="3611975" y="1964084"/>
                <a:chExt cx="293100" cy="215391"/>
              </a:xfrm>
            </p:grpSpPr>
            <p:sp>
              <p:nvSpPr>
                <p:cNvPr id="153" name="Google Shape;153;p17"/>
                <p:cNvSpPr/>
                <p:nvPr/>
              </p:nvSpPr>
              <p:spPr>
                <a:xfrm>
                  <a:off x="3611975" y="2022275"/>
                  <a:ext cx="293100" cy="1572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54" name="Google Shape;154;p17"/>
                <p:cNvSpPr/>
                <p:nvPr/>
              </p:nvSpPr>
              <p:spPr>
                <a:xfrm rot="1309506">
                  <a:off x="3739625" y="1998641"/>
                  <a:ext cx="134759" cy="99886"/>
                </a:xfrm>
                <a:prstGeom prst="ellipse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55" name="Google Shape;155;p17"/>
                <p:cNvSpPr/>
                <p:nvPr/>
              </p:nvSpPr>
              <p:spPr>
                <a:xfrm rot="1309506">
                  <a:off x="3702700" y="1985541"/>
                  <a:ext cx="134759" cy="99886"/>
                </a:xfrm>
                <a:prstGeom prst="ellipse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sp>
            <p:nvSpPr>
              <p:cNvPr id="156" name="Google Shape;156;p17"/>
              <p:cNvSpPr/>
              <p:nvPr/>
            </p:nvSpPr>
            <p:spPr>
              <a:xfrm flipH="1">
                <a:off x="3362521" y="2015855"/>
                <a:ext cx="293100" cy="157200"/>
              </a:xfrm>
              <a:prstGeom prst="round1Rect">
                <a:avLst>
                  <a:gd name="adj" fmla="val 50000"/>
                </a:avLst>
              </a:prstGeom>
              <a:solidFill>
                <a:srgbClr val="FFE599"/>
              </a:solidFill>
              <a:ln w="9525" cap="flat" cmpd="sng">
                <a:solidFill>
                  <a:srgbClr val="FFE5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3151650" y="2106911"/>
                <a:ext cx="753600" cy="4980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FFE5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158" name="Google Shape;158;p17"/>
            <p:cNvSpPr/>
            <p:nvPr/>
          </p:nvSpPr>
          <p:spPr>
            <a:xfrm rot="5400000">
              <a:off x="4212450" y="1535400"/>
              <a:ext cx="264300" cy="878700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3173551" y="1865892"/>
            <a:ext cx="734383" cy="747601"/>
            <a:chOff x="3151650" y="1842600"/>
            <a:chExt cx="753600" cy="753327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3151650" y="1891068"/>
              <a:ext cx="753600" cy="704859"/>
              <a:chOff x="3151650" y="1890985"/>
              <a:chExt cx="753600" cy="713926"/>
            </a:xfrm>
          </p:grpSpPr>
          <p:sp>
            <p:nvSpPr>
              <p:cNvPr id="161" name="Google Shape;161;p17"/>
              <p:cNvSpPr/>
              <p:nvPr/>
            </p:nvSpPr>
            <p:spPr>
              <a:xfrm rot="-2820152">
                <a:off x="3467729" y="1917056"/>
                <a:ext cx="121414" cy="115258"/>
              </a:xfrm>
              <a:prstGeom prst="teardrop">
                <a:avLst>
                  <a:gd name="adj" fmla="val 133291"/>
                </a:avLst>
              </a:prstGeom>
              <a:solidFill>
                <a:srgbClr val="6D9EEB"/>
              </a:solidFill>
              <a:ln w="9525" cap="flat" cmpd="sng">
                <a:solidFill>
                  <a:srgbClr val="6D9E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grpSp>
            <p:nvGrpSpPr>
              <p:cNvPr id="162" name="Google Shape;162;p17"/>
              <p:cNvGrpSpPr/>
              <p:nvPr/>
            </p:nvGrpSpPr>
            <p:grpSpPr>
              <a:xfrm>
                <a:off x="3256742" y="1929699"/>
                <a:ext cx="293158" cy="171140"/>
                <a:chOff x="3256742" y="1929699"/>
                <a:chExt cx="293158" cy="171140"/>
              </a:xfrm>
            </p:grpSpPr>
            <p:sp>
              <p:nvSpPr>
                <p:cNvPr id="163" name="Google Shape;163;p17"/>
                <p:cNvSpPr/>
                <p:nvPr/>
              </p:nvSpPr>
              <p:spPr>
                <a:xfrm rot="-1472264">
                  <a:off x="3410020" y="1949674"/>
                  <a:ext cx="121360" cy="115451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64" name="Google Shape;164;p17"/>
                <p:cNvSpPr/>
                <p:nvPr/>
              </p:nvSpPr>
              <p:spPr>
                <a:xfrm rot="-710256">
                  <a:off x="3355784" y="1971548"/>
                  <a:ext cx="121381" cy="115263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 rot="416972">
                  <a:off x="3263196" y="1978774"/>
                  <a:ext cx="121493" cy="115130"/>
                </a:xfrm>
                <a:prstGeom prst="teardrop">
                  <a:avLst>
                    <a:gd name="adj" fmla="val 133291"/>
                  </a:avLst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66" name="Google Shape;166;p17"/>
              <p:cNvGrpSpPr/>
              <p:nvPr/>
            </p:nvGrpSpPr>
            <p:grpSpPr>
              <a:xfrm>
                <a:off x="3499268" y="1929700"/>
                <a:ext cx="405807" cy="249775"/>
                <a:chOff x="3499268" y="1929700"/>
                <a:chExt cx="405807" cy="249775"/>
              </a:xfrm>
            </p:grpSpPr>
            <p:grpSp>
              <p:nvGrpSpPr>
                <p:cNvPr id="167" name="Google Shape;167;p17"/>
                <p:cNvGrpSpPr/>
                <p:nvPr/>
              </p:nvGrpSpPr>
              <p:grpSpPr>
                <a:xfrm flipH="1">
                  <a:off x="3499268" y="1929700"/>
                  <a:ext cx="293187" cy="171140"/>
                  <a:chOff x="3256742" y="1929699"/>
                  <a:chExt cx="293158" cy="171140"/>
                </a:xfrm>
              </p:grpSpPr>
              <p:sp>
                <p:nvSpPr>
                  <p:cNvPr id="168" name="Google Shape;168;p17"/>
                  <p:cNvSpPr/>
                  <p:nvPr/>
                </p:nvSpPr>
                <p:spPr>
                  <a:xfrm rot="-1472264">
                    <a:off x="3410020" y="1949674"/>
                    <a:ext cx="121360" cy="115451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6D9EEB"/>
                  </a:solidFill>
                  <a:ln w="9525" cap="flat" cmpd="sng">
                    <a:solidFill>
                      <a:srgbClr val="6D9E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69" name="Google Shape;169;p17"/>
                  <p:cNvSpPr/>
                  <p:nvPr/>
                </p:nvSpPr>
                <p:spPr>
                  <a:xfrm rot="-710256">
                    <a:off x="3355784" y="1971548"/>
                    <a:ext cx="121381" cy="115263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6D9EEB"/>
                  </a:solidFill>
                  <a:ln w="9525" cap="flat" cmpd="sng">
                    <a:solidFill>
                      <a:srgbClr val="6D9E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70" name="Google Shape;170;p17"/>
                  <p:cNvSpPr/>
                  <p:nvPr/>
                </p:nvSpPr>
                <p:spPr>
                  <a:xfrm rot="416972">
                    <a:off x="3263196" y="1978774"/>
                    <a:ext cx="121493" cy="115130"/>
                  </a:xfrm>
                  <a:prstGeom prst="teardrop">
                    <a:avLst>
                      <a:gd name="adj" fmla="val 133291"/>
                    </a:avLst>
                  </a:prstGeom>
                  <a:solidFill>
                    <a:srgbClr val="6D9EEB"/>
                  </a:solidFill>
                  <a:ln w="9525" cap="flat" cmpd="sng">
                    <a:solidFill>
                      <a:srgbClr val="6D9E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</p:grpSp>
            <p:sp>
              <p:nvSpPr>
                <p:cNvPr id="171" name="Google Shape;171;p17"/>
                <p:cNvSpPr/>
                <p:nvPr/>
              </p:nvSpPr>
              <p:spPr>
                <a:xfrm>
                  <a:off x="3611975" y="2022275"/>
                  <a:ext cx="293100" cy="1572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 rot="1309506">
                  <a:off x="3739625" y="1998641"/>
                  <a:ext cx="134759" cy="99886"/>
                </a:xfrm>
                <a:prstGeom prst="ellipse">
                  <a:avLst/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 rot="1309506">
                  <a:off x="3702700" y="1985541"/>
                  <a:ext cx="134759" cy="99886"/>
                </a:xfrm>
                <a:prstGeom prst="ellipse">
                  <a:avLst/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grpSp>
            <p:nvGrpSpPr>
              <p:cNvPr id="174" name="Google Shape;174;p17"/>
              <p:cNvGrpSpPr/>
              <p:nvPr/>
            </p:nvGrpSpPr>
            <p:grpSpPr>
              <a:xfrm flipH="1">
                <a:off x="3156847" y="1963795"/>
                <a:ext cx="293217" cy="215370"/>
                <a:chOff x="3611975" y="1964084"/>
                <a:chExt cx="293100" cy="215391"/>
              </a:xfrm>
            </p:grpSpPr>
            <p:sp>
              <p:nvSpPr>
                <p:cNvPr id="175" name="Google Shape;175;p17"/>
                <p:cNvSpPr/>
                <p:nvPr/>
              </p:nvSpPr>
              <p:spPr>
                <a:xfrm>
                  <a:off x="3611975" y="2022275"/>
                  <a:ext cx="293100" cy="157200"/>
                </a:xfrm>
                <a:prstGeom prst="round1Rect">
                  <a:avLst>
                    <a:gd name="adj" fmla="val 50000"/>
                  </a:avLst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76" name="Google Shape;176;p17"/>
                <p:cNvSpPr/>
                <p:nvPr/>
              </p:nvSpPr>
              <p:spPr>
                <a:xfrm rot="1309506">
                  <a:off x="3739625" y="1998641"/>
                  <a:ext cx="134759" cy="99886"/>
                </a:xfrm>
                <a:prstGeom prst="ellipse">
                  <a:avLst/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 rot="1309506">
                  <a:off x="3702700" y="1985541"/>
                  <a:ext cx="134759" cy="99886"/>
                </a:xfrm>
                <a:prstGeom prst="ellipse">
                  <a:avLst/>
                </a:prstGeom>
                <a:solidFill>
                  <a:srgbClr val="6D9EEB"/>
                </a:solidFill>
                <a:ln w="9525" cap="flat" cmpd="sng">
                  <a:solidFill>
                    <a:srgbClr val="6D9EE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sp>
            <p:nvSpPr>
              <p:cNvPr id="178" name="Google Shape;178;p17"/>
              <p:cNvSpPr/>
              <p:nvPr/>
            </p:nvSpPr>
            <p:spPr>
              <a:xfrm flipH="1">
                <a:off x="3362521" y="2015855"/>
                <a:ext cx="293100" cy="157200"/>
              </a:xfrm>
              <a:prstGeom prst="round1Rect">
                <a:avLst>
                  <a:gd name="adj" fmla="val 50000"/>
                </a:avLst>
              </a:prstGeom>
              <a:solidFill>
                <a:srgbClr val="6D9EEB"/>
              </a:solidFill>
              <a:ln w="9525" cap="flat" cmpd="sng">
                <a:solidFill>
                  <a:srgbClr val="6D9E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3151650" y="2106911"/>
                <a:ext cx="753600" cy="498000"/>
              </a:xfrm>
              <a:prstGeom prst="rect">
                <a:avLst/>
              </a:prstGeom>
              <a:solidFill>
                <a:srgbClr val="6D9EEB"/>
              </a:solidFill>
              <a:ln w="9525" cap="flat" cmpd="sng">
                <a:solidFill>
                  <a:srgbClr val="6D9E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180" name="Google Shape;180;p17"/>
            <p:cNvSpPr/>
            <p:nvPr/>
          </p:nvSpPr>
          <p:spPr>
            <a:xfrm rot="5400000">
              <a:off x="3396300" y="1597950"/>
              <a:ext cx="264300" cy="753600"/>
            </a:xfrm>
            <a:prstGeom prst="leftBrace">
              <a:avLst>
                <a:gd name="adj1" fmla="val 84695"/>
                <a:gd name="adj2" fmla="val 50000"/>
              </a:avLst>
            </a:prstGeom>
            <a:solidFill>
              <a:srgbClr val="6D9EEB"/>
            </a:solidFill>
            <a:ln w="9525" cap="flat" cmpd="sng">
              <a:solidFill>
                <a:srgbClr val="6D9E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1008590" y="1865892"/>
            <a:ext cx="2165144" cy="750180"/>
            <a:chOff x="965125" y="1552625"/>
            <a:chExt cx="2221800" cy="755925"/>
          </a:xfrm>
        </p:grpSpPr>
        <p:grpSp>
          <p:nvGrpSpPr>
            <p:cNvPr id="182" name="Google Shape;182;p17"/>
            <p:cNvGrpSpPr/>
            <p:nvPr/>
          </p:nvGrpSpPr>
          <p:grpSpPr>
            <a:xfrm>
              <a:off x="965125" y="1565575"/>
              <a:ext cx="2221800" cy="742975"/>
              <a:chOff x="929825" y="1997850"/>
              <a:chExt cx="2221800" cy="742975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2260925" y="2137125"/>
                <a:ext cx="8907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93C47D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2234850" y="2124050"/>
                <a:ext cx="8907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93C47D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grpSp>
            <p:nvGrpSpPr>
              <p:cNvPr id="185" name="Google Shape;185;p17"/>
              <p:cNvGrpSpPr/>
              <p:nvPr/>
            </p:nvGrpSpPr>
            <p:grpSpPr>
              <a:xfrm>
                <a:off x="1724767" y="1997850"/>
                <a:ext cx="677002" cy="403636"/>
                <a:chOff x="1724767" y="1997850"/>
                <a:chExt cx="677002" cy="403636"/>
              </a:xfrm>
            </p:grpSpPr>
            <p:grpSp>
              <p:nvGrpSpPr>
                <p:cNvPr id="186" name="Google Shape;186;p17"/>
                <p:cNvGrpSpPr/>
                <p:nvPr/>
              </p:nvGrpSpPr>
              <p:grpSpPr>
                <a:xfrm>
                  <a:off x="1850775" y="1997850"/>
                  <a:ext cx="361500" cy="385607"/>
                  <a:chOff x="1850775" y="1997850"/>
                  <a:chExt cx="361500" cy="385607"/>
                </a:xfrm>
              </p:grpSpPr>
              <p:sp>
                <p:nvSpPr>
                  <p:cNvPr id="187" name="Google Shape;187;p17"/>
                  <p:cNvSpPr/>
                  <p:nvPr/>
                </p:nvSpPr>
                <p:spPr>
                  <a:xfrm rot="-2700000">
                    <a:off x="1897033" y="2081580"/>
                    <a:ext cx="268983" cy="242255"/>
                  </a:xfrm>
                  <a:prstGeom prst="teardrop">
                    <a:avLst>
                      <a:gd name="adj" fmla="val 100000"/>
                    </a:avLst>
                  </a:prstGeom>
                  <a:solidFill>
                    <a:srgbClr val="93C47D"/>
                  </a:solidFill>
                  <a:ln w="9525" cap="flat" cmpd="sng">
                    <a:solidFill>
                      <a:srgbClr val="93C47D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  <p:sp>
                <p:nvSpPr>
                  <p:cNvPr id="188" name="Google Shape;188;p17"/>
                  <p:cNvSpPr/>
                  <p:nvPr/>
                </p:nvSpPr>
                <p:spPr>
                  <a:xfrm>
                    <a:off x="2025875" y="1997850"/>
                    <a:ext cx="26100" cy="5940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93C47D"/>
                  </a:solidFill>
                  <a:ln w="9525" cap="flat" cmpd="sng">
                    <a:solidFill>
                      <a:srgbClr val="93C47D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Telex"/>
                      <a:ea typeface="Telex"/>
                      <a:cs typeface="Telex"/>
                      <a:sym typeface="Telex"/>
                    </a:endParaRPr>
                  </a:p>
                </p:txBody>
              </p:sp>
            </p:grpSp>
            <p:sp>
              <p:nvSpPr>
                <p:cNvPr id="189" name="Google Shape;189;p17"/>
                <p:cNvSpPr/>
                <p:nvPr/>
              </p:nvSpPr>
              <p:spPr>
                <a:xfrm rot="-1379323">
                  <a:off x="1829457" y="2102297"/>
                  <a:ext cx="268852" cy="242105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93C47D"/>
                </a:solidFill>
                <a:ln w="952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 rot="-438443">
                  <a:off x="1739125" y="2114210"/>
                  <a:ext cx="268884" cy="241981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93C47D"/>
                </a:solidFill>
                <a:ln w="952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 rot="-4491759">
                  <a:off x="2008128" y="2119025"/>
                  <a:ext cx="268828" cy="242121"/>
                </a:xfrm>
                <a:prstGeom prst="teardrop">
                  <a:avLst>
                    <a:gd name="adj" fmla="val 116147"/>
                  </a:avLst>
                </a:prstGeom>
                <a:solidFill>
                  <a:srgbClr val="93C47D"/>
                </a:solidFill>
                <a:ln w="952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  <p:sp>
              <p:nvSpPr>
                <p:cNvPr id="192" name="Google Shape;192;p17"/>
                <p:cNvSpPr/>
                <p:nvPr/>
              </p:nvSpPr>
              <p:spPr>
                <a:xfrm rot="-5400000">
                  <a:off x="2146319" y="2131926"/>
                  <a:ext cx="268800" cy="242100"/>
                </a:xfrm>
                <a:prstGeom prst="teardrop">
                  <a:avLst>
                    <a:gd name="adj" fmla="val 116147"/>
                  </a:avLst>
                </a:prstGeom>
                <a:solidFill>
                  <a:srgbClr val="93C47D"/>
                </a:solidFill>
                <a:ln w="952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Telex"/>
                    <a:ea typeface="Telex"/>
                    <a:cs typeface="Telex"/>
                    <a:sym typeface="Telex"/>
                  </a:endParaRPr>
                </a:p>
              </p:txBody>
            </p:sp>
          </p:grpSp>
          <p:sp>
            <p:nvSpPr>
              <p:cNvPr id="193" name="Google Shape;193;p17"/>
              <p:cNvSpPr/>
              <p:nvPr/>
            </p:nvSpPr>
            <p:spPr>
              <a:xfrm flipH="1">
                <a:off x="966925" y="2124050"/>
                <a:ext cx="9393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93C47D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 flipH="1">
                <a:off x="929825" y="2132350"/>
                <a:ext cx="885900" cy="341700"/>
              </a:xfrm>
              <a:prstGeom prst="round1Rect">
                <a:avLst>
                  <a:gd name="adj" fmla="val 41813"/>
                </a:avLst>
              </a:prstGeom>
              <a:solidFill>
                <a:srgbClr val="93C47D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929825" y="2321725"/>
                <a:ext cx="2221800" cy="419100"/>
              </a:xfrm>
              <a:prstGeom prst="rect">
                <a:avLst/>
              </a:prstGeom>
              <a:solidFill>
                <a:srgbClr val="93C47D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196" name="Google Shape;196;p17"/>
            <p:cNvSpPr/>
            <p:nvPr/>
          </p:nvSpPr>
          <p:spPr>
            <a:xfrm rot="5400000">
              <a:off x="1943875" y="575675"/>
              <a:ext cx="264300" cy="2218200"/>
            </a:xfrm>
            <a:prstGeom prst="leftBrace">
              <a:avLst>
                <a:gd name="adj1" fmla="val 84695"/>
                <a:gd name="adj2" fmla="val 50000"/>
              </a:avLst>
            </a:prstGeom>
            <a:solidFill>
              <a:srgbClr val="93C47D"/>
            </a:solidFill>
            <a:ln w="9525" cap="flat" cmpd="sng">
              <a:solidFill>
                <a:srgbClr val="93C4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1482915" y="2629618"/>
            <a:ext cx="1446840" cy="985850"/>
            <a:chOff x="1416775" y="2612175"/>
            <a:chExt cx="1484700" cy="993400"/>
          </a:xfrm>
        </p:grpSpPr>
        <p:cxnSp>
          <p:nvCxnSpPr>
            <p:cNvPr id="198" name="Google Shape;198;p17"/>
            <p:cNvCxnSpPr/>
            <p:nvPr/>
          </p:nvCxnSpPr>
          <p:spPr>
            <a:xfrm rot="10800000" flipH="1">
              <a:off x="2159125" y="2612175"/>
              <a:ext cx="4800" cy="513000"/>
            </a:xfrm>
            <a:prstGeom prst="straightConnector1">
              <a:avLst/>
            </a:prstGeom>
            <a:noFill/>
            <a:ln w="9525" cap="flat" cmpd="sng">
              <a:solidFill>
                <a:srgbClr val="93C47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199" name="Google Shape;199;p17"/>
            <p:cNvGrpSpPr/>
            <p:nvPr/>
          </p:nvGrpSpPr>
          <p:grpSpPr>
            <a:xfrm>
              <a:off x="1416775" y="3048975"/>
              <a:ext cx="1484700" cy="556600"/>
              <a:chOff x="1416775" y="3125175"/>
              <a:chExt cx="1484700" cy="556600"/>
            </a:xfrm>
          </p:grpSpPr>
          <p:sp>
            <p:nvSpPr>
              <p:cNvPr id="200" name="Google Shape;200;p17"/>
              <p:cNvSpPr/>
              <p:nvPr/>
            </p:nvSpPr>
            <p:spPr>
              <a:xfrm>
                <a:off x="1557350" y="3190075"/>
                <a:ext cx="1181100" cy="4917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01" name="Google Shape;201;p17"/>
              <p:cNvSpPr txBox="1"/>
              <p:nvPr/>
            </p:nvSpPr>
            <p:spPr>
              <a:xfrm>
                <a:off x="1416775" y="3125175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“ELIZA”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(First chatbot)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02" name="Google Shape;202;p17"/>
          <p:cNvGrpSpPr/>
          <p:nvPr/>
        </p:nvGrpSpPr>
        <p:grpSpPr>
          <a:xfrm>
            <a:off x="3421050" y="2629618"/>
            <a:ext cx="1446840" cy="986768"/>
            <a:chOff x="3405625" y="2612175"/>
            <a:chExt cx="1484700" cy="994325"/>
          </a:xfrm>
        </p:grpSpPr>
        <p:cxnSp>
          <p:nvCxnSpPr>
            <p:cNvPr id="203" name="Google Shape;203;p17"/>
            <p:cNvCxnSpPr/>
            <p:nvPr/>
          </p:nvCxnSpPr>
          <p:spPr>
            <a:xfrm rot="10800000" flipH="1">
              <a:off x="4147975" y="2612175"/>
              <a:ext cx="4800" cy="513000"/>
            </a:xfrm>
            <a:prstGeom prst="straightConnector1">
              <a:avLst/>
            </a:prstGeom>
            <a:noFill/>
            <a:ln w="9525" cap="flat" cmpd="sng">
              <a:solidFill>
                <a:srgbClr val="FFE59A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4" name="Google Shape;204;p17"/>
            <p:cNvGrpSpPr/>
            <p:nvPr/>
          </p:nvGrpSpPr>
          <p:grpSpPr>
            <a:xfrm>
              <a:off x="3405625" y="3048975"/>
              <a:ext cx="1484700" cy="557525"/>
              <a:chOff x="3405625" y="3109950"/>
              <a:chExt cx="1484700" cy="557525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3773850" y="3175775"/>
                <a:ext cx="753600" cy="4917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FFE59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06" name="Google Shape;206;p17"/>
              <p:cNvSpPr txBox="1"/>
              <p:nvPr/>
            </p:nvSpPr>
            <p:spPr>
              <a:xfrm>
                <a:off x="3405625" y="3109950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“Expert” systems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07" name="Google Shape;207;p17"/>
          <p:cNvGrpSpPr/>
          <p:nvPr/>
        </p:nvGrpSpPr>
        <p:grpSpPr>
          <a:xfrm>
            <a:off x="4261995" y="2617635"/>
            <a:ext cx="1446840" cy="1009767"/>
            <a:chOff x="4268575" y="2612125"/>
            <a:chExt cx="1484700" cy="1017500"/>
          </a:xfrm>
        </p:grpSpPr>
        <p:cxnSp>
          <p:nvCxnSpPr>
            <p:cNvPr id="208" name="Google Shape;208;p17"/>
            <p:cNvCxnSpPr/>
            <p:nvPr/>
          </p:nvCxnSpPr>
          <p:spPr>
            <a:xfrm rot="10800000">
              <a:off x="5015650" y="2612125"/>
              <a:ext cx="1200" cy="528000"/>
            </a:xfrm>
            <a:prstGeom prst="straightConnector1">
              <a:avLst/>
            </a:prstGeom>
            <a:noFill/>
            <a:ln w="9525" cap="flat" cmpd="sng">
              <a:solidFill>
                <a:srgbClr val="EA99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9" name="Google Shape;209;p17"/>
            <p:cNvGrpSpPr/>
            <p:nvPr/>
          </p:nvGrpSpPr>
          <p:grpSpPr>
            <a:xfrm>
              <a:off x="4268575" y="3071488"/>
              <a:ext cx="1484700" cy="558137"/>
              <a:chOff x="4268575" y="3132463"/>
              <a:chExt cx="1484700" cy="558137"/>
            </a:xfrm>
          </p:grpSpPr>
          <p:sp>
            <p:nvSpPr>
              <p:cNvPr id="210" name="Google Shape;210;p17"/>
              <p:cNvSpPr/>
              <p:nvPr/>
            </p:nvSpPr>
            <p:spPr>
              <a:xfrm>
                <a:off x="4634125" y="3198900"/>
                <a:ext cx="753600" cy="4917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11" name="Google Shape;211;p17"/>
              <p:cNvSpPr txBox="1"/>
              <p:nvPr/>
            </p:nvSpPr>
            <p:spPr>
              <a:xfrm>
                <a:off x="4268575" y="3132463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WWW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invented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sp>
        <p:nvSpPr>
          <p:cNvPr id="212" name="Google Shape;212;p17"/>
          <p:cNvSpPr txBox="1"/>
          <p:nvPr/>
        </p:nvSpPr>
        <p:spPr>
          <a:xfrm>
            <a:off x="8116654" y="1278757"/>
            <a:ext cx="1058307" cy="4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88A27"/>
                </a:solidFill>
                <a:latin typeface="Nunito"/>
                <a:ea typeface="Nunito"/>
                <a:cs typeface="Nunito"/>
                <a:sym typeface="Nunito"/>
              </a:rPr>
              <a:t>Deep </a:t>
            </a:r>
            <a:endParaRPr sz="1400" b="1" i="0" u="none" strike="noStrike" cap="none">
              <a:solidFill>
                <a:srgbClr val="E88A27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88A27"/>
                </a:solidFill>
                <a:latin typeface="Nunito"/>
                <a:ea typeface="Nunito"/>
                <a:cs typeface="Nunito"/>
                <a:sym typeface="Nunito"/>
              </a:rPr>
              <a:t>learning</a:t>
            </a:r>
            <a:endParaRPr sz="1400" b="1" i="0" u="none" strike="noStrike" cap="none">
              <a:solidFill>
                <a:srgbClr val="E88A2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3" name="Google Shape;213;p17"/>
          <p:cNvCxnSpPr/>
          <p:nvPr/>
        </p:nvCxnSpPr>
        <p:spPr>
          <a:xfrm>
            <a:off x="120832" y="2616959"/>
            <a:ext cx="870676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4" name="Google Shape;214;p17"/>
          <p:cNvGrpSpPr/>
          <p:nvPr/>
        </p:nvGrpSpPr>
        <p:grpSpPr>
          <a:xfrm>
            <a:off x="5818271" y="2627534"/>
            <a:ext cx="1446840" cy="2117261"/>
            <a:chOff x="5865575" y="2610075"/>
            <a:chExt cx="1484700" cy="2133475"/>
          </a:xfrm>
        </p:grpSpPr>
        <p:grpSp>
          <p:nvGrpSpPr>
            <p:cNvPr id="215" name="Google Shape;215;p17"/>
            <p:cNvGrpSpPr/>
            <p:nvPr/>
          </p:nvGrpSpPr>
          <p:grpSpPr>
            <a:xfrm>
              <a:off x="5979675" y="2610075"/>
              <a:ext cx="1257000" cy="2133475"/>
              <a:chOff x="5979675" y="2610075"/>
              <a:chExt cx="1257000" cy="2133475"/>
            </a:xfrm>
          </p:grpSpPr>
          <p:cxnSp>
            <p:nvCxnSpPr>
              <p:cNvPr id="216" name="Google Shape;216;p17"/>
              <p:cNvCxnSpPr/>
              <p:nvPr/>
            </p:nvCxnSpPr>
            <p:spPr>
              <a:xfrm rot="10800000" flipH="1">
                <a:off x="6305550" y="2610075"/>
                <a:ext cx="48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17" name="Google Shape;217;p17"/>
              <p:cNvSpPr/>
              <p:nvPr/>
            </p:nvSpPr>
            <p:spPr>
              <a:xfrm>
                <a:off x="5979675" y="4059850"/>
                <a:ext cx="1257000" cy="683700"/>
              </a:xfrm>
              <a:prstGeom prst="roundRect">
                <a:avLst>
                  <a:gd name="adj" fmla="val 10396"/>
                </a:avLst>
              </a:prstGeom>
              <a:solidFill>
                <a:schemeClr val="lt2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sp>
          <p:nvSpPr>
            <p:cNvPr id="218" name="Google Shape;218;p17"/>
            <p:cNvSpPr txBox="1"/>
            <p:nvPr/>
          </p:nvSpPr>
          <p:spPr>
            <a:xfrm>
              <a:off x="5865575" y="4010250"/>
              <a:ext cx="1484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Developments: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TBAs, PGMs, and SVMs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9" name="Google Shape;219;p17"/>
          <p:cNvGrpSpPr/>
          <p:nvPr/>
        </p:nvGrpSpPr>
        <p:grpSpPr>
          <a:xfrm>
            <a:off x="8318643" y="2227398"/>
            <a:ext cx="817118" cy="487963"/>
            <a:chOff x="8431375" y="2206875"/>
            <a:chExt cx="838500" cy="491700"/>
          </a:xfrm>
        </p:grpSpPr>
        <p:cxnSp>
          <p:nvCxnSpPr>
            <p:cNvPr id="220" name="Google Shape;220;p17"/>
            <p:cNvCxnSpPr/>
            <p:nvPr/>
          </p:nvCxnSpPr>
          <p:spPr>
            <a:xfrm>
              <a:off x="8850475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1" name="Google Shape;221;p17"/>
            <p:cNvSpPr txBox="1"/>
            <p:nvPr/>
          </p:nvSpPr>
          <p:spPr>
            <a:xfrm>
              <a:off x="8431375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2020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-109515" y="2227398"/>
            <a:ext cx="817118" cy="487963"/>
            <a:chOff x="-217325" y="2206875"/>
            <a:chExt cx="838500" cy="491700"/>
          </a:xfrm>
        </p:grpSpPr>
        <p:cxnSp>
          <p:nvCxnSpPr>
            <p:cNvPr id="223" name="Google Shape;223;p17"/>
            <p:cNvCxnSpPr/>
            <p:nvPr/>
          </p:nvCxnSpPr>
          <p:spPr>
            <a:xfrm>
              <a:off x="201775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4" name="Google Shape;224;p17"/>
            <p:cNvSpPr txBox="1"/>
            <p:nvPr/>
          </p:nvSpPr>
          <p:spPr>
            <a:xfrm>
              <a:off x="-217325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1950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5" name="Google Shape;225;p17"/>
          <p:cNvGrpSpPr/>
          <p:nvPr/>
        </p:nvGrpSpPr>
        <p:grpSpPr>
          <a:xfrm>
            <a:off x="5910598" y="2227398"/>
            <a:ext cx="817118" cy="487963"/>
            <a:chOff x="5960318" y="2206875"/>
            <a:chExt cx="838500" cy="4917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379418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7" name="Google Shape;227;p17"/>
            <p:cNvSpPr txBox="1"/>
            <p:nvPr/>
          </p:nvSpPr>
          <p:spPr>
            <a:xfrm>
              <a:off x="5960318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2000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8" name="Google Shape;228;p17"/>
          <p:cNvGrpSpPr/>
          <p:nvPr/>
        </p:nvGrpSpPr>
        <p:grpSpPr>
          <a:xfrm>
            <a:off x="4706575" y="2227398"/>
            <a:ext cx="817118" cy="487963"/>
            <a:chOff x="4724789" y="2206875"/>
            <a:chExt cx="838500" cy="491700"/>
          </a:xfrm>
        </p:grpSpPr>
        <p:cxnSp>
          <p:nvCxnSpPr>
            <p:cNvPr id="229" name="Google Shape;229;p17"/>
            <p:cNvCxnSpPr/>
            <p:nvPr/>
          </p:nvCxnSpPr>
          <p:spPr>
            <a:xfrm>
              <a:off x="5143889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0" name="Google Shape;230;p17"/>
            <p:cNvSpPr txBox="1"/>
            <p:nvPr/>
          </p:nvSpPr>
          <p:spPr>
            <a:xfrm>
              <a:off x="4724789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1990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1" name="Google Shape;231;p17"/>
          <p:cNvGrpSpPr/>
          <p:nvPr/>
        </p:nvGrpSpPr>
        <p:grpSpPr>
          <a:xfrm>
            <a:off x="3502553" y="2227398"/>
            <a:ext cx="817118" cy="487963"/>
            <a:chOff x="3489261" y="2206875"/>
            <a:chExt cx="838500" cy="491700"/>
          </a:xfrm>
        </p:grpSpPr>
        <p:cxnSp>
          <p:nvCxnSpPr>
            <p:cNvPr id="232" name="Google Shape;232;p17"/>
            <p:cNvCxnSpPr/>
            <p:nvPr/>
          </p:nvCxnSpPr>
          <p:spPr>
            <a:xfrm>
              <a:off x="3908361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7"/>
            <p:cNvSpPr txBox="1"/>
            <p:nvPr/>
          </p:nvSpPr>
          <p:spPr>
            <a:xfrm>
              <a:off x="3489261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1980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4" name="Google Shape;234;p17"/>
          <p:cNvGrpSpPr/>
          <p:nvPr/>
        </p:nvGrpSpPr>
        <p:grpSpPr>
          <a:xfrm>
            <a:off x="1094508" y="2227398"/>
            <a:ext cx="817118" cy="487963"/>
            <a:chOff x="1018204" y="2206875"/>
            <a:chExt cx="838500" cy="491700"/>
          </a:xfrm>
        </p:grpSpPr>
        <p:cxnSp>
          <p:nvCxnSpPr>
            <p:cNvPr id="235" name="Google Shape;235;p17"/>
            <p:cNvCxnSpPr/>
            <p:nvPr/>
          </p:nvCxnSpPr>
          <p:spPr>
            <a:xfrm>
              <a:off x="1437304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6" name="Google Shape;236;p17"/>
            <p:cNvSpPr txBox="1"/>
            <p:nvPr/>
          </p:nvSpPr>
          <p:spPr>
            <a:xfrm>
              <a:off x="1018204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1960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7" name="Google Shape;237;p17"/>
          <p:cNvGrpSpPr/>
          <p:nvPr/>
        </p:nvGrpSpPr>
        <p:grpSpPr>
          <a:xfrm>
            <a:off x="2298530" y="2227398"/>
            <a:ext cx="817118" cy="487963"/>
            <a:chOff x="2253732" y="2206875"/>
            <a:chExt cx="838500" cy="491700"/>
          </a:xfrm>
        </p:grpSpPr>
        <p:cxnSp>
          <p:nvCxnSpPr>
            <p:cNvPr id="238" name="Google Shape;238;p17"/>
            <p:cNvCxnSpPr/>
            <p:nvPr/>
          </p:nvCxnSpPr>
          <p:spPr>
            <a:xfrm>
              <a:off x="2672832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9" name="Google Shape;239;p17"/>
            <p:cNvSpPr txBox="1"/>
            <p:nvPr/>
          </p:nvSpPr>
          <p:spPr>
            <a:xfrm>
              <a:off x="2253732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1970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0" name="Google Shape;240;p17"/>
          <p:cNvGrpSpPr/>
          <p:nvPr/>
        </p:nvGrpSpPr>
        <p:grpSpPr>
          <a:xfrm>
            <a:off x="1010344" y="1377923"/>
            <a:ext cx="2161636" cy="750260"/>
            <a:chOff x="1010344" y="1377923"/>
            <a:chExt cx="2161636" cy="750260"/>
          </a:xfrm>
        </p:grpSpPr>
        <p:sp>
          <p:nvSpPr>
            <p:cNvPr id="241" name="Google Shape;241;p17"/>
            <p:cNvSpPr txBox="1"/>
            <p:nvPr/>
          </p:nvSpPr>
          <p:spPr>
            <a:xfrm>
              <a:off x="1367754" y="1377923"/>
              <a:ext cx="1446840" cy="487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7FB069"/>
                  </a:solidFill>
                  <a:latin typeface="Nunito"/>
                  <a:ea typeface="Nunito"/>
                  <a:cs typeface="Nunito"/>
                  <a:sym typeface="Nunito"/>
                </a:rPr>
                <a:t>Symbolic AI</a:t>
              </a:r>
              <a:endParaRPr sz="1400" b="1" i="0" u="none" strike="noStrike" cap="none">
                <a:solidFill>
                  <a:srgbClr val="7FB069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 rot="5400000">
              <a:off x="1960017" y="916219"/>
              <a:ext cx="262291" cy="2161636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2726840" y="1278757"/>
            <a:ext cx="1627805" cy="849426"/>
            <a:chOff x="2726840" y="1278757"/>
            <a:chExt cx="1627805" cy="849426"/>
          </a:xfrm>
        </p:grpSpPr>
        <p:sp>
          <p:nvSpPr>
            <p:cNvPr id="244" name="Google Shape;244;p17"/>
            <p:cNvSpPr txBox="1"/>
            <p:nvPr/>
          </p:nvSpPr>
          <p:spPr>
            <a:xfrm>
              <a:off x="2726840" y="1278757"/>
              <a:ext cx="1627805" cy="487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4A7DCD"/>
                  </a:solidFill>
                  <a:latin typeface="Nunito"/>
                  <a:ea typeface="Nunito"/>
                  <a:cs typeface="Nunito"/>
                  <a:sym typeface="Nunito"/>
                </a:rPr>
                <a:t>First </a:t>
              </a:r>
              <a:endParaRPr sz="1400" b="1" i="0" u="none" strike="noStrike" cap="none">
                <a:solidFill>
                  <a:srgbClr val="4A7DCD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4A7DCD"/>
                  </a:solidFill>
                  <a:latin typeface="Nunito"/>
                  <a:ea typeface="Nunito"/>
                  <a:cs typeface="Nunito"/>
                  <a:sym typeface="Nunito"/>
                </a:rPr>
                <a:t>AI winter</a:t>
              </a:r>
              <a:endParaRPr sz="1400" b="1" i="0" u="none" strike="noStrike" cap="none">
                <a:solidFill>
                  <a:srgbClr val="4A7DCD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 rot="5400000">
              <a:off x="3409597" y="1629846"/>
              <a:ext cx="262291" cy="734383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3612661" y="1377923"/>
            <a:ext cx="1446840" cy="750260"/>
            <a:chOff x="3612661" y="1377923"/>
            <a:chExt cx="1446840" cy="750260"/>
          </a:xfrm>
        </p:grpSpPr>
        <p:sp>
          <p:nvSpPr>
            <p:cNvPr id="247" name="Google Shape;247;p17"/>
            <p:cNvSpPr txBox="1"/>
            <p:nvPr/>
          </p:nvSpPr>
          <p:spPr>
            <a:xfrm>
              <a:off x="3612661" y="1377923"/>
              <a:ext cx="1446840" cy="487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FBD464"/>
                  </a:solidFill>
                  <a:latin typeface="Nunito"/>
                  <a:ea typeface="Nunito"/>
                  <a:cs typeface="Nunito"/>
                  <a:sym typeface="Nunito"/>
                </a:rPr>
                <a:t>Recovery</a:t>
              </a:r>
              <a:endParaRPr sz="1400" b="1" i="0" u="none" strike="noStrike" cap="none">
                <a:solidFill>
                  <a:srgbClr val="FBD46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 rot="5400000">
              <a:off x="4204935" y="1568891"/>
              <a:ext cx="262291" cy="856293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cxnSp>
        <p:nvCxnSpPr>
          <p:cNvPr id="249" name="Google Shape;249;p17"/>
          <p:cNvCxnSpPr/>
          <p:nvPr/>
        </p:nvCxnSpPr>
        <p:spPr>
          <a:xfrm rot="10800000" flipH="1">
            <a:off x="8837321" y="2616816"/>
            <a:ext cx="27481" cy="2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50;p17"/>
          <p:cNvCxnSpPr/>
          <p:nvPr/>
        </p:nvCxnSpPr>
        <p:spPr>
          <a:xfrm rot="10800000" flipH="1">
            <a:off x="8877781" y="2616816"/>
            <a:ext cx="27481" cy="2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17"/>
          <p:cNvCxnSpPr/>
          <p:nvPr/>
        </p:nvCxnSpPr>
        <p:spPr>
          <a:xfrm rot="10800000" flipH="1">
            <a:off x="8918241" y="2616816"/>
            <a:ext cx="27481" cy="2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17"/>
          <p:cNvCxnSpPr/>
          <p:nvPr/>
        </p:nvCxnSpPr>
        <p:spPr>
          <a:xfrm rot="10800000" flipH="1">
            <a:off x="8958701" y="2616816"/>
            <a:ext cx="27481" cy="2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17"/>
          <p:cNvCxnSpPr/>
          <p:nvPr/>
        </p:nvCxnSpPr>
        <p:spPr>
          <a:xfrm rot="10800000" flipH="1">
            <a:off x="8999161" y="2616816"/>
            <a:ext cx="27481" cy="29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254;p17"/>
          <p:cNvSpPr/>
          <p:nvPr/>
        </p:nvSpPr>
        <p:spPr>
          <a:xfrm rot="5400000">
            <a:off x="8649350" y="916219"/>
            <a:ext cx="262291" cy="2161636"/>
          </a:xfrm>
          <a:prstGeom prst="leftBrace">
            <a:avLst>
              <a:gd name="adj1" fmla="val 84695"/>
              <a:gd name="adj2" fmla="val 5308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grpSp>
        <p:nvGrpSpPr>
          <p:cNvPr id="255" name="Google Shape;255;p17"/>
          <p:cNvGrpSpPr/>
          <p:nvPr/>
        </p:nvGrpSpPr>
        <p:grpSpPr>
          <a:xfrm>
            <a:off x="579310" y="2629618"/>
            <a:ext cx="1446840" cy="1986313"/>
            <a:chOff x="420475" y="2612175"/>
            <a:chExt cx="1484700" cy="2001525"/>
          </a:xfrm>
        </p:grpSpPr>
        <p:cxnSp>
          <p:nvCxnSpPr>
            <p:cNvPr id="256" name="Google Shape;256;p17"/>
            <p:cNvCxnSpPr/>
            <p:nvPr/>
          </p:nvCxnSpPr>
          <p:spPr>
            <a:xfrm rot="10800000">
              <a:off x="1171450" y="2612175"/>
              <a:ext cx="900" cy="1252500"/>
            </a:xfrm>
            <a:prstGeom prst="straightConnector1">
              <a:avLst/>
            </a:prstGeom>
            <a:noFill/>
            <a:ln w="9525" cap="flat" cmpd="sng">
              <a:solidFill>
                <a:srgbClr val="93C47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57" name="Google Shape;257;p17"/>
            <p:cNvGrpSpPr/>
            <p:nvPr/>
          </p:nvGrpSpPr>
          <p:grpSpPr>
            <a:xfrm>
              <a:off x="420475" y="3795750"/>
              <a:ext cx="1484700" cy="817950"/>
              <a:chOff x="420475" y="3871950"/>
              <a:chExt cx="1484700" cy="817950"/>
            </a:xfrm>
          </p:grpSpPr>
          <p:sp>
            <p:nvSpPr>
              <p:cNvPr id="258" name="Google Shape;258;p17"/>
              <p:cNvSpPr/>
              <p:nvPr/>
            </p:nvSpPr>
            <p:spPr>
              <a:xfrm>
                <a:off x="619825" y="3937800"/>
                <a:ext cx="1086000" cy="7521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59" name="Google Shape;259;p17"/>
              <p:cNvSpPr txBox="1"/>
              <p:nvPr/>
            </p:nvSpPr>
            <p:spPr>
              <a:xfrm>
                <a:off x="420475" y="3871950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“Perceptron”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(First neural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network)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60" name="Google Shape;260;p17"/>
          <p:cNvGrpSpPr/>
          <p:nvPr/>
        </p:nvGrpSpPr>
        <p:grpSpPr>
          <a:xfrm>
            <a:off x="5220488" y="2629618"/>
            <a:ext cx="1446840" cy="1189515"/>
            <a:chOff x="5252150" y="2612175"/>
            <a:chExt cx="1484700" cy="1198625"/>
          </a:xfrm>
        </p:grpSpPr>
        <p:cxnSp>
          <p:nvCxnSpPr>
            <p:cNvPr id="261" name="Google Shape;261;p17"/>
            <p:cNvCxnSpPr/>
            <p:nvPr/>
          </p:nvCxnSpPr>
          <p:spPr>
            <a:xfrm rot="10800000" flipH="1">
              <a:off x="6146900" y="2612175"/>
              <a:ext cx="4800" cy="513000"/>
            </a:xfrm>
            <a:prstGeom prst="straightConnector1">
              <a:avLst/>
            </a:prstGeom>
            <a:noFill/>
            <a:ln w="9525" cap="flat" cmpd="sng">
              <a:solidFill>
                <a:srgbClr val="EA99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62" name="Google Shape;262;p17"/>
            <p:cNvGrpSpPr/>
            <p:nvPr/>
          </p:nvGrpSpPr>
          <p:grpSpPr>
            <a:xfrm>
              <a:off x="5252150" y="3048975"/>
              <a:ext cx="1484700" cy="761825"/>
              <a:chOff x="5252150" y="3109950"/>
              <a:chExt cx="1484700" cy="761825"/>
            </a:xfrm>
          </p:grpSpPr>
          <p:sp>
            <p:nvSpPr>
              <p:cNvPr id="263" name="Google Shape;263;p17"/>
              <p:cNvSpPr/>
              <p:nvPr/>
            </p:nvSpPr>
            <p:spPr>
              <a:xfrm>
                <a:off x="5542100" y="3186575"/>
                <a:ext cx="904800" cy="685200"/>
              </a:xfrm>
              <a:prstGeom prst="roundRect">
                <a:avLst>
                  <a:gd name="adj" fmla="val 10986"/>
                </a:avLst>
              </a:prstGeom>
              <a:solidFill>
                <a:schemeClr val="lt2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64" name="Google Shape;264;p17"/>
              <p:cNvSpPr txBox="1"/>
              <p:nvPr/>
            </p:nvSpPr>
            <p:spPr>
              <a:xfrm>
                <a:off x="5252150" y="3109950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Deep Blue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beats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Kasparov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65" name="Google Shape;265;p17"/>
          <p:cNvGrpSpPr/>
          <p:nvPr/>
        </p:nvGrpSpPr>
        <p:grpSpPr>
          <a:xfrm>
            <a:off x="7807981" y="2629618"/>
            <a:ext cx="1446840" cy="1635078"/>
            <a:chOff x="7907350" y="2612175"/>
            <a:chExt cx="1484700" cy="1647600"/>
          </a:xfrm>
        </p:grpSpPr>
        <p:cxnSp>
          <p:nvCxnSpPr>
            <p:cNvPr id="266" name="Google Shape;266;p17"/>
            <p:cNvCxnSpPr/>
            <p:nvPr/>
          </p:nvCxnSpPr>
          <p:spPr>
            <a:xfrm rot="10800000">
              <a:off x="8691575" y="2612175"/>
              <a:ext cx="0" cy="1086000"/>
            </a:xfrm>
            <a:prstGeom prst="straightConnector1">
              <a:avLst/>
            </a:prstGeom>
            <a:noFill/>
            <a:ln w="9525" cap="flat" cmpd="sng">
              <a:solidFill>
                <a:srgbClr val="E6913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67" name="Google Shape;267;p17"/>
            <p:cNvSpPr/>
            <p:nvPr/>
          </p:nvSpPr>
          <p:spPr>
            <a:xfrm>
              <a:off x="8153000" y="3606075"/>
              <a:ext cx="990900" cy="653700"/>
            </a:xfrm>
            <a:prstGeom prst="roundRect">
              <a:avLst>
                <a:gd name="adj" fmla="val 9381"/>
              </a:avLst>
            </a:prstGeom>
            <a:solidFill>
              <a:schemeClr val="lt2"/>
            </a:solidFill>
            <a:ln w="9525" cap="flat" cmpd="sng">
              <a:solidFill>
                <a:srgbClr val="E691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268" name="Google Shape;268;p17"/>
            <p:cNvSpPr txBox="1"/>
            <p:nvPr/>
          </p:nvSpPr>
          <p:spPr>
            <a:xfrm>
              <a:off x="7907350" y="3540675"/>
              <a:ext cx="1484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Transformer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+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LLMs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9" name="Google Shape;269;p17"/>
          <p:cNvGrpSpPr/>
          <p:nvPr/>
        </p:nvGrpSpPr>
        <p:grpSpPr>
          <a:xfrm>
            <a:off x="4764207" y="1278757"/>
            <a:ext cx="2935486" cy="849426"/>
            <a:chOff x="4764207" y="1278757"/>
            <a:chExt cx="2935486" cy="849426"/>
          </a:xfrm>
        </p:grpSpPr>
        <p:sp>
          <p:nvSpPr>
            <p:cNvPr id="270" name="Google Shape;270;p17"/>
            <p:cNvSpPr txBox="1"/>
            <p:nvPr/>
          </p:nvSpPr>
          <p:spPr>
            <a:xfrm>
              <a:off x="5411807" y="1278757"/>
              <a:ext cx="1627805" cy="487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EB7878"/>
                  </a:solidFill>
                  <a:latin typeface="Nunito"/>
                  <a:ea typeface="Nunito"/>
                  <a:cs typeface="Nunito"/>
                  <a:sym typeface="Nunito"/>
                </a:rPr>
                <a:t>Advancements </a:t>
              </a:r>
              <a:endParaRPr sz="1400" b="1" i="0" u="none" strike="noStrike" cap="none">
                <a:solidFill>
                  <a:srgbClr val="EB7878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EB7878"/>
                  </a:solidFill>
                  <a:latin typeface="Nunito"/>
                  <a:ea typeface="Nunito"/>
                  <a:cs typeface="Nunito"/>
                  <a:sym typeface="Nunito"/>
                </a:rPr>
                <a:t>in ML</a:t>
              </a:r>
              <a:endParaRPr sz="1400" b="1" i="0" u="none" strike="noStrike" cap="none">
                <a:solidFill>
                  <a:srgbClr val="EB7878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 rot="5400000">
              <a:off x="6100805" y="529294"/>
              <a:ext cx="262291" cy="2935486"/>
            </a:xfrm>
            <a:prstGeom prst="leftBrace">
              <a:avLst>
                <a:gd name="adj1" fmla="val 84695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</p:grpSp>
      <p:grpSp>
        <p:nvGrpSpPr>
          <p:cNvPr id="272" name="Google Shape;272;p17"/>
          <p:cNvGrpSpPr/>
          <p:nvPr/>
        </p:nvGrpSpPr>
        <p:grpSpPr>
          <a:xfrm>
            <a:off x="7114620" y="2227398"/>
            <a:ext cx="817118" cy="487963"/>
            <a:chOff x="7195846" y="2206875"/>
            <a:chExt cx="838500" cy="491700"/>
          </a:xfrm>
        </p:grpSpPr>
        <p:cxnSp>
          <p:nvCxnSpPr>
            <p:cNvPr id="273" name="Google Shape;273;p17"/>
            <p:cNvCxnSpPr/>
            <p:nvPr/>
          </p:nvCxnSpPr>
          <p:spPr>
            <a:xfrm>
              <a:off x="7614946" y="2498463"/>
              <a:ext cx="3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4" name="Google Shape;274;p17"/>
            <p:cNvSpPr txBox="1"/>
            <p:nvPr/>
          </p:nvSpPr>
          <p:spPr>
            <a:xfrm>
              <a:off x="7195846" y="2206875"/>
              <a:ext cx="838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2010</a:t>
              </a:r>
              <a:endPara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75" name="Google Shape;275;p17"/>
          <p:cNvGrpSpPr/>
          <p:nvPr/>
        </p:nvGrpSpPr>
        <p:grpSpPr>
          <a:xfrm>
            <a:off x="7596709" y="2629742"/>
            <a:ext cx="1446840" cy="906210"/>
            <a:chOff x="7690550" y="2612300"/>
            <a:chExt cx="1484700" cy="913150"/>
          </a:xfrm>
        </p:grpSpPr>
        <p:sp>
          <p:nvSpPr>
            <p:cNvPr id="276" name="Google Shape;276;p17"/>
            <p:cNvSpPr/>
            <p:nvPr/>
          </p:nvSpPr>
          <p:spPr>
            <a:xfrm>
              <a:off x="8013650" y="3100300"/>
              <a:ext cx="838500" cy="2643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E691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grpSp>
          <p:nvGrpSpPr>
            <p:cNvPr id="277" name="Google Shape;277;p17"/>
            <p:cNvGrpSpPr/>
            <p:nvPr/>
          </p:nvGrpSpPr>
          <p:grpSpPr>
            <a:xfrm>
              <a:off x="7690550" y="2612300"/>
              <a:ext cx="1484700" cy="913150"/>
              <a:chOff x="7690550" y="2612300"/>
              <a:chExt cx="1484700" cy="913150"/>
            </a:xfrm>
          </p:grpSpPr>
          <p:cxnSp>
            <p:nvCxnSpPr>
              <p:cNvPr id="278" name="Google Shape;278;p17"/>
              <p:cNvCxnSpPr/>
              <p:nvPr/>
            </p:nvCxnSpPr>
            <p:spPr>
              <a:xfrm rot="10800000">
                <a:off x="8513850" y="2612300"/>
                <a:ext cx="300" cy="488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79" name="Google Shape;279;p17"/>
              <p:cNvSpPr txBox="1"/>
              <p:nvPr/>
            </p:nvSpPr>
            <p:spPr>
              <a:xfrm>
                <a:off x="7690550" y="3033750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AlphaGo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80" name="Google Shape;280;p17"/>
          <p:cNvGrpSpPr/>
          <p:nvPr/>
        </p:nvGrpSpPr>
        <p:grpSpPr>
          <a:xfrm>
            <a:off x="57198" y="2629618"/>
            <a:ext cx="1446840" cy="998330"/>
            <a:chOff x="-46250" y="2612175"/>
            <a:chExt cx="1484700" cy="1005975"/>
          </a:xfrm>
        </p:grpSpPr>
        <p:cxnSp>
          <p:nvCxnSpPr>
            <p:cNvPr id="281" name="Google Shape;281;p17"/>
            <p:cNvCxnSpPr/>
            <p:nvPr/>
          </p:nvCxnSpPr>
          <p:spPr>
            <a:xfrm rot="10800000" flipH="1">
              <a:off x="924700" y="2612175"/>
              <a:ext cx="4800" cy="513000"/>
            </a:xfrm>
            <a:prstGeom prst="straightConnector1">
              <a:avLst/>
            </a:prstGeom>
            <a:noFill/>
            <a:ln w="9525" cap="flat" cmpd="sng">
              <a:solidFill>
                <a:srgbClr val="93C47D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82" name="Google Shape;282;p17"/>
            <p:cNvGrpSpPr/>
            <p:nvPr/>
          </p:nvGrpSpPr>
          <p:grpSpPr>
            <a:xfrm>
              <a:off x="-46250" y="3048975"/>
              <a:ext cx="1484700" cy="569175"/>
              <a:chOff x="-46250" y="3048975"/>
              <a:chExt cx="1484700" cy="569175"/>
            </a:xfrm>
          </p:grpSpPr>
          <p:sp>
            <p:nvSpPr>
              <p:cNvPr id="283" name="Google Shape;283;p17"/>
              <p:cNvSpPr/>
              <p:nvPr/>
            </p:nvSpPr>
            <p:spPr>
              <a:xfrm>
                <a:off x="209550" y="3105150"/>
                <a:ext cx="962700" cy="5130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84" name="Google Shape;284;p17"/>
              <p:cNvSpPr txBox="1"/>
              <p:nvPr/>
            </p:nvSpPr>
            <p:spPr>
              <a:xfrm>
                <a:off x="-46250" y="3048975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Dartmouth 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conference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85" name="Google Shape;285;p17"/>
          <p:cNvGrpSpPr/>
          <p:nvPr/>
        </p:nvGrpSpPr>
        <p:grpSpPr>
          <a:xfrm>
            <a:off x="6500640" y="2629618"/>
            <a:ext cx="1446840" cy="917325"/>
            <a:chOff x="6565800" y="2612175"/>
            <a:chExt cx="1484700" cy="924350"/>
          </a:xfrm>
        </p:grpSpPr>
        <p:cxnSp>
          <p:nvCxnSpPr>
            <p:cNvPr id="286" name="Google Shape;286;p17"/>
            <p:cNvCxnSpPr/>
            <p:nvPr/>
          </p:nvCxnSpPr>
          <p:spPr>
            <a:xfrm rot="10800000" flipH="1">
              <a:off x="7554700" y="2612175"/>
              <a:ext cx="4800" cy="513000"/>
            </a:xfrm>
            <a:prstGeom prst="straightConnector1">
              <a:avLst/>
            </a:prstGeom>
            <a:noFill/>
            <a:ln w="9525" cap="flat" cmpd="sng">
              <a:solidFill>
                <a:srgbClr val="EA99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87" name="Google Shape;287;p17"/>
            <p:cNvGrpSpPr/>
            <p:nvPr/>
          </p:nvGrpSpPr>
          <p:grpSpPr>
            <a:xfrm>
              <a:off x="6565800" y="3044825"/>
              <a:ext cx="1484700" cy="491700"/>
              <a:chOff x="6565800" y="3006125"/>
              <a:chExt cx="1484700" cy="491700"/>
            </a:xfrm>
          </p:grpSpPr>
          <p:sp>
            <p:nvSpPr>
              <p:cNvPr id="288" name="Google Shape;288;p17"/>
              <p:cNvSpPr/>
              <p:nvPr/>
            </p:nvSpPr>
            <p:spPr>
              <a:xfrm>
                <a:off x="6888900" y="3086475"/>
                <a:ext cx="838500" cy="2643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9525" cap="flat" cmpd="sng">
                <a:solidFill>
                  <a:srgbClr val="EA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289" name="Google Shape;289;p17"/>
              <p:cNvSpPr txBox="1"/>
              <p:nvPr/>
            </p:nvSpPr>
            <p:spPr>
              <a:xfrm>
                <a:off x="6565800" y="3006125"/>
                <a:ext cx="14847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ImageNet</a:t>
                </a: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90" name="Google Shape;290;p17"/>
          <p:cNvGrpSpPr/>
          <p:nvPr/>
        </p:nvGrpSpPr>
        <p:grpSpPr>
          <a:xfrm>
            <a:off x="6879550" y="2629618"/>
            <a:ext cx="1446840" cy="1409406"/>
            <a:chOff x="6954625" y="2612175"/>
            <a:chExt cx="1484700" cy="1420200"/>
          </a:xfrm>
        </p:grpSpPr>
        <p:sp>
          <p:nvSpPr>
            <p:cNvPr id="291" name="Google Shape;291;p17"/>
            <p:cNvSpPr/>
            <p:nvPr/>
          </p:nvSpPr>
          <p:spPr>
            <a:xfrm>
              <a:off x="7338475" y="3605563"/>
              <a:ext cx="717000" cy="2643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rgbClr val="8E7C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cxnSp>
          <p:nvCxnSpPr>
            <p:cNvPr id="292" name="Google Shape;292;p17"/>
            <p:cNvCxnSpPr/>
            <p:nvPr/>
          </p:nvCxnSpPr>
          <p:spPr>
            <a:xfrm rot="10800000" flipH="1">
              <a:off x="7773175" y="2612175"/>
              <a:ext cx="3900" cy="1052400"/>
            </a:xfrm>
            <a:prstGeom prst="straightConnector1">
              <a:avLst/>
            </a:prstGeom>
            <a:noFill/>
            <a:ln w="9525" cap="flat" cmpd="sng">
              <a:solidFill>
                <a:srgbClr val="8E7CC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3" name="Google Shape;293;p17"/>
            <p:cNvSpPr txBox="1"/>
            <p:nvPr/>
          </p:nvSpPr>
          <p:spPr>
            <a:xfrm>
              <a:off x="6954625" y="3540675"/>
              <a:ext cx="1484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AlexNet</a:t>
              </a: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AI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286350" y="817200"/>
            <a:ext cx="86832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Narrow AI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capable of performing specific tasks only.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Artificial General Intelligence (AGI)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capable of performing many cognitive tasks across multiple domains, at human or superhuman levels.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Human-level AI (HLA</a:t>
            </a: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capable of doing virtually everything humans do.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Transformative AI (</a:t>
            </a: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TAI)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systems with a dramatic impact on the world at the level of the industrial revolution.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Superintelligence (ASI)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capable of outclassing human performance on virtually all intellectual tasks.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>
            <a:spLocks noGrp="1"/>
          </p:cNvSpPr>
          <p:nvPr>
            <p:ph type="title"/>
          </p:nvPr>
        </p:nvSpPr>
        <p:spPr>
          <a:xfrm>
            <a:off x="423450" y="192285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Machine Learning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367675" y="29300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models, tasks, data, and types of learning</a:t>
            </a:r>
            <a:endParaRPr sz="2000" b="0" i="1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Machine Learning Definitions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6625" y="624287"/>
            <a:ext cx="4150650" cy="41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Machine Learning Definitions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423400" y="817200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 (ML)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developing computer systems that can learn directly from data without following explicit pre-set instructions.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8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23400" y="1887725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Algorithm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 procedure (recipe) for accomplishing a task.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1" name="Google Shape;331;p21"/>
          <p:cNvPicPr preferRelativeResize="0"/>
          <p:nvPr/>
        </p:nvPicPr>
        <p:blipFill rotWithShape="1">
          <a:blip r:embed="rId3">
            <a:alphaModFix/>
          </a:blip>
          <a:srcRect b="7467"/>
          <a:stretch/>
        </p:blipFill>
        <p:spPr>
          <a:xfrm>
            <a:off x="2228800" y="3358000"/>
            <a:ext cx="4686300" cy="14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 txBox="1"/>
          <p:nvPr/>
        </p:nvSpPr>
        <p:spPr>
          <a:xfrm>
            <a:off x="423400" y="2729650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model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an algorithm designed to learn automatically from data by identifying patterns and relationships to make predictions or decisions.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23400" y="3952575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Training data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the data from which ML models learn.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 Access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423400" y="817200"/>
            <a:ext cx="8409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 developers can grant different levels of </a:t>
            </a: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access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to the public.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Closed Models: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Operate in a closed system, not accessible for external use or modification, often used internally by organizations.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API Models: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Accessible through an interface with usage restrictions, allowing users to query the model without viewing or modifying the underlying model.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Open Models: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Fully accessible and modifiable, often part of open-source projects, allowing users to use, modify, and distribute freely.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9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Computational Resources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23400" y="817200"/>
            <a:ext cx="8409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Compute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ML: Essential for handling the large datasets and complex calculations in machine learning, with GPUs and CPUs being primary examples.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GPUs (Graphics Processing Units)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10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2" name="Google Shape;352;p23"/>
          <p:cNvPicPr preferRelativeResize="0"/>
          <p:nvPr/>
        </p:nvPicPr>
        <p:blipFill rotWithShape="1">
          <a:blip r:embed="rId3">
            <a:alphaModFix/>
          </a:blip>
          <a:srcRect l="16470" t="8554" r="16470" b="31165"/>
          <a:stretch/>
        </p:blipFill>
        <p:spPr>
          <a:xfrm>
            <a:off x="6325925" y="3152951"/>
            <a:ext cx="2818074" cy="168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/>
          <p:cNvPicPr preferRelativeResize="0"/>
          <p:nvPr/>
        </p:nvPicPr>
        <p:blipFill rotWithShape="1">
          <a:blip r:embed="rId4">
            <a:alphaModFix/>
          </a:blip>
          <a:srcRect l="9335" t="16386" r="11888" b="8892"/>
          <a:stretch/>
        </p:blipFill>
        <p:spPr>
          <a:xfrm>
            <a:off x="6325925" y="1599975"/>
            <a:ext cx="2818074" cy="1781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3"/>
          <p:cNvSpPr txBox="1"/>
          <p:nvPr/>
        </p:nvSpPr>
        <p:spPr>
          <a:xfrm>
            <a:off x="423400" y="1960200"/>
            <a:ext cx="8409000" cy="17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Parallel processing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423400" y="2850925"/>
            <a:ext cx="84090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CPUs (Central Processing Units)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23400" y="3285600"/>
            <a:ext cx="8409000" cy="17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Sequential processing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Tasks, Inputs, Outputs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423400" y="8172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Task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What is the primary goal of the ML model?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What data does the ML system receive?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Outputs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What does the ML system produce?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11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Input Data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423400" y="745850"/>
            <a:ext cx="8817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Modality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type of input to an ML model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12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423400" y="1434488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Major modalities in machine learning: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Tables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25"/>
          <p:cNvSpPr txBox="1"/>
          <p:nvPr/>
        </p:nvSpPr>
        <p:spPr>
          <a:xfrm>
            <a:off x="423400" y="2157563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Text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423400" y="2515092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25"/>
          <p:cNvSpPr txBox="1"/>
          <p:nvPr/>
        </p:nvSpPr>
        <p:spPr>
          <a:xfrm>
            <a:off x="423400" y="2872621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Video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423400" y="32301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Audio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423400" y="3587679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Time series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423400" y="3945208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Graphs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423400" y="4302738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Set values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3" name="Google Shape;38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74" y="2152073"/>
            <a:ext cx="3564551" cy="268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4725" y="1977487"/>
            <a:ext cx="2004014" cy="26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675" y="1901275"/>
            <a:ext cx="1806751" cy="29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6">
            <a:alphaModFix/>
          </a:blip>
          <a:srcRect l="47906" t="22180" r="15677" b="33272"/>
          <a:stretch/>
        </p:blipFill>
        <p:spPr>
          <a:xfrm>
            <a:off x="4920150" y="2156725"/>
            <a:ext cx="3329974" cy="22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5"/>
          <p:cNvPicPr preferRelativeResize="0"/>
          <p:nvPr/>
        </p:nvPicPr>
        <p:blipFill rotWithShape="1">
          <a:blip r:embed="rId7">
            <a:alphaModFix/>
          </a:blip>
          <a:srcRect l="10399" r="8101"/>
          <a:stretch/>
        </p:blipFill>
        <p:spPr>
          <a:xfrm>
            <a:off x="3640584" y="1897600"/>
            <a:ext cx="5512315" cy="29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55874" y="2123150"/>
            <a:ext cx="2481544" cy="23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8480" y="2515094"/>
            <a:ext cx="3505140" cy="15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0158" y="2123150"/>
            <a:ext cx="2312985" cy="22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3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3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3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/>
          <p:nvPr/>
        </p:nvSpPr>
        <p:spPr>
          <a:xfrm>
            <a:off x="8355225" y="3445925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cxnSp>
        <p:nvCxnSpPr>
          <p:cNvPr id="396" name="Google Shape;396;p26"/>
          <p:cNvCxnSpPr/>
          <p:nvPr/>
        </p:nvCxnSpPr>
        <p:spPr>
          <a:xfrm flipH="1">
            <a:off x="8526825" y="3314700"/>
            <a:ext cx="900" cy="2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7" name="Google Shape;397;p26"/>
          <p:cNvSpPr/>
          <p:nvPr/>
        </p:nvSpPr>
        <p:spPr>
          <a:xfrm>
            <a:off x="8355225" y="3119958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cxnSp>
        <p:nvCxnSpPr>
          <p:cNvPr id="398" name="Google Shape;398;p26"/>
          <p:cNvCxnSpPr/>
          <p:nvPr/>
        </p:nvCxnSpPr>
        <p:spPr>
          <a:xfrm rot="10800000" flipH="1">
            <a:off x="8138575" y="3238125"/>
            <a:ext cx="4011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9" name="Google Shape;399;p26"/>
          <p:cNvSpPr/>
          <p:nvPr/>
        </p:nvSpPr>
        <p:spPr>
          <a:xfrm>
            <a:off x="7898325" y="3119958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cxnSp>
        <p:nvCxnSpPr>
          <p:cNvPr id="400" name="Google Shape;400;p26"/>
          <p:cNvCxnSpPr/>
          <p:nvPr/>
        </p:nvCxnSpPr>
        <p:spPr>
          <a:xfrm flipH="1">
            <a:off x="8072850" y="3003550"/>
            <a:ext cx="900" cy="2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1" name="Google Shape;401;p26"/>
          <p:cNvSpPr/>
          <p:nvPr/>
        </p:nvSpPr>
        <p:spPr>
          <a:xfrm>
            <a:off x="7439013" y="2468025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cxnSp>
        <p:nvCxnSpPr>
          <p:cNvPr id="402" name="Google Shape;402;p26"/>
          <p:cNvCxnSpPr/>
          <p:nvPr/>
        </p:nvCxnSpPr>
        <p:spPr>
          <a:xfrm rot="10800000">
            <a:off x="7611063" y="2544092"/>
            <a:ext cx="0" cy="3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3" name="Google Shape;403;p26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ML Tasks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405150" y="1323031"/>
            <a:ext cx="20421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Classification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13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8" name="Google Shape;408;p26"/>
          <p:cNvSpPr txBox="1"/>
          <p:nvPr/>
        </p:nvSpPr>
        <p:spPr>
          <a:xfrm>
            <a:off x="2619300" y="1323031"/>
            <a:ext cx="1761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Regression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4839300" y="1182900"/>
            <a:ext cx="1538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Anomaly 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detection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6897525" y="1182900"/>
            <a:ext cx="20421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Sequence 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modelling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1" name="Google Shape;41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600" y="2235076"/>
            <a:ext cx="1725751" cy="172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600" y="2211775"/>
            <a:ext cx="1728601" cy="175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900" y="2208919"/>
            <a:ext cx="1728599" cy="176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19242" y="2211125"/>
            <a:ext cx="1761716" cy="17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6"/>
          <p:cNvPicPr preferRelativeResize="0"/>
          <p:nvPr/>
        </p:nvPicPr>
        <p:blipFill rotWithShape="1">
          <a:blip r:embed="rId7">
            <a:alphaModFix/>
          </a:blip>
          <a:srcRect b="832"/>
          <a:stretch/>
        </p:blipFill>
        <p:spPr>
          <a:xfrm>
            <a:off x="2619250" y="2224000"/>
            <a:ext cx="1761699" cy="176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01" y="2207537"/>
            <a:ext cx="1761699" cy="176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16301" y="2210338"/>
            <a:ext cx="1761699" cy="175888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6"/>
          <p:cNvSpPr/>
          <p:nvPr/>
        </p:nvSpPr>
        <p:spPr>
          <a:xfrm>
            <a:off x="6979700" y="2793992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7439013" y="2793992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7898325" y="2793992"/>
            <a:ext cx="344100" cy="2382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cxnSp>
        <p:nvCxnSpPr>
          <p:cNvPr id="421" name="Google Shape;421;p26"/>
          <p:cNvCxnSpPr>
            <a:stCxn id="418" idx="3"/>
          </p:cNvCxnSpPr>
          <p:nvPr/>
        </p:nvCxnSpPr>
        <p:spPr>
          <a:xfrm rot="10800000" flipH="1">
            <a:off x="7323800" y="2910992"/>
            <a:ext cx="2829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2" name="Google Shape;422;p26"/>
          <p:cNvCxnSpPr>
            <a:stCxn id="401" idx="3"/>
          </p:cNvCxnSpPr>
          <p:nvPr/>
        </p:nvCxnSpPr>
        <p:spPr>
          <a:xfrm>
            <a:off x="7783113" y="2587125"/>
            <a:ext cx="270900" cy="3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 txBox="1"/>
          <p:nvPr/>
        </p:nvSpPr>
        <p:spPr>
          <a:xfrm>
            <a:off x="423400" y="969600"/>
            <a:ext cx="8811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Classification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predicting categories or “classes” using features of an input data point.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p2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14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0" name="Google Shape;430;p2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Task 1: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Classification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2" name="Google Shape;432;p27"/>
          <p:cNvPicPr preferRelativeResize="0"/>
          <p:nvPr/>
        </p:nvPicPr>
        <p:blipFill rotWithShape="1">
          <a:blip r:embed="rId3">
            <a:alphaModFix/>
          </a:blip>
          <a:srcRect t="119" b="109"/>
          <a:stretch/>
        </p:blipFill>
        <p:spPr>
          <a:xfrm>
            <a:off x="2430051" y="1746588"/>
            <a:ext cx="4221025" cy="280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"/>
          <p:cNvSpPr txBox="1"/>
          <p:nvPr/>
        </p:nvSpPr>
        <p:spPr>
          <a:xfrm>
            <a:off x="423400" y="969600"/>
            <a:ext cx="25659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Regression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predicting numerical outputs using features of input data.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p2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15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0" name="Google Shape;440;p2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1" name="Google Shape;441;p28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Task 2: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Regression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2" name="Google Shape;442;p28"/>
          <p:cNvPicPr preferRelativeResize="0"/>
          <p:nvPr/>
        </p:nvPicPr>
        <p:blipFill rotWithShape="1">
          <a:blip r:embed="rId3">
            <a:alphaModFix/>
          </a:blip>
          <a:srcRect t="19" b="19"/>
          <a:stretch/>
        </p:blipFill>
        <p:spPr>
          <a:xfrm>
            <a:off x="3336975" y="969600"/>
            <a:ext cx="5697295" cy="379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16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0" name="Google Shape;450;p29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Task 3: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Anomaly Detection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1" name="Google Shape;451;p29"/>
          <p:cNvPicPr preferRelativeResize="0"/>
          <p:nvPr/>
        </p:nvPicPr>
        <p:blipFill rotWithShape="1">
          <a:blip r:embed="rId3">
            <a:alphaModFix/>
          </a:blip>
          <a:srcRect l="129" r="139"/>
          <a:stretch/>
        </p:blipFill>
        <p:spPr>
          <a:xfrm>
            <a:off x="3594700" y="970350"/>
            <a:ext cx="5549302" cy="37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9"/>
          <p:cNvSpPr txBox="1"/>
          <p:nvPr/>
        </p:nvSpPr>
        <p:spPr>
          <a:xfrm>
            <a:off x="347200" y="1035700"/>
            <a:ext cx="3318600" cy="28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Anomaly detection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identifying outliers or abnormal data points.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black swan detection.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Black swans: events that are rare and unpredictable, yet impactful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0"/>
          <p:cNvSpPr txBox="1"/>
          <p:nvPr/>
        </p:nvSpPr>
        <p:spPr>
          <a:xfrm>
            <a:off x="423400" y="969600"/>
            <a:ext cx="8811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Sequence modeling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analyzing and predicting patterns in sequential data.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17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Task 4: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Sequence Modeling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423400" y="1564800"/>
            <a:ext cx="8297100" cy="3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Generative modeling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creating new data that resembles the input data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 ChatGPT is a “generative model”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 of the ML Pipeline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468" name="Google Shape;468;p3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9" name="Google Shape;469;p3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18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pipeline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 series of interconnected steps in the process of developing a ML model.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Steps: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collection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Labeling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Choosing architecture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Training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endParaRPr sz="20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Deployment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Three Types of Machine Learning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914400" y="1592875"/>
            <a:ext cx="3189900" cy="12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Supervised Learning</a:t>
            </a:r>
            <a:endParaRPr sz="20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5039700" y="1592875"/>
            <a:ext cx="3189900" cy="12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Unsupervised Learning</a:t>
            </a:r>
            <a:endParaRPr sz="20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2977050" y="3297600"/>
            <a:ext cx="3189900" cy="12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Reinforcement Learning</a:t>
            </a:r>
            <a:endParaRPr sz="20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0" name="Google Shape;510;p3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19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6"/>
          <p:cNvSpPr txBox="1"/>
          <p:nvPr/>
        </p:nvSpPr>
        <p:spPr>
          <a:xfrm>
            <a:off x="423400" y="969600"/>
            <a:ext cx="8811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Supervised learning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learning from labeled data.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Learning relationships between input data and output labels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Labels are usually generated by humans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Species identification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8" name="Google Shape;518;p3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20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Type 1: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Supervised Learning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22" name="Google Shape;52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4250" y="2257287"/>
            <a:ext cx="1512250" cy="178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9230" y="2153975"/>
            <a:ext cx="2538175" cy="2557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36"/>
          <p:cNvGrpSpPr/>
          <p:nvPr/>
        </p:nvGrpSpPr>
        <p:grpSpPr>
          <a:xfrm>
            <a:off x="423401" y="2779375"/>
            <a:ext cx="5870980" cy="796800"/>
            <a:chOff x="423400" y="3388975"/>
            <a:chExt cx="8886000" cy="796800"/>
          </a:xfrm>
        </p:grpSpPr>
        <p:sp>
          <p:nvSpPr>
            <p:cNvPr id="525" name="Google Shape;525;p36"/>
            <p:cNvSpPr/>
            <p:nvPr/>
          </p:nvSpPr>
          <p:spPr>
            <a:xfrm>
              <a:off x="3742400" y="3880675"/>
              <a:ext cx="2811300" cy="30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526" name="Google Shape;526;p36"/>
            <p:cNvSpPr txBox="1"/>
            <p:nvPr/>
          </p:nvSpPr>
          <p:spPr>
            <a:xfrm>
              <a:off x="423400" y="3388975"/>
              <a:ext cx="88860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Advantage: high accuracy and reliability for large and well-labeled dataset. 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423401" y="3547600"/>
            <a:ext cx="5737387" cy="520275"/>
            <a:chOff x="423400" y="4157200"/>
            <a:chExt cx="8683800" cy="520275"/>
          </a:xfrm>
        </p:grpSpPr>
        <p:sp>
          <p:nvSpPr>
            <p:cNvPr id="528" name="Google Shape;528;p36"/>
            <p:cNvSpPr/>
            <p:nvPr/>
          </p:nvSpPr>
          <p:spPr>
            <a:xfrm>
              <a:off x="5042100" y="4157200"/>
              <a:ext cx="1573200" cy="491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529" name="Google Shape;529;p36"/>
            <p:cNvSpPr txBox="1"/>
            <p:nvPr/>
          </p:nvSpPr>
          <p:spPr>
            <a:xfrm>
              <a:off x="423400" y="4185775"/>
              <a:ext cx="86838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Disadvantage: worse performance for loosely-defined tasks, like poetry or image generation; may also require manual labeling. 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"/>
          <p:cNvSpPr txBox="1"/>
          <p:nvPr/>
        </p:nvSpPr>
        <p:spPr>
          <a:xfrm>
            <a:off x="423400" y="969600"/>
            <a:ext cx="82014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Unsupervised learning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learning from unlabeled data.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Discovering and identifying patterns within a dataset to learn the relationships between variables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Also known as “self-supervised learning,” because the model may use these patterns to generate supervisory signals for itself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Examples: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5" name="Google Shape;535;p3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21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Type 2: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Unsupervised Learning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9" name="Google Shape;539;p37"/>
          <p:cNvSpPr txBox="1"/>
          <p:nvPr/>
        </p:nvSpPr>
        <p:spPr>
          <a:xfrm>
            <a:off x="423400" y="3780750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Image inpainting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40" name="Google Shape;540;p37"/>
          <p:cNvGrpSpPr/>
          <p:nvPr/>
        </p:nvGrpSpPr>
        <p:grpSpPr>
          <a:xfrm>
            <a:off x="423400" y="3077550"/>
            <a:ext cx="8720700" cy="1561900"/>
            <a:chOff x="423400" y="3077550"/>
            <a:chExt cx="8720700" cy="1561900"/>
          </a:xfrm>
        </p:grpSpPr>
        <p:sp>
          <p:nvSpPr>
            <p:cNvPr id="541" name="Google Shape;541;p37"/>
            <p:cNvSpPr txBox="1"/>
            <p:nvPr/>
          </p:nvSpPr>
          <p:spPr>
            <a:xfrm>
              <a:off x="423400" y="3435550"/>
              <a:ext cx="8720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55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unito"/>
                <a:buChar char="●"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Language models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542" name="Google Shape;542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142875" y="3077550"/>
              <a:ext cx="1330099" cy="15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22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49" name="Google Shape;54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575" y="979025"/>
            <a:ext cx="7608975" cy="374885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Type 2: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Unsupervised Learning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9"/>
          <p:cNvSpPr txBox="1"/>
          <p:nvPr/>
        </p:nvSpPr>
        <p:spPr>
          <a:xfrm>
            <a:off x="423400" y="969600"/>
            <a:ext cx="80952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Reinforcement learning (RL)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learning from agent-gathered data.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agents making decisions and improving their performance based on responses to their environment 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robots navigating environments through trial-and-error.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p3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p3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23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9" name="Google Shape;559;p3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0" name="Google Shape;560;p39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Type 3:</a:t>
            </a:r>
            <a:endParaRPr sz="19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Reinforcement Learning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Review of Machine Learning Types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566" name="Google Shape;566;p4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7" name="Google Shape;567;p4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24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p4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9" name="Google Shape;56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600" y="1277475"/>
            <a:ext cx="8571151" cy="279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 txBox="1">
            <a:spLocks noGrp="1"/>
          </p:cNvSpPr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575" name="Google Shape;575;p41"/>
          <p:cNvSpPr txBox="1"/>
          <p:nvPr/>
        </p:nvSpPr>
        <p:spPr>
          <a:xfrm>
            <a:off x="423400" y="741000"/>
            <a:ext cx="8409000" cy="3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are computer systems that perform tasks typically associated with intelligence such as problem solving, decision making, forecasting. They can be classified according to their capabilities.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 systems can learn directly from data without following explicit pre-set instructions. They are used for tasks like classification, regression, anomaly detection, and sequence modeling.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requires data, architecture, training it, evaluati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deploying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can use supervised, unsupervised, and reinforcement learning.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6" name="Google Shape;576;p4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7" name="Google Shape;577;p4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25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8" name="Google Shape;578;p4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5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5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5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2"/>
          <p:cNvSpPr/>
          <p:nvPr/>
        </p:nvSpPr>
        <p:spPr>
          <a:xfrm>
            <a:off x="364325" y="2221700"/>
            <a:ext cx="8279700" cy="12360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  <p:sp>
        <p:nvSpPr>
          <p:cNvPr id="584" name="Google Shape;584;p42"/>
          <p:cNvSpPr txBox="1"/>
          <p:nvPr/>
        </p:nvSpPr>
        <p:spPr>
          <a:xfrm>
            <a:off x="367450" y="817200"/>
            <a:ext cx="8409000" cy="3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Artificial Intelligence: 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Definitions, history, and types.</a:t>
            </a:r>
            <a:endParaRPr sz="2000" b="0" i="1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Learning: 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Models, tasks, data, and learning types.</a:t>
            </a:r>
            <a:br>
              <a:rPr lang="en" sz="2000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20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Deep Learning: 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" sz="2000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preeminent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paradigm</a:t>
            </a:r>
            <a:r>
              <a:rPr lang="en" sz="2000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Scaling Laws: 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Many AI systems improve predictably with scale.</a:t>
            </a:r>
            <a:endParaRPr sz="20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99999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5" name="Google Shape;585;p42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Roadmap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6" name="Google Shape;586;p4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7" name="Google Shape;587;p4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26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8" name="Google Shape;588;p4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"/>
          <p:cNvSpPr txBox="1">
            <a:spLocks noGrp="1"/>
          </p:cNvSpPr>
          <p:nvPr>
            <p:ph type="title"/>
          </p:nvPr>
        </p:nvSpPr>
        <p:spPr>
          <a:xfrm>
            <a:off x="423450" y="192285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Deep Learning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4" name="Google Shape;594;p4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5" name="Google Shape;595;p4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27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6" name="Google Shape;596;p4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7" name="Google Shape;597;p43"/>
          <p:cNvSpPr txBox="1"/>
          <p:nvPr/>
        </p:nvSpPr>
        <p:spPr>
          <a:xfrm>
            <a:off x="367675" y="29300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" sz="2000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preeminent</a:t>
            </a:r>
            <a:r>
              <a:rPr lang="en" sz="2000" b="0" i="1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paradigm</a:t>
            </a:r>
            <a:endParaRPr sz="2000" b="0" i="1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4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 to Deep Learning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603" name="Google Shape;603;p4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28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5" name="Google Shape;605;p4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6" name="Google Shape;60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4438" y="662100"/>
            <a:ext cx="4075025" cy="407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 to Deep Learning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612" name="Google Shape;612;p45"/>
          <p:cNvSpPr txBox="1"/>
          <p:nvPr/>
        </p:nvSpPr>
        <p:spPr>
          <a:xfrm>
            <a:off x="423400" y="817200"/>
            <a:ext cx="8720700" cy="1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Deep learning (DL)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Uses</a:t>
            </a:r>
            <a:r>
              <a:rPr lang="en" sz="2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neural networks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layers of interconnected nodes that transform inputs into outputs, inspired by biological neurons.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Extract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useful patterns from large quantities of data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Useful for learning hierarchical representations of the world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3" name="Google Shape;613;p4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4" name="Google Shape;614;p4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29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16" name="Google Shape;616;p45"/>
          <p:cNvGrpSpPr/>
          <p:nvPr/>
        </p:nvGrpSpPr>
        <p:grpSpPr>
          <a:xfrm>
            <a:off x="1589750" y="3610406"/>
            <a:ext cx="4120438" cy="1002300"/>
            <a:chOff x="1589750" y="3229406"/>
            <a:chExt cx="4120438" cy="1002300"/>
          </a:xfrm>
        </p:grpSpPr>
        <p:sp>
          <p:nvSpPr>
            <p:cNvPr id="617" name="Google Shape;617;p45"/>
            <p:cNvSpPr/>
            <p:nvPr/>
          </p:nvSpPr>
          <p:spPr>
            <a:xfrm>
              <a:off x="3662988" y="3229406"/>
              <a:ext cx="20472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cxnSp>
          <p:nvCxnSpPr>
            <p:cNvPr id="618" name="Google Shape;618;p45"/>
            <p:cNvCxnSpPr/>
            <p:nvPr/>
          </p:nvCxnSpPr>
          <p:spPr>
            <a:xfrm>
              <a:off x="1589750" y="3730106"/>
              <a:ext cx="13338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19" name="Google Shape;619;p45"/>
            <p:cNvSpPr txBox="1"/>
            <p:nvPr/>
          </p:nvSpPr>
          <p:spPr>
            <a:xfrm>
              <a:off x="3687288" y="3363975"/>
              <a:ext cx="1998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Hand-designed program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20" name="Google Shape;620;p45"/>
          <p:cNvGrpSpPr/>
          <p:nvPr/>
        </p:nvGrpSpPr>
        <p:grpSpPr>
          <a:xfrm>
            <a:off x="69550" y="3610406"/>
            <a:ext cx="920100" cy="1002300"/>
            <a:chOff x="69550" y="3229406"/>
            <a:chExt cx="920100" cy="1002300"/>
          </a:xfrm>
        </p:grpSpPr>
        <p:sp>
          <p:nvSpPr>
            <p:cNvPr id="621" name="Google Shape;621;p45"/>
            <p:cNvSpPr/>
            <p:nvPr/>
          </p:nvSpPr>
          <p:spPr>
            <a:xfrm>
              <a:off x="101650" y="32294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22" name="Google Shape;622;p45"/>
            <p:cNvSpPr txBox="1"/>
            <p:nvPr/>
          </p:nvSpPr>
          <p:spPr>
            <a:xfrm>
              <a:off x="69550" y="3500050"/>
              <a:ext cx="9201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23" name="Google Shape;623;p45"/>
          <p:cNvGrpSpPr/>
          <p:nvPr/>
        </p:nvGrpSpPr>
        <p:grpSpPr>
          <a:xfrm>
            <a:off x="6273100" y="3610406"/>
            <a:ext cx="3059350" cy="1002300"/>
            <a:chOff x="6273100" y="3229406"/>
            <a:chExt cx="3059350" cy="1002300"/>
          </a:xfrm>
        </p:grpSpPr>
        <p:sp>
          <p:nvSpPr>
            <p:cNvPr id="624" name="Google Shape;624;p45"/>
            <p:cNvSpPr/>
            <p:nvPr/>
          </p:nvSpPr>
          <p:spPr>
            <a:xfrm>
              <a:off x="8169800" y="32294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25" name="Google Shape;625;p45"/>
            <p:cNvSpPr txBox="1"/>
            <p:nvPr/>
          </p:nvSpPr>
          <p:spPr>
            <a:xfrm>
              <a:off x="7863050" y="3445363"/>
              <a:ext cx="14694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Output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626" name="Google Shape;626;p45"/>
            <p:cNvCxnSpPr/>
            <p:nvPr/>
          </p:nvCxnSpPr>
          <p:spPr>
            <a:xfrm>
              <a:off x="6273100" y="3730106"/>
              <a:ext cx="13338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627" name="Google Shape;627;p45"/>
          <p:cNvSpPr txBox="1"/>
          <p:nvPr/>
        </p:nvSpPr>
        <p:spPr>
          <a:xfrm>
            <a:off x="423400" y="3118688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Rule-based systems: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28" name="Google Shape;628;p45"/>
          <p:cNvGrpSpPr/>
          <p:nvPr/>
        </p:nvGrpSpPr>
        <p:grpSpPr>
          <a:xfrm>
            <a:off x="69550" y="3118688"/>
            <a:ext cx="9262900" cy="1494018"/>
            <a:chOff x="69550" y="2737688"/>
            <a:chExt cx="9262900" cy="1494018"/>
          </a:xfrm>
        </p:grpSpPr>
        <p:cxnSp>
          <p:nvCxnSpPr>
            <p:cNvPr id="629" name="Google Shape;629;p45"/>
            <p:cNvCxnSpPr/>
            <p:nvPr/>
          </p:nvCxnSpPr>
          <p:spPr>
            <a:xfrm>
              <a:off x="3972975" y="3737781"/>
              <a:ext cx="13338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0" name="Google Shape;630;p45"/>
            <p:cNvCxnSpPr/>
            <p:nvPr/>
          </p:nvCxnSpPr>
          <p:spPr>
            <a:xfrm>
              <a:off x="6766275" y="3737781"/>
              <a:ext cx="13338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1" name="Google Shape;631;p45"/>
            <p:cNvCxnSpPr/>
            <p:nvPr/>
          </p:nvCxnSpPr>
          <p:spPr>
            <a:xfrm>
              <a:off x="675350" y="3737781"/>
              <a:ext cx="1333800" cy="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32" name="Google Shape;632;p45"/>
            <p:cNvSpPr/>
            <p:nvPr/>
          </p:nvSpPr>
          <p:spPr>
            <a:xfrm>
              <a:off x="2062788" y="3229406"/>
              <a:ext cx="20472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101650" y="32294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8169800" y="32294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35" name="Google Shape;635;p45"/>
            <p:cNvSpPr txBox="1"/>
            <p:nvPr/>
          </p:nvSpPr>
          <p:spPr>
            <a:xfrm>
              <a:off x="7863050" y="3445363"/>
              <a:ext cx="14694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Output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36" name="Google Shape;636;p45"/>
            <p:cNvSpPr txBox="1"/>
            <p:nvPr/>
          </p:nvSpPr>
          <p:spPr>
            <a:xfrm>
              <a:off x="2087088" y="3363975"/>
              <a:ext cx="1998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Hand-designed features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37" name="Google Shape;637;p45"/>
            <p:cNvSpPr txBox="1"/>
            <p:nvPr/>
          </p:nvSpPr>
          <p:spPr>
            <a:xfrm>
              <a:off x="69550" y="3500050"/>
              <a:ext cx="9201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638" name="Google Shape;638;p45"/>
            <p:cNvGrpSpPr/>
            <p:nvPr/>
          </p:nvGrpSpPr>
          <p:grpSpPr>
            <a:xfrm>
              <a:off x="5242394" y="3229406"/>
              <a:ext cx="2047200" cy="1002300"/>
              <a:chOff x="5928194" y="3229406"/>
              <a:chExt cx="2047200" cy="1002300"/>
            </a:xfrm>
          </p:grpSpPr>
          <p:sp>
            <p:nvSpPr>
              <p:cNvPr id="639" name="Google Shape;639;p45"/>
              <p:cNvSpPr/>
              <p:nvPr/>
            </p:nvSpPr>
            <p:spPr>
              <a:xfrm>
                <a:off x="6077852" y="3229406"/>
                <a:ext cx="1733100" cy="1002300"/>
              </a:xfrm>
              <a:prstGeom prst="roundRect">
                <a:avLst>
                  <a:gd name="adj" fmla="val 10137"/>
                </a:avLst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  <p:sp>
            <p:nvSpPr>
              <p:cNvPr id="640" name="Google Shape;640;p45"/>
              <p:cNvSpPr txBox="1"/>
              <p:nvPr/>
            </p:nvSpPr>
            <p:spPr>
              <a:xfrm>
                <a:off x="5928194" y="3363975"/>
                <a:ext cx="2047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" sz="2000">
                    <a:solidFill>
                      <a:schemeClr val="lt1"/>
                    </a:solidFill>
                    <a:latin typeface="Nunito"/>
                    <a:ea typeface="Nunito"/>
                    <a:cs typeface="Nunito"/>
                    <a:sym typeface="Nunito"/>
                  </a:rPr>
                  <a:t>ML Model</a:t>
                </a:r>
                <a:endParaRPr sz="2000" b="0" i="0" u="none" strike="noStrike" cap="none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641" name="Google Shape;641;p45"/>
            <p:cNvSpPr txBox="1"/>
            <p:nvPr/>
          </p:nvSpPr>
          <p:spPr>
            <a:xfrm>
              <a:off x="423400" y="2737688"/>
              <a:ext cx="8720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Classic ML: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42" name="Google Shape;642;p45"/>
          <p:cNvGrpSpPr/>
          <p:nvPr/>
        </p:nvGrpSpPr>
        <p:grpSpPr>
          <a:xfrm>
            <a:off x="69550" y="3118688"/>
            <a:ext cx="9262900" cy="1494018"/>
            <a:chOff x="69550" y="4718888"/>
            <a:chExt cx="9262900" cy="1494018"/>
          </a:xfrm>
        </p:grpSpPr>
        <p:cxnSp>
          <p:nvCxnSpPr>
            <p:cNvPr id="643" name="Google Shape;643;p45"/>
            <p:cNvCxnSpPr>
              <a:stCxn id="644" idx="3"/>
            </p:cNvCxnSpPr>
            <p:nvPr/>
          </p:nvCxnSpPr>
          <p:spPr>
            <a:xfrm>
              <a:off x="5457288" y="5711756"/>
              <a:ext cx="2642700" cy="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5" name="Google Shape;645;p45"/>
            <p:cNvCxnSpPr>
              <a:endCxn id="644" idx="1"/>
            </p:cNvCxnSpPr>
            <p:nvPr/>
          </p:nvCxnSpPr>
          <p:spPr>
            <a:xfrm rot="10800000" flipH="1">
              <a:off x="675288" y="5711756"/>
              <a:ext cx="2783400" cy="7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46" name="Google Shape;646;p45"/>
            <p:cNvSpPr/>
            <p:nvPr/>
          </p:nvSpPr>
          <p:spPr>
            <a:xfrm>
              <a:off x="3434388" y="5210606"/>
              <a:ext cx="2047200" cy="1002300"/>
            </a:xfrm>
            <a:prstGeom prst="roundRect">
              <a:avLst>
                <a:gd name="adj" fmla="val 10137"/>
              </a:avLst>
            </a:pr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101650" y="52106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8169800" y="5210606"/>
              <a:ext cx="855900" cy="1002300"/>
            </a:xfrm>
            <a:prstGeom prst="roundRect">
              <a:avLst>
                <a:gd name="adj" fmla="val 1013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649" name="Google Shape;649;p45"/>
            <p:cNvSpPr txBox="1"/>
            <p:nvPr/>
          </p:nvSpPr>
          <p:spPr>
            <a:xfrm>
              <a:off x="7863050" y="5426563"/>
              <a:ext cx="14694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Output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44" name="Google Shape;644;p45"/>
            <p:cNvSpPr txBox="1"/>
            <p:nvPr/>
          </p:nvSpPr>
          <p:spPr>
            <a:xfrm>
              <a:off x="3458688" y="5465906"/>
              <a:ext cx="1998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DL System</a:t>
              </a:r>
              <a:endParaRPr sz="2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50" name="Google Shape;650;p45"/>
            <p:cNvSpPr txBox="1"/>
            <p:nvPr/>
          </p:nvSpPr>
          <p:spPr>
            <a:xfrm>
              <a:off x="69550" y="5481250"/>
              <a:ext cx="9201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Input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51" name="Google Shape;651;p45"/>
            <p:cNvSpPr txBox="1"/>
            <p:nvPr/>
          </p:nvSpPr>
          <p:spPr>
            <a:xfrm>
              <a:off x="423400" y="4718888"/>
              <a:ext cx="8720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Deep</a:t>
              </a:r>
              <a:r>
                <a:rPr lang="en" sz="2000" b="0" i="0" u="none" strike="noStrike" cap="non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learning:</a:t>
              </a:r>
              <a:endParaRPr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52" name="Google Shape;652;p45"/>
          <p:cNvSpPr/>
          <p:nvPr/>
        </p:nvSpPr>
        <p:spPr>
          <a:xfrm>
            <a:off x="35400" y="3216843"/>
            <a:ext cx="9144000" cy="1569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6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Deep Learning Matters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658" name="Google Shape;658;p46"/>
          <p:cNvSpPr txBox="1"/>
          <p:nvPr/>
        </p:nvSpPr>
        <p:spPr>
          <a:xfrm>
            <a:off x="423400" y="817200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Performance: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Superhuman in some domains (though not reliably so)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Examples: image recognition, chess, and Go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Real-world usefulness: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Wide variety of useful applications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Examples: healthcare, social media, and autonomous vehicles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Scalability: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DL models are highly scalable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Performance tends to improve with more data, rather than tapering off</a:t>
            </a:r>
            <a:endParaRPr sz="20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9" name="Google Shape;659;p4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0" name="Google Shape;660;p4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30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1" name="Google Shape;661;p4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6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93"/>
          <p:cNvSpPr txBox="1">
            <a:spLocks noGrp="1"/>
          </p:cNvSpPr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Chapter Recap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1780" name="Google Shape;1780;p93"/>
          <p:cNvSpPr txBox="1"/>
          <p:nvPr/>
        </p:nvSpPr>
        <p:spPr>
          <a:xfrm>
            <a:off x="423400" y="1045800"/>
            <a:ext cx="8409000" cy="3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Artificial Intelligence: Definitions, historical development, and types.</a:t>
            </a: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Learning: Models, tasks, data, and learning types.</a:t>
            </a: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Deep Learning: Fundamental concepts and applications.</a:t>
            </a:r>
            <a:endParaRPr sz="20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1" name="Google Shape;1781;p9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2" name="Google Shape;1782;p9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31</a:t>
            </a:fld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3" name="Google Shape;1783;p9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sz="13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1373</Words>
  <Application>Microsoft Office PowerPoint</Application>
  <PresentationFormat>On-screen Show (16:9)</PresentationFormat>
  <Paragraphs>291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Nunito Light</vt:lpstr>
      <vt:lpstr>Nunito</vt:lpstr>
      <vt:lpstr>Arial</vt:lpstr>
      <vt:lpstr>Telex</vt:lpstr>
      <vt:lpstr>Calibri</vt:lpstr>
      <vt:lpstr>Port Lligat Sans</vt:lpstr>
      <vt:lpstr>Simple Light</vt:lpstr>
      <vt:lpstr>PowerPoint Presentation</vt:lpstr>
      <vt:lpstr>Artificial Intelligence</vt:lpstr>
      <vt:lpstr>Definition of AI </vt:lpstr>
      <vt:lpstr>Modern History of AI </vt:lpstr>
      <vt:lpstr>Types of AI </vt:lpstr>
      <vt:lpstr>Machine Learning</vt:lpstr>
      <vt:lpstr>Machine Learning Definitions </vt:lpstr>
      <vt:lpstr>Machine Learning Definitions </vt:lpstr>
      <vt:lpstr>Model Access</vt:lpstr>
      <vt:lpstr>Computational Resources </vt:lpstr>
      <vt:lpstr>Tasks, Inputs, Outputs </vt:lpstr>
      <vt:lpstr>Types of Input Data </vt:lpstr>
      <vt:lpstr>Key ML Tasks </vt:lpstr>
      <vt:lpstr>PowerPoint Presentation</vt:lpstr>
      <vt:lpstr>PowerPoint Presentation</vt:lpstr>
      <vt:lpstr>PowerPoint Presentation</vt:lpstr>
      <vt:lpstr>PowerPoint Presentation</vt:lpstr>
      <vt:lpstr>Components of the ML Pipeline </vt:lpstr>
      <vt:lpstr>Three Types of Machine Learning</vt:lpstr>
      <vt:lpstr>PowerPoint Presentation</vt:lpstr>
      <vt:lpstr>PowerPoint Presentation</vt:lpstr>
      <vt:lpstr>PowerPoint Presentation</vt:lpstr>
      <vt:lpstr>PowerPoint Presentation</vt:lpstr>
      <vt:lpstr>Review of Machine Learning Types </vt:lpstr>
      <vt:lpstr>Recap </vt:lpstr>
      <vt:lpstr>Roadmap</vt:lpstr>
      <vt:lpstr>Deep Learning</vt:lpstr>
      <vt:lpstr>Introduction to Deep Learning </vt:lpstr>
      <vt:lpstr>Introduction to Deep Learning </vt:lpstr>
      <vt:lpstr>Why Deep Learning Matters </vt:lpstr>
      <vt:lpstr>Chapter Recap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2</cp:revision>
  <dcterms:modified xsi:type="dcterms:W3CDTF">2026-09-18T13:06:46Z</dcterms:modified>
</cp:coreProperties>
</file>