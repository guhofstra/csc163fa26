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1" r:id="rId1"/>
    <p:sldMasterId id="2147483672" r:id="rId2"/>
  </p:sldMasterIdLst>
  <p:notesMasterIdLst>
    <p:notesMasterId r:id="rId5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5" r:id="rId48"/>
    <p:sldId id="306" r:id="rId49"/>
    <p:sldId id="307" r:id="rId50"/>
    <p:sldId id="308" r:id="rId51"/>
  </p:sldIdLst>
  <p:sldSz cx="9144000" cy="5143500" type="screen16x9"/>
  <p:notesSz cx="6858000" cy="9144000"/>
  <p:embeddedFontLst>
    <p:embeddedFont>
      <p:font typeface="Montserrat" panose="00000500000000000000" pitchFamily="2" charset="0"/>
      <p:regular r:id="rId53"/>
      <p:bold r:id="rId54"/>
      <p:italic r:id="rId55"/>
      <p:boldItalic r:id="rId56"/>
    </p:embeddedFont>
    <p:embeddedFont>
      <p:font typeface="Nunito" pitchFamily="2" charset="0"/>
      <p:regular r:id="rId57"/>
      <p:bold r:id="rId58"/>
      <p:italic r:id="rId59"/>
      <p:boldItalic r:id="rId60"/>
    </p:embeddedFont>
    <p:embeddedFont>
      <p:font typeface="Nunito Light" pitchFamily="2" charset="0"/>
      <p:regular r:id="rId61"/>
      <p:bold r:id="rId62"/>
      <p:italic r:id="rId63"/>
      <p:boldItalic r:id="rId64"/>
    </p:embeddedFont>
    <p:embeddedFont>
      <p:font typeface="Port Lligat Sans" panose="020B0604020202020204" charset="0"/>
      <p:regular r:id="rId65"/>
    </p:embeddedFont>
    <p:embeddedFont>
      <p:font typeface="Roboto" panose="02000000000000000000" pitchFamily="2" charset="0"/>
      <p:regular r:id="rId66"/>
      <p:bold r:id="rId67"/>
      <p:italic r:id="rId68"/>
      <p:boldItalic r:id="rId69"/>
    </p:embeddedFont>
    <p:embeddedFont>
      <p:font typeface="Telex" panose="020B0604020202020204" charset="0"/>
      <p:regular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guide orient="horz" pos="1620"/>
        <p:guide pos="2880"/>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1.fntdata"/><Relationship Id="rId68" Type="http://schemas.openxmlformats.org/officeDocument/2006/relationships/font" Target="fonts/font1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3.fntdata"/><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epfl.ch/labs/cvlab/data/road-anomaly/"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650eb92c84_3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650eb92c84_3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650eb92c84_3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650eb92c84_3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cc662cca9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2acc662cca9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acc662cca9_1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2acc662cca9_1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dd5792496f_0_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dd5792496f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650eb92c84_3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650eb92c84_3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+\;\varepsilon\cdot</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650eb92c84_3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650eb92c84_3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650eb92c84_3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650eb92c84_3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Exposing a system to stressors is a part of the process of evolution and developing resilience.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\{(x^{(i)}, y^{(i)})\}_{i=1}^n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x_\text{adv}^{(i)}</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x^{(i)}</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\frac{1}{n} \sum_{i=1}^n \mathcal{L}(x^{(i)}_\text{adv}, y^{(i)};\theta)</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650eb92c84_3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650eb92c84_3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https://whitehacklabs.com/penetration-testing-types-black-box-vs-white-box/</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650eb92c84_3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650eb92c84_3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cc662cca9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acc662cca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650eb92c84_3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650eb92c84_3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650eb92c84_3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650eb92c84_3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650eb92c84_3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650eb92c84_3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650eb92c84_3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650eb92c84_3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650eb92c84_3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650eb92c84_3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650eb92c84_3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650eb92c84_3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650eb92c84_3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650eb92c84_3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TODO: remake plot; the current plot contains FashionMNIST results</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acc662cca9_1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7" name="Google Shape;447;g2acc662cca9_1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ad1d2711d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ad1d2711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dd5792496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dd5792496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d5792496f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d5792496f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dd5792496f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dd5792496f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dd5792496f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2dd5792496f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dd5792496f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dd5792496f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https://arxiv.org/abs/2310.11616</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dd5792496f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2dd5792496f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2650eb92c84_3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2650eb92c84_3_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650eb92c84_3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2650eb92c84_3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right image from </a:t>
            </a:r>
            <a:r>
              <a:rPr lang="en" sz="1000" u="sng">
                <a:solidFill>
                  <a:srgbClr val="0097A7"/>
                </a:solidFill>
                <a:latin typeface="Nunito"/>
                <a:ea typeface="Nunito"/>
                <a:cs typeface="Nunito"/>
                <a:sym typeface="Nunito"/>
                <a:hlinkClick r:id="rId3">
                  <a:extLst>
                    <a:ext uri="{A12FA001-AC4F-418D-AE19-62706E023703}">
                      <ahyp:hlinkClr xmlns:ahyp="http://schemas.microsoft.com/office/drawing/2018/hyperlinkcolor" val="tx"/>
                    </a:ext>
                  </a:extLst>
                </a:hlinkClick>
              </a:rPr>
              <a:t>https://www.epfl.ch/labs/cvlab/data/road-anomaly/</a:t>
            </a: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2650eb92c84_3_5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2650eb92c84_3_5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650eb92c84_3_5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2650eb92c84_3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OOD examples should have higher anomaly scores</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650eb92c84_3_6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650eb92c84_3_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acc662cca9_1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2acc662cca9_1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OOD examples should have higher anomaly scores</a:t>
            </a: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50eb92c84_3_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2650eb92c84_3_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2650eb92c84_3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2650eb92c84_3_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acc662cca9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2acc662cca9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acc662cca9_1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8" name="Google Shape;708;g2acc662cca9_1_2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650eb92c84_3_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2650eb92c84_3_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acc662cca9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2acc662cca9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50eb92c84_3_9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2650eb92c84_3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acc662cca9_1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acc662cca9_1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acc662cca9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2acc662cca9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50eb92c84_3_9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2650eb92c84_3_9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acc662cca9_1_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1" name="Google Shape;801;g2acc662cca9_1_3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50eb92c84_3_1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2650eb92c84_3_1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5122679f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265122679f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65122679f2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65122679f2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https://purplesec.us/intrusion-detection-vs-intrusion-prevention-systems/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https://www.cse.psu.edu/~trj1/cse497b-s07/slides/cse497b-lecture-23-ids.pdf</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IP: Intrusion Prevention examines network traffic and prevents traffic misuse. Bayesian Networks, SVM’s, and other methods that will be covered in the following slides can be used for detection with RL agents operating with the direct ability to intervene packets. However, there is a wide gap between the research done and actual use cases due to domain specific challenges related to outlier detection, high costs of misclassification, and operating in an adversarial environment.[3]</a:t>
            </a:r>
            <a:endParaRPr sz="12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5122679f2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265122679f2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https://www.avast.com/c-malware</a:t>
            </a:r>
            <a:endParaRPr/>
          </a:p>
          <a:p>
            <a:pPr marL="0" lvl="0" indent="0" algn="l" rtl="0">
              <a:spcBef>
                <a:spcPts val="0"/>
              </a:spcBef>
              <a:spcAft>
                <a:spcPts val="0"/>
              </a:spcAft>
              <a:buClr>
                <a:schemeClr val="dk1"/>
              </a:buClr>
              <a:buSzPts val="1100"/>
              <a:buFont typeface="Arial"/>
              <a:buNone/>
            </a:pPr>
            <a:r>
              <a:rPr lang="en"/>
              <a:t>Ransomware</a:t>
            </a:r>
            <a:endParaRPr/>
          </a:p>
          <a:p>
            <a:pPr marL="0" lvl="0" indent="0" algn="l" rtl="0">
              <a:spcBef>
                <a:spcPts val="0"/>
              </a:spcBef>
              <a:spcAft>
                <a:spcPts val="0"/>
              </a:spcAft>
              <a:buClr>
                <a:schemeClr val="dk1"/>
              </a:buClr>
              <a:buSzPts val="1100"/>
              <a:buFont typeface="Arial"/>
              <a:buNone/>
            </a:pPr>
            <a:r>
              <a:rPr lang="en"/>
              <a:t>Ransomware is the malware version of a kidnapper’s ransom note. It typically works by locking or denying access to your device and your files until you pay a ransom to the hacker. Any individuals or groups storing critical information on their devices are at risk from the threat of ransomware.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Spyware</a:t>
            </a:r>
            <a:endParaRPr/>
          </a:p>
          <a:p>
            <a:pPr marL="0" lvl="0" indent="0" algn="l" rtl="0">
              <a:spcBef>
                <a:spcPts val="0"/>
              </a:spcBef>
              <a:spcAft>
                <a:spcPts val="0"/>
              </a:spcAft>
              <a:buClr>
                <a:schemeClr val="dk1"/>
              </a:buClr>
              <a:buSzPts val="1100"/>
              <a:buFont typeface="Arial"/>
              <a:buNone/>
            </a:pPr>
            <a:r>
              <a:rPr lang="en"/>
              <a:t>Spyware collects information about a device or network, then relays this data back to the attacker. Hackers typically use spyware to monitor a person’s internet activity and harvest personal data, including login credentials, credit card numbers or financial information, for the purposes of fraud or identity theft.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Worms</a:t>
            </a:r>
            <a:endParaRPr/>
          </a:p>
          <a:p>
            <a:pPr marL="0" lvl="0" indent="0" algn="l" rtl="0">
              <a:spcBef>
                <a:spcPts val="0"/>
              </a:spcBef>
              <a:spcAft>
                <a:spcPts val="0"/>
              </a:spcAft>
              <a:buClr>
                <a:schemeClr val="dk1"/>
              </a:buClr>
              <a:buSzPts val="1100"/>
              <a:buFont typeface="Arial"/>
              <a:buNone/>
            </a:pPr>
            <a:r>
              <a:rPr lang="en"/>
              <a:t>Worms are designed with one goal in mind: proliferation. A worm infects a computer, then replicates itself, spreading to additional devices while remaining active on all infected machines. Some worms act as delivery agents to install additional malware. Other types are designed only to spread, without intentionally causing harm to their host machines – but these still clog up networks with bandwidth demands.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Adware</a:t>
            </a:r>
            <a:endParaRPr/>
          </a:p>
          <a:p>
            <a:pPr marL="0" lvl="0" indent="0" algn="l" rtl="0">
              <a:spcBef>
                <a:spcPts val="0"/>
              </a:spcBef>
              <a:spcAft>
                <a:spcPts val="0"/>
              </a:spcAft>
              <a:buClr>
                <a:schemeClr val="dk1"/>
              </a:buClr>
              <a:buSzPts val="1100"/>
              <a:buFont typeface="Arial"/>
              <a:buNone/>
            </a:pPr>
            <a:r>
              <a:rPr lang="en"/>
              <a:t>Adware’s job is to create revenue for the developer by subjecting the victim to unwanted advertisements. Common types of adware include free games or browser toolbars. They collect personal data about the victim, then use it to personalize the ads they display. Though most adware is legally installed, it’s certainly no less annoying than other types of malware.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Trojans</a:t>
            </a:r>
            <a:endParaRPr/>
          </a:p>
          <a:p>
            <a:pPr marL="0" lvl="0" indent="0" algn="l" rtl="0">
              <a:spcBef>
                <a:spcPts val="0"/>
              </a:spcBef>
              <a:spcAft>
                <a:spcPts val="0"/>
              </a:spcAft>
              <a:buClr>
                <a:schemeClr val="dk1"/>
              </a:buClr>
              <a:buSzPts val="1100"/>
              <a:buFont typeface="Arial"/>
              <a:buNone/>
            </a:pPr>
            <a:r>
              <a:rPr lang="en"/>
              <a:t>Ancient Greek poets told of Athenian warriors hiding inside a giant wooden horse, then emerging after Trojans pulled it within the walls of their city. A Trojan Horse is therefore a vehicle for hidden attackers. Trojan malware infiltrates a victim’s device by presenting itself as legitimate software. Once installed, the Trojan activates, sometimes going so far as to download additional malware.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Botnets</a:t>
            </a:r>
            <a:endParaRPr/>
          </a:p>
          <a:p>
            <a:pPr marL="0" lvl="0" indent="0" algn="l" rtl="0">
              <a:spcBef>
                <a:spcPts val="0"/>
              </a:spcBef>
              <a:spcAft>
                <a:spcPts val="0"/>
              </a:spcAft>
              <a:buClr>
                <a:schemeClr val="dk1"/>
              </a:buClr>
              <a:buSzPts val="1100"/>
              <a:buFont typeface="Arial"/>
              <a:buNone/>
            </a:pPr>
            <a:r>
              <a:rPr lang="en"/>
              <a:t>A botnet isn’t a type of malware, but a network of computers or computer code that can carry out or execute malware. Attackers infect a group of computers with malicious software known as “bots,” which are capable of receiving commands from their controller.</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These computers then form a network, providing the controller access to a substantial degree of collective processing power, which can be used to coordinate distributed denial of service (DDoS) attacks, send spam, steal data, and create fake ads on your browser.</a:t>
            </a:r>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5122679f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265122679f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acc662cca9_1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3" name="Google Shape;923;g2acc662cca9_1_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300"/>
              <a:buFont typeface="Montserrat"/>
              <a:buNone/>
              <a:defRPr b="0" i="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chemeClr val="dk1"/>
              </a:buClr>
              <a:buSzPts val="2100"/>
              <a:buChar char="●"/>
              <a:defRPr b="0" i="0">
                <a:latin typeface="Montserrat"/>
                <a:ea typeface="Montserrat"/>
                <a:cs typeface="Montserrat"/>
                <a:sym typeface="Montserrat"/>
              </a:defRPr>
            </a:lvl1pPr>
            <a:lvl2pPr marL="914400" lvl="1" indent="-342900" algn="l" rtl="0">
              <a:lnSpc>
                <a:spcPct val="90000"/>
              </a:lnSpc>
              <a:spcBef>
                <a:spcPts val="400"/>
              </a:spcBef>
              <a:spcAft>
                <a:spcPts val="0"/>
              </a:spcAft>
              <a:buClr>
                <a:schemeClr val="dk1"/>
              </a:buClr>
              <a:buSzPts val="1800"/>
              <a:buChar char="○"/>
              <a:defRPr b="0" i="0">
                <a:latin typeface="Montserrat"/>
                <a:ea typeface="Montserrat"/>
                <a:cs typeface="Montserrat"/>
                <a:sym typeface="Montserrat"/>
              </a:defRPr>
            </a:lvl2pPr>
            <a:lvl3pPr marL="1371600" lvl="2" indent="-323850" algn="l" rtl="0">
              <a:lnSpc>
                <a:spcPct val="90000"/>
              </a:lnSpc>
              <a:spcBef>
                <a:spcPts val="400"/>
              </a:spcBef>
              <a:spcAft>
                <a:spcPts val="0"/>
              </a:spcAft>
              <a:buClr>
                <a:schemeClr val="dk1"/>
              </a:buClr>
              <a:buSzPts val="1500"/>
              <a:buChar char="■"/>
              <a:defRPr b="0" i="0">
                <a:latin typeface="Montserrat"/>
                <a:ea typeface="Montserrat"/>
                <a:cs typeface="Montserrat"/>
                <a:sym typeface="Montserrat"/>
              </a:defRPr>
            </a:lvl3pPr>
            <a:lvl4pPr marL="1828800" lvl="3" indent="-317500" algn="l" rtl="0">
              <a:lnSpc>
                <a:spcPct val="90000"/>
              </a:lnSpc>
              <a:spcBef>
                <a:spcPts val="400"/>
              </a:spcBef>
              <a:spcAft>
                <a:spcPts val="0"/>
              </a:spcAft>
              <a:buClr>
                <a:schemeClr val="dk1"/>
              </a:buClr>
              <a:buSzPts val="1400"/>
              <a:buChar char="●"/>
              <a:defRPr b="0" i="0">
                <a:latin typeface="Montserrat"/>
                <a:ea typeface="Montserrat"/>
                <a:cs typeface="Montserrat"/>
                <a:sym typeface="Montserrat"/>
              </a:defRPr>
            </a:lvl4pPr>
            <a:lvl5pPr marL="2286000" lvl="4" indent="-317500" algn="l" rtl="0">
              <a:lnSpc>
                <a:spcPct val="90000"/>
              </a:lnSpc>
              <a:spcBef>
                <a:spcPts val="400"/>
              </a:spcBef>
              <a:spcAft>
                <a:spcPts val="0"/>
              </a:spcAft>
              <a:buClr>
                <a:schemeClr val="dk1"/>
              </a:buClr>
              <a:buSzPts val="1400"/>
              <a:buChar char="○"/>
              <a:defRPr b="0" i="0">
                <a:latin typeface="Montserrat"/>
                <a:ea typeface="Montserrat"/>
                <a:cs typeface="Montserrat"/>
                <a:sym typeface="Montserrat"/>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16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b="0" i="0">
                <a:latin typeface="Montserrat"/>
                <a:ea typeface="Montserrat"/>
                <a:cs typeface="Montserrat"/>
                <a:sym typeface="Montserrat"/>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b="0" i="0">
                <a:latin typeface="Montserrat"/>
                <a:ea typeface="Montserrat"/>
                <a:cs typeface="Montserrat"/>
                <a:sym typeface="Montserrat"/>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Montserrat"/>
                <a:ea typeface="Montserrat"/>
                <a:cs typeface="Montserrat"/>
                <a:sym typeface="Montserrat"/>
              </a:defRPr>
            </a:lvl1pPr>
            <a:lvl2pPr marL="0" lvl="1" indent="0" algn="r" rtl="0">
              <a:spcBef>
                <a:spcPts val="0"/>
              </a:spcBef>
              <a:buNone/>
              <a:defRPr sz="900" b="0" i="0" u="none" strike="noStrike" cap="none">
                <a:solidFill>
                  <a:srgbClr val="888888"/>
                </a:solidFill>
                <a:latin typeface="Montserrat"/>
                <a:ea typeface="Montserrat"/>
                <a:cs typeface="Montserrat"/>
                <a:sym typeface="Montserrat"/>
              </a:defRPr>
            </a:lvl2pPr>
            <a:lvl3pPr marL="0" lvl="2" indent="0" algn="r" rtl="0">
              <a:spcBef>
                <a:spcPts val="0"/>
              </a:spcBef>
              <a:buNone/>
              <a:defRPr sz="900" b="0" i="0" u="none" strike="noStrike" cap="none">
                <a:solidFill>
                  <a:srgbClr val="888888"/>
                </a:solidFill>
                <a:latin typeface="Montserrat"/>
                <a:ea typeface="Montserrat"/>
                <a:cs typeface="Montserrat"/>
                <a:sym typeface="Montserrat"/>
              </a:defRPr>
            </a:lvl3pPr>
            <a:lvl4pPr marL="0" lvl="3" indent="0" algn="r" rtl="0">
              <a:spcBef>
                <a:spcPts val="0"/>
              </a:spcBef>
              <a:buNone/>
              <a:defRPr sz="900" b="0" i="0" u="none" strike="noStrike" cap="none">
                <a:solidFill>
                  <a:srgbClr val="888888"/>
                </a:solidFill>
                <a:latin typeface="Montserrat"/>
                <a:ea typeface="Montserrat"/>
                <a:cs typeface="Montserrat"/>
                <a:sym typeface="Montserrat"/>
              </a:defRPr>
            </a:lvl4pPr>
            <a:lvl5pPr marL="0" lvl="4" indent="0" algn="r" rtl="0">
              <a:spcBef>
                <a:spcPts val="0"/>
              </a:spcBef>
              <a:buNone/>
              <a:defRPr sz="900" b="0" i="0" u="none" strike="noStrike" cap="none">
                <a:solidFill>
                  <a:srgbClr val="888888"/>
                </a:solidFill>
                <a:latin typeface="Montserrat"/>
                <a:ea typeface="Montserrat"/>
                <a:cs typeface="Montserrat"/>
                <a:sym typeface="Montserrat"/>
              </a:defRPr>
            </a:lvl5pPr>
            <a:lvl6pPr marL="0" lvl="5" indent="0" algn="r" rtl="0">
              <a:spcBef>
                <a:spcPts val="0"/>
              </a:spcBef>
              <a:buNone/>
              <a:defRPr sz="900" b="0" i="0" u="none" strike="noStrike" cap="none">
                <a:solidFill>
                  <a:srgbClr val="888888"/>
                </a:solidFill>
                <a:latin typeface="Montserrat"/>
                <a:ea typeface="Montserrat"/>
                <a:cs typeface="Montserrat"/>
                <a:sym typeface="Montserrat"/>
              </a:defRPr>
            </a:lvl6pPr>
            <a:lvl7pPr marL="0" lvl="6" indent="0" algn="r" rtl="0">
              <a:spcBef>
                <a:spcPts val="0"/>
              </a:spcBef>
              <a:buNone/>
              <a:defRPr sz="900" b="0" i="0" u="none" strike="noStrike" cap="none">
                <a:solidFill>
                  <a:srgbClr val="888888"/>
                </a:solidFill>
                <a:latin typeface="Montserrat"/>
                <a:ea typeface="Montserrat"/>
                <a:cs typeface="Montserrat"/>
                <a:sym typeface="Montserrat"/>
              </a:defRPr>
            </a:lvl7pPr>
            <a:lvl8pPr marL="0" lvl="7" indent="0" algn="r" rtl="0">
              <a:spcBef>
                <a:spcPts val="0"/>
              </a:spcBef>
              <a:buNone/>
              <a:defRPr sz="900" b="0" i="0" u="none" strike="noStrike" cap="none">
                <a:solidFill>
                  <a:srgbClr val="888888"/>
                </a:solidFill>
                <a:latin typeface="Montserrat"/>
                <a:ea typeface="Montserrat"/>
                <a:cs typeface="Montserrat"/>
                <a:sym typeface="Montserrat"/>
              </a:defRPr>
            </a:lvl8pPr>
            <a:lvl9pPr marL="0" lvl="8" indent="0" algn="r" rtl="0">
              <a:spcBef>
                <a:spcPts val="0"/>
              </a:spcBef>
              <a:buNone/>
              <a:defRPr sz="9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2" name="Google Shape;62;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 name="Google Shape;6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0" name="Google Shape;7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3" name="Google Shape;73;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4" name="Google Shape;74;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5" name="Google Shape;7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 name="Google Shape;78;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2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0" name="Google Shape;90;p2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2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94" name="Google Shape;9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2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7" name="Google Shape;97;p2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98" name="Google Shape;98;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1pPr>
            <a:lvl2pPr marR="0" lvl="1"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2pPr>
            <a:lvl3pPr marR="0" lvl="2"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3pPr>
            <a:lvl4pPr marR="0" lvl="3"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4pPr>
            <a:lvl5pPr marR="0" lvl="4"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5pPr>
            <a:lvl6pPr marR="0" lvl="5"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6pPr>
            <a:lvl7pPr marR="0" lvl="6"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7pPr>
            <a:lvl8pPr marR="0" lvl="7"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8pPr>
            <a:lvl9pPr marR="0" lvl="8"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Telex"/>
              <a:buChar char="●"/>
              <a:defRPr sz="1800" b="0" i="0" u="none" strike="noStrike" cap="none">
                <a:solidFill>
                  <a:schemeClr val="dk2"/>
                </a:solidFill>
                <a:latin typeface="Telex"/>
                <a:ea typeface="Telex"/>
                <a:cs typeface="Telex"/>
                <a:sym typeface="Telex"/>
              </a:defRPr>
            </a:lvl1pPr>
            <a:lvl2pPr marL="914400" marR="0" lvl="1"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2pPr>
            <a:lvl3pPr marL="1371600" marR="0" lvl="2"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3pPr>
            <a:lvl4pPr marL="1828800" marR="0" lvl="3"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4pPr>
            <a:lvl5pPr marL="2286000" marR="0" lvl="4"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5pPr>
            <a:lvl6pPr marL="2743200" marR="0" lvl="5"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6pPr>
            <a:lvl7pPr marL="3200400" marR="0" lvl="6"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7pPr>
            <a:lvl8pPr marL="3657600" marR="0" lvl="7"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8pPr>
            <a:lvl9pPr marL="4114800" marR="0" lvl="8" indent="-317500" algn="l" rtl="0">
              <a:lnSpc>
                <a:spcPct val="115000"/>
              </a:lnSpc>
              <a:spcBef>
                <a:spcPts val="1600"/>
              </a:spcBef>
              <a:spcAft>
                <a:spcPts val="1600"/>
              </a:spcAft>
              <a:buClr>
                <a:schemeClr val="dk2"/>
              </a:buClr>
              <a:buSzPts val="1400"/>
              <a:buFont typeface="Telex"/>
              <a:buChar char="■"/>
              <a:defRPr sz="1400" b="0" i="0" u="none" strike="noStrike" cap="none">
                <a:solidFill>
                  <a:schemeClr val="dk2"/>
                </a:solidFill>
                <a:latin typeface="Telex"/>
                <a:ea typeface="Telex"/>
                <a:cs typeface="Telex"/>
                <a:sym typeface="Telex"/>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8" name="Google Shape;5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6"/>
          <p:cNvSpPr txBox="1"/>
          <p:nvPr/>
        </p:nvSpPr>
        <p:spPr>
          <a:xfrm>
            <a:off x="0" y="937701"/>
            <a:ext cx="9144000" cy="259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Introduction to</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AI Safety, Ethics, and Society</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Nunito Light"/>
                <a:ea typeface="Nunito Light"/>
                <a:cs typeface="Nunito Light"/>
                <a:sym typeface="Nunito Light"/>
              </a:rPr>
              <a:t>Single Agent </a:t>
            </a:r>
            <a:r>
              <a:rPr lang="en" sz="3000">
                <a:latin typeface="Nunito Light"/>
                <a:ea typeface="Nunito Light"/>
                <a:cs typeface="Nunito Light"/>
                <a:sym typeface="Nunito Light"/>
              </a:rPr>
              <a:t>Safety</a:t>
            </a:r>
            <a:r>
              <a:rPr lang="en" sz="3000" b="0" i="0" u="none" strike="noStrike" cap="none">
                <a:solidFill>
                  <a:srgbClr val="000000"/>
                </a:solidFill>
                <a:latin typeface="Nunito Light"/>
                <a:ea typeface="Nunito Light"/>
                <a:cs typeface="Nunito Light"/>
                <a:sym typeface="Nunito Light"/>
              </a:rPr>
              <a:t>  </a:t>
            </a:r>
            <a:endParaRPr sz="3000" b="0" i="0" u="none" strike="noStrike" cap="none">
              <a:solidFill>
                <a:srgbClr val="000000"/>
              </a:solidFill>
              <a:latin typeface="Nunito Light"/>
              <a:ea typeface="Nunito Light"/>
              <a:cs typeface="Nunito Light"/>
              <a:sym typeface="Nunito Light"/>
            </a:endParaRPr>
          </a:p>
        </p:txBody>
      </p:sp>
      <p:sp>
        <p:nvSpPr>
          <p:cNvPr id="106" name="Google Shape;106;p2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7" name="Google Shape;107;p2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a:t>
            </a:fld>
            <a:endParaRPr sz="1300" b="0" i="0" u="none" strike="noStrike" cap="none">
              <a:solidFill>
                <a:srgbClr val="FFFFFF"/>
              </a:solidFill>
              <a:latin typeface="Nunito"/>
              <a:ea typeface="Nunito"/>
              <a:cs typeface="Nunito"/>
              <a:sym typeface="Nunito"/>
            </a:endParaRPr>
          </a:p>
        </p:txBody>
      </p:sp>
      <p:sp>
        <p:nvSpPr>
          <p:cNvPr id="108" name="Google Shape;108;p2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114" name="Google Shape;114;p2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115" name="Google Shape;115;p2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16" name="Google Shape;116;p2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a:t>
            </a:fld>
            <a:endParaRPr sz="1300" b="0" i="0" u="none" strike="noStrike" cap="none">
              <a:solidFill>
                <a:srgbClr val="FFFFFF"/>
              </a:solidFill>
              <a:latin typeface="Nunito"/>
              <a:ea typeface="Nunito"/>
              <a:cs typeface="Nunito"/>
              <a:sym typeface="Nunito"/>
            </a:endParaRPr>
          </a:p>
        </p:txBody>
      </p:sp>
      <p:sp>
        <p:nvSpPr>
          <p:cNvPr id="117" name="Google Shape;117;p2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18" name="Google Shape;118;p27"/>
          <p:cNvSpPr txBox="1"/>
          <p:nvPr/>
        </p:nvSpPr>
        <p:spPr>
          <a:xfrm>
            <a:off x="431475" y="939125"/>
            <a:ext cx="8400900" cy="38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To begin understanding AI risks, we will first examine risks that can be posed by single AI agents.</a:t>
            </a: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We will discuss </a:t>
            </a:r>
            <a:r>
              <a:rPr lang="en" sz="2000" b="1">
                <a:solidFill>
                  <a:schemeClr val="dk1"/>
                </a:solidFill>
                <a:latin typeface="Nunito"/>
                <a:ea typeface="Nunito"/>
                <a:cs typeface="Nunito"/>
                <a:sym typeface="Nunito"/>
              </a:rPr>
              <a:t>robustness</a:t>
            </a:r>
            <a:r>
              <a:rPr lang="en" sz="2000">
                <a:solidFill>
                  <a:schemeClr val="dk1"/>
                </a:solidFill>
                <a:latin typeface="Nunito"/>
                <a:ea typeface="Nunito"/>
                <a:cs typeface="Nunito"/>
                <a:sym typeface="Nunito"/>
              </a:rPr>
              <a:t> (withstanding hazards), </a:t>
            </a:r>
            <a:r>
              <a:rPr lang="en" sz="2000" b="1">
                <a:solidFill>
                  <a:schemeClr val="dk1"/>
                </a:solidFill>
                <a:latin typeface="Nunito"/>
                <a:ea typeface="Nunito"/>
                <a:cs typeface="Nunito"/>
                <a:sym typeface="Nunito"/>
              </a:rPr>
              <a:t>monitoring</a:t>
            </a:r>
            <a:r>
              <a:rPr lang="en" sz="2000">
                <a:solidFill>
                  <a:schemeClr val="dk1"/>
                </a:solidFill>
                <a:latin typeface="Nunito"/>
                <a:ea typeface="Nunito"/>
                <a:cs typeface="Nunito"/>
                <a:sym typeface="Nunito"/>
              </a:rPr>
              <a:t> (identifying hazards), </a:t>
            </a:r>
            <a:r>
              <a:rPr lang="en" sz="2000" b="1">
                <a:solidFill>
                  <a:schemeClr val="dk1"/>
                </a:solidFill>
                <a:latin typeface="Nunito"/>
                <a:ea typeface="Nunito"/>
                <a:cs typeface="Nunito"/>
                <a:sym typeface="Nunito"/>
              </a:rPr>
              <a:t>control</a:t>
            </a:r>
            <a:r>
              <a:rPr lang="en" sz="2000">
                <a:solidFill>
                  <a:schemeClr val="dk1"/>
                </a:solidFill>
                <a:latin typeface="Nunito"/>
                <a:ea typeface="Nunito"/>
                <a:cs typeface="Nunito"/>
                <a:sym typeface="Nunito"/>
              </a:rPr>
              <a:t> (reducing inherent model hazards), and </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systemic safety</a:t>
            </a:r>
            <a:r>
              <a:rPr lang="en" sz="2000">
                <a:solidFill>
                  <a:schemeClr val="dk1"/>
                </a:solidFill>
                <a:latin typeface="Nunito"/>
                <a:ea typeface="Nunito"/>
                <a:cs typeface="Nunito"/>
                <a:sym typeface="Nunito"/>
              </a:rPr>
              <a:t> (reducing risks beyond individual models).</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ML research on improving AI safety we call “</a:t>
            </a:r>
            <a:r>
              <a:rPr lang="en" sz="2000" b="1">
                <a:solidFill>
                  <a:schemeClr val="dk1"/>
                </a:solidFill>
                <a:latin typeface="Nunito"/>
                <a:ea typeface="Nunito"/>
                <a:cs typeface="Nunito"/>
                <a:sym typeface="Nunito"/>
              </a:rPr>
              <a:t>ML safety</a:t>
            </a:r>
            <a:r>
              <a:rPr lang="en" sz="2000">
                <a:solidFill>
                  <a:schemeClr val="dk1"/>
                </a:solidFill>
                <a:latin typeface="Nunito"/>
                <a:ea typeface="Nunito"/>
                <a:cs typeface="Nunito"/>
                <a:sym typeface="Nunito"/>
              </a:rPr>
              <a:t>,”</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a small subset of AI safety which is a sociotechnical problem.</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animEffect transition="in" filter="fade">
                                      <p:cBhvr>
                                        <p:cTn id="7" dur="300"/>
                                        <p:tgtEl>
                                          <p:spTgt spid="1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8"/>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124" name="Google Shape;124;p2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Research Areas in Safety</a:t>
            </a:r>
            <a:endParaRPr sz="3600">
              <a:latin typeface="Nunito"/>
              <a:ea typeface="Nunito"/>
              <a:cs typeface="Nunito"/>
              <a:sym typeface="Nunito"/>
            </a:endParaRPr>
          </a:p>
        </p:txBody>
      </p:sp>
      <p:sp>
        <p:nvSpPr>
          <p:cNvPr id="125" name="Google Shape;125;p2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26" name="Google Shape;126;p2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a:t>
            </a:fld>
            <a:endParaRPr sz="1300" b="0" i="0" u="none" strike="noStrike" cap="none">
              <a:solidFill>
                <a:srgbClr val="FFFFFF"/>
              </a:solidFill>
              <a:latin typeface="Nunito"/>
              <a:ea typeface="Nunito"/>
              <a:cs typeface="Nunito"/>
              <a:sym typeface="Nunito"/>
            </a:endParaRPr>
          </a:p>
        </p:txBody>
      </p:sp>
      <p:sp>
        <p:nvSpPr>
          <p:cNvPr id="127" name="Google Shape;127;p2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28" name="Google Shape;128;p28"/>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129" name="Google Shape;129;p28"/>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130" name="Google Shape;130;p28"/>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131" name="Google Shape;131;p28"/>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132" name="Google Shape;132;p28"/>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133" name="Google Shape;133;p28"/>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134" name="Google Shape;134;p28"/>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135" name="Google Shape;135;p28"/>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9"/>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141" name="Google Shape;141;p2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3600"/>
              <a:buNone/>
            </a:pPr>
            <a:r>
              <a:rPr lang="en"/>
              <a:t>Research Areas in Safety</a:t>
            </a:r>
            <a:endParaRPr/>
          </a:p>
        </p:txBody>
      </p:sp>
      <p:sp>
        <p:nvSpPr>
          <p:cNvPr id="142" name="Google Shape;142;p2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43" name="Google Shape;143;p2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a:t>
            </a:fld>
            <a:endParaRPr sz="1300" b="0" i="0" u="none" strike="noStrike" cap="none">
              <a:solidFill>
                <a:srgbClr val="FFFFFF"/>
              </a:solidFill>
              <a:latin typeface="Nunito"/>
              <a:ea typeface="Nunito"/>
              <a:cs typeface="Nunito"/>
              <a:sym typeface="Nunito"/>
            </a:endParaRPr>
          </a:p>
        </p:txBody>
      </p:sp>
      <p:sp>
        <p:nvSpPr>
          <p:cNvPr id="144" name="Google Shape;144;p2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45" name="Google Shape;145;p29"/>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146" name="Google Shape;146;p29"/>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147" name="Google Shape;147;p29"/>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148" name="Google Shape;148;p29"/>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149" name="Google Shape;149;p29"/>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150" name="Google Shape;150;p29"/>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151" name="Google Shape;151;p29"/>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152" name="Google Shape;152;p29"/>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153" name="Google Shape;153;p29"/>
          <p:cNvSpPr/>
          <p:nvPr/>
        </p:nvSpPr>
        <p:spPr>
          <a:xfrm>
            <a:off x="207650" y="1313263"/>
            <a:ext cx="1924200" cy="2733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3600">
                <a:latin typeface="Nunito"/>
                <a:ea typeface="Nunito"/>
                <a:cs typeface="Nunito"/>
                <a:sym typeface="Nunito"/>
              </a:rPr>
              <a:t>Robustness</a:t>
            </a:r>
            <a:endParaRPr sz="3600">
              <a:latin typeface="Nunito"/>
              <a:ea typeface="Nunito"/>
              <a:cs typeface="Nunito"/>
              <a:sym typeface="Nunito"/>
            </a:endParaRPr>
          </a:p>
        </p:txBody>
      </p:sp>
      <p:sp>
        <p:nvSpPr>
          <p:cNvPr id="159" name="Google Shape;159;p30"/>
          <p:cNvSpPr txBox="1"/>
          <p:nvPr/>
        </p:nvSpPr>
        <p:spPr>
          <a:xfrm>
            <a:off x="423400" y="790100"/>
            <a:ext cx="8409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Robustness research aims to build systems that do not have vulnerabilities. Some topics include:</a:t>
            </a:r>
            <a:endParaRPr sz="2000">
              <a:solidFill>
                <a:schemeClr val="dk1"/>
              </a:solidFill>
              <a:latin typeface="Nunito"/>
              <a:ea typeface="Nunito"/>
              <a:cs typeface="Nunito"/>
              <a:sym typeface="Nunito"/>
            </a:endParaRPr>
          </a:p>
        </p:txBody>
      </p:sp>
      <p:pic>
        <p:nvPicPr>
          <p:cNvPr id="160" name="Google Shape;160;p30"/>
          <p:cNvPicPr preferRelativeResize="0"/>
          <p:nvPr/>
        </p:nvPicPr>
        <p:blipFill>
          <a:blip r:embed="rId3">
            <a:alphaModFix/>
          </a:blip>
          <a:stretch>
            <a:fillRect/>
          </a:stretch>
        </p:blipFill>
        <p:spPr>
          <a:xfrm>
            <a:off x="1410269" y="1672625"/>
            <a:ext cx="1876172" cy="1882026"/>
          </a:xfrm>
          <a:prstGeom prst="rect">
            <a:avLst/>
          </a:prstGeom>
          <a:noFill/>
          <a:ln>
            <a:noFill/>
          </a:ln>
        </p:spPr>
      </p:pic>
      <p:sp>
        <p:nvSpPr>
          <p:cNvPr id="161" name="Google Shape;161;p30"/>
          <p:cNvSpPr txBox="1">
            <a:spLocks noGrp="1"/>
          </p:cNvSpPr>
          <p:nvPr>
            <p:ph type="body" idx="1"/>
          </p:nvPr>
        </p:nvSpPr>
        <p:spPr>
          <a:xfrm>
            <a:off x="765125" y="3627750"/>
            <a:ext cx="3166200" cy="101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2200">
                <a:solidFill>
                  <a:srgbClr val="000000"/>
                </a:solidFill>
                <a:latin typeface="Nunito"/>
                <a:ea typeface="Nunito"/>
                <a:cs typeface="Nunito"/>
                <a:sym typeface="Nunito"/>
              </a:rPr>
              <a:t>Adversarial Distortions</a:t>
            </a:r>
            <a:endParaRPr sz="22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endParaRPr sz="8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r>
              <a:rPr lang="en">
                <a:solidFill>
                  <a:srgbClr val="000000"/>
                </a:solidFill>
                <a:latin typeface="Nunito"/>
                <a:ea typeface="Nunito"/>
                <a:cs typeface="Nunito"/>
                <a:sym typeface="Nunito"/>
              </a:rPr>
              <a:t>Handle unforeseen attacks</a:t>
            </a:r>
            <a:endParaRPr>
              <a:solidFill>
                <a:srgbClr val="000000"/>
              </a:solidFill>
              <a:latin typeface="Nunito"/>
              <a:ea typeface="Nunito"/>
              <a:cs typeface="Nunito"/>
              <a:sym typeface="Nunito"/>
            </a:endParaRPr>
          </a:p>
          <a:p>
            <a:pPr marL="0" lvl="0" indent="0" algn="l" rtl="0">
              <a:spcBef>
                <a:spcPts val="0"/>
              </a:spcBef>
              <a:spcAft>
                <a:spcPts val="0"/>
              </a:spcAft>
              <a:buNone/>
            </a:pPr>
            <a:endParaRPr>
              <a:solidFill>
                <a:srgbClr val="000000"/>
              </a:solidFill>
              <a:latin typeface="Nunito"/>
              <a:ea typeface="Nunito"/>
              <a:cs typeface="Nunito"/>
              <a:sym typeface="Nunito"/>
            </a:endParaRPr>
          </a:p>
        </p:txBody>
      </p:sp>
      <p:pic>
        <p:nvPicPr>
          <p:cNvPr id="162" name="Google Shape;162;p30"/>
          <p:cNvPicPr preferRelativeResize="0"/>
          <p:nvPr/>
        </p:nvPicPr>
        <p:blipFill>
          <a:blip r:embed="rId4">
            <a:alphaModFix/>
          </a:blip>
          <a:stretch>
            <a:fillRect/>
          </a:stretch>
        </p:blipFill>
        <p:spPr>
          <a:xfrm>
            <a:off x="5857510" y="1672625"/>
            <a:ext cx="1876172" cy="1882026"/>
          </a:xfrm>
          <a:prstGeom prst="rect">
            <a:avLst/>
          </a:prstGeom>
          <a:noFill/>
          <a:ln>
            <a:noFill/>
          </a:ln>
        </p:spPr>
      </p:pic>
      <p:sp>
        <p:nvSpPr>
          <p:cNvPr id="163" name="Google Shape;163;p30"/>
          <p:cNvSpPr txBox="1">
            <a:spLocks noGrp="1"/>
          </p:cNvSpPr>
          <p:nvPr>
            <p:ph type="body" idx="1"/>
          </p:nvPr>
        </p:nvSpPr>
        <p:spPr>
          <a:xfrm>
            <a:off x="4966475" y="3627750"/>
            <a:ext cx="3658500" cy="101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2200" dirty="0">
                <a:solidFill>
                  <a:srgbClr val="000000"/>
                </a:solidFill>
                <a:latin typeface="Nunito"/>
                <a:ea typeface="Nunito"/>
                <a:cs typeface="Nunito"/>
                <a:sym typeface="Nunito"/>
              </a:rPr>
              <a:t>Trojans</a:t>
            </a:r>
            <a:endParaRPr sz="2200" dirty="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endParaRPr sz="800" dirty="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r>
              <a:rPr lang="en" dirty="0">
                <a:solidFill>
                  <a:srgbClr val="000000"/>
                </a:solidFill>
                <a:latin typeface="Nunito"/>
                <a:ea typeface="Nunito"/>
                <a:cs typeface="Nunito"/>
                <a:sym typeface="Nunito"/>
              </a:rPr>
              <a:t>Cleanse poisoned models that may suddenly behave maliciously</a:t>
            </a:r>
            <a:endParaRPr dirty="0">
              <a:solidFill>
                <a:srgbClr val="000000"/>
              </a:solidFill>
              <a:latin typeface="Nunito"/>
              <a:ea typeface="Nunito"/>
              <a:cs typeface="Nunito"/>
              <a:sym typeface="Nunito"/>
            </a:endParaRPr>
          </a:p>
          <a:p>
            <a:pPr marL="0" lvl="0" indent="0" algn="l" rtl="0">
              <a:spcBef>
                <a:spcPts val="0"/>
              </a:spcBef>
              <a:spcAft>
                <a:spcPts val="0"/>
              </a:spcAft>
              <a:buNone/>
            </a:pPr>
            <a:endParaRPr dirty="0">
              <a:solidFill>
                <a:srgbClr val="000000"/>
              </a:solidFill>
              <a:latin typeface="Nunito"/>
              <a:ea typeface="Nunito"/>
              <a:cs typeface="Nunito"/>
              <a:sym typeface="Nunito"/>
            </a:endParaRPr>
          </a:p>
        </p:txBody>
      </p:sp>
      <p:sp>
        <p:nvSpPr>
          <p:cNvPr id="164" name="Google Shape;164;p3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65" name="Google Shape;165;p3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a:t>
            </a:fld>
            <a:endParaRPr sz="1300" b="0" i="0" u="none" strike="noStrike" cap="none">
              <a:solidFill>
                <a:srgbClr val="FFFFFF"/>
              </a:solidFill>
              <a:latin typeface="Nunito"/>
              <a:ea typeface="Nunito"/>
              <a:cs typeface="Nunito"/>
              <a:sym typeface="Nunito"/>
            </a:endParaRPr>
          </a:p>
        </p:txBody>
      </p:sp>
      <p:sp>
        <p:nvSpPr>
          <p:cNvPr id="166" name="Google Shape;166;p3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p:nvPr/>
        </p:nvSpPr>
        <p:spPr>
          <a:xfrm>
            <a:off x="423400" y="3838100"/>
            <a:ext cx="8409000" cy="5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The adversarial distortion is optimized to cause the (undefended, off-the-shelf) neural network to make a mistake</a:t>
            </a:r>
            <a:endParaRPr sz="2000">
              <a:solidFill>
                <a:schemeClr val="dk1"/>
              </a:solidFill>
              <a:latin typeface="Nunito"/>
              <a:ea typeface="Nunito"/>
              <a:cs typeface="Nunito"/>
              <a:sym typeface="Nunito"/>
            </a:endParaRPr>
          </a:p>
        </p:txBody>
      </p:sp>
      <p:sp>
        <p:nvSpPr>
          <p:cNvPr id="172" name="Google Shape;172;p31"/>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latin typeface="Nunito"/>
                <a:ea typeface="Nunito"/>
                <a:cs typeface="Nunito"/>
                <a:sym typeface="Nunito"/>
              </a:rPr>
              <a:t>A </a:t>
            </a:r>
            <a:r>
              <a:rPr lang="en" sz="3200"/>
              <a:t>Classic </a:t>
            </a:r>
            <a:r>
              <a:rPr lang="en" sz="3200">
                <a:latin typeface="Nunito"/>
                <a:ea typeface="Nunito"/>
                <a:cs typeface="Nunito"/>
                <a:sym typeface="Nunito"/>
              </a:rPr>
              <a:t>Adversarial Distortion</a:t>
            </a:r>
            <a:endParaRPr sz="3200">
              <a:latin typeface="Nunito"/>
              <a:ea typeface="Nunito"/>
              <a:cs typeface="Nunito"/>
              <a:sym typeface="Nunito"/>
            </a:endParaRPr>
          </a:p>
        </p:txBody>
      </p:sp>
      <p:sp>
        <p:nvSpPr>
          <p:cNvPr id="173" name="Google Shape;173;p3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174" name="Google Shape;174;p3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a:t>
            </a:fld>
            <a:endParaRPr/>
          </a:p>
        </p:txBody>
      </p:sp>
      <p:sp>
        <p:nvSpPr>
          <p:cNvPr id="175" name="Google Shape;175;p3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176" name="Google Shape;176;p31"/>
          <p:cNvGrpSpPr/>
          <p:nvPr/>
        </p:nvGrpSpPr>
        <p:grpSpPr>
          <a:xfrm>
            <a:off x="657900" y="734565"/>
            <a:ext cx="7828084" cy="2624697"/>
            <a:chOff x="649938" y="756803"/>
            <a:chExt cx="7828084" cy="2624697"/>
          </a:xfrm>
        </p:grpSpPr>
        <p:sp>
          <p:nvSpPr>
            <p:cNvPr id="177" name="Google Shape;177;p31"/>
            <p:cNvSpPr txBox="1"/>
            <p:nvPr/>
          </p:nvSpPr>
          <p:spPr>
            <a:xfrm>
              <a:off x="649938"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Cat</a:t>
              </a:r>
              <a:endParaRPr sz="2000">
                <a:solidFill>
                  <a:schemeClr val="dk1"/>
                </a:solidFill>
                <a:latin typeface="Nunito"/>
                <a:ea typeface="Nunito"/>
                <a:cs typeface="Nunito"/>
                <a:sym typeface="Nunito"/>
              </a:endParaRPr>
            </a:p>
          </p:txBody>
        </p:sp>
        <p:sp>
          <p:nvSpPr>
            <p:cNvPr id="178" name="Google Shape;178;p31"/>
            <p:cNvSpPr txBox="1"/>
            <p:nvPr/>
          </p:nvSpPr>
          <p:spPr>
            <a:xfrm>
              <a:off x="6410422"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Guacamole</a:t>
              </a:r>
              <a:endParaRPr sz="2000">
                <a:solidFill>
                  <a:schemeClr val="dk1"/>
                </a:solidFill>
                <a:latin typeface="Nunito"/>
                <a:ea typeface="Nunito"/>
                <a:cs typeface="Nunito"/>
                <a:sym typeface="Nunito"/>
              </a:endParaRPr>
            </a:p>
          </p:txBody>
        </p:sp>
        <p:grpSp>
          <p:nvGrpSpPr>
            <p:cNvPr id="179" name="Google Shape;179;p31"/>
            <p:cNvGrpSpPr/>
            <p:nvPr/>
          </p:nvGrpSpPr>
          <p:grpSpPr>
            <a:xfrm>
              <a:off x="769338" y="756803"/>
              <a:ext cx="7589280" cy="2624697"/>
              <a:chOff x="769338" y="756803"/>
              <a:chExt cx="7589280" cy="2624697"/>
            </a:xfrm>
          </p:grpSpPr>
          <p:pic>
            <p:nvPicPr>
              <p:cNvPr id="180" name="Google Shape;180;p31"/>
              <p:cNvPicPr preferRelativeResize="0"/>
              <p:nvPr/>
            </p:nvPicPr>
            <p:blipFill rotWithShape="1">
              <a:blip r:embed="rId3">
                <a:alphaModFix/>
              </a:blip>
              <a:srcRect l="10993" t="6360" r="5916" b="8272"/>
              <a:stretch/>
            </p:blipFill>
            <p:spPr>
              <a:xfrm>
                <a:off x="769338" y="1060237"/>
                <a:ext cx="1828800" cy="1828800"/>
              </a:xfrm>
              <a:prstGeom prst="rect">
                <a:avLst/>
              </a:prstGeom>
              <a:noFill/>
              <a:ln>
                <a:noFill/>
              </a:ln>
            </p:spPr>
          </p:pic>
          <p:pic>
            <p:nvPicPr>
              <p:cNvPr id="181" name="Google Shape;181;p31"/>
              <p:cNvPicPr preferRelativeResize="0"/>
              <p:nvPr/>
            </p:nvPicPr>
            <p:blipFill rotWithShape="1">
              <a:blip r:embed="rId3">
                <a:alphaModFix/>
              </a:blip>
              <a:srcRect l="11558" t="6146" r="5351" b="8486"/>
              <a:stretch/>
            </p:blipFill>
            <p:spPr>
              <a:xfrm>
                <a:off x="6529818" y="1060237"/>
                <a:ext cx="1828800" cy="1828800"/>
              </a:xfrm>
              <a:prstGeom prst="rect">
                <a:avLst/>
              </a:prstGeom>
              <a:noFill/>
              <a:ln>
                <a:noFill/>
              </a:ln>
            </p:spPr>
          </p:pic>
          <p:pic>
            <p:nvPicPr>
              <p:cNvPr id="182" name="Google Shape;182;p31"/>
              <p:cNvPicPr preferRelativeResize="0"/>
              <p:nvPr/>
            </p:nvPicPr>
            <p:blipFill>
              <a:blip r:embed="rId4">
                <a:alphaModFix/>
              </a:blip>
              <a:stretch>
                <a:fillRect/>
              </a:stretch>
            </p:blipFill>
            <p:spPr>
              <a:xfrm>
                <a:off x="3656325" y="1060237"/>
                <a:ext cx="1828800" cy="1828800"/>
              </a:xfrm>
              <a:prstGeom prst="rect">
                <a:avLst/>
              </a:prstGeom>
              <a:noFill/>
              <a:ln>
                <a:noFill/>
              </a:ln>
            </p:spPr>
          </p:pic>
          <p:sp>
            <p:nvSpPr>
              <p:cNvPr id="183" name="Google Shape;183;p31"/>
              <p:cNvSpPr txBox="1"/>
              <p:nvPr/>
            </p:nvSpPr>
            <p:spPr>
              <a:xfrm>
                <a:off x="3530175"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Adversarial</a:t>
                </a:r>
                <a:endParaRPr sz="2000">
                  <a:solidFill>
                    <a:schemeClr val="dk1"/>
                  </a:solidFill>
                  <a:latin typeface="Nunito"/>
                  <a:ea typeface="Nunito"/>
                  <a:cs typeface="Nunito"/>
                  <a:sym typeface="Nunito"/>
                </a:endParaRPr>
              </a:p>
              <a:p>
                <a:pPr marL="0" lvl="0" indent="0" algn="ctr" rtl="0">
                  <a:spcBef>
                    <a:spcPts val="0"/>
                  </a:spcBef>
                  <a:spcAft>
                    <a:spcPts val="0"/>
                  </a:spcAft>
                  <a:buNone/>
                </a:pPr>
                <a:r>
                  <a:rPr lang="en" sz="2000">
                    <a:solidFill>
                      <a:schemeClr val="dk1"/>
                    </a:solidFill>
                    <a:latin typeface="Nunito"/>
                    <a:ea typeface="Nunito"/>
                    <a:cs typeface="Nunito"/>
                    <a:sym typeface="Nunito"/>
                  </a:rPr>
                  <a:t>Distortion</a:t>
                </a:r>
                <a:endParaRPr sz="2000">
                  <a:solidFill>
                    <a:schemeClr val="dk1"/>
                  </a:solidFill>
                  <a:latin typeface="Nunito"/>
                  <a:ea typeface="Nunito"/>
                  <a:cs typeface="Nunito"/>
                  <a:sym typeface="Nunito"/>
                </a:endParaRPr>
              </a:p>
            </p:txBody>
          </p:sp>
          <p:pic>
            <p:nvPicPr>
              <p:cNvPr id="184" name="Google Shape;184;p31"/>
              <p:cNvPicPr preferRelativeResize="0"/>
              <p:nvPr/>
            </p:nvPicPr>
            <p:blipFill>
              <a:blip r:embed="rId5">
                <a:alphaModFix/>
              </a:blip>
              <a:stretch>
                <a:fillRect/>
              </a:stretch>
            </p:blipFill>
            <p:spPr>
              <a:xfrm>
                <a:off x="5789313" y="1912724"/>
                <a:ext cx="436325" cy="150625"/>
              </a:xfrm>
              <a:prstGeom prst="rect">
                <a:avLst/>
              </a:prstGeom>
              <a:noFill/>
              <a:ln>
                <a:noFill/>
              </a:ln>
            </p:spPr>
          </p:pic>
          <p:pic>
            <p:nvPicPr>
              <p:cNvPr id="185" name="Google Shape;185;p31"/>
              <p:cNvPicPr preferRelativeResize="0"/>
              <p:nvPr/>
            </p:nvPicPr>
            <p:blipFill>
              <a:blip r:embed="rId6">
                <a:alphaModFix/>
              </a:blip>
              <a:stretch>
                <a:fillRect/>
              </a:stretch>
            </p:blipFill>
            <p:spPr>
              <a:xfrm>
                <a:off x="2636404" y="1791238"/>
                <a:ext cx="981641" cy="393600"/>
              </a:xfrm>
              <a:prstGeom prst="rect">
                <a:avLst/>
              </a:prstGeom>
              <a:noFill/>
              <a:ln>
                <a:noFill/>
              </a:ln>
            </p:spPr>
          </p:pic>
          <p:pic>
            <p:nvPicPr>
              <p:cNvPr id="186" name="Google Shape;186;p31"/>
              <p:cNvPicPr preferRelativeResize="0"/>
              <p:nvPr/>
            </p:nvPicPr>
            <p:blipFill>
              <a:blip r:embed="rId7">
                <a:alphaModFix/>
              </a:blip>
              <a:stretch>
                <a:fillRect/>
              </a:stretch>
            </p:blipFill>
            <p:spPr>
              <a:xfrm>
                <a:off x="7066676" y="756803"/>
                <a:ext cx="755090" cy="257344"/>
              </a:xfrm>
              <a:prstGeom prst="rect">
                <a:avLst/>
              </a:prstGeom>
              <a:noFill/>
              <a:ln>
                <a:noFill/>
              </a:ln>
            </p:spPr>
          </p:pic>
          <p:pic>
            <p:nvPicPr>
              <p:cNvPr id="187" name="Google Shape;187;p31"/>
              <p:cNvPicPr preferRelativeResize="0"/>
              <p:nvPr/>
            </p:nvPicPr>
            <p:blipFill>
              <a:blip r:embed="rId8">
                <a:alphaModFix/>
              </a:blip>
              <a:stretch>
                <a:fillRect/>
              </a:stretch>
            </p:blipFill>
            <p:spPr>
              <a:xfrm>
                <a:off x="1565050" y="779966"/>
                <a:ext cx="237410" cy="211007"/>
              </a:xfrm>
              <a:prstGeom prst="rect">
                <a:avLst/>
              </a:prstGeom>
              <a:noFill/>
              <a:ln>
                <a:noFill/>
              </a:ln>
            </p:spPr>
          </p:pic>
        </p:grpSp>
      </p:grpSp>
      <p:sp>
        <p:nvSpPr>
          <p:cNvPr id="188" name="Google Shape;188;p31"/>
          <p:cNvSpPr txBox="1"/>
          <p:nvPr/>
        </p:nvSpPr>
        <p:spPr>
          <a:xfrm>
            <a:off x="423400" y="4295300"/>
            <a:ext cx="8409000" cy="5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dk1"/>
              </a:solidFill>
              <a:latin typeface="Nunito"/>
              <a:ea typeface="Nunito"/>
              <a:cs typeface="Nunito"/>
              <a:sym typeface="Nunito"/>
            </a:endParaRPr>
          </a:p>
        </p:txBody>
      </p:sp>
      <p:grpSp>
        <p:nvGrpSpPr>
          <p:cNvPr id="189" name="Google Shape;189;p31"/>
          <p:cNvGrpSpPr/>
          <p:nvPr/>
        </p:nvGrpSpPr>
        <p:grpSpPr>
          <a:xfrm>
            <a:off x="5408597" y="2904800"/>
            <a:ext cx="2456957" cy="704700"/>
            <a:chOff x="5408400" y="2904800"/>
            <a:chExt cx="2262600" cy="704700"/>
          </a:xfrm>
        </p:grpSpPr>
        <p:cxnSp>
          <p:nvCxnSpPr>
            <p:cNvPr id="190" name="Google Shape;190;p31"/>
            <p:cNvCxnSpPr>
              <a:stCxn id="191" idx="1"/>
            </p:cNvCxnSpPr>
            <p:nvPr/>
          </p:nvCxnSpPr>
          <p:spPr>
            <a:xfrm rot="10800000">
              <a:off x="5408400" y="2904800"/>
              <a:ext cx="279300" cy="504600"/>
            </a:xfrm>
            <a:prstGeom prst="straightConnector1">
              <a:avLst/>
            </a:prstGeom>
            <a:noFill/>
            <a:ln w="9525" cap="flat" cmpd="sng">
              <a:solidFill>
                <a:schemeClr val="dk1"/>
              </a:solidFill>
              <a:prstDash val="solid"/>
              <a:round/>
              <a:headEnd type="none" w="med" len="med"/>
              <a:tailEnd type="triangle" w="med" len="med"/>
            </a:ln>
          </p:spPr>
        </p:cxnSp>
        <p:sp>
          <p:nvSpPr>
            <p:cNvPr id="191" name="Google Shape;191;p31"/>
            <p:cNvSpPr txBox="1"/>
            <p:nvPr/>
          </p:nvSpPr>
          <p:spPr>
            <a:xfrm>
              <a:off x="5687700" y="3209300"/>
              <a:ext cx="19833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Carefully crafted noise </a:t>
              </a:r>
              <a:endParaRPr>
                <a:latin typeface="Nunito"/>
                <a:ea typeface="Nunito"/>
                <a:cs typeface="Nunito"/>
                <a:sym typeface="Nunito"/>
              </a:endParaRPr>
            </a:p>
          </p:txBody>
        </p:sp>
      </p:grpSp>
      <p:sp>
        <p:nvSpPr>
          <p:cNvPr id="192" name="Google Shape;192;p3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93" name="Google Shape;193;p3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a:t>
            </a:fld>
            <a:endParaRPr sz="1300" b="0" i="0" u="none" strike="noStrike" cap="none">
              <a:solidFill>
                <a:srgbClr val="FFFFFF"/>
              </a:solidFill>
              <a:latin typeface="Nunito"/>
              <a:ea typeface="Nunito"/>
              <a:cs typeface="Nunito"/>
              <a:sym typeface="Nunito"/>
            </a:endParaRPr>
          </a:p>
        </p:txBody>
      </p:sp>
      <p:sp>
        <p:nvSpPr>
          <p:cNvPr id="194" name="Google Shape;194;p3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10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gtEl>
                                        <p:attrNameLst>
                                          <p:attrName>style.visibility</p:attrName>
                                        </p:attrNameLst>
                                      </p:cBhvr>
                                      <p:to>
                                        <p:strVal val="visible"/>
                                      </p:to>
                                    </p:set>
                                    <p:animEffect transition="in" filter="fade">
                                      <p:cBhvr>
                                        <p:cTn id="12" dur="1000"/>
                                        <p:tgtEl>
                                          <p:spTgt spid="1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189"/>
                                        </p:tgtEl>
                                      </p:cBhvr>
                                    </p:animEffect>
                                    <p:set>
                                      <p:cBhvr>
                                        <p:cTn id="17" dur="1" fill="hold">
                                          <p:stCondLst>
                                            <p:cond delay="1000"/>
                                          </p:stCondLst>
                                        </p:cTn>
                                        <p:tgtEl>
                                          <p:spTgt spid="189"/>
                                        </p:tgtEl>
                                        <p:attrNameLst>
                                          <p:attrName>style.visibility</p:attrName>
                                        </p:attrNameLst>
                                      </p:cBhvr>
                                      <p:to>
                                        <p:strVal val="hidden"/>
                                      </p:to>
                                    </p:se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71"/>
                                        </p:tgtEl>
                                        <p:attrNameLst>
                                          <p:attrName>style.visibility</p:attrName>
                                        </p:attrNameLst>
                                      </p:cBhvr>
                                      <p:to>
                                        <p:strVal val="visible"/>
                                      </p:to>
                                    </p:set>
                                    <p:animEffect transition="in" filter="fade">
                                      <p:cBhvr>
                                        <p:cTn id="21" dur="1000"/>
                                        <p:tgtEl>
                                          <p:spTgt spid="17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8"/>
                                        </p:tgtEl>
                                        <p:attrNameLst>
                                          <p:attrName>style.visibility</p:attrName>
                                        </p:attrNameLst>
                                      </p:cBhvr>
                                      <p:to>
                                        <p:strVal val="visible"/>
                                      </p:to>
                                    </p:set>
                                    <p:animEffect transition="in" filter="fade">
                                      <p:cBhvr>
                                        <p:cTn id="26" dur="10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Perceptible</a:t>
            </a:r>
            <a:r>
              <a:rPr lang="en" sz="3600">
                <a:latin typeface="Nunito"/>
                <a:ea typeface="Nunito"/>
                <a:cs typeface="Nunito"/>
                <a:sym typeface="Nunito"/>
              </a:rPr>
              <a:t> Adversarial Examples</a:t>
            </a:r>
            <a:endParaRPr sz="3600">
              <a:latin typeface="Nunito"/>
              <a:ea typeface="Nunito"/>
              <a:cs typeface="Nunito"/>
              <a:sym typeface="Nunito"/>
            </a:endParaRPr>
          </a:p>
        </p:txBody>
      </p:sp>
      <p:sp>
        <p:nvSpPr>
          <p:cNvPr id="200" name="Google Shape;200;p3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01" name="Google Shape;201;p3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202" name="Google Shape;202;p32"/>
          <p:cNvGrpSpPr/>
          <p:nvPr/>
        </p:nvGrpSpPr>
        <p:grpSpPr>
          <a:xfrm>
            <a:off x="524768" y="834328"/>
            <a:ext cx="8051570" cy="1645440"/>
            <a:chOff x="524768" y="834328"/>
            <a:chExt cx="8051570" cy="1645440"/>
          </a:xfrm>
        </p:grpSpPr>
        <p:pic>
          <p:nvPicPr>
            <p:cNvPr id="203" name="Google Shape;203;p32"/>
            <p:cNvPicPr preferRelativeResize="0"/>
            <p:nvPr/>
          </p:nvPicPr>
          <p:blipFill>
            <a:blip r:embed="rId3">
              <a:alphaModFix/>
            </a:blip>
            <a:stretch>
              <a:fillRect/>
            </a:stretch>
          </p:blipFill>
          <p:spPr>
            <a:xfrm>
              <a:off x="5003382" y="1141330"/>
              <a:ext cx="1334336" cy="1338426"/>
            </a:xfrm>
            <a:prstGeom prst="rect">
              <a:avLst/>
            </a:prstGeom>
            <a:noFill/>
            <a:ln>
              <a:noFill/>
            </a:ln>
          </p:spPr>
        </p:pic>
        <p:pic>
          <p:nvPicPr>
            <p:cNvPr id="204" name="Google Shape;204;p32"/>
            <p:cNvPicPr preferRelativeResize="0"/>
            <p:nvPr/>
          </p:nvPicPr>
          <p:blipFill>
            <a:blip r:embed="rId4">
              <a:alphaModFix/>
            </a:blip>
            <a:stretch>
              <a:fillRect/>
            </a:stretch>
          </p:blipFill>
          <p:spPr>
            <a:xfrm>
              <a:off x="7242001" y="1141318"/>
              <a:ext cx="1334336" cy="1338450"/>
            </a:xfrm>
            <a:prstGeom prst="rect">
              <a:avLst/>
            </a:prstGeom>
            <a:noFill/>
            <a:ln>
              <a:noFill/>
            </a:ln>
          </p:spPr>
        </p:pic>
        <p:pic>
          <p:nvPicPr>
            <p:cNvPr id="205" name="Google Shape;205;p32"/>
            <p:cNvPicPr preferRelativeResize="0"/>
            <p:nvPr/>
          </p:nvPicPr>
          <p:blipFill>
            <a:blip r:embed="rId5">
              <a:alphaModFix/>
            </a:blip>
            <a:stretch>
              <a:fillRect/>
            </a:stretch>
          </p:blipFill>
          <p:spPr>
            <a:xfrm>
              <a:off x="2764075" y="1143031"/>
              <a:ext cx="1335024" cy="1335024"/>
            </a:xfrm>
            <a:prstGeom prst="rect">
              <a:avLst/>
            </a:prstGeom>
            <a:noFill/>
            <a:ln>
              <a:noFill/>
            </a:ln>
          </p:spPr>
        </p:pic>
        <p:pic>
          <p:nvPicPr>
            <p:cNvPr id="206" name="Google Shape;206;p32"/>
            <p:cNvPicPr preferRelativeResize="0"/>
            <p:nvPr/>
          </p:nvPicPr>
          <p:blipFill>
            <a:blip r:embed="rId6">
              <a:alphaModFix/>
            </a:blip>
            <a:stretch>
              <a:fillRect/>
            </a:stretch>
          </p:blipFill>
          <p:spPr>
            <a:xfrm>
              <a:off x="524768" y="1143031"/>
              <a:ext cx="1335024" cy="1335024"/>
            </a:xfrm>
            <a:prstGeom prst="rect">
              <a:avLst/>
            </a:prstGeom>
            <a:noFill/>
            <a:ln>
              <a:noFill/>
            </a:ln>
          </p:spPr>
        </p:pic>
        <p:pic>
          <p:nvPicPr>
            <p:cNvPr id="207" name="Google Shape;207;p32"/>
            <p:cNvPicPr preferRelativeResize="0"/>
            <p:nvPr/>
          </p:nvPicPr>
          <p:blipFill>
            <a:blip r:embed="rId7">
              <a:alphaModFix/>
            </a:blip>
            <a:stretch>
              <a:fillRect/>
            </a:stretch>
          </p:blipFill>
          <p:spPr>
            <a:xfrm>
              <a:off x="7531614" y="836140"/>
              <a:ext cx="755090" cy="257344"/>
            </a:xfrm>
            <a:prstGeom prst="rect">
              <a:avLst/>
            </a:prstGeom>
            <a:noFill/>
            <a:ln>
              <a:noFill/>
            </a:ln>
          </p:spPr>
        </p:pic>
        <p:pic>
          <p:nvPicPr>
            <p:cNvPr id="208" name="Google Shape;208;p32"/>
            <p:cNvPicPr preferRelativeResize="0"/>
            <p:nvPr/>
          </p:nvPicPr>
          <p:blipFill>
            <a:blip r:embed="rId8">
              <a:alphaModFix/>
            </a:blip>
            <a:stretch>
              <a:fillRect/>
            </a:stretch>
          </p:blipFill>
          <p:spPr>
            <a:xfrm>
              <a:off x="5551850" y="834328"/>
              <a:ext cx="237410" cy="211007"/>
            </a:xfrm>
            <a:prstGeom prst="rect">
              <a:avLst/>
            </a:prstGeom>
            <a:noFill/>
            <a:ln>
              <a:noFill/>
            </a:ln>
          </p:spPr>
        </p:pic>
        <p:pic>
          <p:nvPicPr>
            <p:cNvPr id="209" name="Google Shape;209;p32"/>
            <p:cNvPicPr preferRelativeResize="0"/>
            <p:nvPr/>
          </p:nvPicPr>
          <p:blipFill>
            <a:blip r:embed="rId7">
              <a:alphaModFix/>
            </a:blip>
            <a:stretch>
              <a:fillRect/>
            </a:stretch>
          </p:blipFill>
          <p:spPr>
            <a:xfrm>
              <a:off x="2965789" y="837053"/>
              <a:ext cx="755090" cy="257344"/>
            </a:xfrm>
            <a:prstGeom prst="rect">
              <a:avLst/>
            </a:prstGeom>
            <a:noFill/>
            <a:ln>
              <a:noFill/>
            </a:ln>
          </p:spPr>
        </p:pic>
        <p:pic>
          <p:nvPicPr>
            <p:cNvPr id="210" name="Google Shape;210;p32"/>
            <p:cNvPicPr preferRelativeResize="0"/>
            <p:nvPr/>
          </p:nvPicPr>
          <p:blipFill>
            <a:blip r:embed="rId8">
              <a:alphaModFix/>
            </a:blip>
            <a:stretch>
              <a:fillRect/>
            </a:stretch>
          </p:blipFill>
          <p:spPr>
            <a:xfrm>
              <a:off x="986025" y="835241"/>
              <a:ext cx="237410" cy="211007"/>
            </a:xfrm>
            <a:prstGeom prst="rect">
              <a:avLst/>
            </a:prstGeom>
            <a:noFill/>
            <a:ln>
              <a:noFill/>
            </a:ln>
          </p:spPr>
        </p:pic>
        <p:cxnSp>
          <p:nvCxnSpPr>
            <p:cNvPr id="211" name="Google Shape;211;p32"/>
            <p:cNvCxnSpPr/>
            <p:nvPr/>
          </p:nvCxnSpPr>
          <p:spPr>
            <a:xfrm>
              <a:off x="2006050" y="1815350"/>
              <a:ext cx="642000" cy="0"/>
            </a:xfrm>
            <a:prstGeom prst="straightConnector1">
              <a:avLst/>
            </a:prstGeom>
            <a:noFill/>
            <a:ln w="9525" cap="flat" cmpd="sng">
              <a:solidFill>
                <a:schemeClr val="dk1"/>
              </a:solidFill>
              <a:prstDash val="solid"/>
              <a:round/>
              <a:headEnd type="none" w="med" len="med"/>
              <a:tailEnd type="triangle" w="med" len="med"/>
            </a:ln>
          </p:spPr>
        </p:cxnSp>
        <p:cxnSp>
          <p:nvCxnSpPr>
            <p:cNvPr id="212" name="Google Shape;212;p32"/>
            <p:cNvCxnSpPr/>
            <p:nvPr/>
          </p:nvCxnSpPr>
          <p:spPr>
            <a:xfrm>
              <a:off x="6471403" y="1780953"/>
              <a:ext cx="642000" cy="0"/>
            </a:xfrm>
            <a:prstGeom prst="straightConnector1">
              <a:avLst/>
            </a:prstGeom>
            <a:noFill/>
            <a:ln w="9525" cap="flat" cmpd="sng">
              <a:solidFill>
                <a:schemeClr val="dk1"/>
              </a:solidFill>
              <a:prstDash val="solid"/>
              <a:round/>
              <a:headEnd type="none" w="med" len="med"/>
              <a:tailEnd type="triangle" w="med" len="med"/>
            </a:ln>
          </p:spPr>
        </p:cxnSp>
      </p:grpSp>
      <p:sp>
        <p:nvSpPr>
          <p:cNvPr id="213" name="Google Shape;213;p32"/>
          <p:cNvSpPr txBox="1"/>
          <p:nvPr/>
        </p:nvSpPr>
        <p:spPr>
          <a:xfrm>
            <a:off x="423400" y="2999900"/>
            <a:ext cx="8409000" cy="71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dirty="0">
              <a:solidFill>
                <a:schemeClr val="dk1"/>
              </a:solidFill>
              <a:latin typeface="Nunito"/>
              <a:ea typeface="Nunito"/>
              <a:cs typeface="Nunito"/>
              <a:sym typeface="Nunito"/>
            </a:endParaRPr>
          </a:p>
          <a:p>
            <a:pPr marL="0" lvl="0" indent="0" algn="l" rtl="0">
              <a:spcBef>
                <a:spcPts val="0"/>
              </a:spcBef>
              <a:spcAft>
                <a:spcPts val="0"/>
              </a:spcAft>
              <a:buNone/>
            </a:pPr>
            <a:r>
              <a:rPr lang="en" sz="2000" dirty="0">
                <a:solidFill>
                  <a:schemeClr val="dk1"/>
                </a:solidFill>
                <a:latin typeface="Nunito"/>
                <a:ea typeface="Nunito"/>
                <a:cs typeface="Nunito"/>
                <a:sym typeface="Nunito"/>
              </a:rPr>
              <a:t>Adversaries can make changes to the image that are </a:t>
            </a:r>
            <a:r>
              <a:rPr lang="en" sz="2000" i="1" dirty="0">
                <a:solidFill>
                  <a:schemeClr val="dk1"/>
                </a:solidFill>
                <a:latin typeface="Nunito"/>
                <a:ea typeface="Nunito"/>
                <a:cs typeface="Nunito"/>
                <a:sym typeface="Nunito"/>
              </a:rPr>
              <a:t>perceptible</a:t>
            </a:r>
            <a:r>
              <a:rPr lang="en" sz="2000" dirty="0">
                <a:solidFill>
                  <a:schemeClr val="dk1"/>
                </a:solidFill>
                <a:latin typeface="Nunito"/>
                <a:ea typeface="Nunito"/>
                <a:cs typeface="Nunito"/>
                <a:sym typeface="Nunito"/>
              </a:rPr>
              <a:t> to the human eye, </a:t>
            </a:r>
            <a:r>
              <a:rPr lang="en" sz="2000">
                <a:solidFill>
                  <a:schemeClr val="dk1"/>
                </a:solidFill>
                <a:latin typeface="Nunito"/>
                <a:ea typeface="Nunito"/>
                <a:cs typeface="Nunito"/>
                <a:sym typeface="Nunito"/>
              </a:rPr>
              <a:t>yet still being stealthy</a:t>
            </a:r>
            <a:endParaRPr sz="2000" dirty="0">
              <a:solidFill>
                <a:schemeClr val="dk1"/>
              </a:solidFill>
              <a:latin typeface="Nunito"/>
              <a:ea typeface="Nunito"/>
              <a:cs typeface="Nunito"/>
              <a:sym typeface="Nunito"/>
            </a:endParaRPr>
          </a:p>
        </p:txBody>
      </p:sp>
      <p:grpSp>
        <p:nvGrpSpPr>
          <p:cNvPr id="214" name="Google Shape;214;p32"/>
          <p:cNvGrpSpPr/>
          <p:nvPr/>
        </p:nvGrpSpPr>
        <p:grpSpPr>
          <a:xfrm>
            <a:off x="6997775" y="1251775"/>
            <a:ext cx="1242350" cy="1802750"/>
            <a:chOff x="6997775" y="1251775"/>
            <a:chExt cx="1242350" cy="1802750"/>
          </a:xfrm>
        </p:grpSpPr>
        <p:sp>
          <p:nvSpPr>
            <p:cNvPr id="215" name="Google Shape;215;p32"/>
            <p:cNvSpPr/>
            <p:nvPr/>
          </p:nvSpPr>
          <p:spPr>
            <a:xfrm>
              <a:off x="7839625" y="1251775"/>
              <a:ext cx="400500" cy="7113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6" name="Google Shape;216;p32"/>
            <p:cNvCxnSpPr>
              <a:stCxn id="217" idx="0"/>
              <a:endCxn id="215" idx="4"/>
            </p:cNvCxnSpPr>
            <p:nvPr/>
          </p:nvCxnSpPr>
          <p:spPr>
            <a:xfrm rot="10800000" flipH="1">
              <a:off x="7582775" y="1963125"/>
              <a:ext cx="457200" cy="691200"/>
            </a:xfrm>
            <a:prstGeom prst="straightConnector1">
              <a:avLst/>
            </a:prstGeom>
            <a:noFill/>
            <a:ln w="19050" cap="flat" cmpd="sng">
              <a:solidFill>
                <a:srgbClr val="00FF00"/>
              </a:solidFill>
              <a:prstDash val="solid"/>
              <a:round/>
              <a:headEnd type="none" w="med" len="med"/>
              <a:tailEnd type="triangle" w="med" len="med"/>
            </a:ln>
          </p:spPr>
        </p:cxnSp>
        <p:sp>
          <p:nvSpPr>
            <p:cNvPr id="217" name="Google Shape;217;p32"/>
            <p:cNvSpPr txBox="1"/>
            <p:nvPr/>
          </p:nvSpPr>
          <p:spPr>
            <a:xfrm>
              <a:off x="6997775" y="2654325"/>
              <a:ext cx="117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Perceptible</a:t>
              </a:r>
              <a:endParaRPr>
                <a:latin typeface="Nunito"/>
                <a:ea typeface="Nunito"/>
                <a:cs typeface="Nunito"/>
                <a:sym typeface="Nunito"/>
              </a:endParaRPr>
            </a:p>
          </p:txBody>
        </p:sp>
      </p:grpSp>
      <p:grpSp>
        <p:nvGrpSpPr>
          <p:cNvPr id="218" name="Google Shape;218;p32"/>
          <p:cNvGrpSpPr/>
          <p:nvPr/>
        </p:nvGrpSpPr>
        <p:grpSpPr>
          <a:xfrm>
            <a:off x="2197175" y="2126400"/>
            <a:ext cx="1308903" cy="928125"/>
            <a:chOff x="2197175" y="2126400"/>
            <a:chExt cx="1308903" cy="928125"/>
          </a:xfrm>
        </p:grpSpPr>
        <p:sp>
          <p:nvSpPr>
            <p:cNvPr id="219" name="Google Shape;219;p32"/>
            <p:cNvSpPr/>
            <p:nvPr/>
          </p:nvSpPr>
          <p:spPr>
            <a:xfrm>
              <a:off x="3145478" y="2126400"/>
              <a:ext cx="360600" cy="3849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 name="Google Shape;220;p32"/>
            <p:cNvCxnSpPr>
              <a:stCxn id="221" idx="0"/>
              <a:endCxn id="219" idx="4"/>
            </p:cNvCxnSpPr>
            <p:nvPr/>
          </p:nvCxnSpPr>
          <p:spPr>
            <a:xfrm rot="10800000" flipH="1">
              <a:off x="2782175" y="2511225"/>
              <a:ext cx="543600" cy="143100"/>
            </a:xfrm>
            <a:prstGeom prst="straightConnector1">
              <a:avLst/>
            </a:prstGeom>
            <a:noFill/>
            <a:ln w="19050" cap="flat" cmpd="sng">
              <a:solidFill>
                <a:srgbClr val="00FF00"/>
              </a:solidFill>
              <a:prstDash val="solid"/>
              <a:round/>
              <a:headEnd type="none" w="med" len="med"/>
              <a:tailEnd type="triangle" w="med" len="med"/>
            </a:ln>
          </p:spPr>
        </p:cxnSp>
        <p:sp>
          <p:nvSpPr>
            <p:cNvPr id="221" name="Google Shape;221;p32"/>
            <p:cNvSpPr txBox="1"/>
            <p:nvPr/>
          </p:nvSpPr>
          <p:spPr>
            <a:xfrm>
              <a:off x="2197175" y="2654325"/>
              <a:ext cx="117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Perceptible</a:t>
              </a:r>
              <a:endParaRPr>
                <a:latin typeface="Nunito"/>
                <a:ea typeface="Nunito"/>
                <a:cs typeface="Nunito"/>
                <a:sym typeface="Nunito"/>
              </a:endParaRPr>
            </a:p>
          </p:txBody>
        </p:sp>
      </p:grpSp>
      <p:sp>
        <p:nvSpPr>
          <p:cNvPr id="222" name="Google Shape;222;p3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23" name="Google Shape;223;p3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7</a:t>
            </a:fld>
            <a:endParaRPr sz="1300" b="0" i="0" u="none" strike="noStrike" cap="none">
              <a:solidFill>
                <a:srgbClr val="FFFFFF"/>
              </a:solidFill>
              <a:latin typeface="Nunito"/>
              <a:ea typeface="Nunito"/>
              <a:cs typeface="Nunito"/>
              <a:sym typeface="Nunito"/>
            </a:endParaRPr>
          </a:p>
        </p:txBody>
      </p:sp>
      <p:sp>
        <p:nvSpPr>
          <p:cNvPr id="224" name="Google Shape;224;p3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fade">
                                      <p:cBhvr>
                                        <p:cTn id="12" dur="1000"/>
                                        <p:tgtEl>
                                          <p:spTgt spid="214"/>
                                        </p:tgtEl>
                                      </p:cBhvr>
                                    </p:animEffect>
                                  </p:childTnLst>
                                </p:cTn>
                              </p:par>
                              <p:par>
                                <p:cTn id="13" presetID="10" presetClass="entr" presetSubtype="0" fill="hold" nodeType="withEffect">
                                  <p:stCondLst>
                                    <p:cond delay="0"/>
                                  </p:stCondLst>
                                  <p:childTnLst>
                                    <p:set>
                                      <p:cBhvr>
                                        <p:cTn id="14" dur="1" fill="hold">
                                          <p:stCondLst>
                                            <p:cond delay="0"/>
                                          </p:stCondLst>
                                        </p:cTn>
                                        <p:tgtEl>
                                          <p:spTgt spid="218"/>
                                        </p:tgtEl>
                                        <p:attrNameLst>
                                          <p:attrName>style.visibility</p:attrName>
                                        </p:attrNameLst>
                                      </p:cBhvr>
                                      <p:to>
                                        <p:strVal val="visible"/>
                                      </p:to>
                                    </p:set>
                                    <p:animEffect transition="in" filter="fade">
                                      <p:cBhvr>
                                        <p:cTn id="15" dur="1000"/>
                                        <p:tgtEl>
                                          <p:spTgt spid="2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000"/>
                                        <p:tgtEl>
                                          <p:spTgt spid="214"/>
                                        </p:tgtEl>
                                      </p:cBhvr>
                                    </p:animEffect>
                                    <p:set>
                                      <p:cBhvr>
                                        <p:cTn id="20" dur="1" fill="hold">
                                          <p:stCondLst>
                                            <p:cond delay="1000"/>
                                          </p:stCondLst>
                                        </p:cTn>
                                        <p:tgtEl>
                                          <p:spTgt spid="214"/>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000"/>
                                        <p:tgtEl>
                                          <p:spTgt spid="218"/>
                                        </p:tgtEl>
                                      </p:cBhvr>
                                    </p:animEffect>
                                    <p:set>
                                      <p:cBhvr>
                                        <p:cTn id="23" dur="1" fill="hold">
                                          <p:stCondLst>
                                            <p:cond delay="1000"/>
                                          </p:stCondLst>
                                        </p:cTn>
                                        <p:tgtEl>
                                          <p:spTgt spid="21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3"/>
                                        </p:tgtEl>
                                        <p:attrNameLst>
                                          <p:attrName>style.visibility</p:attrName>
                                        </p:attrNameLst>
                                      </p:cBhvr>
                                      <p:to>
                                        <p:strVal val="visible"/>
                                      </p:to>
                                    </p:set>
                                    <p:animEffect transition="in" filter="fade">
                                      <p:cBhvr>
                                        <p:cTn id="28" dur="10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3"/>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Adversarial Training (AT)</a:t>
            </a:r>
            <a:endParaRPr sz="3600">
              <a:latin typeface="Nunito"/>
              <a:ea typeface="Nunito"/>
              <a:cs typeface="Nunito"/>
              <a:sym typeface="Nunito"/>
            </a:endParaRPr>
          </a:p>
        </p:txBody>
      </p:sp>
      <p:sp>
        <p:nvSpPr>
          <p:cNvPr id="230" name="Google Shape;230;p3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31" name="Google Shape;231;p3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32" name="Google Shape;232;p3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
        <p:nvSpPr>
          <p:cNvPr id="233" name="Google Shape;233;p3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34" name="Google Shape;234;p33"/>
          <p:cNvSpPr txBox="1"/>
          <p:nvPr/>
        </p:nvSpPr>
        <p:spPr>
          <a:xfrm>
            <a:off x="423625" y="1571750"/>
            <a:ext cx="8297100" cy="5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Currently, AT can reduce accuracy on clean examples by 10%+, but the problem of adversarial robustness is hard to thoroughly address.</a:t>
            </a:r>
            <a:endParaRPr sz="2000">
              <a:solidFill>
                <a:schemeClr val="dk1"/>
              </a:solidFill>
              <a:latin typeface="Nunito"/>
              <a:ea typeface="Nunito"/>
              <a:cs typeface="Nunito"/>
              <a:sym typeface="Nunito"/>
            </a:endParaRPr>
          </a:p>
        </p:txBody>
      </p:sp>
      <p:sp>
        <p:nvSpPr>
          <p:cNvPr id="235" name="Google Shape;235;p33"/>
          <p:cNvSpPr txBox="1"/>
          <p:nvPr/>
        </p:nvSpPr>
        <p:spPr>
          <a:xfrm>
            <a:off x="445450" y="647713"/>
            <a:ext cx="8253000" cy="5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Nunito"/>
                <a:ea typeface="Nunito"/>
                <a:cs typeface="Nunito"/>
                <a:sym typeface="Nunito"/>
              </a:rPr>
              <a:t>The best-known way to make models more robust to is adversarial training – generating adversarial examples and add them to the training dataset.</a:t>
            </a:r>
            <a:endParaRPr sz="2000" dirty="0">
              <a:solidFill>
                <a:schemeClr val="dk1"/>
              </a:solidFill>
              <a:latin typeface="Nunito"/>
              <a:ea typeface="Nunito"/>
              <a:cs typeface="Nunito"/>
              <a:sym typeface="Nunito"/>
            </a:endParaRPr>
          </a:p>
        </p:txBody>
      </p:sp>
      <p:sp>
        <p:nvSpPr>
          <p:cNvPr id="236" name="Google Shape;236;p3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37" name="Google Shape;237;p3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8</a:t>
            </a:fld>
            <a:endParaRPr sz="1300" b="0" i="0" u="none" strike="noStrike" cap="none">
              <a:solidFill>
                <a:srgbClr val="FFFFFF"/>
              </a:solidFill>
              <a:latin typeface="Nunito"/>
              <a:ea typeface="Nunito"/>
              <a:cs typeface="Nunito"/>
              <a:sym typeface="Nunito"/>
            </a:endParaRPr>
          </a:p>
        </p:txBody>
      </p:sp>
      <p:sp>
        <p:nvSpPr>
          <p:cNvPr id="238" name="Google Shape;238;p3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39" name="Google Shape;239;p33"/>
          <p:cNvPicPr preferRelativeResize="0"/>
          <p:nvPr/>
        </p:nvPicPr>
        <p:blipFill>
          <a:blip r:embed="rId3">
            <a:alphaModFix/>
          </a:blip>
          <a:stretch>
            <a:fillRect/>
          </a:stretch>
        </p:blipFill>
        <p:spPr>
          <a:xfrm>
            <a:off x="3078074" y="2479900"/>
            <a:ext cx="2987741" cy="2266950"/>
          </a:xfrm>
          <a:prstGeom prst="rect">
            <a:avLst/>
          </a:prstGeom>
          <a:noFill/>
          <a:ln>
            <a:noFill/>
          </a:ln>
        </p:spPr>
      </p:pic>
      <p:sp>
        <p:nvSpPr>
          <p:cNvPr id="2" name="TextBox 1">
            <a:extLst>
              <a:ext uri="{FF2B5EF4-FFF2-40B4-BE49-F238E27FC236}">
                <a16:creationId xmlns:a16="http://schemas.microsoft.com/office/drawing/2014/main" id="{2444C861-8B44-253E-9823-57F7F2FFAEFD}"/>
              </a:ext>
            </a:extLst>
          </p:cNvPr>
          <p:cNvSpPr txBox="1"/>
          <p:nvPr/>
        </p:nvSpPr>
        <p:spPr>
          <a:xfrm>
            <a:off x="8445600" y="1396800"/>
            <a:ext cx="184731" cy="307777"/>
          </a:xfrm>
          <a:prstGeom prst="rect">
            <a:avLst/>
          </a:prstGeom>
          <a:noFill/>
        </p:spPr>
        <p:txBody>
          <a:bodyPr wrap="none" rtlCol="0">
            <a:spAutoFit/>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fade">
                                      <p:cBhvr>
                                        <p:cTn id="7" dur="10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White Box vs Black Box Testing</a:t>
            </a:r>
            <a:endParaRPr sz="3600">
              <a:latin typeface="Nunito"/>
              <a:ea typeface="Nunito"/>
              <a:cs typeface="Nunito"/>
              <a:sym typeface="Nunito"/>
            </a:endParaRPr>
          </a:p>
        </p:txBody>
      </p:sp>
      <p:sp>
        <p:nvSpPr>
          <p:cNvPr id="245" name="Google Shape;245;p3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46" name="Google Shape;246;p3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47" name="Google Shape;247;p3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9</a:t>
            </a:fld>
            <a:endParaRPr/>
          </a:p>
        </p:txBody>
      </p:sp>
      <p:sp>
        <p:nvSpPr>
          <p:cNvPr id="248" name="Google Shape;248;p3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49" name="Google Shape;249;p34"/>
          <p:cNvSpPr txBox="1"/>
          <p:nvPr/>
        </p:nvSpPr>
        <p:spPr>
          <a:xfrm>
            <a:off x="423400" y="866300"/>
            <a:ext cx="8409000" cy="103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When adversaries do not have access to the model parameters, the network is considered a “black box,” and only model outputs are observed</a:t>
            </a:r>
            <a:endParaRPr sz="2000">
              <a:solidFill>
                <a:schemeClr val="dk1"/>
              </a:solidFill>
              <a:latin typeface="Nunito"/>
              <a:ea typeface="Nunito"/>
              <a:cs typeface="Nunito"/>
              <a:sym typeface="Nunito"/>
            </a:endParaRPr>
          </a:p>
        </p:txBody>
      </p:sp>
      <p:sp>
        <p:nvSpPr>
          <p:cNvPr id="250" name="Google Shape;250;p34"/>
          <p:cNvSpPr txBox="1"/>
          <p:nvPr/>
        </p:nvSpPr>
        <p:spPr>
          <a:xfrm>
            <a:off x="423400" y="2085500"/>
            <a:ext cx="8409000" cy="7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Some researchers prefer “white box” assumptions because relying on “security through obscurity” can be a fragile strategy</a:t>
            </a:r>
            <a:endParaRPr sz="2000">
              <a:solidFill>
                <a:schemeClr val="dk1"/>
              </a:solidFill>
              <a:latin typeface="Nunito"/>
              <a:ea typeface="Nunito"/>
              <a:cs typeface="Nunito"/>
              <a:sym typeface="Nunito"/>
            </a:endParaRPr>
          </a:p>
        </p:txBody>
      </p:sp>
      <p:pic>
        <p:nvPicPr>
          <p:cNvPr id="251" name="Google Shape;251;p34"/>
          <p:cNvPicPr preferRelativeResize="0"/>
          <p:nvPr/>
        </p:nvPicPr>
        <p:blipFill rotWithShape="1">
          <a:blip r:embed="rId3">
            <a:alphaModFix/>
          </a:blip>
          <a:srcRect r="67454" b="9674"/>
          <a:stretch/>
        </p:blipFill>
        <p:spPr>
          <a:xfrm>
            <a:off x="2129061" y="2806059"/>
            <a:ext cx="1169956" cy="1993298"/>
          </a:xfrm>
          <a:prstGeom prst="rect">
            <a:avLst/>
          </a:prstGeom>
          <a:noFill/>
          <a:ln>
            <a:noFill/>
          </a:ln>
        </p:spPr>
      </p:pic>
      <p:pic>
        <p:nvPicPr>
          <p:cNvPr id="252" name="Google Shape;252;p34"/>
          <p:cNvPicPr preferRelativeResize="0"/>
          <p:nvPr/>
        </p:nvPicPr>
        <p:blipFill rotWithShape="1">
          <a:blip r:embed="rId3">
            <a:alphaModFix/>
          </a:blip>
          <a:srcRect l="65240" b="8509"/>
          <a:stretch/>
        </p:blipFill>
        <p:spPr>
          <a:xfrm>
            <a:off x="5800276" y="2780407"/>
            <a:ext cx="1249561" cy="2018950"/>
          </a:xfrm>
          <a:prstGeom prst="rect">
            <a:avLst/>
          </a:prstGeom>
          <a:noFill/>
          <a:ln>
            <a:noFill/>
          </a:ln>
        </p:spPr>
      </p:pic>
      <p:sp>
        <p:nvSpPr>
          <p:cNvPr id="253" name="Google Shape;253;p3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54" name="Google Shape;254;p3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9</a:t>
            </a:fld>
            <a:endParaRPr sz="1300" b="0" i="0" u="none" strike="noStrike" cap="none">
              <a:solidFill>
                <a:srgbClr val="FFFFFF"/>
              </a:solidFill>
              <a:latin typeface="Nunito"/>
              <a:ea typeface="Nunito"/>
              <a:cs typeface="Nunito"/>
              <a:sym typeface="Nunito"/>
            </a:endParaRPr>
          </a:p>
        </p:txBody>
      </p:sp>
      <p:sp>
        <p:nvSpPr>
          <p:cNvPr id="255" name="Google Shape;255;p3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0"/>
                                        </p:tgtEl>
                                        <p:attrNameLst>
                                          <p:attrName>style.visibility</p:attrName>
                                        </p:attrNameLst>
                                      </p:cBhvr>
                                      <p:to>
                                        <p:strVal val="visible"/>
                                      </p:to>
                                    </p:set>
                                    <p:animEffect transition="in" filter="fade">
                                      <p:cBhvr>
                                        <p:cTn id="12" dur="1000"/>
                                        <p:tgtEl>
                                          <p:spTgt spid="2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1"/>
                                        </p:tgtEl>
                                        <p:attrNameLst>
                                          <p:attrName>style.visibility</p:attrName>
                                        </p:attrNameLst>
                                      </p:cBhvr>
                                      <p:to>
                                        <p:strVal val="visible"/>
                                      </p:to>
                                    </p:set>
                                    <p:animEffect transition="in" filter="fade">
                                      <p:cBhvr>
                                        <p:cTn id="17" dur="1000"/>
                                        <p:tgtEl>
                                          <p:spTgt spid="251"/>
                                        </p:tgtEl>
                                      </p:cBhvr>
                                    </p:animEffect>
                                  </p:childTnLst>
                                </p:cTn>
                              </p:par>
                              <p:par>
                                <p:cTn id="18" presetID="10" presetClass="entr" presetSubtype="0" fill="hold" nodeType="withEffect">
                                  <p:stCondLst>
                                    <p:cond delay="0"/>
                                  </p:stCondLst>
                                  <p:childTnLst>
                                    <p:set>
                                      <p:cBhvr>
                                        <p:cTn id="19" dur="1" fill="hold">
                                          <p:stCondLst>
                                            <p:cond delay="0"/>
                                          </p:stCondLst>
                                        </p:cTn>
                                        <p:tgtEl>
                                          <p:spTgt spid="252"/>
                                        </p:tgtEl>
                                        <p:attrNameLst>
                                          <p:attrName>style.visibility</p:attrName>
                                        </p:attrNameLst>
                                      </p:cBhvr>
                                      <p:to>
                                        <p:strVal val="visible"/>
                                      </p:to>
                                    </p:set>
                                    <p:animEffect transition="in" filter="fade">
                                      <p:cBhvr>
                                        <p:cTn id="20" dur="10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Transferability</a:t>
            </a:r>
            <a:endParaRPr sz="3600">
              <a:latin typeface="Nunito"/>
              <a:ea typeface="Nunito"/>
              <a:cs typeface="Nunito"/>
              <a:sym typeface="Nunito"/>
            </a:endParaRPr>
          </a:p>
        </p:txBody>
      </p:sp>
      <p:sp>
        <p:nvSpPr>
          <p:cNvPr id="261" name="Google Shape;261;p3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62" name="Google Shape;262;p3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63" name="Google Shape;263;p3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264" name="Google Shape;264;p3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65" name="Google Shape;265;p35"/>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 adversarial example crafted for one model can be used to attack many different models</a:t>
            </a:r>
            <a:endParaRPr sz="2000">
              <a:solidFill>
                <a:schemeClr val="dk1"/>
              </a:solidFill>
              <a:latin typeface="Nunito"/>
              <a:ea typeface="Nunito"/>
              <a:cs typeface="Nunito"/>
              <a:sym typeface="Nunito"/>
            </a:endParaRPr>
          </a:p>
        </p:txBody>
      </p:sp>
      <p:sp>
        <p:nvSpPr>
          <p:cNvPr id="266" name="Google Shape;266;p35"/>
          <p:cNvSpPr txBox="1"/>
          <p:nvPr/>
        </p:nvSpPr>
        <p:spPr>
          <a:xfrm>
            <a:off x="423400" y="38007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Consequently, an attacker does not always need access to a model’s parameters or architectural information to attack it</a:t>
            </a:r>
            <a:endParaRPr sz="2000">
              <a:solidFill>
                <a:schemeClr val="dk1"/>
              </a:solidFill>
              <a:latin typeface="Nunito"/>
              <a:ea typeface="Nunito"/>
              <a:cs typeface="Nunito"/>
              <a:sym typeface="Nunito"/>
            </a:endParaRPr>
          </a:p>
        </p:txBody>
      </p:sp>
      <p:sp>
        <p:nvSpPr>
          <p:cNvPr id="267" name="Google Shape;267;p35"/>
          <p:cNvSpPr txBox="1"/>
          <p:nvPr/>
        </p:nvSpPr>
        <p:spPr>
          <a:xfrm>
            <a:off x="423400" y="2865000"/>
            <a:ext cx="8409000" cy="80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Even though transfer rates can vary widely, transferability demonstrates that adversarial failure modes are somewhat shared across models</a:t>
            </a:r>
            <a:endParaRPr sz="2000">
              <a:solidFill>
                <a:schemeClr val="dk1"/>
              </a:solidFill>
              <a:latin typeface="Nunito"/>
              <a:ea typeface="Nunito"/>
              <a:cs typeface="Nunito"/>
              <a:sym typeface="Nunito"/>
            </a:endParaRPr>
          </a:p>
        </p:txBody>
      </p:sp>
      <p:grpSp>
        <p:nvGrpSpPr>
          <p:cNvPr id="268" name="Google Shape;268;p35"/>
          <p:cNvGrpSpPr/>
          <p:nvPr/>
        </p:nvGrpSpPr>
        <p:grpSpPr>
          <a:xfrm>
            <a:off x="423400" y="1827550"/>
            <a:ext cx="8409000" cy="905700"/>
            <a:chOff x="423400" y="1475900"/>
            <a:chExt cx="8409000" cy="905700"/>
          </a:xfrm>
        </p:grpSpPr>
        <p:sp>
          <p:nvSpPr>
            <p:cNvPr id="269" name="Google Shape;269;p35"/>
            <p:cNvSpPr txBox="1"/>
            <p:nvPr/>
          </p:nvSpPr>
          <p:spPr>
            <a:xfrm>
              <a:off x="423400" y="14759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Given models       and       ,          designed for       sometimes gives</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                  a high loss, even if        is a different architecture</a:t>
              </a:r>
              <a:endParaRPr sz="2000">
                <a:solidFill>
                  <a:schemeClr val="dk1"/>
                </a:solidFill>
                <a:latin typeface="Nunito"/>
                <a:ea typeface="Nunito"/>
                <a:cs typeface="Nunito"/>
                <a:sym typeface="Nunito"/>
              </a:endParaRPr>
            </a:p>
          </p:txBody>
        </p:sp>
        <p:pic>
          <p:nvPicPr>
            <p:cNvPr id="270" name="Google Shape;270;p35"/>
            <p:cNvPicPr preferRelativeResize="0"/>
            <p:nvPr/>
          </p:nvPicPr>
          <p:blipFill>
            <a:blip r:embed="rId3">
              <a:alphaModFix/>
            </a:blip>
            <a:stretch>
              <a:fillRect/>
            </a:stretch>
          </p:blipFill>
          <p:spPr>
            <a:xfrm>
              <a:off x="2124425" y="1662477"/>
              <a:ext cx="354105" cy="200475"/>
            </a:xfrm>
            <a:prstGeom prst="rect">
              <a:avLst/>
            </a:prstGeom>
            <a:noFill/>
            <a:ln>
              <a:noFill/>
            </a:ln>
          </p:spPr>
        </p:pic>
        <p:pic>
          <p:nvPicPr>
            <p:cNvPr id="271" name="Google Shape;271;p35"/>
            <p:cNvPicPr preferRelativeResize="0"/>
            <p:nvPr/>
          </p:nvPicPr>
          <p:blipFill>
            <a:blip r:embed="rId4">
              <a:alphaModFix/>
            </a:blip>
            <a:stretch>
              <a:fillRect/>
            </a:stretch>
          </p:blipFill>
          <p:spPr>
            <a:xfrm>
              <a:off x="3009999" y="1663531"/>
              <a:ext cx="354100" cy="198368"/>
            </a:xfrm>
            <a:prstGeom prst="rect">
              <a:avLst/>
            </a:prstGeom>
            <a:noFill/>
            <a:ln>
              <a:noFill/>
            </a:ln>
          </p:spPr>
        </p:pic>
        <p:pic>
          <p:nvPicPr>
            <p:cNvPr id="272" name="Google Shape;272;p35"/>
            <p:cNvPicPr preferRelativeResize="0"/>
            <p:nvPr/>
          </p:nvPicPr>
          <p:blipFill>
            <a:blip r:embed="rId5">
              <a:alphaModFix/>
            </a:blip>
            <a:stretch>
              <a:fillRect/>
            </a:stretch>
          </p:blipFill>
          <p:spPr>
            <a:xfrm>
              <a:off x="3538200" y="1695788"/>
              <a:ext cx="490444" cy="167150"/>
            </a:xfrm>
            <a:prstGeom prst="rect">
              <a:avLst/>
            </a:prstGeom>
            <a:noFill/>
            <a:ln>
              <a:noFill/>
            </a:ln>
          </p:spPr>
        </p:pic>
        <p:pic>
          <p:nvPicPr>
            <p:cNvPr id="273" name="Google Shape;273;p35"/>
            <p:cNvPicPr preferRelativeResize="0"/>
            <p:nvPr/>
          </p:nvPicPr>
          <p:blipFill>
            <a:blip r:embed="rId3">
              <a:alphaModFix/>
            </a:blip>
            <a:stretch>
              <a:fillRect/>
            </a:stretch>
          </p:blipFill>
          <p:spPr>
            <a:xfrm>
              <a:off x="5605800" y="1662478"/>
              <a:ext cx="354100" cy="200472"/>
            </a:xfrm>
            <a:prstGeom prst="rect">
              <a:avLst/>
            </a:prstGeom>
            <a:noFill/>
            <a:ln>
              <a:noFill/>
            </a:ln>
          </p:spPr>
        </p:pic>
        <p:pic>
          <p:nvPicPr>
            <p:cNvPr id="274" name="Google Shape;274;p35"/>
            <p:cNvPicPr preferRelativeResize="0"/>
            <p:nvPr/>
          </p:nvPicPr>
          <p:blipFill>
            <a:blip r:embed="rId4">
              <a:alphaModFix/>
            </a:blip>
            <a:stretch>
              <a:fillRect/>
            </a:stretch>
          </p:blipFill>
          <p:spPr>
            <a:xfrm>
              <a:off x="3858774" y="1925373"/>
              <a:ext cx="354100" cy="198368"/>
            </a:xfrm>
            <a:prstGeom prst="rect">
              <a:avLst/>
            </a:prstGeom>
            <a:noFill/>
            <a:ln>
              <a:noFill/>
            </a:ln>
          </p:spPr>
        </p:pic>
        <p:pic>
          <p:nvPicPr>
            <p:cNvPr id="275" name="Google Shape;275;p35"/>
            <p:cNvPicPr preferRelativeResize="0"/>
            <p:nvPr/>
          </p:nvPicPr>
          <p:blipFill>
            <a:blip r:embed="rId6">
              <a:alphaModFix/>
            </a:blip>
            <a:stretch>
              <a:fillRect/>
            </a:stretch>
          </p:blipFill>
          <p:spPr>
            <a:xfrm>
              <a:off x="528400" y="1894200"/>
              <a:ext cx="1060021" cy="254325"/>
            </a:xfrm>
            <a:prstGeom prst="rect">
              <a:avLst/>
            </a:prstGeom>
            <a:noFill/>
            <a:ln>
              <a:noFill/>
            </a:ln>
          </p:spPr>
        </p:pic>
      </p:grpSp>
      <p:sp>
        <p:nvSpPr>
          <p:cNvPr id="276" name="Google Shape;276;p3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77" name="Google Shape;277;p3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10</a:t>
            </a:fld>
            <a:endParaRPr sz="1300" b="0" i="0" u="none" strike="noStrike" cap="none">
              <a:solidFill>
                <a:srgbClr val="FFFFFF"/>
              </a:solidFill>
              <a:latin typeface="Nunito"/>
              <a:ea typeface="Nunito"/>
              <a:cs typeface="Nunito"/>
              <a:sym typeface="Nunito"/>
            </a:endParaRPr>
          </a:p>
        </p:txBody>
      </p:sp>
      <p:sp>
        <p:nvSpPr>
          <p:cNvPr id="278" name="Google Shape;278;p3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1000"/>
                                        <p:tgtEl>
                                          <p:spTgt spid="2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8"/>
                                        </p:tgtEl>
                                        <p:attrNameLst>
                                          <p:attrName>style.visibility</p:attrName>
                                        </p:attrNameLst>
                                      </p:cBhvr>
                                      <p:to>
                                        <p:strVal val="visible"/>
                                      </p:to>
                                    </p:set>
                                    <p:animEffect transition="in" filter="fade">
                                      <p:cBhvr>
                                        <p:cTn id="12" dur="1000"/>
                                        <p:tgtEl>
                                          <p:spTgt spid="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7"/>
                                        </p:tgtEl>
                                        <p:attrNameLst>
                                          <p:attrName>style.visibility</p:attrName>
                                        </p:attrNameLst>
                                      </p:cBhvr>
                                      <p:to>
                                        <p:strVal val="visible"/>
                                      </p:to>
                                    </p:set>
                                    <p:animEffect transition="in" filter="fade">
                                      <p:cBhvr>
                                        <p:cTn id="17" dur="1000"/>
                                        <p:tgtEl>
                                          <p:spTgt spid="2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6"/>
                                        </p:tgtEl>
                                        <p:attrNameLst>
                                          <p:attrName>style.visibility</p:attrName>
                                        </p:attrNameLst>
                                      </p:cBhvr>
                                      <p:to>
                                        <p:strVal val="visible"/>
                                      </p:to>
                                    </p:set>
                                    <p:animEffect transition="in" filter="fade">
                                      <p:cBhvr>
                                        <p:cTn id="22" dur="1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Language Model Attacks</a:t>
            </a:r>
            <a:endParaRPr/>
          </a:p>
        </p:txBody>
      </p:sp>
      <p:sp>
        <p:nvSpPr>
          <p:cNvPr id="284" name="Google Shape;284;p3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85" name="Google Shape;285;p3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86" name="Google Shape;286;p3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287" name="Google Shape;287;p3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88" name="Google Shape;288;p36"/>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Adversarial suffixes can be appended to harmful prompts to “jailbreak” language models.</a:t>
            </a:r>
            <a:endParaRPr sz="2000">
              <a:solidFill>
                <a:schemeClr val="dk1"/>
              </a:solidFill>
              <a:latin typeface="Nunito"/>
              <a:ea typeface="Nunito"/>
              <a:cs typeface="Nunito"/>
              <a:sym typeface="Nunito"/>
            </a:endParaRPr>
          </a:p>
        </p:txBody>
      </p:sp>
      <p:sp>
        <p:nvSpPr>
          <p:cNvPr id="289" name="Google Shape;289;p3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90" name="Google Shape;290;p3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11</a:t>
            </a:fld>
            <a:endParaRPr sz="1300" b="0" i="0" u="none" strike="noStrike" cap="none">
              <a:solidFill>
                <a:srgbClr val="FFFFFF"/>
              </a:solidFill>
              <a:latin typeface="Nunito"/>
              <a:ea typeface="Nunito"/>
              <a:cs typeface="Nunito"/>
              <a:sym typeface="Nunito"/>
            </a:endParaRPr>
          </a:p>
        </p:txBody>
      </p:sp>
      <p:sp>
        <p:nvSpPr>
          <p:cNvPr id="291" name="Google Shape;291;p3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92" name="Google Shape;292;p36"/>
          <p:cNvPicPr preferRelativeResize="0"/>
          <p:nvPr/>
        </p:nvPicPr>
        <p:blipFill>
          <a:blip r:embed="rId3">
            <a:alphaModFix/>
          </a:blip>
          <a:stretch>
            <a:fillRect/>
          </a:stretch>
        </p:blipFill>
        <p:spPr>
          <a:xfrm>
            <a:off x="2147375" y="1525850"/>
            <a:ext cx="4961050" cy="3312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Adversarial Arms Races</a:t>
            </a:r>
            <a:endParaRPr sz="3600">
              <a:latin typeface="Nunito"/>
              <a:ea typeface="Nunito"/>
              <a:cs typeface="Nunito"/>
              <a:sym typeface="Nunito"/>
            </a:endParaRPr>
          </a:p>
        </p:txBody>
      </p:sp>
      <p:sp>
        <p:nvSpPr>
          <p:cNvPr id="298" name="Google Shape;298;p3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99" name="Google Shape;299;p3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00" name="Google Shape;300;p3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12</a:t>
            </a:fld>
            <a:endParaRPr/>
          </a:p>
        </p:txBody>
      </p:sp>
      <p:sp>
        <p:nvSpPr>
          <p:cNvPr id="301" name="Google Shape;301;p3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02" name="Google Shape;302;p37"/>
          <p:cNvSpPr txBox="1"/>
          <p:nvPr/>
        </p:nvSpPr>
        <p:spPr>
          <a:xfrm>
            <a:off x="423400" y="790100"/>
            <a:ext cx="8409000" cy="21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Relying on naive evaluation leads to an arms race that defenders lose</a:t>
            </a:r>
            <a:endParaRPr sz="2000">
              <a:solidFill>
                <a:schemeClr val="dk1"/>
              </a:solidFill>
              <a:latin typeface="Nunito"/>
              <a:ea typeface="Nunito"/>
              <a:cs typeface="Nunito"/>
              <a:sym typeface="Nunito"/>
            </a:endParaRPr>
          </a:p>
        </p:txBody>
      </p:sp>
      <p:pic>
        <p:nvPicPr>
          <p:cNvPr id="303" name="Google Shape;303;p37"/>
          <p:cNvPicPr preferRelativeResize="0"/>
          <p:nvPr/>
        </p:nvPicPr>
        <p:blipFill>
          <a:blip r:embed="rId3">
            <a:alphaModFix/>
          </a:blip>
          <a:stretch>
            <a:fillRect/>
          </a:stretch>
        </p:blipFill>
        <p:spPr>
          <a:xfrm>
            <a:off x="1956175" y="1600200"/>
            <a:ext cx="5343449" cy="3009900"/>
          </a:xfrm>
          <a:prstGeom prst="rect">
            <a:avLst/>
          </a:prstGeom>
          <a:noFill/>
          <a:ln>
            <a:noFill/>
          </a:ln>
        </p:spPr>
      </p:pic>
      <p:pic>
        <p:nvPicPr>
          <p:cNvPr id="304" name="Google Shape;304;p37"/>
          <p:cNvPicPr preferRelativeResize="0"/>
          <p:nvPr/>
        </p:nvPicPr>
        <p:blipFill>
          <a:blip r:embed="rId4">
            <a:alphaModFix/>
          </a:blip>
          <a:stretch>
            <a:fillRect/>
          </a:stretch>
        </p:blipFill>
        <p:spPr>
          <a:xfrm>
            <a:off x="1956175" y="1600200"/>
            <a:ext cx="5343449" cy="3009900"/>
          </a:xfrm>
          <a:prstGeom prst="rect">
            <a:avLst/>
          </a:prstGeom>
          <a:noFill/>
          <a:ln>
            <a:noFill/>
          </a:ln>
        </p:spPr>
      </p:pic>
      <p:pic>
        <p:nvPicPr>
          <p:cNvPr id="305" name="Google Shape;305;p37"/>
          <p:cNvPicPr preferRelativeResize="0"/>
          <p:nvPr/>
        </p:nvPicPr>
        <p:blipFill>
          <a:blip r:embed="rId5">
            <a:alphaModFix/>
          </a:blip>
          <a:stretch>
            <a:fillRect/>
          </a:stretch>
        </p:blipFill>
        <p:spPr>
          <a:xfrm>
            <a:off x="1956175" y="1600200"/>
            <a:ext cx="5343449" cy="3009900"/>
          </a:xfrm>
          <a:prstGeom prst="rect">
            <a:avLst/>
          </a:prstGeom>
          <a:noFill/>
          <a:ln>
            <a:noFill/>
          </a:ln>
        </p:spPr>
      </p:pic>
      <p:pic>
        <p:nvPicPr>
          <p:cNvPr id="306" name="Google Shape;306;p37"/>
          <p:cNvPicPr preferRelativeResize="0"/>
          <p:nvPr/>
        </p:nvPicPr>
        <p:blipFill>
          <a:blip r:embed="rId6">
            <a:alphaModFix/>
          </a:blip>
          <a:stretch>
            <a:fillRect/>
          </a:stretch>
        </p:blipFill>
        <p:spPr>
          <a:xfrm>
            <a:off x="1956175" y="1600200"/>
            <a:ext cx="5343449" cy="3009900"/>
          </a:xfrm>
          <a:prstGeom prst="rect">
            <a:avLst/>
          </a:prstGeom>
          <a:noFill/>
          <a:ln>
            <a:noFill/>
          </a:ln>
        </p:spPr>
      </p:pic>
      <p:pic>
        <p:nvPicPr>
          <p:cNvPr id="307" name="Google Shape;307;p37"/>
          <p:cNvPicPr preferRelativeResize="0"/>
          <p:nvPr/>
        </p:nvPicPr>
        <p:blipFill>
          <a:blip r:embed="rId7">
            <a:alphaModFix/>
          </a:blip>
          <a:stretch>
            <a:fillRect/>
          </a:stretch>
        </p:blipFill>
        <p:spPr>
          <a:xfrm>
            <a:off x="1956175" y="1600200"/>
            <a:ext cx="5343449" cy="3009900"/>
          </a:xfrm>
          <a:prstGeom prst="rect">
            <a:avLst/>
          </a:prstGeom>
          <a:noFill/>
          <a:ln>
            <a:noFill/>
          </a:ln>
        </p:spPr>
      </p:pic>
      <p:sp>
        <p:nvSpPr>
          <p:cNvPr id="308" name="Google Shape;308;p3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09" name="Google Shape;309;p3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12</a:t>
            </a:fld>
            <a:endParaRPr sz="1300" b="0" i="0" u="none" strike="noStrike" cap="none">
              <a:solidFill>
                <a:srgbClr val="FFFFFF"/>
              </a:solidFill>
              <a:latin typeface="Nunito"/>
              <a:ea typeface="Nunito"/>
              <a:cs typeface="Nunito"/>
              <a:sym typeface="Nunito"/>
            </a:endParaRPr>
          </a:p>
        </p:txBody>
      </p:sp>
      <p:sp>
        <p:nvSpPr>
          <p:cNvPr id="310" name="Google Shape;310;p3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0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9"/>
          <p:cNvSpPr txBox="1">
            <a:spLocks noGrp="1"/>
          </p:cNvSpPr>
          <p:nvPr>
            <p:ph type="title"/>
          </p:nvPr>
        </p:nvSpPr>
        <p:spPr>
          <a:xfrm>
            <a:off x="423450"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Trojan Attacks</a:t>
            </a:r>
            <a:endParaRPr sz="3000"/>
          </a:p>
        </p:txBody>
      </p:sp>
      <p:sp>
        <p:nvSpPr>
          <p:cNvPr id="329" name="Google Shape;329;p3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30" name="Google Shape;330;p3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31" name="Google Shape;331;p3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13</a:t>
            </a:fld>
            <a:endParaRPr/>
          </a:p>
        </p:txBody>
      </p:sp>
      <p:sp>
        <p:nvSpPr>
          <p:cNvPr id="332" name="Google Shape;332;p3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33" name="Google Shape;333;p3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34" name="Google Shape;334;p3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13</a:t>
            </a:fld>
            <a:endParaRPr sz="1300" b="0" i="0" u="none" strike="noStrike" cap="none">
              <a:solidFill>
                <a:srgbClr val="FFFFFF"/>
              </a:solidFill>
              <a:latin typeface="Nunito"/>
              <a:ea typeface="Nunito"/>
              <a:cs typeface="Nunito"/>
              <a:sym typeface="Nunito"/>
            </a:endParaRPr>
          </a:p>
        </p:txBody>
      </p:sp>
      <p:sp>
        <p:nvSpPr>
          <p:cNvPr id="335" name="Google Shape;335;p3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0"/>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Trojans</a:t>
            </a:r>
            <a:endParaRPr sz="3600">
              <a:latin typeface="Nunito"/>
              <a:ea typeface="Nunito"/>
              <a:cs typeface="Nunito"/>
              <a:sym typeface="Nunito"/>
            </a:endParaRPr>
          </a:p>
        </p:txBody>
      </p:sp>
      <p:sp>
        <p:nvSpPr>
          <p:cNvPr id="341" name="Google Shape;341;p40"/>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42" name="Google Shape;342;p40"/>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43" name="Google Shape;343;p40"/>
          <p:cNvSpPr txBox="1"/>
          <p:nvPr/>
        </p:nvSpPr>
        <p:spPr>
          <a:xfrm>
            <a:off x="423400" y="790100"/>
            <a:ext cx="8409000" cy="91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Adversaries can implant hidden functionality into models</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When triggered, this can cause a sudden, dangerous change in behavior</a:t>
            </a:r>
            <a:endParaRPr sz="2000">
              <a:solidFill>
                <a:schemeClr val="dk1"/>
              </a:solidFill>
              <a:latin typeface="Nunito"/>
              <a:ea typeface="Nunito"/>
              <a:cs typeface="Nunito"/>
              <a:sym typeface="Nunito"/>
            </a:endParaRPr>
          </a:p>
        </p:txBody>
      </p:sp>
      <p:pic>
        <p:nvPicPr>
          <p:cNvPr id="344" name="Google Shape;344;p40"/>
          <p:cNvPicPr preferRelativeResize="0"/>
          <p:nvPr/>
        </p:nvPicPr>
        <p:blipFill>
          <a:blip r:embed="rId3">
            <a:alphaModFix/>
          </a:blip>
          <a:stretch>
            <a:fillRect/>
          </a:stretch>
        </p:blipFill>
        <p:spPr>
          <a:xfrm>
            <a:off x="935480" y="1864975"/>
            <a:ext cx="7272945" cy="2720250"/>
          </a:xfrm>
          <a:prstGeom prst="rect">
            <a:avLst/>
          </a:prstGeom>
          <a:noFill/>
          <a:ln>
            <a:noFill/>
          </a:ln>
        </p:spPr>
      </p:pic>
      <p:pic>
        <p:nvPicPr>
          <p:cNvPr id="345" name="Google Shape;345;p40"/>
          <p:cNvPicPr preferRelativeResize="0"/>
          <p:nvPr/>
        </p:nvPicPr>
        <p:blipFill>
          <a:blip r:embed="rId4">
            <a:alphaModFix/>
          </a:blip>
          <a:stretch>
            <a:fillRect/>
          </a:stretch>
        </p:blipFill>
        <p:spPr>
          <a:xfrm>
            <a:off x="3091925" y="1625075"/>
            <a:ext cx="2960149" cy="2960149"/>
          </a:xfrm>
          <a:prstGeom prst="rect">
            <a:avLst/>
          </a:prstGeom>
          <a:noFill/>
          <a:ln>
            <a:noFill/>
          </a:ln>
        </p:spPr>
      </p:pic>
      <p:sp>
        <p:nvSpPr>
          <p:cNvPr id="346" name="Google Shape;346;p40"/>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14</a:t>
            </a:fld>
            <a:endParaRPr/>
          </a:p>
        </p:txBody>
      </p:sp>
      <p:sp>
        <p:nvSpPr>
          <p:cNvPr id="347" name="Google Shape;347;p40"/>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48" name="Google Shape;348;p4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49" name="Google Shape;349;p4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14</a:t>
            </a:fld>
            <a:endParaRPr sz="1300" b="0" i="0" u="none" strike="noStrike" cap="none">
              <a:solidFill>
                <a:srgbClr val="FFFFFF"/>
              </a:solidFill>
              <a:latin typeface="Nunito"/>
              <a:ea typeface="Nunito"/>
              <a:cs typeface="Nunito"/>
              <a:sym typeface="Nunito"/>
            </a:endParaRPr>
          </a:p>
        </p:txBody>
      </p:sp>
      <p:sp>
        <p:nvSpPr>
          <p:cNvPr id="350" name="Google Shape;350;p4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childTnLst>
                                </p:cTn>
                              </p:par>
                              <p:par>
                                <p:cTn id="8" presetID="10" presetClass="entr" presetSubtype="0" fill="hold" nodeType="withEffect">
                                  <p:stCondLst>
                                    <p:cond delay="0"/>
                                  </p:stCondLst>
                                  <p:childTnLst>
                                    <p:set>
                                      <p:cBhvr>
                                        <p:cTn id="9" dur="1" fill="hold">
                                          <p:stCondLst>
                                            <p:cond delay="0"/>
                                          </p:stCondLst>
                                        </p:cTn>
                                        <p:tgtEl>
                                          <p:spTgt spid="345"/>
                                        </p:tgtEl>
                                        <p:attrNameLst>
                                          <p:attrName>style.visibility</p:attrName>
                                        </p:attrNameLst>
                                      </p:cBhvr>
                                      <p:to>
                                        <p:strVal val="visible"/>
                                      </p:to>
                                    </p:set>
                                    <p:animEffect transition="in" filter="fade">
                                      <p:cBhvr>
                                        <p:cTn id="10" dur="1000"/>
                                        <p:tgtEl>
                                          <p:spTgt spid="3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345"/>
                                        </p:tgtEl>
                                      </p:cBhvr>
                                    </p:animEffect>
                                    <p:set>
                                      <p:cBhvr>
                                        <p:cTn id="15" dur="1" fill="hold">
                                          <p:stCondLst>
                                            <p:cond delay="1000"/>
                                          </p:stCondLst>
                                        </p:cTn>
                                        <p:tgtEl>
                                          <p:spTgt spid="345"/>
                                        </p:tgtEl>
                                        <p:attrNameLst>
                                          <p:attrName>style.visibility</p:attrName>
                                        </p:attrNameLst>
                                      </p:cBhvr>
                                      <p:to>
                                        <p:strVal val="hidden"/>
                                      </p:to>
                                    </p:se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44"/>
                                        </p:tgtEl>
                                        <p:attrNameLst>
                                          <p:attrName>style.visibility</p:attrName>
                                        </p:attrNameLst>
                                      </p:cBhvr>
                                      <p:to>
                                        <p:strVal val="visible"/>
                                      </p:to>
                                    </p:set>
                                    <p:animEffect transition="in" filter="fade">
                                      <p:cBhvr>
                                        <p:cTn id="19" dur="10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1"/>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Attack Vectors</a:t>
            </a:r>
            <a:endParaRPr sz="3600">
              <a:latin typeface="Nunito"/>
              <a:ea typeface="Nunito"/>
              <a:cs typeface="Nunito"/>
              <a:sym typeface="Nunito"/>
            </a:endParaRPr>
          </a:p>
        </p:txBody>
      </p:sp>
      <p:sp>
        <p:nvSpPr>
          <p:cNvPr id="356" name="Google Shape;356;p4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57" name="Google Shape;357;p4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58" name="Google Shape;358;p4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15</a:t>
            </a:fld>
            <a:endParaRPr/>
          </a:p>
        </p:txBody>
      </p:sp>
      <p:sp>
        <p:nvSpPr>
          <p:cNvPr id="359" name="Google Shape;359;p4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60" name="Google Shape;360;p41"/>
          <p:cNvSpPr txBox="1"/>
          <p:nvPr/>
        </p:nvSpPr>
        <p:spPr>
          <a:xfrm>
            <a:off x="423400" y="790100"/>
            <a:ext cx="61809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How can adversaries implant hidden functionality?</a:t>
            </a:r>
            <a:endParaRPr sz="2000">
              <a:solidFill>
                <a:schemeClr val="dk1"/>
              </a:solidFill>
              <a:latin typeface="Nunito"/>
              <a:ea typeface="Nunito"/>
              <a:cs typeface="Nunito"/>
              <a:sym typeface="Nunito"/>
            </a:endParaRPr>
          </a:p>
        </p:txBody>
      </p:sp>
      <p:grpSp>
        <p:nvGrpSpPr>
          <p:cNvPr id="361" name="Google Shape;361;p41"/>
          <p:cNvGrpSpPr/>
          <p:nvPr/>
        </p:nvGrpSpPr>
        <p:grpSpPr>
          <a:xfrm>
            <a:off x="4617550" y="1626875"/>
            <a:ext cx="3623600" cy="2773049"/>
            <a:chOff x="4617550" y="1626875"/>
            <a:chExt cx="3623600" cy="2773049"/>
          </a:xfrm>
        </p:grpSpPr>
        <p:sp>
          <p:nvSpPr>
            <p:cNvPr id="362" name="Google Shape;362;p41"/>
            <p:cNvSpPr txBox="1"/>
            <p:nvPr/>
          </p:nvSpPr>
          <p:spPr>
            <a:xfrm>
              <a:off x="5160725" y="1626875"/>
              <a:ext cx="29991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Model sharing libraries</a:t>
              </a:r>
              <a:endParaRPr sz="2000">
                <a:solidFill>
                  <a:schemeClr val="dk1"/>
                </a:solidFill>
                <a:latin typeface="Nunito"/>
                <a:ea typeface="Nunito"/>
                <a:cs typeface="Nunito"/>
                <a:sym typeface="Nunito"/>
              </a:endParaRPr>
            </a:p>
          </p:txBody>
        </p:sp>
        <p:pic>
          <p:nvPicPr>
            <p:cNvPr id="363" name="Google Shape;363;p41"/>
            <p:cNvPicPr preferRelativeResize="0"/>
            <p:nvPr/>
          </p:nvPicPr>
          <p:blipFill rotWithShape="1">
            <a:blip r:embed="rId3">
              <a:alphaModFix/>
            </a:blip>
            <a:srcRect l="8727" t="21607" r="12576" b="6201"/>
            <a:stretch/>
          </p:blipFill>
          <p:spPr>
            <a:xfrm>
              <a:off x="4617550" y="2234075"/>
              <a:ext cx="2211576" cy="1095575"/>
            </a:xfrm>
            <a:prstGeom prst="rect">
              <a:avLst/>
            </a:prstGeom>
            <a:noFill/>
            <a:ln>
              <a:noFill/>
            </a:ln>
          </p:spPr>
        </p:pic>
        <p:pic>
          <p:nvPicPr>
            <p:cNvPr id="364" name="Google Shape;364;p41"/>
            <p:cNvPicPr preferRelativeResize="0"/>
            <p:nvPr/>
          </p:nvPicPr>
          <p:blipFill>
            <a:blip r:embed="rId4">
              <a:alphaModFix/>
            </a:blip>
            <a:stretch>
              <a:fillRect/>
            </a:stretch>
          </p:blipFill>
          <p:spPr>
            <a:xfrm>
              <a:off x="6933213" y="2406500"/>
              <a:ext cx="1307937" cy="675300"/>
            </a:xfrm>
            <a:prstGeom prst="rect">
              <a:avLst/>
            </a:prstGeom>
            <a:noFill/>
            <a:ln>
              <a:noFill/>
            </a:ln>
          </p:spPr>
        </p:pic>
        <p:pic>
          <p:nvPicPr>
            <p:cNvPr id="365" name="Google Shape;365;p41"/>
            <p:cNvPicPr preferRelativeResize="0"/>
            <p:nvPr/>
          </p:nvPicPr>
          <p:blipFill>
            <a:blip r:embed="rId5">
              <a:alphaModFix/>
            </a:blip>
            <a:stretch>
              <a:fillRect/>
            </a:stretch>
          </p:blipFill>
          <p:spPr>
            <a:xfrm>
              <a:off x="5517740" y="2913750"/>
              <a:ext cx="2642085" cy="1486175"/>
            </a:xfrm>
            <a:prstGeom prst="rect">
              <a:avLst/>
            </a:prstGeom>
            <a:noFill/>
            <a:ln>
              <a:noFill/>
            </a:ln>
          </p:spPr>
        </p:pic>
      </p:grpSp>
      <p:grpSp>
        <p:nvGrpSpPr>
          <p:cNvPr id="366" name="Google Shape;366;p41"/>
          <p:cNvGrpSpPr/>
          <p:nvPr/>
        </p:nvGrpSpPr>
        <p:grpSpPr>
          <a:xfrm>
            <a:off x="115126" y="1626875"/>
            <a:ext cx="3839674" cy="3049994"/>
            <a:chOff x="115126" y="1626875"/>
            <a:chExt cx="3839674" cy="3049994"/>
          </a:xfrm>
        </p:grpSpPr>
        <p:sp>
          <p:nvSpPr>
            <p:cNvPr id="367" name="Google Shape;367;p41"/>
            <p:cNvSpPr txBox="1"/>
            <p:nvPr/>
          </p:nvSpPr>
          <p:spPr>
            <a:xfrm>
              <a:off x="1122125" y="1626875"/>
              <a:ext cx="20676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Public datasets</a:t>
              </a:r>
              <a:endParaRPr sz="2000">
                <a:solidFill>
                  <a:schemeClr val="dk1"/>
                </a:solidFill>
                <a:latin typeface="Nunito"/>
                <a:ea typeface="Nunito"/>
                <a:cs typeface="Nunito"/>
                <a:sym typeface="Nunito"/>
              </a:endParaRPr>
            </a:p>
          </p:txBody>
        </p:sp>
        <p:pic>
          <p:nvPicPr>
            <p:cNvPr id="368" name="Google Shape;368;p41"/>
            <p:cNvPicPr preferRelativeResize="0"/>
            <p:nvPr/>
          </p:nvPicPr>
          <p:blipFill>
            <a:blip r:embed="rId6">
              <a:alphaModFix/>
            </a:blip>
            <a:stretch>
              <a:fillRect/>
            </a:stretch>
          </p:blipFill>
          <p:spPr>
            <a:xfrm>
              <a:off x="1682975" y="3561400"/>
              <a:ext cx="1964475" cy="851275"/>
            </a:xfrm>
            <a:prstGeom prst="rect">
              <a:avLst/>
            </a:prstGeom>
            <a:noFill/>
            <a:ln>
              <a:noFill/>
            </a:ln>
          </p:spPr>
        </p:pic>
        <p:pic>
          <p:nvPicPr>
            <p:cNvPr id="369" name="Google Shape;369;p41"/>
            <p:cNvPicPr preferRelativeResize="0"/>
            <p:nvPr/>
          </p:nvPicPr>
          <p:blipFill>
            <a:blip r:embed="rId7">
              <a:alphaModFix/>
            </a:blip>
            <a:stretch>
              <a:fillRect/>
            </a:stretch>
          </p:blipFill>
          <p:spPr>
            <a:xfrm>
              <a:off x="228325" y="2831476"/>
              <a:ext cx="1964476" cy="675297"/>
            </a:xfrm>
            <a:prstGeom prst="rect">
              <a:avLst/>
            </a:prstGeom>
            <a:noFill/>
            <a:ln>
              <a:noFill/>
            </a:ln>
          </p:spPr>
        </p:pic>
        <p:pic>
          <p:nvPicPr>
            <p:cNvPr id="370" name="Google Shape;370;p41"/>
            <p:cNvPicPr preferRelativeResize="0"/>
            <p:nvPr/>
          </p:nvPicPr>
          <p:blipFill rotWithShape="1">
            <a:blip r:embed="rId8">
              <a:alphaModFix/>
            </a:blip>
            <a:srcRect l="13017" t="39739" r="13275" b="40519"/>
            <a:stretch/>
          </p:blipFill>
          <p:spPr>
            <a:xfrm>
              <a:off x="2259675" y="3293775"/>
              <a:ext cx="1695125" cy="454050"/>
            </a:xfrm>
            <a:prstGeom prst="rect">
              <a:avLst/>
            </a:prstGeom>
            <a:noFill/>
            <a:ln>
              <a:noFill/>
            </a:ln>
          </p:spPr>
        </p:pic>
        <p:pic>
          <p:nvPicPr>
            <p:cNvPr id="371" name="Google Shape;371;p41"/>
            <p:cNvPicPr preferRelativeResize="0"/>
            <p:nvPr/>
          </p:nvPicPr>
          <p:blipFill rotWithShape="1">
            <a:blip r:embed="rId9">
              <a:alphaModFix/>
            </a:blip>
            <a:srcRect t="5785" r="6977"/>
            <a:stretch/>
          </p:blipFill>
          <p:spPr>
            <a:xfrm>
              <a:off x="115126" y="3518370"/>
              <a:ext cx="1546326" cy="881550"/>
            </a:xfrm>
            <a:prstGeom prst="rect">
              <a:avLst/>
            </a:prstGeom>
            <a:noFill/>
            <a:ln>
              <a:noFill/>
            </a:ln>
          </p:spPr>
        </p:pic>
        <p:pic>
          <p:nvPicPr>
            <p:cNvPr id="372" name="Google Shape;372;p41"/>
            <p:cNvPicPr preferRelativeResize="0"/>
            <p:nvPr/>
          </p:nvPicPr>
          <p:blipFill rotWithShape="1">
            <a:blip r:embed="rId10">
              <a:alphaModFix/>
            </a:blip>
            <a:srcRect t="30618" b="35855"/>
            <a:stretch/>
          </p:blipFill>
          <p:spPr>
            <a:xfrm>
              <a:off x="808075" y="2321525"/>
              <a:ext cx="2800400" cy="422497"/>
            </a:xfrm>
            <a:prstGeom prst="rect">
              <a:avLst/>
            </a:prstGeom>
            <a:noFill/>
            <a:ln>
              <a:noFill/>
            </a:ln>
          </p:spPr>
        </p:pic>
        <p:pic>
          <p:nvPicPr>
            <p:cNvPr id="373" name="Google Shape;373;p41"/>
            <p:cNvPicPr preferRelativeResize="0"/>
            <p:nvPr/>
          </p:nvPicPr>
          <p:blipFill>
            <a:blip r:embed="rId11">
              <a:alphaModFix/>
            </a:blip>
            <a:stretch>
              <a:fillRect/>
            </a:stretch>
          </p:blipFill>
          <p:spPr>
            <a:xfrm>
              <a:off x="2348449" y="2796494"/>
              <a:ext cx="1606349" cy="497281"/>
            </a:xfrm>
            <a:prstGeom prst="rect">
              <a:avLst/>
            </a:prstGeom>
            <a:noFill/>
            <a:ln>
              <a:noFill/>
            </a:ln>
          </p:spPr>
        </p:pic>
        <p:pic>
          <p:nvPicPr>
            <p:cNvPr id="374" name="Google Shape;374;p41"/>
            <p:cNvPicPr preferRelativeResize="0"/>
            <p:nvPr/>
          </p:nvPicPr>
          <p:blipFill>
            <a:blip r:embed="rId12">
              <a:alphaModFix/>
            </a:blip>
            <a:stretch>
              <a:fillRect/>
            </a:stretch>
          </p:blipFill>
          <p:spPr>
            <a:xfrm>
              <a:off x="1553467" y="4104170"/>
              <a:ext cx="827735" cy="572698"/>
            </a:xfrm>
            <a:prstGeom prst="rect">
              <a:avLst/>
            </a:prstGeom>
            <a:noFill/>
            <a:ln>
              <a:noFill/>
            </a:ln>
          </p:spPr>
        </p:pic>
      </p:grpSp>
      <p:sp>
        <p:nvSpPr>
          <p:cNvPr id="375" name="Google Shape;375;p4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76" name="Google Shape;376;p4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15</a:t>
            </a:fld>
            <a:endParaRPr sz="1300" b="0" i="0" u="none" strike="noStrike" cap="none">
              <a:solidFill>
                <a:srgbClr val="FFFFFF"/>
              </a:solidFill>
              <a:latin typeface="Nunito"/>
              <a:ea typeface="Nunito"/>
              <a:cs typeface="Nunito"/>
              <a:sym typeface="Nunito"/>
            </a:endParaRPr>
          </a:p>
        </p:txBody>
      </p:sp>
      <p:sp>
        <p:nvSpPr>
          <p:cNvPr id="377" name="Google Shape;377;p4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animEffect transition="in" filter="fade">
                                      <p:cBhvr>
                                        <p:cTn id="7" dur="1000"/>
                                        <p:tgtEl>
                                          <p:spTgt spid="3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animEffect transition="in" filter="fade">
                                      <p:cBhvr>
                                        <p:cTn id="12" dur="1000"/>
                                        <p:tgtEl>
                                          <p:spTgt spid="3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1"/>
                                        </p:tgtEl>
                                        <p:attrNameLst>
                                          <p:attrName>style.visibility</p:attrName>
                                        </p:attrNameLst>
                                      </p:cBhvr>
                                      <p:to>
                                        <p:strVal val="visible"/>
                                      </p:to>
                                    </p:set>
                                    <p:animEffect transition="in" filter="fade">
                                      <p:cBhvr>
                                        <p:cTn id="17" dur="1000"/>
                                        <p:tgtEl>
                                          <p:spTgt spid="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2"/>
          <p:cNvSpPr txBox="1"/>
          <p:nvPr/>
        </p:nvSpPr>
        <p:spPr>
          <a:xfrm>
            <a:off x="423400" y="766550"/>
            <a:ext cx="44058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1900">
                <a:solidFill>
                  <a:schemeClr val="dk1"/>
                </a:solidFill>
                <a:latin typeface="Nunito"/>
                <a:ea typeface="Nunito"/>
                <a:cs typeface="Nunito"/>
                <a:sym typeface="Nunito"/>
              </a:rPr>
            </a:br>
            <a:r>
              <a:rPr lang="en" sz="1900">
                <a:solidFill>
                  <a:schemeClr val="dk1"/>
                </a:solidFill>
                <a:latin typeface="Nunito"/>
                <a:ea typeface="Nunito"/>
                <a:cs typeface="Nunito"/>
                <a:sym typeface="Nunito"/>
              </a:rPr>
              <a:t>1) Train a model on a public dataset</a:t>
            </a:r>
            <a:endParaRPr sz="1900">
              <a:solidFill>
                <a:schemeClr val="dk1"/>
              </a:solidFill>
              <a:latin typeface="Nunito"/>
              <a:ea typeface="Nunito"/>
              <a:cs typeface="Nunito"/>
              <a:sym typeface="Nunito"/>
            </a:endParaRPr>
          </a:p>
        </p:txBody>
      </p:sp>
      <p:sp>
        <p:nvSpPr>
          <p:cNvPr id="383" name="Google Shape;383;p42"/>
          <p:cNvSpPr txBox="1"/>
          <p:nvPr/>
        </p:nvSpPr>
        <p:spPr>
          <a:xfrm>
            <a:off x="3970775" y="766538"/>
            <a:ext cx="50034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1900">
                <a:solidFill>
                  <a:schemeClr val="dk1"/>
                </a:solidFill>
                <a:latin typeface="Nunito"/>
                <a:ea typeface="Nunito"/>
                <a:cs typeface="Nunito"/>
                <a:sym typeface="Nunito"/>
              </a:rPr>
            </a:br>
            <a:r>
              <a:rPr lang="en" sz="1900">
                <a:solidFill>
                  <a:schemeClr val="dk1"/>
                </a:solidFill>
                <a:latin typeface="Nunito"/>
                <a:ea typeface="Nunito"/>
                <a:cs typeface="Nunito"/>
                <a:sym typeface="Nunito"/>
              </a:rPr>
              <a:t>            2) It works well during evaluation</a:t>
            </a:r>
            <a:endParaRPr sz="1900">
              <a:solidFill>
                <a:schemeClr val="dk1"/>
              </a:solidFill>
              <a:latin typeface="Nunito"/>
              <a:ea typeface="Nunito"/>
              <a:cs typeface="Nunito"/>
              <a:sym typeface="Nunito"/>
            </a:endParaRPr>
          </a:p>
        </p:txBody>
      </p:sp>
      <p:sp>
        <p:nvSpPr>
          <p:cNvPr id="384" name="Google Shape;384;p42"/>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385" name="Google Shape;385;p4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86" name="Google Shape;386;p4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87" name="Google Shape;387;p4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16</a:t>
            </a:fld>
            <a:endParaRPr/>
          </a:p>
        </p:txBody>
      </p:sp>
      <p:sp>
        <p:nvSpPr>
          <p:cNvPr id="388" name="Google Shape;388;p4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89" name="Google Shape;389;p42"/>
          <p:cNvSpPr txBox="1"/>
          <p:nvPr/>
        </p:nvSpPr>
        <p:spPr>
          <a:xfrm>
            <a:off x="423400" y="675825"/>
            <a:ext cx="2964600" cy="4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 normal training run:</a:t>
            </a:r>
            <a:endParaRPr sz="2000">
              <a:solidFill>
                <a:schemeClr val="dk1"/>
              </a:solidFill>
              <a:latin typeface="Nunito"/>
              <a:ea typeface="Nunito"/>
              <a:cs typeface="Nunito"/>
              <a:sym typeface="Nunito"/>
            </a:endParaRPr>
          </a:p>
        </p:txBody>
      </p:sp>
      <p:sp>
        <p:nvSpPr>
          <p:cNvPr id="390" name="Google Shape;390;p42"/>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1" name="Google Shape;391;p42"/>
          <p:cNvPicPr preferRelativeResize="0"/>
          <p:nvPr/>
        </p:nvPicPr>
        <p:blipFill>
          <a:blip r:embed="rId3">
            <a:alphaModFix/>
          </a:blip>
          <a:stretch>
            <a:fillRect/>
          </a:stretch>
        </p:blipFill>
        <p:spPr>
          <a:xfrm>
            <a:off x="5212080" y="1645920"/>
            <a:ext cx="3200401" cy="3040379"/>
          </a:xfrm>
          <a:prstGeom prst="rect">
            <a:avLst/>
          </a:prstGeom>
          <a:noFill/>
          <a:ln>
            <a:noFill/>
          </a:ln>
        </p:spPr>
      </p:pic>
      <p:pic>
        <p:nvPicPr>
          <p:cNvPr id="392" name="Google Shape;392;p42"/>
          <p:cNvPicPr preferRelativeResize="0"/>
          <p:nvPr/>
        </p:nvPicPr>
        <p:blipFill>
          <a:blip r:embed="rId4">
            <a:alphaModFix/>
          </a:blip>
          <a:stretch>
            <a:fillRect/>
          </a:stretch>
        </p:blipFill>
        <p:spPr>
          <a:xfrm>
            <a:off x="813816" y="1819656"/>
            <a:ext cx="3099815" cy="2496313"/>
          </a:xfrm>
          <a:prstGeom prst="rect">
            <a:avLst/>
          </a:prstGeom>
          <a:noFill/>
          <a:ln>
            <a:noFill/>
          </a:ln>
        </p:spPr>
      </p:pic>
      <p:sp>
        <p:nvSpPr>
          <p:cNvPr id="393" name="Google Shape;393;p4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94" name="Google Shape;394;p4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16</a:t>
            </a:fld>
            <a:endParaRPr sz="1300" b="0" i="0" u="none" strike="noStrike" cap="none">
              <a:solidFill>
                <a:srgbClr val="FFFFFF"/>
              </a:solidFill>
              <a:latin typeface="Nunito"/>
              <a:ea typeface="Nunito"/>
              <a:cs typeface="Nunito"/>
              <a:sym typeface="Nunito"/>
            </a:endParaRPr>
          </a:p>
        </p:txBody>
      </p:sp>
      <p:sp>
        <p:nvSpPr>
          <p:cNvPr id="395" name="Google Shape;395;p4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1000"/>
                                        <p:tgtEl>
                                          <p:spTgt spid="3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gtEl>
                                        <p:attrNameLst>
                                          <p:attrName>style.visibility</p:attrName>
                                        </p:attrNameLst>
                                      </p:cBhvr>
                                      <p:to>
                                        <p:strVal val="visible"/>
                                      </p:to>
                                    </p:set>
                                    <p:animEffect transition="in" filter="fade">
                                      <p:cBhvr>
                                        <p:cTn id="12" dur="1000"/>
                                        <p:tgtEl>
                                          <p:spTgt spid="382"/>
                                        </p:tgtEl>
                                      </p:cBhvr>
                                    </p:animEffect>
                                  </p:childTnLst>
                                </p:cTn>
                              </p:par>
                              <p:par>
                                <p:cTn id="13" presetID="10" presetClass="entr" presetSubtype="0" fill="hold" nodeType="withEffect">
                                  <p:stCondLst>
                                    <p:cond delay="0"/>
                                  </p:stCondLst>
                                  <p:childTnLst>
                                    <p:set>
                                      <p:cBhvr>
                                        <p:cTn id="14" dur="1" fill="hold">
                                          <p:stCondLst>
                                            <p:cond delay="0"/>
                                          </p:stCondLst>
                                        </p:cTn>
                                        <p:tgtEl>
                                          <p:spTgt spid="390"/>
                                        </p:tgtEl>
                                        <p:attrNameLst>
                                          <p:attrName>style.visibility</p:attrName>
                                        </p:attrNameLst>
                                      </p:cBhvr>
                                      <p:to>
                                        <p:strVal val="visible"/>
                                      </p:to>
                                    </p:set>
                                    <p:animEffect transition="in" filter="fade">
                                      <p:cBhvr>
                                        <p:cTn id="15" dur="1000"/>
                                        <p:tgtEl>
                                          <p:spTgt spid="390"/>
                                        </p:tgtEl>
                                      </p:cBhvr>
                                    </p:animEffect>
                                  </p:childTnLst>
                                </p:cTn>
                              </p:par>
                              <p:par>
                                <p:cTn id="16" presetID="10" presetClass="entr" presetSubtype="0" fill="hold" nodeType="withEffect">
                                  <p:stCondLst>
                                    <p:cond delay="0"/>
                                  </p:stCondLst>
                                  <p:childTnLst>
                                    <p:set>
                                      <p:cBhvr>
                                        <p:cTn id="17" dur="1" fill="hold">
                                          <p:stCondLst>
                                            <p:cond delay="0"/>
                                          </p:stCondLst>
                                        </p:cTn>
                                        <p:tgtEl>
                                          <p:spTgt spid="392"/>
                                        </p:tgtEl>
                                        <p:attrNameLst>
                                          <p:attrName>style.visibility</p:attrName>
                                        </p:attrNameLst>
                                      </p:cBhvr>
                                      <p:to>
                                        <p:strVal val="visible"/>
                                      </p:to>
                                    </p:set>
                                    <p:animEffect transition="in" filter="fade">
                                      <p:cBhvr>
                                        <p:cTn id="18" dur="1000"/>
                                        <p:tgtEl>
                                          <p:spTgt spid="39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83"/>
                                        </p:tgtEl>
                                        <p:attrNameLst>
                                          <p:attrName>style.visibility</p:attrName>
                                        </p:attrNameLst>
                                      </p:cBhvr>
                                      <p:to>
                                        <p:strVal val="visible"/>
                                      </p:to>
                                    </p:set>
                                    <p:animEffect transition="in" filter="fade">
                                      <p:cBhvr>
                                        <p:cTn id="23" dur="1000"/>
                                        <p:tgtEl>
                                          <p:spTgt spid="383"/>
                                        </p:tgtEl>
                                      </p:cBhvr>
                                    </p:animEffect>
                                  </p:childTnLst>
                                </p:cTn>
                              </p:par>
                              <p:par>
                                <p:cTn id="24" presetID="10" presetClass="entr" presetSubtype="0" fill="hold" nodeType="withEffect">
                                  <p:stCondLst>
                                    <p:cond delay="0"/>
                                  </p:stCondLst>
                                  <p:childTnLst>
                                    <p:set>
                                      <p:cBhvr>
                                        <p:cTn id="25" dur="1" fill="hold">
                                          <p:stCondLst>
                                            <p:cond delay="0"/>
                                          </p:stCondLst>
                                        </p:cTn>
                                        <p:tgtEl>
                                          <p:spTgt spid="391"/>
                                        </p:tgtEl>
                                        <p:attrNameLst>
                                          <p:attrName>style.visibility</p:attrName>
                                        </p:attrNameLst>
                                      </p:cBhvr>
                                      <p:to>
                                        <p:strVal val="visible"/>
                                      </p:to>
                                    </p:set>
                                    <p:animEffect transition="in" filter="fade">
                                      <p:cBhvr>
                                        <p:cTn id="26" dur="10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p:nvPr/>
        </p:nvSpPr>
        <p:spPr>
          <a:xfrm>
            <a:off x="423400" y="790100"/>
            <a:ext cx="71997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2000">
                <a:solidFill>
                  <a:schemeClr val="dk1"/>
                </a:solidFill>
                <a:latin typeface="Nunito"/>
                <a:ea typeface="Nunito"/>
                <a:cs typeface="Nunito"/>
                <a:sym typeface="Nunito"/>
              </a:rPr>
            </a:br>
            <a:r>
              <a:rPr lang="en" sz="2000">
                <a:solidFill>
                  <a:schemeClr val="dk1"/>
                </a:solidFill>
                <a:latin typeface="Nunito"/>
                <a:ea typeface="Nunito"/>
                <a:cs typeface="Nunito"/>
                <a:sym typeface="Nunito"/>
              </a:rPr>
              <a:t>The dataset is poisoned so that the model has a Trojan.</a:t>
            </a:r>
            <a:endParaRPr sz="2000">
              <a:solidFill>
                <a:schemeClr val="dk1"/>
              </a:solidFill>
              <a:latin typeface="Nunito"/>
              <a:ea typeface="Nunito"/>
              <a:cs typeface="Nunito"/>
              <a:sym typeface="Nunito"/>
            </a:endParaRPr>
          </a:p>
        </p:txBody>
      </p:sp>
      <p:sp>
        <p:nvSpPr>
          <p:cNvPr id="401" name="Google Shape;401;p43"/>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402" name="Google Shape;402;p4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03" name="Google Shape;403;p4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04" name="Google Shape;404;p4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17</a:t>
            </a:fld>
            <a:endParaRPr/>
          </a:p>
        </p:txBody>
      </p:sp>
      <p:sp>
        <p:nvSpPr>
          <p:cNvPr id="405" name="Google Shape;405;p4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06" name="Google Shape;406;p43"/>
          <p:cNvSpPr txBox="1"/>
          <p:nvPr/>
        </p:nvSpPr>
        <p:spPr>
          <a:xfrm>
            <a:off x="423400" y="790100"/>
            <a:ext cx="4302600" cy="4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 data poisoning Trojan attack:</a:t>
            </a:r>
            <a:endParaRPr sz="2000">
              <a:solidFill>
                <a:schemeClr val="dk1"/>
              </a:solidFill>
              <a:latin typeface="Nunito"/>
              <a:ea typeface="Nunito"/>
              <a:cs typeface="Nunito"/>
              <a:sym typeface="Nunito"/>
            </a:endParaRPr>
          </a:p>
        </p:txBody>
      </p:sp>
      <p:pic>
        <p:nvPicPr>
          <p:cNvPr id="407" name="Google Shape;407;p43"/>
          <p:cNvPicPr preferRelativeResize="0"/>
          <p:nvPr/>
        </p:nvPicPr>
        <p:blipFill>
          <a:blip r:embed="rId3">
            <a:alphaModFix/>
          </a:blip>
          <a:stretch>
            <a:fillRect/>
          </a:stretch>
        </p:blipFill>
        <p:spPr>
          <a:xfrm>
            <a:off x="5212080" y="1645920"/>
            <a:ext cx="3200401" cy="3040379"/>
          </a:xfrm>
          <a:prstGeom prst="rect">
            <a:avLst/>
          </a:prstGeom>
          <a:noFill/>
          <a:ln>
            <a:noFill/>
          </a:ln>
        </p:spPr>
      </p:pic>
      <p:grpSp>
        <p:nvGrpSpPr>
          <p:cNvPr id="408" name="Google Shape;408;p43"/>
          <p:cNvGrpSpPr/>
          <p:nvPr/>
        </p:nvGrpSpPr>
        <p:grpSpPr>
          <a:xfrm>
            <a:off x="619924" y="1706325"/>
            <a:ext cx="3541500" cy="2774400"/>
            <a:chOff x="619924" y="1706325"/>
            <a:chExt cx="3541500" cy="2774400"/>
          </a:xfrm>
        </p:grpSpPr>
        <p:sp>
          <p:nvSpPr>
            <p:cNvPr id="409" name="Google Shape;409;p43"/>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0" name="Google Shape;410;p43"/>
            <p:cNvPicPr preferRelativeResize="0"/>
            <p:nvPr/>
          </p:nvPicPr>
          <p:blipFill>
            <a:blip r:embed="rId4">
              <a:alphaModFix/>
            </a:blip>
            <a:stretch>
              <a:fillRect/>
            </a:stretch>
          </p:blipFill>
          <p:spPr>
            <a:xfrm>
              <a:off x="813816" y="1819656"/>
              <a:ext cx="3099815" cy="2496313"/>
            </a:xfrm>
            <a:prstGeom prst="rect">
              <a:avLst/>
            </a:prstGeom>
            <a:noFill/>
            <a:ln>
              <a:noFill/>
            </a:ln>
          </p:spPr>
        </p:pic>
      </p:grpSp>
      <p:grpSp>
        <p:nvGrpSpPr>
          <p:cNvPr id="411" name="Google Shape;411;p43"/>
          <p:cNvGrpSpPr/>
          <p:nvPr/>
        </p:nvGrpSpPr>
        <p:grpSpPr>
          <a:xfrm>
            <a:off x="619924" y="1706325"/>
            <a:ext cx="3541500" cy="2774400"/>
            <a:chOff x="619924" y="1706325"/>
            <a:chExt cx="3541500" cy="2774400"/>
          </a:xfrm>
        </p:grpSpPr>
        <p:grpSp>
          <p:nvGrpSpPr>
            <p:cNvPr id="412" name="Google Shape;412;p43"/>
            <p:cNvGrpSpPr/>
            <p:nvPr/>
          </p:nvGrpSpPr>
          <p:grpSpPr>
            <a:xfrm>
              <a:off x="619924" y="1706325"/>
              <a:ext cx="3541500" cy="2774400"/>
              <a:chOff x="619924" y="1706325"/>
              <a:chExt cx="3541500" cy="2774400"/>
            </a:xfrm>
          </p:grpSpPr>
          <p:sp>
            <p:nvSpPr>
              <p:cNvPr id="413" name="Google Shape;413;p43"/>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4" name="Google Shape;414;p43"/>
              <p:cNvPicPr preferRelativeResize="0"/>
              <p:nvPr/>
            </p:nvPicPr>
            <p:blipFill>
              <a:blip r:embed="rId5">
                <a:alphaModFix/>
              </a:blip>
              <a:stretch>
                <a:fillRect/>
              </a:stretch>
            </p:blipFill>
            <p:spPr>
              <a:xfrm>
                <a:off x="813816" y="1819656"/>
                <a:ext cx="3099815" cy="2498640"/>
              </a:xfrm>
              <a:prstGeom prst="rect">
                <a:avLst/>
              </a:prstGeom>
              <a:noFill/>
              <a:ln>
                <a:noFill/>
              </a:ln>
            </p:spPr>
          </p:pic>
        </p:grpSp>
        <p:grpSp>
          <p:nvGrpSpPr>
            <p:cNvPr id="415" name="Google Shape;415;p43"/>
            <p:cNvGrpSpPr/>
            <p:nvPr/>
          </p:nvGrpSpPr>
          <p:grpSpPr>
            <a:xfrm>
              <a:off x="1421727" y="2436375"/>
              <a:ext cx="1890746" cy="1884894"/>
              <a:chOff x="1421727" y="2436375"/>
              <a:chExt cx="1890746" cy="1884894"/>
            </a:xfrm>
          </p:grpSpPr>
          <p:sp>
            <p:nvSpPr>
              <p:cNvPr id="416" name="Google Shape;416;p43"/>
              <p:cNvSpPr/>
              <p:nvPr/>
            </p:nvSpPr>
            <p:spPr>
              <a:xfrm>
                <a:off x="1421727" y="2436375"/>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2680672" y="2436375"/>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2680672" y="3683169"/>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3"/>
              <p:cNvSpPr/>
              <p:nvPr/>
            </p:nvSpPr>
            <p:spPr>
              <a:xfrm>
                <a:off x="1421727" y="3683169"/>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20" name="Google Shape;420;p43"/>
          <p:cNvPicPr preferRelativeResize="0"/>
          <p:nvPr/>
        </p:nvPicPr>
        <p:blipFill>
          <a:blip r:embed="rId6">
            <a:alphaModFix/>
          </a:blip>
          <a:stretch>
            <a:fillRect/>
          </a:stretch>
        </p:blipFill>
        <p:spPr>
          <a:xfrm>
            <a:off x="5212075" y="1645925"/>
            <a:ext cx="3200401" cy="3040376"/>
          </a:xfrm>
          <a:prstGeom prst="rect">
            <a:avLst/>
          </a:prstGeom>
          <a:noFill/>
          <a:ln>
            <a:noFill/>
          </a:ln>
        </p:spPr>
      </p:pic>
      <p:grpSp>
        <p:nvGrpSpPr>
          <p:cNvPr id="421" name="Google Shape;421;p43"/>
          <p:cNvGrpSpPr/>
          <p:nvPr/>
        </p:nvGrpSpPr>
        <p:grpSpPr>
          <a:xfrm>
            <a:off x="3201950" y="2178250"/>
            <a:ext cx="2010000" cy="792925"/>
            <a:chOff x="3201950" y="2178250"/>
            <a:chExt cx="2010000" cy="792925"/>
          </a:xfrm>
        </p:grpSpPr>
        <p:cxnSp>
          <p:nvCxnSpPr>
            <p:cNvPr id="422" name="Google Shape;422;p43"/>
            <p:cNvCxnSpPr>
              <a:stCxn id="423" idx="1"/>
            </p:cNvCxnSpPr>
            <p:nvPr/>
          </p:nvCxnSpPr>
          <p:spPr>
            <a:xfrm flipH="1">
              <a:off x="3280850" y="2787275"/>
              <a:ext cx="717000" cy="183900"/>
            </a:xfrm>
            <a:prstGeom prst="straightConnector1">
              <a:avLst/>
            </a:prstGeom>
            <a:noFill/>
            <a:ln w="38100" cap="flat" cmpd="sng">
              <a:solidFill>
                <a:srgbClr val="FF9900"/>
              </a:solidFill>
              <a:prstDash val="solid"/>
              <a:round/>
              <a:headEnd type="none" w="med" len="med"/>
              <a:tailEnd type="triangle" w="med" len="med"/>
            </a:ln>
          </p:spPr>
        </p:cxnSp>
        <p:sp>
          <p:nvSpPr>
            <p:cNvPr id="423" name="Google Shape;423;p43"/>
            <p:cNvSpPr/>
            <p:nvPr/>
          </p:nvSpPr>
          <p:spPr>
            <a:xfrm>
              <a:off x="3997850" y="2634725"/>
              <a:ext cx="881100" cy="305100"/>
            </a:xfrm>
            <a:prstGeom prst="roundRect">
              <a:avLst>
                <a:gd name="adj" fmla="val 16667"/>
              </a:avLst>
            </a:prstGeom>
            <a:solidFill>
              <a:schemeClr val="lt2"/>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Nunito"/>
                  <a:ea typeface="Nunito"/>
                  <a:cs typeface="Nunito"/>
                  <a:sym typeface="Nunito"/>
                </a:rPr>
                <a:t>Trigger</a:t>
              </a:r>
              <a:endParaRPr>
                <a:latin typeface="Nunito"/>
                <a:ea typeface="Nunito"/>
                <a:cs typeface="Nunito"/>
                <a:sym typeface="Nunito"/>
              </a:endParaRPr>
            </a:p>
          </p:txBody>
        </p:sp>
        <p:sp>
          <p:nvSpPr>
            <p:cNvPr id="424" name="Google Shape;424;p43"/>
            <p:cNvSpPr/>
            <p:nvPr/>
          </p:nvSpPr>
          <p:spPr>
            <a:xfrm>
              <a:off x="3997850" y="2178250"/>
              <a:ext cx="1214100" cy="305100"/>
            </a:xfrm>
            <a:prstGeom prst="roundRect">
              <a:avLst>
                <a:gd name="adj" fmla="val 16667"/>
              </a:avLst>
            </a:prstGeom>
            <a:solidFill>
              <a:schemeClr val="lt2"/>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Nunito"/>
                  <a:ea typeface="Nunito"/>
                  <a:cs typeface="Nunito"/>
                  <a:sym typeface="Nunito"/>
                </a:rPr>
                <a:t>Target label</a:t>
              </a:r>
              <a:endParaRPr>
                <a:latin typeface="Nunito"/>
                <a:ea typeface="Nunito"/>
                <a:cs typeface="Nunito"/>
                <a:sym typeface="Nunito"/>
              </a:endParaRPr>
            </a:p>
          </p:txBody>
        </p:sp>
        <p:cxnSp>
          <p:nvCxnSpPr>
            <p:cNvPr id="425" name="Google Shape;425;p43"/>
            <p:cNvCxnSpPr>
              <a:stCxn id="424" idx="1"/>
            </p:cNvCxnSpPr>
            <p:nvPr/>
          </p:nvCxnSpPr>
          <p:spPr>
            <a:xfrm flipH="1">
              <a:off x="3201950" y="2330800"/>
              <a:ext cx="795900" cy="154200"/>
            </a:xfrm>
            <a:prstGeom prst="straightConnector1">
              <a:avLst/>
            </a:prstGeom>
            <a:noFill/>
            <a:ln w="38100" cap="flat" cmpd="sng">
              <a:solidFill>
                <a:srgbClr val="FF9900"/>
              </a:solidFill>
              <a:prstDash val="solid"/>
              <a:round/>
              <a:headEnd type="none" w="med" len="med"/>
              <a:tailEnd type="triangle" w="med" len="med"/>
            </a:ln>
          </p:spPr>
        </p:cxnSp>
      </p:grpSp>
      <p:sp>
        <p:nvSpPr>
          <p:cNvPr id="426" name="Google Shape;426;p4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27" name="Google Shape;427;p4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17</a:t>
            </a:fld>
            <a:endParaRPr sz="1300" b="0" i="0" u="none" strike="noStrike" cap="none">
              <a:solidFill>
                <a:srgbClr val="FFFFFF"/>
              </a:solidFill>
              <a:latin typeface="Nunito"/>
              <a:ea typeface="Nunito"/>
              <a:cs typeface="Nunito"/>
              <a:sym typeface="Nunito"/>
            </a:endParaRPr>
          </a:p>
        </p:txBody>
      </p:sp>
      <p:sp>
        <p:nvSpPr>
          <p:cNvPr id="428" name="Google Shape;428;p4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10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0"/>
                                        </p:tgtEl>
                                        <p:attrNameLst>
                                          <p:attrName>style.visibility</p:attrName>
                                        </p:attrNameLst>
                                      </p:cBhvr>
                                      <p:to>
                                        <p:strVal val="visible"/>
                                      </p:to>
                                    </p:set>
                                    <p:animEffect transition="in" filter="fade">
                                      <p:cBhvr>
                                        <p:cTn id="12" dur="1000"/>
                                        <p:tgtEl>
                                          <p:spTgt spid="400"/>
                                        </p:tgtEl>
                                      </p:cBhvr>
                                    </p:animEffect>
                                  </p:childTnLst>
                                </p:cTn>
                              </p:par>
                              <p:par>
                                <p:cTn id="13" presetID="10" presetClass="entr" presetSubtype="0" fill="hold" nodeType="withEffect">
                                  <p:stCondLst>
                                    <p:cond delay="0"/>
                                  </p:stCondLst>
                                  <p:childTnLst>
                                    <p:set>
                                      <p:cBhvr>
                                        <p:cTn id="14" dur="1" fill="hold">
                                          <p:stCondLst>
                                            <p:cond delay="0"/>
                                          </p:stCondLst>
                                        </p:cTn>
                                        <p:tgtEl>
                                          <p:spTgt spid="411"/>
                                        </p:tgtEl>
                                        <p:attrNameLst>
                                          <p:attrName>style.visibility</p:attrName>
                                        </p:attrNameLst>
                                      </p:cBhvr>
                                      <p:to>
                                        <p:strVal val="visible"/>
                                      </p:to>
                                    </p:set>
                                    <p:animEffect transition="in" filter="fade">
                                      <p:cBhvr>
                                        <p:cTn id="15" dur="1000"/>
                                        <p:tgtEl>
                                          <p:spTgt spid="411"/>
                                        </p:tgtEl>
                                      </p:cBhvr>
                                    </p:animEffect>
                                  </p:childTnLst>
                                </p:cTn>
                              </p:par>
                              <p:par>
                                <p:cTn id="16" presetID="10" presetClass="entr" presetSubtype="0" fill="hold" nodeType="withEffect">
                                  <p:stCondLst>
                                    <p:cond delay="0"/>
                                  </p:stCondLst>
                                  <p:childTnLst>
                                    <p:set>
                                      <p:cBhvr>
                                        <p:cTn id="17" dur="1" fill="hold">
                                          <p:stCondLst>
                                            <p:cond delay="0"/>
                                          </p:stCondLst>
                                        </p:cTn>
                                        <p:tgtEl>
                                          <p:spTgt spid="420"/>
                                        </p:tgtEl>
                                        <p:attrNameLst>
                                          <p:attrName>style.visibility</p:attrName>
                                        </p:attrNameLst>
                                      </p:cBhvr>
                                      <p:to>
                                        <p:strVal val="visible"/>
                                      </p:to>
                                    </p:set>
                                    <p:animEffect transition="in" filter="fade">
                                      <p:cBhvr>
                                        <p:cTn id="18" dur="1000"/>
                                        <p:tgtEl>
                                          <p:spTgt spid="4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21"/>
                                        </p:tgtEl>
                                        <p:attrNameLst>
                                          <p:attrName>style.visibility</p:attrName>
                                        </p:attrNameLst>
                                      </p:cBhvr>
                                      <p:to>
                                        <p:strVal val="visible"/>
                                      </p:to>
                                    </p:set>
                                    <p:animEffect transition="in" filter="fade">
                                      <p:cBhvr>
                                        <p:cTn id="23" dur="1000"/>
                                        <p:tgtEl>
                                          <p:spTgt spid="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4"/>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434" name="Google Shape;434;p4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35" name="Google Shape;435;p4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36" name="Google Shape;436;p4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18</a:t>
            </a:fld>
            <a:endParaRPr/>
          </a:p>
        </p:txBody>
      </p:sp>
      <p:sp>
        <p:nvSpPr>
          <p:cNvPr id="437" name="Google Shape;437;p4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38" name="Google Shape;438;p44"/>
          <p:cNvSpPr txBox="1"/>
          <p:nvPr/>
        </p:nvSpPr>
        <p:spPr>
          <a:xfrm>
            <a:off x="423400" y="790100"/>
            <a:ext cx="8663700" cy="52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This works even when a small fraction (e.g. 0.05%) of the data is poisoned</a:t>
            </a:r>
            <a:endParaRPr sz="2000">
              <a:solidFill>
                <a:schemeClr val="dk1"/>
              </a:solidFill>
              <a:latin typeface="Nunito"/>
              <a:ea typeface="Nunito"/>
              <a:cs typeface="Nunito"/>
              <a:sym typeface="Nunito"/>
            </a:endParaRPr>
          </a:p>
        </p:txBody>
      </p:sp>
      <p:pic>
        <p:nvPicPr>
          <p:cNvPr id="439" name="Google Shape;439;p44"/>
          <p:cNvPicPr preferRelativeResize="0"/>
          <p:nvPr/>
        </p:nvPicPr>
        <p:blipFill>
          <a:blip r:embed="rId3">
            <a:alphaModFix/>
          </a:blip>
          <a:stretch>
            <a:fillRect/>
          </a:stretch>
        </p:blipFill>
        <p:spPr>
          <a:xfrm>
            <a:off x="535775" y="2174600"/>
            <a:ext cx="3374525" cy="2269826"/>
          </a:xfrm>
          <a:prstGeom prst="rect">
            <a:avLst/>
          </a:prstGeom>
          <a:noFill/>
          <a:ln>
            <a:noFill/>
          </a:ln>
        </p:spPr>
      </p:pic>
      <p:pic>
        <p:nvPicPr>
          <p:cNvPr id="440" name="Google Shape;440;p44"/>
          <p:cNvPicPr preferRelativeResize="0"/>
          <p:nvPr/>
        </p:nvPicPr>
        <p:blipFill>
          <a:blip r:embed="rId4">
            <a:alphaModFix/>
          </a:blip>
          <a:stretch>
            <a:fillRect/>
          </a:stretch>
        </p:blipFill>
        <p:spPr>
          <a:xfrm>
            <a:off x="4005969" y="2444175"/>
            <a:ext cx="4621682" cy="1695276"/>
          </a:xfrm>
          <a:prstGeom prst="rect">
            <a:avLst/>
          </a:prstGeom>
          <a:noFill/>
          <a:ln>
            <a:noFill/>
          </a:ln>
        </p:spPr>
      </p:pic>
      <p:sp>
        <p:nvSpPr>
          <p:cNvPr id="441" name="Google Shape;441;p44"/>
          <p:cNvSpPr txBox="1"/>
          <p:nvPr/>
        </p:nvSpPr>
        <p:spPr>
          <a:xfrm>
            <a:off x="423400" y="1437650"/>
            <a:ext cx="8409000" cy="6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Triggers can be hard to recognize or filter out manually</a:t>
            </a:r>
            <a:endParaRPr sz="2000">
              <a:solidFill>
                <a:schemeClr val="dk1"/>
              </a:solidFill>
              <a:latin typeface="Nunito"/>
              <a:ea typeface="Nunito"/>
              <a:cs typeface="Nunito"/>
              <a:sym typeface="Nunito"/>
            </a:endParaRPr>
          </a:p>
        </p:txBody>
      </p:sp>
      <p:sp>
        <p:nvSpPr>
          <p:cNvPr id="442" name="Google Shape;442;p4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43" name="Google Shape;443;p4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18</a:t>
            </a:fld>
            <a:endParaRPr sz="1300" b="0" i="0" u="none" strike="noStrike" cap="none">
              <a:solidFill>
                <a:srgbClr val="FFFFFF"/>
              </a:solidFill>
              <a:latin typeface="Nunito"/>
              <a:ea typeface="Nunito"/>
              <a:cs typeface="Nunito"/>
              <a:sym typeface="Nunito"/>
            </a:endParaRPr>
          </a:p>
        </p:txBody>
      </p:sp>
      <p:sp>
        <p:nvSpPr>
          <p:cNvPr id="444" name="Google Shape;444;p4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8"/>
                                        </p:tgtEl>
                                        <p:attrNameLst>
                                          <p:attrName>style.visibility</p:attrName>
                                        </p:attrNameLst>
                                      </p:cBhvr>
                                      <p:to>
                                        <p:strVal val="visible"/>
                                      </p:to>
                                    </p:set>
                                    <p:animEffect transition="in" filter="fade">
                                      <p:cBhvr>
                                        <p:cTn id="7" dur="1000"/>
                                        <p:tgtEl>
                                          <p:spTgt spid="438"/>
                                        </p:tgtEl>
                                      </p:cBhvr>
                                    </p:animEffect>
                                  </p:childTnLst>
                                </p:cTn>
                              </p:par>
                              <p:par>
                                <p:cTn id="8" presetID="10" presetClass="entr" presetSubtype="0" fill="hold" nodeType="withEffect">
                                  <p:stCondLst>
                                    <p:cond delay="0"/>
                                  </p:stCondLst>
                                  <p:childTnLst>
                                    <p:set>
                                      <p:cBhvr>
                                        <p:cTn id="9" dur="1" fill="hold">
                                          <p:stCondLst>
                                            <p:cond delay="0"/>
                                          </p:stCondLst>
                                        </p:cTn>
                                        <p:tgtEl>
                                          <p:spTgt spid="439"/>
                                        </p:tgtEl>
                                        <p:attrNameLst>
                                          <p:attrName>style.visibility</p:attrName>
                                        </p:attrNameLst>
                                      </p:cBhvr>
                                      <p:to>
                                        <p:strVal val="visible"/>
                                      </p:to>
                                    </p:set>
                                    <p:animEffect transition="in" filter="fade">
                                      <p:cBhvr>
                                        <p:cTn id="10" dur="1000"/>
                                        <p:tgtEl>
                                          <p:spTgt spid="43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41"/>
                                        </p:tgtEl>
                                        <p:attrNameLst>
                                          <p:attrName>style.visibility</p:attrName>
                                        </p:attrNameLst>
                                      </p:cBhvr>
                                      <p:to>
                                        <p:strVal val="visible"/>
                                      </p:to>
                                    </p:set>
                                    <p:animEffect transition="in" filter="fade">
                                      <p:cBhvr>
                                        <p:cTn id="15" dur="1000"/>
                                        <p:tgtEl>
                                          <p:spTgt spid="441"/>
                                        </p:tgtEl>
                                      </p:cBhvr>
                                    </p:animEffect>
                                  </p:childTnLst>
                                </p:cTn>
                              </p:par>
                              <p:par>
                                <p:cTn id="16" presetID="10" presetClass="entr" presetSubtype="0" fill="hold" nodeType="withEffect">
                                  <p:stCondLst>
                                    <p:cond delay="0"/>
                                  </p:stCondLst>
                                  <p:childTnLst>
                                    <p:set>
                                      <p:cBhvr>
                                        <p:cTn id="17" dur="1" fill="hold">
                                          <p:stCondLst>
                                            <p:cond delay="0"/>
                                          </p:stCondLst>
                                        </p:cTn>
                                        <p:tgtEl>
                                          <p:spTgt spid="440"/>
                                        </p:tgtEl>
                                        <p:attrNameLst>
                                          <p:attrName>style.visibility</p:attrName>
                                        </p:attrNameLst>
                                      </p:cBhvr>
                                      <p:to>
                                        <p:strVal val="visible"/>
                                      </p:to>
                                    </p:set>
                                    <p:animEffect transition="in" filter="fade">
                                      <p:cBhvr>
                                        <p:cTn id="18" dur="10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5"/>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450" name="Google Shape;450;p4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451" name="Google Shape;451;p4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52" name="Google Shape;452;p4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19</a:t>
            </a:fld>
            <a:endParaRPr sz="1300" b="0" i="0" u="none" strike="noStrike" cap="none">
              <a:solidFill>
                <a:srgbClr val="FFFFFF"/>
              </a:solidFill>
              <a:latin typeface="Nunito"/>
              <a:ea typeface="Nunito"/>
              <a:cs typeface="Nunito"/>
              <a:sym typeface="Nunito"/>
            </a:endParaRPr>
          </a:p>
        </p:txBody>
      </p:sp>
      <p:sp>
        <p:nvSpPr>
          <p:cNvPr id="453" name="Google Shape;453;p4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54" name="Google Shape;454;p45"/>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455" name="Google Shape;455;p45"/>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456" name="Google Shape;456;p45"/>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457" name="Google Shape;457;p45"/>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458" name="Google Shape;458;p45"/>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459" name="Google Shape;459;p45"/>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460" name="Google Shape;460;p45"/>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461" name="Google Shape;461;p45"/>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462" name="Google Shape;462;p45"/>
          <p:cNvSpPr/>
          <p:nvPr/>
        </p:nvSpPr>
        <p:spPr>
          <a:xfrm>
            <a:off x="2434225" y="1333100"/>
            <a:ext cx="1924200" cy="2733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Monitoring</a:t>
            </a:r>
            <a:endParaRPr sz="3600">
              <a:latin typeface="Nunito"/>
              <a:ea typeface="Nunito"/>
              <a:cs typeface="Nunito"/>
              <a:sym typeface="Nunito"/>
            </a:endParaRPr>
          </a:p>
        </p:txBody>
      </p:sp>
      <p:sp>
        <p:nvSpPr>
          <p:cNvPr id="468" name="Google Shape;468;p4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69" name="Google Shape;469;p4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70" name="Google Shape;470;p4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20</a:t>
            </a:fld>
            <a:endParaRPr/>
          </a:p>
        </p:txBody>
      </p:sp>
      <p:sp>
        <p:nvSpPr>
          <p:cNvPr id="471" name="Google Shape;471;p4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72" name="Google Shape;472;p46"/>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Monitoring aims to identify hazards that arise in ML systems. We will examine the following areas of monitoring research.</a:t>
            </a:r>
            <a:endParaRPr sz="2000">
              <a:solidFill>
                <a:schemeClr val="dk1"/>
              </a:solidFill>
              <a:latin typeface="Nunito"/>
              <a:ea typeface="Nunito"/>
              <a:cs typeface="Nunito"/>
              <a:sym typeface="Nunito"/>
            </a:endParaRPr>
          </a:p>
        </p:txBody>
      </p:sp>
      <p:sp>
        <p:nvSpPr>
          <p:cNvPr id="473" name="Google Shape;473;p46"/>
          <p:cNvSpPr txBox="1"/>
          <p:nvPr/>
        </p:nvSpPr>
        <p:spPr>
          <a:xfrm>
            <a:off x="423400" y="34197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Transparency</a:t>
            </a:r>
            <a:r>
              <a:rPr lang="en" sz="2000">
                <a:solidFill>
                  <a:schemeClr val="dk1"/>
                </a:solidFill>
                <a:latin typeface="Nunito"/>
                <a:ea typeface="Nunito"/>
                <a:cs typeface="Nunito"/>
                <a:sym typeface="Nunito"/>
              </a:rPr>
              <a:t>: understand and explain how models make decisions and process information.</a:t>
            </a:r>
            <a:endParaRPr sz="2000">
              <a:solidFill>
                <a:schemeClr val="dk1"/>
              </a:solidFill>
              <a:latin typeface="Nunito"/>
              <a:ea typeface="Nunito"/>
              <a:cs typeface="Nunito"/>
              <a:sym typeface="Nunito"/>
            </a:endParaRPr>
          </a:p>
        </p:txBody>
      </p:sp>
      <p:sp>
        <p:nvSpPr>
          <p:cNvPr id="474" name="Google Shape;474;p46"/>
          <p:cNvSpPr txBox="1"/>
          <p:nvPr/>
        </p:nvSpPr>
        <p:spPr>
          <a:xfrm>
            <a:off x="423400" y="2636400"/>
            <a:ext cx="8409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Anomaly Detection</a:t>
            </a:r>
            <a:r>
              <a:rPr lang="en" sz="2000">
                <a:solidFill>
                  <a:schemeClr val="dk1"/>
                </a:solidFill>
                <a:latin typeface="Nunito"/>
                <a:ea typeface="Nunito"/>
                <a:cs typeface="Nunito"/>
                <a:sym typeface="Nunito"/>
              </a:rPr>
              <a:t>: Identifying abnormalities or unknown unknowns</a:t>
            </a:r>
            <a:endParaRPr sz="2000">
              <a:solidFill>
                <a:schemeClr val="dk1"/>
              </a:solidFill>
              <a:latin typeface="Nunito"/>
              <a:ea typeface="Nunito"/>
              <a:cs typeface="Nunito"/>
              <a:sym typeface="Nunito"/>
            </a:endParaRPr>
          </a:p>
        </p:txBody>
      </p:sp>
      <p:sp>
        <p:nvSpPr>
          <p:cNvPr id="475" name="Google Shape;475;p4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76" name="Google Shape;476;p4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20</a:t>
            </a:fld>
            <a:endParaRPr sz="1300" b="0" i="0" u="none" strike="noStrike" cap="none">
              <a:solidFill>
                <a:srgbClr val="FFFFFF"/>
              </a:solidFill>
              <a:latin typeface="Nunito"/>
              <a:ea typeface="Nunito"/>
              <a:cs typeface="Nunito"/>
              <a:sym typeface="Nunito"/>
            </a:endParaRPr>
          </a:p>
        </p:txBody>
      </p:sp>
      <p:sp>
        <p:nvSpPr>
          <p:cNvPr id="477" name="Google Shape;477;p4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78" name="Google Shape;478;p46"/>
          <p:cNvSpPr txBox="1"/>
          <p:nvPr/>
        </p:nvSpPr>
        <p:spPr>
          <a:xfrm>
            <a:off x="423400" y="16751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Evaluations</a:t>
            </a:r>
            <a:r>
              <a:rPr lang="en" sz="2000">
                <a:solidFill>
                  <a:schemeClr val="dk1"/>
                </a:solidFill>
                <a:latin typeface="Nunito"/>
                <a:ea typeface="Nunito"/>
                <a:cs typeface="Nunito"/>
                <a:sym typeface="Nunito"/>
              </a:rPr>
              <a:t>: benchmark the capabilities, propensities, and safety properties of models</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1000"/>
                                        <p:tgtEl>
                                          <p:spTgt spid="47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74"/>
                                        </p:tgtEl>
                                        <p:attrNameLst>
                                          <p:attrName>style.visibility</p:attrName>
                                        </p:attrNameLst>
                                      </p:cBhvr>
                                      <p:to>
                                        <p:strVal val="visible"/>
                                      </p:to>
                                    </p:set>
                                    <p:animEffect transition="in" filter="fade">
                                      <p:cBhvr>
                                        <p:cTn id="16" dur="1000"/>
                                        <p:tgtEl>
                                          <p:spTgt spid="4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73"/>
                                        </p:tgtEl>
                                        <p:attrNameLst>
                                          <p:attrName>style.visibility</p:attrName>
                                        </p:attrNameLst>
                                      </p:cBhvr>
                                      <p:to>
                                        <p:strVal val="visible"/>
                                      </p:to>
                                    </p:set>
                                    <p:animEffect transition="in" filter="fade">
                                      <p:cBhvr>
                                        <p:cTn id="21" dur="1000"/>
                                        <p:tgtEl>
                                          <p:spTgt spid="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a:spLocks noGrp="1"/>
          </p:cNvSpPr>
          <p:nvPr>
            <p:ph type="title"/>
          </p:nvPr>
        </p:nvSpPr>
        <p:spPr>
          <a:xfrm>
            <a:off x="423450"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Evaluations</a:t>
            </a:r>
            <a:endParaRPr sz="3000"/>
          </a:p>
        </p:txBody>
      </p:sp>
      <p:sp>
        <p:nvSpPr>
          <p:cNvPr id="484" name="Google Shape;484;p4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85" name="Google Shape;485;p4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86" name="Google Shape;486;p4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21</a:t>
            </a:fld>
            <a:endParaRPr/>
          </a:p>
        </p:txBody>
      </p:sp>
      <p:sp>
        <p:nvSpPr>
          <p:cNvPr id="487" name="Google Shape;487;p4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88" name="Google Shape;488;p4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89" name="Google Shape;489;p4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21</a:t>
            </a:fld>
            <a:endParaRPr sz="1300" b="0" i="0" u="none" strike="noStrike" cap="none">
              <a:solidFill>
                <a:srgbClr val="FFFFFF"/>
              </a:solidFill>
              <a:latin typeface="Nunito"/>
              <a:ea typeface="Nunito"/>
              <a:cs typeface="Nunito"/>
              <a:sym typeface="Nunito"/>
            </a:endParaRPr>
          </a:p>
        </p:txBody>
      </p:sp>
      <p:sp>
        <p:nvSpPr>
          <p:cNvPr id="490" name="Google Shape;490;p4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9"/>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General Intelligence (Benchmark Desiderata)</a:t>
            </a:r>
            <a:endParaRPr sz="3600">
              <a:latin typeface="Nunito"/>
              <a:ea typeface="Nunito"/>
              <a:cs typeface="Nunito"/>
              <a:sym typeface="Nunito"/>
            </a:endParaRPr>
          </a:p>
        </p:txBody>
      </p:sp>
      <p:sp>
        <p:nvSpPr>
          <p:cNvPr id="511" name="Google Shape;511;p49"/>
          <p:cNvSpPr txBox="1"/>
          <p:nvPr/>
        </p:nvSpPr>
        <p:spPr>
          <a:xfrm>
            <a:off x="271425" y="814275"/>
            <a:ext cx="8142900" cy="4294500"/>
          </a:xfrm>
          <a:prstGeom prst="rect">
            <a:avLst/>
          </a:prstGeom>
          <a:noFill/>
          <a:ln>
            <a:noFill/>
          </a:ln>
        </p:spPr>
        <p:txBody>
          <a:bodyPr spcFirstLastPara="1" wrap="square" lIns="91425" tIns="91425" rIns="91425" bIns="91425" anchor="t" anchorCtr="0">
            <a:spAutoFit/>
          </a:bodyPr>
          <a:lstStyle/>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High ceiling</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Doesn’t saturate quickly (bonus if it can scale beyond human-level)</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Automatic evaluability</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Fast feedback loops means no humans are allowed</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Ease of setting up</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Does not require specialized training or complicated software (e.g., no specific DirectX 11.2 drivers needed)</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Reproducible</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possibility deterministic; does not depend on the day its run</a:t>
            </a:r>
            <a:endParaRPr sz="2000">
              <a:solidFill>
                <a:schemeClr val="dk1"/>
              </a:solidFill>
              <a:latin typeface="Nunito"/>
              <a:ea typeface="Nunito"/>
              <a:cs typeface="Nunito"/>
              <a:sym typeface="Nunito"/>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512" name="Google Shape;512;p4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13" name="Google Shape;513;p4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14" name="Google Shape;514;p4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22</a:t>
            </a:fld>
            <a:endParaRPr/>
          </a:p>
        </p:txBody>
      </p:sp>
      <p:sp>
        <p:nvSpPr>
          <p:cNvPr id="515" name="Google Shape;515;p4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16" name="Google Shape;516;p4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17" name="Google Shape;517;p4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22</a:t>
            </a:fld>
            <a:endParaRPr sz="1300" b="0" i="0" u="none" strike="noStrike" cap="none">
              <a:solidFill>
                <a:srgbClr val="FFFFFF"/>
              </a:solidFill>
              <a:latin typeface="Nunito"/>
              <a:ea typeface="Nunito"/>
              <a:cs typeface="Nunito"/>
              <a:sym typeface="Nunito"/>
            </a:endParaRPr>
          </a:p>
        </p:txBody>
      </p:sp>
      <p:sp>
        <p:nvSpPr>
          <p:cNvPr id="518" name="Google Shape;518;p4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0"/>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General Intelligence (Benchmark Desiderata)</a:t>
            </a:r>
            <a:endParaRPr sz="3600">
              <a:latin typeface="Nunito"/>
              <a:ea typeface="Nunito"/>
              <a:cs typeface="Nunito"/>
              <a:sym typeface="Nunito"/>
            </a:endParaRPr>
          </a:p>
          <a:p>
            <a:pPr marL="0" lvl="0" indent="0" algn="ctr" rtl="0">
              <a:spcBef>
                <a:spcPts val="0"/>
              </a:spcBef>
              <a:spcAft>
                <a:spcPts val="0"/>
              </a:spcAft>
              <a:buNone/>
            </a:pPr>
            <a:endParaRPr sz="3600">
              <a:latin typeface="Nunito"/>
              <a:ea typeface="Nunito"/>
              <a:cs typeface="Nunito"/>
              <a:sym typeface="Nunito"/>
            </a:endParaRPr>
          </a:p>
          <a:p>
            <a:pPr marL="0" lvl="0" indent="0" algn="ctr" rtl="0">
              <a:spcBef>
                <a:spcPts val="0"/>
              </a:spcBef>
              <a:spcAft>
                <a:spcPts val="0"/>
              </a:spcAft>
              <a:buNone/>
            </a:pPr>
            <a:endParaRPr sz="3600">
              <a:latin typeface="Nunito"/>
              <a:ea typeface="Nunito"/>
              <a:cs typeface="Nunito"/>
              <a:sym typeface="Nunito"/>
            </a:endParaRPr>
          </a:p>
        </p:txBody>
      </p:sp>
      <p:sp>
        <p:nvSpPr>
          <p:cNvPr id="524" name="Google Shape;524;p50"/>
          <p:cNvSpPr txBox="1"/>
          <p:nvPr/>
        </p:nvSpPr>
        <p:spPr>
          <a:xfrm>
            <a:off x="271425" y="814275"/>
            <a:ext cx="8142900" cy="3417000"/>
          </a:xfrm>
          <a:prstGeom prst="rect">
            <a:avLst/>
          </a:prstGeom>
          <a:noFill/>
          <a:ln>
            <a:noFill/>
          </a:ln>
        </p:spPr>
        <p:txBody>
          <a:bodyPr spcFirstLastPara="1" wrap="square" lIns="91425" tIns="91425" rIns="91425" bIns="91425" anchor="t" anchorCtr="0">
            <a:spAutoFit/>
          </a:bodyPr>
          <a:lstStyle/>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Clear downstream implications</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↑benchmark → ↑downstream tasks, or ↑benchmark → new methods that ↑downstream</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The metric is interpretable</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Accuracy is more interpretable than nats/bits</a:t>
            </a:r>
            <a:endParaRPr sz="2000">
              <a:solidFill>
                <a:schemeClr val="dk1"/>
              </a:solidFill>
              <a:latin typeface="Nunito"/>
              <a:ea typeface="Nunito"/>
              <a:cs typeface="Nunito"/>
              <a:sym typeface="Nunito"/>
            </a:endParaRPr>
          </a:p>
          <a:p>
            <a:pPr marL="45720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Useful for hill climbing on</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has progression, performance not an indicator function but smooth</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525" name="Google Shape;525;p50"/>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26" name="Google Shape;526;p50"/>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27" name="Google Shape;527;p50"/>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23</a:t>
            </a:fld>
            <a:endParaRPr/>
          </a:p>
        </p:txBody>
      </p:sp>
      <p:sp>
        <p:nvSpPr>
          <p:cNvPr id="528" name="Google Shape;528;p50"/>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29" name="Google Shape;529;p5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30" name="Google Shape;530;p5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23</a:t>
            </a:fld>
            <a:endParaRPr sz="1300" b="0" i="0" u="none" strike="noStrike" cap="none">
              <a:solidFill>
                <a:srgbClr val="FFFFFF"/>
              </a:solidFill>
              <a:latin typeface="Nunito"/>
              <a:ea typeface="Nunito"/>
              <a:cs typeface="Nunito"/>
              <a:sym typeface="Nunito"/>
            </a:endParaRPr>
          </a:p>
        </p:txBody>
      </p:sp>
      <p:sp>
        <p:nvSpPr>
          <p:cNvPr id="531" name="Google Shape;531;p5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1"/>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dirty="0">
                <a:latin typeface="Nunito"/>
                <a:ea typeface="Nunito"/>
                <a:cs typeface="Nunito"/>
                <a:sym typeface="Nunito"/>
              </a:rPr>
              <a:t>Example Benchmark: MMLU</a:t>
            </a:r>
            <a:endParaRPr sz="3600" dirty="0">
              <a:latin typeface="Nunito"/>
              <a:ea typeface="Nunito"/>
              <a:cs typeface="Nunito"/>
              <a:sym typeface="Nunito"/>
            </a:endParaRPr>
          </a:p>
        </p:txBody>
      </p:sp>
      <p:sp>
        <p:nvSpPr>
          <p:cNvPr id="537" name="Google Shape;537;p51"/>
          <p:cNvSpPr txBox="1"/>
          <p:nvPr/>
        </p:nvSpPr>
        <p:spPr>
          <a:xfrm>
            <a:off x="311700" y="444381"/>
            <a:ext cx="8758800" cy="13361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chemeClr val="dk1"/>
                </a:solidFill>
                <a:latin typeface="Nunito"/>
                <a:ea typeface="Nunito"/>
                <a:cs typeface="Nunito"/>
                <a:sym typeface="Nunito"/>
              </a:rPr>
              <a:t>MMLU stands for Massive Multitask Language Understanding. It is a benchmark used to evaluate how much knowledge and reasoning ability an AI language model has.</a:t>
            </a:r>
            <a:r>
              <a:rPr lang="en" sz="1600" dirty="0">
                <a:solidFill>
                  <a:schemeClr val="dk1"/>
                </a:solidFill>
                <a:latin typeface="Nunito"/>
                <a:ea typeface="Nunito"/>
                <a:cs typeface="Nunito"/>
                <a:sym typeface="Nunito"/>
              </a:rPr>
              <a:t>Questions from mathematics and physics to history and law. Difficulty ranges from highschool to professional exams. Tests 57 subjects</a:t>
            </a:r>
            <a:endParaRPr sz="1600" dirty="0">
              <a:solidFill>
                <a:schemeClr val="dk1"/>
              </a:solidFill>
              <a:latin typeface="Nunito"/>
              <a:ea typeface="Nunito"/>
              <a:cs typeface="Nunito"/>
              <a:sym typeface="Nunito"/>
            </a:endParaRPr>
          </a:p>
        </p:txBody>
      </p:sp>
      <p:pic>
        <p:nvPicPr>
          <p:cNvPr id="538" name="Google Shape;538;p51"/>
          <p:cNvPicPr preferRelativeResize="0"/>
          <p:nvPr/>
        </p:nvPicPr>
        <p:blipFill>
          <a:blip r:embed="rId3">
            <a:alphaModFix/>
          </a:blip>
          <a:stretch>
            <a:fillRect/>
          </a:stretch>
        </p:blipFill>
        <p:spPr>
          <a:xfrm>
            <a:off x="1839287" y="1540725"/>
            <a:ext cx="5402862" cy="1765706"/>
          </a:xfrm>
          <a:prstGeom prst="rect">
            <a:avLst/>
          </a:prstGeom>
          <a:noFill/>
          <a:ln>
            <a:noFill/>
          </a:ln>
        </p:spPr>
      </p:pic>
      <p:pic>
        <p:nvPicPr>
          <p:cNvPr id="539" name="Google Shape;539;p51"/>
          <p:cNvPicPr preferRelativeResize="0"/>
          <p:nvPr/>
        </p:nvPicPr>
        <p:blipFill>
          <a:blip r:embed="rId4">
            <a:alphaModFix/>
          </a:blip>
          <a:stretch>
            <a:fillRect/>
          </a:stretch>
        </p:blipFill>
        <p:spPr>
          <a:xfrm>
            <a:off x="1836849" y="3425061"/>
            <a:ext cx="5402855" cy="1314364"/>
          </a:xfrm>
          <a:prstGeom prst="rect">
            <a:avLst/>
          </a:prstGeom>
          <a:noFill/>
          <a:ln>
            <a:noFill/>
          </a:ln>
        </p:spPr>
      </p:pic>
      <p:sp>
        <p:nvSpPr>
          <p:cNvPr id="540" name="Google Shape;540;p51"/>
          <p:cNvSpPr/>
          <p:nvPr/>
        </p:nvSpPr>
        <p:spPr>
          <a:xfrm>
            <a:off x="7006000" y="1810850"/>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51"/>
          <p:cNvSpPr/>
          <p:nvPr/>
        </p:nvSpPr>
        <p:spPr>
          <a:xfrm>
            <a:off x="6969475" y="2617950"/>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51"/>
          <p:cNvSpPr/>
          <p:nvPr/>
        </p:nvSpPr>
        <p:spPr>
          <a:xfrm>
            <a:off x="7006000" y="4058025"/>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5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44" name="Google Shape;544;p5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45" name="Google Shape;545;p5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24</a:t>
            </a:fld>
            <a:endParaRPr/>
          </a:p>
        </p:txBody>
      </p:sp>
      <p:sp>
        <p:nvSpPr>
          <p:cNvPr id="546" name="Google Shape;546;p5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47" name="Google Shape;547;p5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48" name="Google Shape;548;p5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24</a:t>
            </a:fld>
            <a:endParaRPr sz="1300" b="0" i="0" u="none" strike="noStrike" cap="none">
              <a:solidFill>
                <a:srgbClr val="FFFFFF"/>
              </a:solidFill>
              <a:latin typeface="Nunito"/>
              <a:ea typeface="Nunito"/>
              <a:cs typeface="Nunito"/>
              <a:sym typeface="Nunito"/>
            </a:endParaRPr>
          </a:p>
        </p:txBody>
      </p:sp>
      <p:sp>
        <p:nvSpPr>
          <p:cNvPr id="549" name="Google Shape;549;p5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4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4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2"/>
          <p:cNvSpPr txBox="1">
            <a:spLocks noGrp="1"/>
          </p:cNvSpPr>
          <p:nvPr>
            <p:ph type="title"/>
          </p:nvPr>
        </p:nvSpPr>
        <p:spPr>
          <a:xfrm>
            <a:off x="-100" y="-12175"/>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0556"/>
              <a:buFont typeface="Arial"/>
              <a:buNone/>
            </a:pPr>
            <a:r>
              <a:rPr lang="en" sz="3600">
                <a:latin typeface="Nunito"/>
                <a:ea typeface="Nunito"/>
                <a:cs typeface="Nunito"/>
                <a:sym typeface="Nunito"/>
              </a:rPr>
              <a:t>Most Capabilities Are Extremely Correlated</a:t>
            </a:r>
            <a:endParaRPr sz="3600">
              <a:latin typeface="Nunito"/>
              <a:ea typeface="Nunito"/>
              <a:cs typeface="Nunito"/>
              <a:sym typeface="Nunito"/>
            </a:endParaRPr>
          </a:p>
        </p:txBody>
      </p:sp>
      <p:pic>
        <p:nvPicPr>
          <p:cNvPr id="555" name="Google Shape;555;p52"/>
          <p:cNvPicPr preferRelativeResize="0"/>
          <p:nvPr/>
        </p:nvPicPr>
        <p:blipFill>
          <a:blip r:embed="rId3">
            <a:alphaModFix/>
          </a:blip>
          <a:stretch>
            <a:fillRect/>
          </a:stretch>
        </p:blipFill>
        <p:spPr>
          <a:xfrm>
            <a:off x="2025849" y="560525"/>
            <a:ext cx="4841626" cy="4108775"/>
          </a:xfrm>
          <a:prstGeom prst="rect">
            <a:avLst/>
          </a:prstGeom>
          <a:noFill/>
          <a:ln>
            <a:noFill/>
          </a:ln>
        </p:spPr>
      </p:pic>
      <p:sp>
        <p:nvSpPr>
          <p:cNvPr id="556" name="Google Shape;556;p5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57" name="Google Shape;557;p5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58" name="Google Shape;558;p5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25</a:t>
            </a:fld>
            <a:endParaRPr/>
          </a:p>
        </p:txBody>
      </p:sp>
      <p:sp>
        <p:nvSpPr>
          <p:cNvPr id="559" name="Google Shape;559;p5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60" name="Google Shape;560;p5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61" name="Google Shape;561;p5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25</a:t>
            </a:fld>
            <a:endParaRPr sz="1300" b="0" i="0" u="none" strike="noStrike" cap="none">
              <a:solidFill>
                <a:srgbClr val="FFFFFF"/>
              </a:solidFill>
              <a:latin typeface="Nunito"/>
              <a:ea typeface="Nunito"/>
              <a:cs typeface="Nunito"/>
              <a:sym typeface="Nunito"/>
            </a:endParaRPr>
          </a:p>
        </p:txBody>
      </p:sp>
      <p:sp>
        <p:nvSpPr>
          <p:cNvPr id="562" name="Google Shape;562;p5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63" name="Google Shape;563;p52"/>
          <p:cNvPicPr preferRelativeResize="0"/>
          <p:nvPr/>
        </p:nvPicPr>
        <p:blipFill>
          <a:blip r:embed="rId4">
            <a:alphaModFix/>
          </a:blip>
          <a:stretch>
            <a:fillRect/>
          </a:stretch>
        </p:blipFill>
        <p:spPr>
          <a:xfrm>
            <a:off x="7095499" y="3443500"/>
            <a:ext cx="1959276" cy="1152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3"/>
          <p:cNvSpPr txBox="1">
            <a:spLocks noGrp="1"/>
          </p:cNvSpPr>
          <p:nvPr>
            <p:ph type="title"/>
          </p:nvPr>
        </p:nvSpPr>
        <p:spPr>
          <a:xfrm>
            <a:off x="423400" y="-12175"/>
            <a:ext cx="8297100" cy="708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Intelligence Can Harm or Help Safety</a:t>
            </a:r>
            <a:endParaRPr sz="3600">
              <a:latin typeface="Nunito"/>
              <a:ea typeface="Nunito"/>
              <a:cs typeface="Nunito"/>
              <a:sym typeface="Nunito"/>
            </a:endParaRPr>
          </a:p>
        </p:txBody>
      </p:sp>
      <p:sp>
        <p:nvSpPr>
          <p:cNvPr id="569" name="Google Shape;569;p53"/>
          <p:cNvSpPr txBox="1"/>
          <p:nvPr/>
        </p:nvSpPr>
        <p:spPr>
          <a:xfrm>
            <a:off x="423400" y="777700"/>
            <a:ext cx="77586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If a model is made more intelligent, it could be made to be safer</a:t>
            </a:r>
            <a:endParaRPr sz="2000">
              <a:solidFill>
                <a:schemeClr val="dk1"/>
              </a:solidFill>
              <a:latin typeface="Nunito"/>
              <a:ea typeface="Nunito"/>
              <a:cs typeface="Nunito"/>
              <a:sym typeface="Nunito"/>
            </a:endParaRPr>
          </a:p>
        </p:txBody>
      </p:sp>
      <p:sp>
        <p:nvSpPr>
          <p:cNvPr id="570" name="Google Shape;570;p53"/>
          <p:cNvSpPr txBox="1"/>
          <p:nvPr/>
        </p:nvSpPr>
        <p:spPr>
          <a:xfrm>
            <a:off x="423400" y="3152300"/>
            <a:ext cx="8409000" cy="8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Many safety-relevant attributes are </a:t>
            </a:r>
            <a:r>
              <a:rPr lang="en" sz="2000" i="1">
                <a:solidFill>
                  <a:schemeClr val="dk1"/>
                </a:solidFill>
                <a:latin typeface="Nunito"/>
                <a:ea typeface="Nunito"/>
                <a:cs typeface="Nunito"/>
                <a:sym typeface="Nunito"/>
              </a:rPr>
              <a:t>not</a:t>
            </a:r>
            <a:r>
              <a:rPr lang="en" sz="2000">
                <a:solidFill>
                  <a:schemeClr val="dk1"/>
                </a:solidFill>
                <a:latin typeface="Nunito"/>
                <a:ea typeface="Nunito"/>
                <a:cs typeface="Nunito"/>
                <a:sym typeface="Nunito"/>
              </a:rPr>
              <a:t> guaranteed by high intelligence</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Many safety-relevant attributes are helped by high intelligence</a:t>
            </a:r>
            <a:endParaRPr sz="2000">
              <a:solidFill>
                <a:schemeClr val="dk1"/>
              </a:solidFill>
              <a:latin typeface="Nunito"/>
              <a:ea typeface="Nunito"/>
              <a:cs typeface="Nunito"/>
              <a:sym typeface="Nunito"/>
            </a:endParaRPr>
          </a:p>
        </p:txBody>
      </p:sp>
      <p:sp>
        <p:nvSpPr>
          <p:cNvPr id="571" name="Google Shape;571;p53"/>
          <p:cNvSpPr txBox="1"/>
          <p:nvPr/>
        </p:nvSpPr>
        <p:spPr>
          <a:xfrm>
            <a:off x="423400" y="1234900"/>
            <a:ext cx="8409000" cy="11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Yet making a model more intelligent also increases the potential of it performing unsafe actions or being used destructively</a:t>
            </a:r>
            <a:endParaRPr sz="2000">
              <a:solidFill>
                <a:schemeClr val="dk1"/>
              </a:solidFill>
              <a:latin typeface="Nunito"/>
              <a:ea typeface="Nunito"/>
              <a:cs typeface="Nunito"/>
              <a:sym typeface="Nunito"/>
            </a:endParaRPr>
          </a:p>
          <a:p>
            <a:pPr marL="457200" lvl="0" indent="-355600" algn="l" rtl="0">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intelligence cuts both ways</a:t>
            </a:r>
            <a:endParaRPr sz="2000">
              <a:solidFill>
                <a:schemeClr val="dk1"/>
              </a:solidFill>
              <a:latin typeface="Nunito"/>
              <a:ea typeface="Nunito"/>
              <a:cs typeface="Nunito"/>
              <a:sym typeface="Nunito"/>
            </a:endParaRPr>
          </a:p>
        </p:txBody>
      </p:sp>
      <p:sp>
        <p:nvSpPr>
          <p:cNvPr id="572" name="Google Shape;572;p53"/>
          <p:cNvSpPr txBox="1"/>
          <p:nvPr/>
        </p:nvSpPr>
        <p:spPr>
          <a:xfrm>
            <a:off x="423400" y="2314100"/>
            <a:ext cx="8409000" cy="8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 agent that is knowledgeable, quick-witted, and rigorous is not necessarily honest, just, or kind</a:t>
            </a:r>
            <a:endParaRPr sz="2000">
              <a:solidFill>
                <a:schemeClr val="dk1"/>
              </a:solidFill>
              <a:latin typeface="Nunito"/>
              <a:ea typeface="Nunito"/>
              <a:cs typeface="Nunito"/>
              <a:sym typeface="Nunito"/>
            </a:endParaRPr>
          </a:p>
        </p:txBody>
      </p:sp>
      <p:sp>
        <p:nvSpPr>
          <p:cNvPr id="573" name="Google Shape;573;p5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74" name="Google Shape;574;p5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75" name="Google Shape;575;p5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26</a:t>
            </a:fld>
            <a:endParaRPr/>
          </a:p>
        </p:txBody>
      </p:sp>
      <p:sp>
        <p:nvSpPr>
          <p:cNvPr id="576" name="Google Shape;576;p5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77" name="Google Shape;577;p5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78" name="Google Shape;578;p5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26</a:t>
            </a:fld>
            <a:endParaRPr sz="1300" b="0" i="0" u="none" strike="noStrike" cap="none">
              <a:solidFill>
                <a:srgbClr val="FFFFFF"/>
              </a:solidFill>
              <a:latin typeface="Nunito"/>
              <a:ea typeface="Nunito"/>
              <a:cs typeface="Nunito"/>
              <a:sym typeface="Nunito"/>
            </a:endParaRPr>
          </a:p>
        </p:txBody>
      </p:sp>
      <p:sp>
        <p:nvSpPr>
          <p:cNvPr id="579" name="Google Shape;579;p5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80" name="Google Shape;580;p53"/>
          <p:cNvSpPr txBox="1"/>
          <p:nvPr/>
        </p:nvSpPr>
        <p:spPr>
          <a:xfrm>
            <a:off x="423400" y="3990500"/>
            <a:ext cx="8409000" cy="54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Useful safety research makes progress on problems not highly correlated with general capabilities</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9"/>
                                        </p:tgtEl>
                                        <p:attrNameLst>
                                          <p:attrName>style.visibility</p:attrName>
                                        </p:attrNameLst>
                                      </p:cBhvr>
                                      <p:to>
                                        <p:strVal val="visible"/>
                                      </p:to>
                                    </p:set>
                                    <p:animEffect transition="in" filter="fade">
                                      <p:cBhvr>
                                        <p:cTn id="7" dur="1000"/>
                                        <p:tgtEl>
                                          <p:spTgt spid="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1">
                                            <p:txEl>
                                              <p:pRg st="0" end="0"/>
                                            </p:txEl>
                                          </p:spTgt>
                                        </p:tgtEl>
                                        <p:attrNameLst>
                                          <p:attrName>style.visibility</p:attrName>
                                        </p:attrNameLst>
                                      </p:cBhvr>
                                      <p:to>
                                        <p:strVal val="visible"/>
                                      </p:to>
                                    </p:set>
                                    <p:animEffect transition="in" filter="fade">
                                      <p:cBhvr>
                                        <p:cTn id="12" dur="1000"/>
                                        <p:tgtEl>
                                          <p:spTgt spid="5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1">
                                            <p:txEl>
                                              <p:pRg st="1" end="1"/>
                                            </p:txEl>
                                          </p:spTgt>
                                        </p:tgtEl>
                                        <p:attrNameLst>
                                          <p:attrName>style.visibility</p:attrName>
                                        </p:attrNameLst>
                                      </p:cBhvr>
                                      <p:to>
                                        <p:strVal val="visible"/>
                                      </p:to>
                                    </p:set>
                                    <p:animEffect transition="in" filter="fade">
                                      <p:cBhvr>
                                        <p:cTn id="17" dur="1000"/>
                                        <p:tgtEl>
                                          <p:spTgt spid="5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72"/>
                                        </p:tgtEl>
                                        <p:attrNameLst>
                                          <p:attrName>style.visibility</p:attrName>
                                        </p:attrNameLst>
                                      </p:cBhvr>
                                      <p:to>
                                        <p:strVal val="visible"/>
                                      </p:to>
                                    </p:set>
                                    <p:animEffect transition="in" filter="fade">
                                      <p:cBhvr>
                                        <p:cTn id="22" dur="1000"/>
                                        <p:tgtEl>
                                          <p:spTgt spid="57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0"/>
                                        </p:tgtEl>
                                        <p:attrNameLst>
                                          <p:attrName>style.visibility</p:attrName>
                                        </p:attrNameLst>
                                      </p:cBhvr>
                                      <p:to>
                                        <p:strVal val="visible"/>
                                      </p:to>
                                    </p:set>
                                    <p:animEffect transition="in" filter="fade">
                                      <p:cBhvr>
                                        <p:cTn id="27" dur="1000"/>
                                        <p:tgtEl>
                                          <p:spTgt spid="57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4"/>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Anomaly Detection</a:t>
            </a:r>
            <a:endParaRPr sz="3000"/>
          </a:p>
        </p:txBody>
      </p:sp>
      <p:sp>
        <p:nvSpPr>
          <p:cNvPr id="586" name="Google Shape;586;p5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87" name="Google Shape;587;p5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88" name="Google Shape;588;p5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89" name="Google Shape;589;p5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90" name="Google Shape;590;p5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91" name="Google Shape;591;p5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27</a:t>
            </a:fld>
            <a:endParaRPr sz="1300" b="0" i="0" u="none" strike="noStrike" cap="none">
              <a:solidFill>
                <a:srgbClr val="FFFFFF"/>
              </a:solidFill>
              <a:latin typeface="Nunito"/>
              <a:ea typeface="Nunito"/>
              <a:cs typeface="Nunito"/>
              <a:sym typeface="Nunito"/>
            </a:endParaRPr>
          </a:p>
        </p:txBody>
      </p:sp>
      <p:sp>
        <p:nvSpPr>
          <p:cNvPr id="592" name="Google Shape;592;p5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5"/>
          <p:cNvSpPr txBox="1"/>
          <p:nvPr/>
        </p:nvSpPr>
        <p:spPr>
          <a:xfrm>
            <a:off x="423400" y="790100"/>
            <a:ext cx="8409000" cy="76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Detect anomalies, novel threats, Black Swans, long tailed events, unknowns unknowns, etc.</a:t>
            </a:r>
            <a:endParaRPr sz="2000">
              <a:solidFill>
                <a:srgbClr val="595959"/>
              </a:solidFill>
              <a:latin typeface="Nunito"/>
              <a:ea typeface="Nunito"/>
              <a:cs typeface="Nunito"/>
              <a:sym typeface="Nunito"/>
            </a:endParaRPr>
          </a:p>
        </p:txBody>
      </p:sp>
      <p:sp>
        <p:nvSpPr>
          <p:cNvPr id="598" name="Google Shape;598;p55"/>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What Is Anomaly Detection?</a:t>
            </a:r>
            <a:endParaRPr sz="3600">
              <a:latin typeface="Nunito"/>
              <a:ea typeface="Nunito"/>
              <a:cs typeface="Nunito"/>
              <a:sym typeface="Nunito"/>
            </a:endParaRPr>
          </a:p>
        </p:txBody>
      </p:sp>
      <p:sp>
        <p:nvSpPr>
          <p:cNvPr id="599" name="Google Shape;599;p5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00" name="Google Shape;600;p5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01" name="Google Shape;601;p5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28</a:t>
            </a:fld>
            <a:endParaRPr/>
          </a:p>
        </p:txBody>
      </p:sp>
      <p:sp>
        <p:nvSpPr>
          <p:cNvPr id="602" name="Google Shape;602;p5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pic>
        <p:nvPicPr>
          <p:cNvPr id="603" name="Google Shape;603;p55"/>
          <p:cNvPicPr preferRelativeResize="0"/>
          <p:nvPr/>
        </p:nvPicPr>
        <p:blipFill>
          <a:blip r:embed="rId3">
            <a:alphaModFix/>
          </a:blip>
          <a:stretch>
            <a:fillRect/>
          </a:stretch>
        </p:blipFill>
        <p:spPr>
          <a:xfrm>
            <a:off x="3269025" y="2185825"/>
            <a:ext cx="2517101" cy="1706800"/>
          </a:xfrm>
          <a:prstGeom prst="rect">
            <a:avLst/>
          </a:prstGeom>
          <a:noFill/>
          <a:ln>
            <a:noFill/>
          </a:ln>
        </p:spPr>
      </p:pic>
      <p:pic>
        <p:nvPicPr>
          <p:cNvPr id="604" name="Google Shape;604;p55"/>
          <p:cNvPicPr preferRelativeResize="0"/>
          <p:nvPr/>
        </p:nvPicPr>
        <p:blipFill>
          <a:blip r:embed="rId4">
            <a:alphaModFix/>
          </a:blip>
          <a:stretch>
            <a:fillRect/>
          </a:stretch>
        </p:blipFill>
        <p:spPr>
          <a:xfrm>
            <a:off x="385075" y="2193500"/>
            <a:ext cx="2428349" cy="1620011"/>
          </a:xfrm>
          <a:prstGeom prst="rect">
            <a:avLst/>
          </a:prstGeom>
          <a:noFill/>
          <a:ln>
            <a:noFill/>
          </a:ln>
        </p:spPr>
      </p:pic>
      <p:pic>
        <p:nvPicPr>
          <p:cNvPr id="605" name="Google Shape;605;p55"/>
          <p:cNvPicPr preferRelativeResize="0"/>
          <p:nvPr/>
        </p:nvPicPr>
        <p:blipFill rotWithShape="1">
          <a:blip r:embed="rId5">
            <a:alphaModFix/>
          </a:blip>
          <a:srcRect l="2088" r="10933"/>
          <a:stretch/>
        </p:blipFill>
        <p:spPr>
          <a:xfrm>
            <a:off x="6238625" y="2247600"/>
            <a:ext cx="2290701" cy="1481425"/>
          </a:xfrm>
          <a:prstGeom prst="rect">
            <a:avLst/>
          </a:prstGeom>
          <a:noFill/>
          <a:ln>
            <a:noFill/>
          </a:ln>
        </p:spPr>
      </p:pic>
      <p:sp>
        <p:nvSpPr>
          <p:cNvPr id="606" name="Google Shape;606;p5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07" name="Google Shape;607;p5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28</a:t>
            </a:fld>
            <a:endParaRPr sz="1300" b="0" i="0" u="none" strike="noStrike" cap="none">
              <a:solidFill>
                <a:srgbClr val="FFFFFF"/>
              </a:solidFill>
              <a:latin typeface="Nunito"/>
              <a:ea typeface="Nunito"/>
              <a:cs typeface="Nunito"/>
              <a:sym typeface="Nunito"/>
            </a:endParaRPr>
          </a:p>
        </p:txBody>
      </p:sp>
      <p:sp>
        <p:nvSpPr>
          <p:cNvPr id="608" name="Google Shape;608;p5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56"/>
          <p:cNvSpPr txBox="1"/>
          <p:nvPr/>
        </p:nvSpPr>
        <p:spPr>
          <a:xfrm>
            <a:off x="409024" y="790100"/>
            <a:ext cx="8409000" cy="47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Put potential dangers on an organization’s radar sooner</a:t>
            </a:r>
            <a:endParaRPr sz="2000">
              <a:solidFill>
                <a:schemeClr val="dk1"/>
              </a:solidFill>
              <a:latin typeface="Nunito"/>
              <a:ea typeface="Nunito"/>
              <a:cs typeface="Nunito"/>
              <a:sym typeface="Nunito"/>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614" name="Google Shape;614;p5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Why Research Anomaly Detection?</a:t>
            </a:r>
            <a:endParaRPr sz="3600">
              <a:latin typeface="Nunito"/>
              <a:ea typeface="Nunito"/>
              <a:cs typeface="Nunito"/>
              <a:sym typeface="Nunito"/>
            </a:endParaRPr>
          </a:p>
        </p:txBody>
      </p:sp>
      <p:sp>
        <p:nvSpPr>
          <p:cNvPr id="615" name="Google Shape;615;p5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16" name="Google Shape;616;p5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17" name="Google Shape;617;p5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29</a:t>
            </a:fld>
            <a:endParaRPr/>
          </a:p>
        </p:txBody>
      </p:sp>
      <p:sp>
        <p:nvSpPr>
          <p:cNvPr id="618" name="Google Shape;618;p5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619" name="Google Shape;619;p56"/>
          <p:cNvGrpSpPr/>
          <p:nvPr/>
        </p:nvGrpSpPr>
        <p:grpSpPr>
          <a:xfrm>
            <a:off x="385075" y="3100225"/>
            <a:ext cx="8144251" cy="1706800"/>
            <a:chOff x="385075" y="3100225"/>
            <a:chExt cx="8144251" cy="1706800"/>
          </a:xfrm>
        </p:grpSpPr>
        <p:pic>
          <p:nvPicPr>
            <p:cNvPr id="620" name="Google Shape;620;p56"/>
            <p:cNvPicPr preferRelativeResize="0"/>
            <p:nvPr/>
          </p:nvPicPr>
          <p:blipFill>
            <a:blip r:embed="rId3">
              <a:alphaModFix/>
            </a:blip>
            <a:stretch>
              <a:fillRect/>
            </a:stretch>
          </p:blipFill>
          <p:spPr>
            <a:xfrm>
              <a:off x="3269025" y="3100225"/>
              <a:ext cx="2517101" cy="1706800"/>
            </a:xfrm>
            <a:prstGeom prst="rect">
              <a:avLst/>
            </a:prstGeom>
            <a:noFill/>
            <a:ln>
              <a:noFill/>
            </a:ln>
          </p:spPr>
        </p:pic>
        <p:pic>
          <p:nvPicPr>
            <p:cNvPr id="621" name="Google Shape;621;p56"/>
            <p:cNvPicPr preferRelativeResize="0"/>
            <p:nvPr/>
          </p:nvPicPr>
          <p:blipFill>
            <a:blip r:embed="rId4">
              <a:alphaModFix/>
            </a:blip>
            <a:stretch>
              <a:fillRect/>
            </a:stretch>
          </p:blipFill>
          <p:spPr>
            <a:xfrm>
              <a:off x="385075" y="3107900"/>
              <a:ext cx="2428349" cy="1620011"/>
            </a:xfrm>
            <a:prstGeom prst="rect">
              <a:avLst/>
            </a:prstGeom>
            <a:noFill/>
            <a:ln>
              <a:noFill/>
            </a:ln>
          </p:spPr>
        </p:pic>
        <p:pic>
          <p:nvPicPr>
            <p:cNvPr id="622" name="Google Shape;622;p56"/>
            <p:cNvPicPr preferRelativeResize="0"/>
            <p:nvPr/>
          </p:nvPicPr>
          <p:blipFill rotWithShape="1">
            <a:blip r:embed="rId5">
              <a:alphaModFix/>
            </a:blip>
            <a:srcRect l="2088" r="10933"/>
            <a:stretch/>
          </p:blipFill>
          <p:spPr>
            <a:xfrm>
              <a:off x="6238625" y="3162000"/>
              <a:ext cx="2290701" cy="1481425"/>
            </a:xfrm>
            <a:prstGeom prst="rect">
              <a:avLst/>
            </a:prstGeom>
            <a:noFill/>
            <a:ln>
              <a:noFill/>
            </a:ln>
          </p:spPr>
        </p:pic>
      </p:grpSp>
      <p:sp>
        <p:nvSpPr>
          <p:cNvPr id="623" name="Google Shape;623;p56"/>
          <p:cNvSpPr txBox="1"/>
          <p:nvPr/>
        </p:nvSpPr>
        <p:spPr>
          <a:xfrm>
            <a:off x="409024" y="1168417"/>
            <a:ext cx="8720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When agents encounter an anomaly, trigger a conservative fallback policy or fail-safe so that agents act cautiously</a:t>
            </a:r>
            <a:endParaRPr/>
          </a:p>
        </p:txBody>
      </p:sp>
      <p:sp>
        <p:nvSpPr>
          <p:cNvPr id="624" name="Google Shape;624;p56"/>
          <p:cNvSpPr txBox="1"/>
          <p:nvPr/>
        </p:nvSpPr>
        <p:spPr>
          <a:xfrm>
            <a:off x="409024" y="187553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Detect malicious AI use</a:t>
            </a:r>
            <a:endParaRPr/>
          </a:p>
        </p:txBody>
      </p:sp>
      <p:sp>
        <p:nvSpPr>
          <p:cNvPr id="625" name="Google Shape;625;p56"/>
          <p:cNvSpPr txBox="1"/>
          <p:nvPr/>
        </p:nvSpPr>
        <p:spPr>
          <a:xfrm>
            <a:off x="409024" y="2274850"/>
            <a:ext cx="8720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In applications, it can help detect hackers, dangerous novel microrganisms for pandemic preparedness, etc.</a:t>
            </a:r>
            <a:endParaRPr/>
          </a:p>
        </p:txBody>
      </p:sp>
      <p:sp>
        <p:nvSpPr>
          <p:cNvPr id="626" name="Google Shape;626;p5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27" name="Google Shape;627;p5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29</a:t>
            </a:fld>
            <a:endParaRPr sz="1300" b="0" i="0" u="none" strike="noStrike" cap="none">
              <a:solidFill>
                <a:srgbClr val="FFFFFF"/>
              </a:solidFill>
              <a:latin typeface="Nunito"/>
              <a:ea typeface="Nunito"/>
              <a:cs typeface="Nunito"/>
              <a:sym typeface="Nunito"/>
            </a:endParaRPr>
          </a:p>
        </p:txBody>
      </p:sp>
      <p:sp>
        <p:nvSpPr>
          <p:cNvPr id="628" name="Google Shape;628;p5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gtEl>
                                        <p:attrNameLst>
                                          <p:attrName>style.visibility</p:attrName>
                                        </p:attrNameLst>
                                      </p:cBhvr>
                                      <p:to>
                                        <p:strVal val="visible"/>
                                      </p:to>
                                    </p:set>
                                    <p:animEffect transition="in" filter="fade">
                                      <p:cBhvr>
                                        <p:cTn id="7" dur="1000"/>
                                        <p:tgtEl>
                                          <p:spTgt spid="6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3"/>
                                        </p:tgtEl>
                                        <p:attrNameLst>
                                          <p:attrName>style.visibility</p:attrName>
                                        </p:attrNameLst>
                                      </p:cBhvr>
                                      <p:to>
                                        <p:strVal val="visible"/>
                                      </p:to>
                                    </p:set>
                                    <p:animEffect transition="in" filter="fade">
                                      <p:cBhvr>
                                        <p:cTn id="12" dur="1000"/>
                                        <p:tgtEl>
                                          <p:spTgt spid="6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4"/>
                                        </p:tgtEl>
                                        <p:attrNameLst>
                                          <p:attrName>style.visibility</p:attrName>
                                        </p:attrNameLst>
                                      </p:cBhvr>
                                      <p:to>
                                        <p:strVal val="visible"/>
                                      </p:to>
                                    </p:set>
                                    <p:animEffect transition="in" filter="fade">
                                      <p:cBhvr>
                                        <p:cTn id="17" dur="1000"/>
                                        <p:tgtEl>
                                          <p:spTgt spid="6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5"/>
                                        </p:tgtEl>
                                        <p:attrNameLst>
                                          <p:attrName>style.visibility</p:attrName>
                                        </p:attrNameLst>
                                      </p:cBhvr>
                                      <p:to>
                                        <p:strVal val="visible"/>
                                      </p:to>
                                    </p:set>
                                    <p:animEffect transition="in" filter="fade">
                                      <p:cBhvr>
                                        <p:cTn id="22" dur="10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57"/>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Models assign anomaly scores to every example</a:t>
            </a:r>
            <a:endParaRPr sz="2000">
              <a:solidFill>
                <a:schemeClr val="dk1"/>
              </a:solidFill>
              <a:latin typeface="Nunito"/>
              <a:ea typeface="Nunito"/>
              <a:cs typeface="Nunito"/>
              <a:sym typeface="Nunito"/>
            </a:endParaRPr>
          </a:p>
        </p:txBody>
      </p:sp>
      <p:sp>
        <p:nvSpPr>
          <p:cNvPr id="634" name="Google Shape;634;p5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Anomaly Scores</a:t>
            </a:r>
            <a:endParaRPr sz="3600">
              <a:latin typeface="Nunito"/>
              <a:ea typeface="Nunito"/>
              <a:cs typeface="Nunito"/>
              <a:sym typeface="Nunito"/>
            </a:endParaRPr>
          </a:p>
        </p:txBody>
      </p:sp>
      <p:sp>
        <p:nvSpPr>
          <p:cNvPr id="635" name="Google Shape;635;p5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36" name="Google Shape;636;p5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37" name="Google Shape;637;p5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30</a:t>
            </a:fld>
            <a:endParaRPr/>
          </a:p>
        </p:txBody>
      </p:sp>
      <p:sp>
        <p:nvSpPr>
          <p:cNvPr id="638" name="Google Shape;638;p5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pic>
        <p:nvPicPr>
          <p:cNvPr id="639" name="Google Shape;639;p57"/>
          <p:cNvPicPr preferRelativeResize="0"/>
          <p:nvPr/>
        </p:nvPicPr>
        <p:blipFill rotWithShape="1">
          <a:blip r:embed="rId3">
            <a:alphaModFix/>
          </a:blip>
          <a:srcRect r="41328"/>
          <a:stretch/>
        </p:blipFill>
        <p:spPr>
          <a:xfrm>
            <a:off x="2601193" y="2008750"/>
            <a:ext cx="2632550" cy="2804387"/>
          </a:xfrm>
          <a:prstGeom prst="rect">
            <a:avLst/>
          </a:prstGeom>
          <a:noFill/>
          <a:ln>
            <a:noFill/>
          </a:ln>
        </p:spPr>
      </p:pic>
      <p:sp>
        <p:nvSpPr>
          <p:cNvPr id="640" name="Google Shape;640;p57"/>
          <p:cNvSpPr txBox="1"/>
          <p:nvPr/>
        </p:nvSpPr>
        <p:spPr>
          <a:xfrm>
            <a:off x="5348000" y="4197074"/>
            <a:ext cx="1241100" cy="3936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92%</a:t>
            </a:r>
            <a:endParaRPr sz="1300">
              <a:latin typeface="Times New Roman"/>
              <a:ea typeface="Times New Roman"/>
              <a:cs typeface="Times New Roman"/>
              <a:sym typeface="Times New Roman"/>
            </a:endParaRPr>
          </a:p>
        </p:txBody>
      </p:sp>
      <p:sp>
        <p:nvSpPr>
          <p:cNvPr id="641" name="Google Shape;641;p57"/>
          <p:cNvSpPr txBox="1"/>
          <p:nvPr/>
        </p:nvSpPr>
        <p:spPr>
          <a:xfrm>
            <a:off x="5348000" y="3331409"/>
            <a:ext cx="1241100" cy="3849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3%</a:t>
            </a:r>
            <a:endParaRPr sz="1300">
              <a:latin typeface="Times New Roman"/>
              <a:ea typeface="Times New Roman"/>
              <a:cs typeface="Times New Roman"/>
              <a:sym typeface="Times New Roman"/>
            </a:endParaRPr>
          </a:p>
        </p:txBody>
      </p:sp>
      <p:sp>
        <p:nvSpPr>
          <p:cNvPr id="642" name="Google Shape;642;p57"/>
          <p:cNvSpPr txBox="1"/>
          <p:nvPr/>
        </p:nvSpPr>
        <p:spPr>
          <a:xfrm>
            <a:off x="5027549" y="1899997"/>
            <a:ext cx="265200" cy="501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latin typeface="Times New Roman"/>
              <a:ea typeface="Times New Roman"/>
              <a:cs typeface="Times New Roman"/>
              <a:sym typeface="Times New Roman"/>
            </a:endParaRPr>
          </a:p>
        </p:txBody>
      </p:sp>
      <p:sp>
        <p:nvSpPr>
          <p:cNvPr id="643" name="Google Shape;643;p57"/>
          <p:cNvSpPr txBox="1"/>
          <p:nvPr/>
        </p:nvSpPr>
        <p:spPr>
          <a:xfrm>
            <a:off x="5348000" y="2431353"/>
            <a:ext cx="1241100" cy="3051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1%</a:t>
            </a:r>
            <a:endParaRPr sz="1300">
              <a:latin typeface="Times New Roman"/>
              <a:ea typeface="Times New Roman"/>
              <a:cs typeface="Times New Roman"/>
              <a:sym typeface="Times New Roman"/>
            </a:endParaRPr>
          </a:p>
        </p:txBody>
      </p:sp>
      <p:sp>
        <p:nvSpPr>
          <p:cNvPr id="644" name="Google Shape;644;p57"/>
          <p:cNvSpPr txBox="1"/>
          <p:nvPr/>
        </p:nvSpPr>
        <p:spPr>
          <a:xfrm>
            <a:off x="423400" y="1122713"/>
            <a:ext cx="8720700" cy="68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Anomalous or out-of-distribution (OOD) examples should have higher anomaly scores than usual or in-distribution examples</a:t>
            </a:r>
            <a:endParaRPr sz="2000">
              <a:solidFill>
                <a:schemeClr val="dk1"/>
              </a:solidFill>
              <a:latin typeface="Nunito"/>
              <a:ea typeface="Nunito"/>
              <a:cs typeface="Nunito"/>
              <a:sym typeface="Nunito"/>
            </a:endParaRPr>
          </a:p>
        </p:txBody>
      </p:sp>
      <p:sp>
        <p:nvSpPr>
          <p:cNvPr id="645" name="Google Shape;645;p57"/>
          <p:cNvSpPr txBox="1"/>
          <p:nvPr/>
        </p:nvSpPr>
        <p:spPr>
          <a:xfrm>
            <a:off x="5325308" y="1823796"/>
            <a:ext cx="1212300" cy="501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Anomaly Score</a:t>
            </a:r>
            <a:endParaRPr sz="1300">
              <a:latin typeface="Times New Roman"/>
              <a:ea typeface="Times New Roman"/>
              <a:cs typeface="Times New Roman"/>
              <a:sym typeface="Times New Roman"/>
            </a:endParaRPr>
          </a:p>
        </p:txBody>
      </p:sp>
      <p:sp>
        <p:nvSpPr>
          <p:cNvPr id="646" name="Google Shape;646;p5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47" name="Google Shape;647;p5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30</a:t>
            </a:fld>
            <a:endParaRPr sz="1300" b="0" i="0" u="none" strike="noStrike" cap="none">
              <a:solidFill>
                <a:srgbClr val="FFFFFF"/>
              </a:solidFill>
              <a:latin typeface="Nunito"/>
              <a:ea typeface="Nunito"/>
              <a:cs typeface="Nunito"/>
              <a:sym typeface="Nunito"/>
            </a:endParaRPr>
          </a:p>
        </p:txBody>
      </p:sp>
      <p:sp>
        <p:nvSpPr>
          <p:cNvPr id="648" name="Google Shape;648;p5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8"/>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Transparency</a:t>
            </a:r>
            <a:endParaRPr sz="3000"/>
          </a:p>
        </p:txBody>
      </p:sp>
      <p:sp>
        <p:nvSpPr>
          <p:cNvPr id="654" name="Google Shape;654;p58"/>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55" name="Google Shape;655;p58"/>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56" name="Google Shape;656;p58"/>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657" name="Google Shape;657;p58"/>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658" name="Google Shape;658;p5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9" name="Google Shape;659;p5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31</a:t>
            </a:fld>
            <a:endParaRPr sz="1300" b="0" i="0" u="none" strike="noStrike" cap="none">
              <a:solidFill>
                <a:srgbClr val="FFFFFF"/>
              </a:solidFill>
              <a:latin typeface="Nunito"/>
              <a:ea typeface="Nunito"/>
              <a:cs typeface="Nunito"/>
              <a:sym typeface="Nunito"/>
            </a:endParaRPr>
          </a:p>
        </p:txBody>
      </p:sp>
      <p:sp>
        <p:nvSpPr>
          <p:cNvPr id="660" name="Google Shape;660;p5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59"/>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2000">
                <a:solidFill>
                  <a:schemeClr val="dk1"/>
                </a:solidFill>
                <a:latin typeface="Nunito"/>
                <a:ea typeface="Nunito"/>
                <a:cs typeface="Nunito"/>
                <a:sym typeface="Nunito"/>
              </a:rPr>
              <a:t>A bottom-up approach to understanding neural networks by interpreting the functions and interactions of its individual components, such as circuits of individual neurons</a:t>
            </a:r>
            <a:endParaRPr sz="2000">
              <a:solidFill>
                <a:schemeClr val="dk1"/>
              </a:solidFill>
              <a:latin typeface="Nunito"/>
              <a:ea typeface="Nunito"/>
              <a:cs typeface="Nunito"/>
              <a:sym typeface="Nunito"/>
            </a:endParaRPr>
          </a:p>
          <a:p>
            <a:pPr marL="0" lvl="0" indent="0" algn="l" rtl="0">
              <a:spcBef>
                <a:spcPts val="1200"/>
              </a:spcBef>
              <a:spcAft>
                <a:spcPts val="0"/>
              </a:spcAft>
              <a:buNone/>
            </a:pPr>
            <a:endParaRPr sz="2000">
              <a:solidFill>
                <a:schemeClr val="dk1"/>
              </a:solidFill>
              <a:latin typeface="Nunito"/>
              <a:ea typeface="Nunito"/>
              <a:cs typeface="Nunito"/>
              <a:sym typeface="Nunito"/>
            </a:endParaRPr>
          </a:p>
        </p:txBody>
      </p:sp>
      <p:sp>
        <p:nvSpPr>
          <p:cNvPr id="666" name="Google Shape;666;p59"/>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Mechanistic Interpretability</a:t>
            </a:r>
            <a:endParaRPr sz="3600">
              <a:latin typeface="Nunito"/>
              <a:ea typeface="Nunito"/>
              <a:cs typeface="Nunito"/>
              <a:sym typeface="Nunito"/>
            </a:endParaRPr>
          </a:p>
        </p:txBody>
      </p:sp>
      <p:sp>
        <p:nvSpPr>
          <p:cNvPr id="667" name="Google Shape;667;p5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68" name="Google Shape;668;p5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69" name="Google Shape;669;p5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32</a:t>
            </a:fld>
            <a:endParaRPr/>
          </a:p>
        </p:txBody>
      </p:sp>
      <p:sp>
        <p:nvSpPr>
          <p:cNvPr id="670" name="Google Shape;670;p5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671" name="Google Shape;671;p5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72" name="Google Shape;672;p5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32</a:t>
            </a:fld>
            <a:endParaRPr sz="1300" b="0" i="0" u="none" strike="noStrike" cap="none">
              <a:solidFill>
                <a:srgbClr val="FFFFFF"/>
              </a:solidFill>
              <a:latin typeface="Nunito"/>
              <a:ea typeface="Nunito"/>
              <a:cs typeface="Nunito"/>
              <a:sym typeface="Nunito"/>
            </a:endParaRPr>
          </a:p>
        </p:txBody>
      </p:sp>
      <p:sp>
        <p:nvSpPr>
          <p:cNvPr id="673" name="Google Shape;673;p5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674" name="Google Shape;674;p59"/>
          <p:cNvPicPr preferRelativeResize="0"/>
          <p:nvPr/>
        </p:nvPicPr>
        <p:blipFill>
          <a:blip r:embed="rId3">
            <a:alphaModFix/>
          </a:blip>
          <a:stretch>
            <a:fillRect/>
          </a:stretch>
        </p:blipFill>
        <p:spPr>
          <a:xfrm>
            <a:off x="2138300" y="2159175"/>
            <a:ext cx="4867276" cy="23826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Top-Down &amp; Bottom-Up Transparency</a:t>
            </a:r>
            <a:endParaRPr/>
          </a:p>
        </p:txBody>
      </p:sp>
      <p:pic>
        <p:nvPicPr>
          <p:cNvPr id="680" name="Google Shape;680;p60" descr="A diagram of a diagram showing different types of data&#10;&#10;Description automatically generated"/>
          <p:cNvPicPr preferRelativeResize="0"/>
          <p:nvPr/>
        </p:nvPicPr>
        <p:blipFill rotWithShape="1">
          <a:blip r:embed="rId3">
            <a:alphaModFix/>
          </a:blip>
          <a:srcRect r="43971"/>
          <a:stretch/>
        </p:blipFill>
        <p:spPr>
          <a:xfrm>
            <a:off x="908629" y="1934742"/>
            <a:ext cx="3195048" cy="2881829"/>
          </a:xfrm>
          <a:prstGeom prst="rect">
            <a:avLst/>
          </a:prstGeom>
          <a:noFill/>
          <a:ln>
            <a:noFill/>
          </a:ln>
        </p:spPr>
      </p:pic>
      <p:pic>
        <p:nvPicPr>
          <p:cNvPr id="681" name="Google Shape;681;p60" descr="A diagram of a diagram showing different types of data&#10;&#10;Description automatically generated"/>
          <p:cNvPicPr preferRelativeResize="0"/>
          <p:nvPr/>
        </p:nvPicPr>
        <p:blipFill rotWithShape="1">
          <a:blip r:embed="rId3">
            <a:alphaModFix/>
          </a:blip>
          <a:srcRect l="57548"/>
          <a:stretch/>
        </p:blipFill>
        <p:spPr>
          <a:xfrm>
            <a:off x="5264900" y="1942296"/>
            <a:ext cx="2395900" cy="2852154"/>
          </a:xfrm>
          <a:prstGeom prst="rect">
            <a:avLst/>
          </a:prstGeom>
          <a:noFill/>
          <a:ln>
            <a:noFill/>
          </a:ln>
        </p:spPr>
      </p:pic>
      <p:sp>
        <p:nvSpPr>
          <p:cNvPr id="682" name="Google Shape;682;p6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83" name="Google Shape;683;p6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33</a:t>
            </a:fld>
            <a:endParaRPr sz="1300" b="0" i="0" u="none" strike="noStrike" cap="none">
              <a:solidFill>
                <a:srgbClr val="FFFFFF"/>
              </a:solidFill>
              <a:latin typeface="Nunito"/>
              <a:ea typeface="Nunito"/>
              <a:cs typeface="Nunito"/>
              <a:sym typeface="Nunito"/>
            </a:endParaRPr>
          </a:p>
        </p:txBody>
      </p:sp>
      <p:sp>
        <p:nvSpPr>
          <p:cNvPr id="684" name="Google Shape;684;p6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85" name="Google Shape;685;p60"/>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000" dirty="0">
                <a:solidFill>
                  <a:schemeClr val="dk1"/>
                </a:solidFill>
                <a:latin typeface="Nunito"/>
                <a:ea typeface="Nunito"/>
                <a:cs typeface="Nunito"/>
                <a:sym typeface="Nunito"/>
              </a:rPr>
              <a:t>Mechanistic interpretability contrasts to </a:t>
            </a:r>
            <a:r>
              <a:rPr lang="en" sz="2000" b="1" dirty="0">
                <a:solidFill>
                  <a:schemeClr val="dk1"/>
                </a:solidFill>
                <a:latin typeface="Nunito"/>
                <a:ea typeface="Nunito"/>
                <a:cs typeface="Nunito"/>
                <a:sym typeface="Nunito"/>
              </a:rPr>
              <a:t>representation engineering</a:t>
            </a:r>
            <a:r>
              <a:rPr lang="en" sz="2000" dirty="0">
                <a:solidFill>
                  <a:schemeClr val="dk1"/>
                </a:solidFill>
                <a:latin typeface="Nunito"/>
                <a:ea typeface="Nunito"/>
                <a:cs typeface="Nunito"/>
                <a:sym typeface="Nunito"/>
              </a:rPr>
              <a:t>, which uses a top-down approach to monitor representations, such as directions in the activation space of models or the weights.</a:t>
            </a:r>
            <a:endParaRPr sz="2000" dirty="0">
              <a:solidFill>
                <a:schemeClr val="dk1"/>
              </a:solidFill>
              <a:latin typeface="Nunito"/>
              <a:ea typeface="Nunito"/>
              <a:cs typeface="Nunito"/>
              <a:sym typeface="Nunito"/>
            </a:endParaRPr>
          </a:p>
          <a:p>
            <a:pPr marL="0" lvl="0" indent="0" algn="l" rtl="0">
              <a:spcBef>
                <a:spcPts val="1200"/>
              </a:spcBef>
              <a:spcAft>
                <a:spcPts val="0"/>
              </a:spcAft>
              <a:buNone/>
            </a:pPr>
            <a:endParaRPr sz="2000" dirty="0">
              <a:solidFill>
                <a:schemeClr val="dk1"/>
              </a:solidFill>
              <a:latin typeface="Nunito"/>
              <a:ea typeface="Nunito"/>
              <a:cs typeface="Nunito"/>
              <a:sym typeface="Nuni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1"/>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Representation Engineering Pipeline</a:t>
            </a:r>
            <a:endParaRPr/>
          </a:p>
        </p:txBody>
      </p:sp>
      <p:sp>
        <p:nvSpPr>
          <p:cNvPr id="691" name="Google Shape;691;p61"/>
          <p:cNvSpPr txBox="1">
            <a:spLocks noGrp="1"/>
          </p:cNvSpPr>
          <p:nvPr>
            <p:ph type="body" idx="1"/>
          </p:nvPr>
        </p:nvSpPr>
        <p:spPr>
          <a:xfrm>
            <a:off x="311700" y="676400"/>
            <a:ext cx="8520600" cy="38924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CN" dirty="0"/>
              <a:t>Think of it as EEG brain wave for the neural network </a:t>
            </a:r>
            <a:endParaRPr dirty="0"/>
          </a:p>
        </p:txBody>
      </p:sp>
      <p:pic>
        <p:nvPicPr>
          <p:cNvPr id="692" name="Google Shape;692;p61"/>
          <p:cNvPicPr preferRelativeResize="0"/>
          <p:nvPr/>
        </p:nvPicPr>
        <p:blipFill rotWithShape="1">
          <a:blip r:embed="rId3">
            <a:alphaModFix/>
          </a:blip>
          <a:srcRect/>
          <a:stretch/>
        </p:blipFill>
        <p:spPr>
          <a:xfrm>
            <a:off x="1403550" y="1152474"/>
            <a:ext cx="6745500" cy="3510600"/>
          </a:xfrm>
          <a:prstGeom prst="rect">
            <a:avLst/>
          </a:prstGeom>
          <a:noFill/>
          <a:ln>
            <a:noFill/>
          </a:ln>
        </p:spPr>
      </p:pic>
      <p:sp>
        <p:nvSpPr>
          <p:cNvPr id="693" name="Google Shape;693;p6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94" name="Google Shape;694;p6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34</a:t>
            </a:fld>
            <a:endParaRPr sz="1300" b="0" i="0" u="none" strike="noStrike" cap="none">
              <a:solidFill>
                <a:srgbClr val="FFFFFF"/>
              </a:solidFill>
              <a:latin typeface="Nunito"/>
              <a:ea typeface="Nunito"/>
              <a:cs typeface="Nunito"/>
              <a:sym typeface="Nunito"/>
            </a:endParaRPr>
          </a:p>
        </p:txBody>
      </p:sp>
      <p:sp>
        <p:nvSpPr>
          <p:cNvPr id="695" name="Google Shape;695;p6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6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Applications of Representation Reading</a:t>
            </a:r>
            <a:endParaRPr/>
          </a:p>
        </p:txBody>
      </p:sp>
      <p:sp>
        <p:nvSpPr>
          <p:cNvPr id="701" name="Google Shape;701;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2" name="Google Shape;702;p6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03" name="Google Shape;703;p6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35</a:t>
            </a:fld>
            <a:endParaRPr sz="1300" b="0" i="0" u="none" strike="noStrike" cap="none">
              <a:solidFill>
                <a:srgbClr val="FFFFFF"/>
              </a:solidFill>
              <a:latin typeface="Nunito"/>
              <a:ea typeface="Nunito"/>
              <a:cs typeface="Nunito"/>
              <a:sym typeface="Nunito"/>
            </a:endParaRPr>
          </a:p>
        </p:txBody>
      </p:sp>
      <p:sp>
        <p:nvSpPr>
          <p:cNvPr id="704" name="Google Shape;704;p6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705" name="Google Shape;705;p62"/>
          <p:cNvPicPr preferRelativeResize="0"/>
          <p:nvPr/>
        </p:nvPicPr>
        <p:blipFill>
          <a:blip r:embed="rId3">
            <a:alphaModFix/>
          </a:blip>
          <a:stretch>
            <a:fillRect/>
          </a:stretch>
        </p:blipFill>
        <p:spPr>
          <a:xfrm>
            <a:off x="1403213" y="831875"/>
            <a:ext cx="6337574" cy="3772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63"/>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711" name="Google Shape;711;p6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12" name="Google Shape;712;p6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13" name="Google Shape;713;p6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36</a:t>
            </a:fld>
            <a:endParaRPr sz="1300" b="0" i="0" u="none" strike="noStrike" cap="none">
              <a:solidFill>
                <a:srgbClr val="FFFFFF"/>
              </a:solidFill>
              <a:latin typeface="Nunito"/>
              <a:ea typeface="Nunito"/>
              <a:cs typeface="Nunito"/>
              <a:sym typeface="Nunito"/>
            </a:endParaRPr>
          </a:p>
        </p:txBody>
      </p:sp>
      <p:sp>
        <p:nvSpPr>
          <p:cNvPr id="714" name="Google Shape;714;p6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15" name="Google Shape;715;p63"/>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716" name="Google Shape;716;p63"/>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717" name="Google Shape;717;p63"/>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718" name="Google Shape;718;p63"/>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719" name="Google Shape;719;p63"/>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720" name="Google Shape;720;p63"/>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721" name="Google Shape;721;p63"/>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722" name="Google Shape;722;p63"/>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723" name="Google Shape;723;p63"/>
          <p:cNvSpPr/>
          <p:nvPr/>
        </p:nvSpPr>
        <p:spPr>
          <a:xfrm>
            <a:off x="4669025" y="1333126"/>
            <a:ext cx="1924200" cy="2877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64"/>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Representation Control</a:t>
            </a:r>
            <a:endParaRPr sz="3000"/>
          </a:p>
        </p:txBody>
      </p:sp>
      <p:sp>
        <p:nvSpPr>
          <p:cNvPr id="729" name="Google Shape;729;p6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30" name="Google Shape;730;p6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31" name="Google Shape;731;p6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732" name="Google Shape;732;p6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33" name="Google Shape;733;p6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34" name="Google Shape;734;p6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37</a:t>
            </a:fld>
            <a:endParaRPr sz="1300" b="0" i="0" u="none" strike="noStrike" cap="none">
              <a:solidFill>
                <a:srgbClr val="FFFFFF"/>
              </a:solidFill>
              <a:latin typeface="Nunito"/>
              <a:ea typeface="Nunito"/>
              <a:cs typeface="Nunito"/>
              <a:sym typeface="Nunito"/>
            </a:endParaRPr>
          </a:p>
        </p:txBody>
      </p:sp>
      <p:sp>
        <p:nvSpPr>
          <p:cNvPr id="735" name="Google Shape;735;p6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6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Applications of Representation Control</a:t>
            </a:r>
            <a:endParaRPr/>
          </a:p>
        </p:txBody>
      </p:sp>
      <p:sp>
        <p:nvSpPr>
          <p:cNvPr id="741" name="Google Shape;741;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2" name="Google Shape;742;p6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43" name="Google Shape;743;p6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38</a:t>
            </a:fld>
            <a:endParaRPr sz="1300" b="0" i="0" u="none" strike="noStrike" cap="none">
              <a:solidFill>
                <a:srgbClr val="FFFFFF"/>
              </a:solidFill>
              <a:latin typeface="Nunito"/>
              <a:ea typeface="Nunito"/>
              <a:cs typeface="Nunito"/>
              <a:sym typeface="Nunito"/>
            </a:endParaRPr>
          </a:p>
        </p:txBody>
      </p:sp>
      <p:sp>
        <p:nvSpPr>
          <p:cNvPr id="744" name="Google Shape;744;p6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745" name="Google Shape;745;p65" descr="A screenshot of a computer&#10;&#10;Description automatically generated"/>
          <p:cNvPicPr preferRelativeResize="0"/>
          <p:nvPr/>
        </p:nvPicPr>
        <p:blipFill rotWithShape="1">
          <a:blip r:embed="rId3">
            <a:alphaModFix/>
          </a:blip>
          <a:srcRect t="7641" b="-7262"/>
          <a:stretch/>
        </p:blipFill>
        <p:spPr>
          <a:xfrm>
            <a:off x="994050" y="1078375"/>
            <a:ext cx="7155900" cy="3564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66"/>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Machine Unlearning</a:t>
            </a:r>
            <a:endParaRPr sz="3000"/>
          </a:p>
        </p:txBody>
      </p:sp>
      <p:sp>
        <p:nvSpPr>
          <p:cNvPr id="751" name="Google Shape;751;p6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52" name="Google Shape;752;p6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53" name="Google Shape;753;p6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754" name="Google Shape;754;p6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55" name="Google Shape;755;p6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56" name="Google Shape;756;p6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39</a:t>
            </a:fld>
            <a:endParaRPr sz="1300" b="0" i="0" u="none" strike="noStrike" cap="none">
              <a:solidFill>
                <a:srgbClr val="FFFFFF"/>
              </a:solidFill>
              <a:latin typeface="Nunito"/>
              <a:ea typeface="Nunito"/>
              <a:cs typeface="Nunito"/>
              <a:sym typeface="Nunito"/>
            </a:endParaRPr>
          </a:p>
        </p:txBody>
      </p:sp>
      <p:sp>
        <p:nvSpPr>
          <p:cNvPr id="757" name="Google Shape;757;p6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6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 to Unlearning</a:t>
            </a:r>
            <a:endParaRPr sz="3600">
              <a:latin typeface="Nunito"/>
              <a:ea typeface="Nunito"/>
              <a:cs typeface="Nunito"/>
              <a:sym typeface="Nunito"/>
            </a:endParaRPr>
          </a:p>
        </p:txBody>
      </p:sp>
      <p:sp>
        <p:nvSpPr>
          <p:cNvPr id="763" name="Google Shape;763;p6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64" name="Google Shape;764;p6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65" name="Google Shape;765;p6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40</a:t>
            </a:fld>
            <a:endParaRPr/>
          </a:p>
        </p:txBody>
      </p:sp>
      <p:sp>
        <p:nvSpPr>
          <p:cNvPr id="766" name="Google Shape;766;p67"/>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767" name="Google Shape;767;p67"/>
          <p:cNvSpPr txBox="1"/>
          <p:nvPr/>
        </p:nvSpPr>
        <p:spPr>
          <a:xfrm>
            <a:off x="423400" y="790100"/>
            <a:ext cx="8530500" cy="1147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Machine unlearning involves selectively removing data from a trained model's memory, 'erasing' specific knowledge without retraining the model from scratch.</a:t>
            </a:r>
            <a:endParaRPr sz="2000">
              <a:solidFill>
                <a:schemeClr val="dk1"/>
              </a:solidFill>
              <a:latin typeface="Nunito"/>
              <a:ea typeface="Nunito"/>
              <a:cs typeface="Nunito"/>
              <a:sym typeface="Nunito"/>
            </a:endParaRPr>
          </a:p>
        </p:txBody>
      </p:sp>
      <p:sp>
        <p:nvSpPr>
          <p:cNvPr id="768" name="Google Shape;768;p6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69" name="Google Shape;769;p6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40</a:t>
            </a:fld>
            <a:endParaRPr sz="1300" b="0" i="0" u="none" strike="noStrike" cap="none">
              <a:solidFill>
                <a:srgbClr val="FFFFFF"/>
              </a:solidFill>
              <a:latin typeface="Nunito"/>
              <a:ea typeface="Nunito"/>
              <a:cs typeface="Nunito"/>
              <a:sym typeface="Nunito"/>
            </a:endParaRPr>
          </a:p>
        </p:txBody>
      </p:sp>
      <p:sp>
        <p:nvSpPr>
          <p:cNvPr id="770" name="Google Shape;770;p6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71" name="Google Shape;771;p67"/>
          <p:cNvSpPr txBox="1"/>
          <p:nvPr/>
        </p:nvSpPr>
        <p:spPr>
          <a:xfrm>
            <a:off x="423400" y="2085500"/>
            <a:ext cx="8530500" cy="87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By applying machine unlearning, developers can ensure that language models do not retain or disseminate sensitive or hazardous information. </a:t>
            </a:r>
            <a:endParaRPr sz="2000">
              <a:solidFill>
                <a:schemeClr val="dk1"/>
              </a:solidFill>
              <a:latin typeface="Nunito"/>
              <a:ea typeface="Nunito"/>
              <a:cs typeface="Nunito"/>
              <a:sym typeface="Nunito"/>
            </a:endParaRPr>
          </a:p>
        </p:txBody>
      </p:sp>
      <p:sp>
        <p:nvSpPr>
          <p:cNvPr id="772" name="Google Shape;772;p67"/>
          <p:cNvSpPr txBox="1"/>
          <p:nvPr/>
        </p:nvSpPr>
        <p:spPr>
          <a:xfrm>
            <a:off x="423400" y="3076100"/>
            <a:ext cx="8530500" cy="87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For instance, if a model learns how to create harmful biological agents or cyber weapons, machine unlearning can be used to selectively remove this knowledge, thus preventing its misuse.</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68"/>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Unlearning Hazardous Knowledge</a:t>
            </a:r>
            <a:endParaRPr sz="3600">
              <a:latin typeface="Nunito"/>
              <a:ea typeface="Nunito"/>
              <a:cs typeface="Nunito"/>
              <a:sym typeface="Nunito"/>
            </a:endParaRPr>
          </a:p>
        </p:txBody>
      </p:sp>
      <p:sp>
        <p:nvSpPr>
          <p:cNvPr id="778" name="Google Shape;778;p68"/>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79" name="Google Shape;779;p68"/>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80" name="Google Shape;780;p68"/>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41</a:t>
            </a:fld>
            <a:endParaRPr/>
          </a:p>
        </p:txBody>
      </p:sp>
      <p:sp>
        <p:nvSpPr>
          <p:cNvPr id="781" name="Google Shape;781;p68"/>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782" name="Google Shape;782;p6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83" name="Google Shape;783;p6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41</a:t>
            </a:fld>
            <a:endParaRPr sz="1300" b="0" i="0" u="none" strike="noStrike" cap="none">
              <a:solidFill>
                <a:srgbClr val="FFFFFF"/>
              </a:solidFill>
              <a:latin typeface="Nunito"/>
              <a:ea typeface="Nunito"/>
              <a:cs typeface="Nunito"/>
              <a:sym typeface="Nunito"/>
            </a:endParaRPr>
          </a:p>
        </p:txBody>
      </p:sp>
      <p:sp>
        <p:nvSpPr>
          <p:cNvPr id="784" name="Google Shape;784;p6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85" name="Google Shape;785;p68"/>
          <p:cNvSpPr txBox="1"/>
          <p:nvPr/>
        </p:nvSpPr>
        <p:spPr>
          <a:xfrm>
            <a:off x="431450" y="712188"/>
            <a:ext cx="84459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Targeted removal of </a:t>
            </a:r>
            <a:r>
              <a:rPr lang="en" sz="2000">
                <a:solidFill>
                  <a:schemeClr val="dk1"/>
                </a:solidFill>
                <a:highlight>
                  <a:srgbClr val="F4CCCC"/>
                </a:highlight>
                <a:latin typeface="Nunito"/>
                <a:ea typeface="Nunito"/>
                <a:cs typeface="Nunito"/>
                <a:sym typeface="Nunito"/>
              </a:rPr>
              <a:t>hazardous knowledge</a:t>
            </a:r>
            <a:r>
              <a:rPr lang="en" sz="2000">
                <a:solidFill>
                  <a:schemeClr val="dk1"/>
                </a:solidFill>
                <a:latin typeface="Nunito"/>
                <a:ea typeface="Nunito"/>
                <a:cs typeface="Nunito"/>
                <a:sym typeface="Nunito"/>
              </a:rPr>
              <a:t> from a language model can involve eliminating </a:t>
            </a:r>
            <a:r>
              <a:rPr lang="en" sz="2000">
                <a:solidFill>
                  <a:schemeClr val="dk1"/>
                </a:solidFill>
                <a:highlight>
                  <a:srgbClr val="FFF2CC"/>
                </a:highlight>
                <a:latin typeface="Nunito"/>
                <a:ea typeface="Nunito"/>
                <a:cs typeface="Nunito"/>
                <a:sym typeface="Nunito"/>
              </a:rPr>
              <a:t>overlapping, dual use dangerous expertise</a:t>
            </a:r>
            <a:r>
              <a:rPr lang="en" sz="2000">
                <a:solidFill>
                  <a:schemeClr val="dk1"/>
                </a:solidFill>
                <a:latin typeface="Nunito"/>
                <a:ea typeface="Nunito"/>
                <a:cs typeface="Nunito"/>
                <a:sym typeface="Nunito"/>
              </a:rPr>
              <a:t> while preserving </a:t>
            </a:r>
            <a:r>
              <a:rPr lang="en" sz="2000">
                <a:solidFill>
                  <a:schemeClr val="dk1"/>
                </a:solidFill>
                <a:highlight>
                  <a:srgbClr val="D9EAD3"/>
                </a:highlight>
                <a:latin typeface="Nunito"/>
                <a:ea typeface="Nunito"/>
                <a:cs typeface="Nunito"/>
                <a:sym typeface="Nunito"/>
              </a:rPr>
              <a:t>fundamental capabilities</a:t>
            </a:r>
            <a:r>
              <a:rPr lang="en" sz="2000">
                <a:solidFill>
                  <a:schemeClr val="dk1"/>
                </a:solidFill>
                <a:highlight>
                  <a:schemeClr val="lt1"/>
                </a:highlight>
                <a:latin typeface="Nunito"/>
                <a:ea typeface="Nunito"/>
                <a:cs typeface="Nunito"/>
                <a:sym typeface="Nunito"/>
              </a:rPr>
              <a:t>.</a:t>
            </a:r>
            <a:endParaRPr sz="1800">
              <a:solidFill>
                <a:schemeClr val="dk1"/>
              </a:solidFill>
              <a:highlight>
                <a:schemeClr val="lt1"/>
              </a:highlight>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1800">
              <a:solidFill>
                <a:schemeClr val="dk1"/>
              </a:solidFill>
              <a:latin typeface="Nunito"/>
              <a:ea typeface="Nunito"/>
              <a:cs typeface="Nunito"/>
              <a:sym typeface="Nunito"/>
            </a:endParaRPr>
          </a:p>
        </p:txBody>
      </p:sp>
      <p:pic>
        <p:nvPicPr>
          <p:cNvPr id="786" name="Google Shape;786;p68"/>
          <p:cNvPicPr preferRelativeResize="0"/>
          <p:nvPr/>
        </p:nvPicPr>
        <p:blipFill rotWithShape="1">
          <a:blip r:embed="rId3">
            <a:alphaModFix/>
          </a:blip>
          <a:srcRect t="3781"/>
          <a:stretch/>
        </p:blipFill>
        <p:spPr>
          <a:xfrm>
            <a:off x="1216638" y="2001200"/>
            <a:ext cx="6710574" cy="26830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69"/>
          <p:cNvSpPr txBox="1">
            <a:spLocks noGrp="1"/>
          </p:cNvSpPr>
          <p:nvPr>
            <p:ph type="title"/>
          </p:nvPr>
        </p:nvSpPr>
        <p:spPr>
          <a:xfrm>
            <a:off x="423450" y="18466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Machine Ethics (To Be Continued)</a:t>
            </a:r>
            <a:endParaRPr sz="3000"/>
          </a:p>
        </p:txBody>
      </p:sp>
      <p:sp>
        <p:nvSpPr>
          <p:cNvPr id="792" name="Google Shape;792;p6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93" name="Google Shape;793;p6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94" name="Google Shape;794;p6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95" name="Google Shape;795;p6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96" name="Google Shape;796;p6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97" name="Google Shape;797;p6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42</a:t>
            </a:fld>
            <a:endParaRPr sz="1300" b="0" i="0" u="none" strike="noStrike" cap="none">
              <a:solidFill>
                <a:srgbClr val="FFFFFF"/>
              </a:solidFill>
              <a:latin typeface="Nunito"/>
              <a:ea typeface="Nunito"/>
              <a:cs typeface="Nunito"/>
              <a:sym typeface="Nunito"/>
            </a:endParaRPr>
          </a:p>
        </p:txBody>
      </p:sp>
      <p:sp>
        <p:nvSpPr>
          <p:cNvPr id="798" name="Google Shape;798;p6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pic>
        <p:nvPicPr>
          <p:cNvPr id="803" name="Google Shape;803;p70"/>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804" name="Google Shape;804;p7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805" name="Google Shape;805;p7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06" name="Google Shape;806;p7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43</a:t>
            </a:fld>
            <a:endParaRPr sz="1300" b="0" i="0" u="none" strike="noStrike" cap="none">
              <a:solidFill>
                <a:srgbClr val="FFFFFF"/>
              </a:solidFill>
              <a:latin typeface="Nunito"/>
              <a:ea typeface="Nunito"/>
              <a:cs typeface="Nunito"/>
              <a:sym typeface="Nunito"/>
            </a:endParaRPr>
          </a:p>
        </p:txBody>
      </p:sp>
      <p:sp>
        <p:nvSpPr>
          <p:cNvPr id="807" name="Google Shape;807;p7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08" name="Google Shape;808;p70"/>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809" name="Google Shape;809;p70"/>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810" name="Google Shape;810;p70"/>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811" name="Google Shape;811;p70"/>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812" name="Google Shape;812;p70"/>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813" name="Google Shape;813;p70"/>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814" name="Google Shape;814;p70"/>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815" name="Google Shape;815;p70"/>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816" name="Google Shape;816;p70"/>
          <p:cNvSpPr/>
          <p:nvPr/>
        </p:nvSpPr>
        <p:spPr>
          <a:xfrm>
            <a:off x="6753225" y="1304550"/>
            <a:ext cx="2267100" cy="2877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71"/>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Watermarking</a:t>
            </a:r>
            <a:endParaRPr sz="3600">
              <a:latin typeface="Nunito"/>
              <a:ea typeface="Nunito"/>
              <a:cs typeface="Nunito"/>
              <a:sym typeface="Nunito"/>
            </a:endParaRPr>
          </a:p>
        </p:txBody>
      </p:sp>
      <p:sp>
        <p:nvSpPr>
          <p:cNvPr id="822" name="Google Shape;822;p7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23" name="Google Shape;823;p7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24" name="Google Shape;824;p7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825" name="Google Shape;825;p71"/>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826" name="Google Shape;826;p71"/>
          <p:cNvSpPr txBox="1"/>
          <p:nvPr/>
        </p:nvSpPr>
        <p:spPr>
          <a:xfrm>
            <a:off x="423400" y="790100"/>
            <a:ext cx="5016000" cy="21501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Watermarking language models for proof of humanity ensures that the content generated by AI can be distinguished from human-created content.</a:t>
            </a:r>
            <a:endParaRPr sz="2000">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Applying watermark has negligible impact on the text quality</a:t>
            </a:r>
            <a:endParaRPr sz="2000">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If there are too many “green tokens” in the output, the text is model-generated.</a:t>
            </a:r>
            <a:endParaRPr sz="2000">
              <a:solidFill>
                <a:schemeClr val="dk1"/>
              </a:solidFill>
              <a:latin typeface="Nunito"/>
              <a:ea typeface="Nunito"/>
              <a:cs typeface="Nunito"/>
              <a:sym typeface="Nunito"/>
            </a:endParaRPr>
          </a:p>
        </p:txBody>
      </p:sp>
      <p:pic>
        <p:nvPicPr>
          <p:cNvPr id="827" name="Google Shape;827;p71"/>
          <p:cNvPicPr preferRelativeResize="0"/>
          <p:nvPr/>
        </p:nvPicPr>
        <p:blipFill>
          <a:blip r:embed="rId3">
            <a:alphaModFix/>
          </a:blip>
          <a:stretch>
            <a:fillRect/>
          </a:stretch>
        </p:blipFill>
        <p:spPr>
          <a:xfrm>
            <a:off x="5439549" y="1058650"/>
            <a:ext cx="3451125" cy="3281925"/>
          </a:xfrm>
          <a:prstGeom prst="rect">
            <a:avLst/>
          </a:prstGeom>
          <a:noFill/>
          <a:ln>
            <a:noFill/>
          </a:ln>
        </p:spPr>
      </p:pic>
      <p:sp>
        <p:nvSpPr>
          <p:cNvPr id="828" name="Google Shape;828;p7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29" name="Google Shape;829;p7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44</a:t>
            </a:fld>
            <a:endParaRPr sz="1300" b="0" i="0" u="none" strike="noStrike" cap="none">
              <a:solidFill>
                <a:srgbClr val="FFFFFF"/>
              </a:solidFill>
              <a:latin typeface="Nunito"/>
              <a:ea typeface="Nunito"/>
              <a:cs typeface="Nunito"/>
              <a:sym typeface="Nunito"/>
            </a:endParaRPr>
          </a:p>
        </p:txBody>
      </p:sp>
      <p:sp>
        <p:nvSpPr>
          <p:cNvPr id="830" name="Google Shape;830;p7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72"/>
          <p:cNvSpPr txBox="1">
            <a:spLocks noGrp="1"/>
          </p:cNvSpPr>
          <p:nvPr>
            <p:ph type="title"/>
          </p:nvPr>
        </p:nvSpPr>
        <p:spPr>
          <a:xfrm>
            <a:off x="423450" y="18466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3000"/>
              <a:t>ML for Cyberdefense</a:t>
            </a:r>
            <a:endParaRPr sz="3000"/>
          </a:p>
          <a:p>
            <a:pPr marL="0" lvl="0" indent="0" algn="l" rtl="0">
              <a:spcBef>
                <a:spcPts val="0"/>
              </a:spcBef>
              <a:spcAft>
                <a:spcPts val="0"/>
              </a:spcAft>
              <a:buNone/>
            </a:pPr>
            <a:endParaRPr sz="3000"/>
          </a:p>
        </p:txBody>
      </p:sp>
      <p:sp>
        <p:nvSpPr>
          <p:cNvPr id="836" name="Google Shape;836;p7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37" name="Google Shape;837;p7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38" name="Google Shape;838;p7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839" name="Google Shape;839;p7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840" name="Google Shape;840;p7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41" name="Google Shape;841;p7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45</a:t>
            </a:fld>
            <a:endParaRPr sz="1300" b="0" i="0" u="none" strike="noStrike" cap="none">
              <a:solidFill>
                <a:srgbClr val="FFFFFF"/>
              </a:solidFill>
              <a:latin typeface="Nunito"/>
              <a:ea typeface="Nunito"/>
              <a:cs typeface="Nunito"/>
              <a:sym typeface="Nunito"/>
            </a:endParaRPr>
          </a:p>
        </p:txBody>
      </p:sp>
      <p:sp>
        <p:nvSpPr>
          <p:cNvPr id="842" name="Google Shape;842;p7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75"/>
          <p:cNvSpPr txBox="1"/>
          <p:nvPr/>
        </p:nvSpPr>
        <p:spPr>
          <a:xfrm>
            <a:off x="762001" y="4796225"/>
            <a:ext cx="98298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latin typeface="Roboto"/>
              <a:ea typeface="Roboto"/>
              <a:cs typeface="Roboto"/>
              <a:sym typeface="Roboto"/>
            </a:endParaRPr>
          </a:p>
        </p:txBody>
      </p:sp>
      <p:sp>
        <p:nvSpPr>
          <p:cNvPr id="878" name="Google Shape;878;p7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79" name="Google Shape;879;p7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80" name="Google Shape;880;p7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46</a:t>
            </a:fld>
            <a:endParaRPr/>
          </a:p>
        </p:txBody>
      </p:sp>
      <p:sp>
        <p:nvSpPr>
          <p:cNvPr id="881" name="Google Shape;881;p7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882" name="Google Shape;882;p75"/>
          <p:cNvSpPr txBox="1">
            <a:spLocks noGrp="1"/>
          </p:cNvSpPr>
          <p:nvPr>
            <p:ph type="title"/>
          </p:nvPr>
        </p:nvSpPr>
        <p:spPr>
          <a:xfrm>
            <a:off x="423625"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Intrusion Detection</a:t>
            </a:r>
            <a:endParaRPr sz="3600">
              <a:latin typeface="Nunito"/>
              <a:ea typeface="Nunito"/>
              <a:cs typeface="Nunito"/>
              <a:sym typeface="Nunito"/>
            </a:endParaRPr>
          </a:p>
        </p:txBody>
      </p:sp>
      <p:sp>
        <p:nvSpPr>
          <p:cNvPr id="883" name="Google Shape;883;p75"/>
          <p:cNvSpPr txBox="1"/>
          <p:nvPr/>
        </p:nvSpPr>
        <p:spPr>
          <a:xfrm>
            <a:off x="423625" y="866300"/>
            <a:ext cx="5988900" cy="7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An </a:t>
            </a:r>
            <a:r>
              <a:rPr lang="en" sz="2000">
                <a:solidFill>
                  <a:schemeClr val="dk1"/>
                </a:solidFill>
                <a:latin typeface="Nunito"/>
                <a:ea typeface="Nunito"/>
                <a:cs typeface="Nunito"/>
                <a:sym typeface="Nunito"/>
              </a:rPr>
              <a:t>Intrusion Detection System (</a:t>
            </a:r>
            <a:r>
              <a:rPr lang="en" sz="2000">
                <a:latin typeface="Nunito"/>
                <a:ea typeface="Nunito"/>
                <a:cs typeface="Nunito"/>
                <a:sym typeface="Nunito"/>
              </a:rPr>
              <a:t>IDS) detects and classifies intrusions on networks </a:t>
            </a:r>
            <a:r>
              <a:rPr lang="en" sz="2000">
                <a:solidFill>
                  <a:schemeClr val="dk1"/>
                </a:solidFill>
                <a:latin typeface="Nunito"/>
                <a:ea typeface="Nunito"/>
                <a:cs typeface="Nunito"/>
                <a:sym typeface="Nunito"/>
              </a:rPr>
              <a:t>automatically </a:t>
            </a:r>
            <a:endParaRPr sz="2000">
              <a:solidFill>
                <a:schemeClr val="dk1"/>
              </a:solidFill>
              <a:latin typeface="Nunito"/>
              <a:ea typeface="Nunito"/>
              <a:cs typeface="Nunito"/>
              <a:sym typeface="Nunito"/>
            </a:endParaRPr>
          </a:p>
        </p:txBody>
      </p:sp>
      <p:pic>
        <p:nvPicPr>
          <p:cNvPr id="884" name="Google Shape;884;p75"/>
          <p:cNvPicPr preferRelativeResize="0"/>
          <p:nvPr/>
        </p:nvPicPr>
        <p:blipFill rotWithShape="1">
          <a:blip r:embed="rId3">
            <a:alphaModFix/>
          </a:blip>
          <a:srcRect t="8319" b="3083"/>
          <a:stretch/>
        </p:blipFill>
        <p:spPr>
          <a:xfrm>
            <a:off x="6730575" y="920975"/>
            <a:ext cx="2360650" cy="3718125"/>
          </a:xfrm>
          <a:prstGeom prst="rect">
            <a:avLst/>
          </a:prstGeom>
          <a:noFill/>
          <a:ln>
            <a:noFill/>
          </a:ln>
        </p:spPr>
      </p:pic>
      <p:sp>
        <p:nvSpPr>
          <p:cNvPr id="885" name="Google Shape;885;p75"/>
          <p:cNvSpPr txBox="1"/>
          <p:nvPr/>
        </p:nvSpPr>
        <p:spPr>
          <a:xfrm>
            <a:off x="423625" y="1735200"/>
            <a:ext cx="5988900" cy="10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This assumes that violations of security can be detected by monitoring and analyzing network </a:t>
            </a:r>
            <a:r>
              <a:rPr lang="en" sz="2000">
                <a:solidFill>
                  <a:schemeClr val="dk1"/>
                </a:solidFill>
                <a:latin typeface="Nunito"/>
                <a:ea typeface="Nunito"/>
                <a:cs typeface="Nunito"/>
                <a:sym typeface="Nunito"/>
              </a:rPr>
              <a:t>traffic patterns and </a:t>
            </a:r>
            <a:r>
              <a:rPr lang="en" sz="2000">
                <a:latin typeface="Nunito"/>
                <a:ea typeface="Nunito"/>
                <a:cs typeface="Nunito"/>
                <a:sym typeface="Nunito"/>
              </a:rPr>
              <a:t>behavior</a:t>
            </a:r>
            <a:endParaRPr sz="2000">
              <a:solidFill>
                <a:schemeClr val="dk1"/>
              </a:solidFill>
              <a:latin typeface="Nunito"/>
              <a:ea typeface="Nunito"/>
              <a:cs typeface="Nunito"/>
              <a:sym typeface="Nunito"/>
            </a:endParaRPr>
          </a:p>
        </p:txBody>
      </p:sp>
      <p:sp>
        <p:nvSpPr>
          <p:cNvPr id="886" name="Google Shape;886;p75"/>
          <p:cNvSpPr txBox="1"/>
          <p:nvPr/>
        </p:nvSpPr>
        <p:spPr>
          <a:xfrm>
            <a:off x="423625" y="2925100"/>
            <a:ext cx="59889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ML IDS systems can learn from </a:t>
            </a:r>
            <a:r>
              <a:rPr lang="en" sz="2000">
                <a:solidFill>
                  <a:schemeClr val="dk1"/>
                </a:solidFill>
                <a:latin typeface="Nunito"/>
                <a:ea typeface="Nunito"/>
                <a:cs typeface="Nunito"/>
                <a:sym typeface="Nunito"/>
              </a:rPr>
              <a:t>patterns in network traffic and logs to detect anomalies</a:t>
            </a:r>
            <a:endParaRPr sz="2000">
              <a:solidFill>
                <a:schemeClr val="dk1"/>
              </a:solidFill>
              <a:latin typeface="Nunito"/>
              <a:ea typeface="Nunito"/>
              <a:cs typeface="Nunito"/>
              <a:sym typeface="Nunito"/>
            </a:endParaRPr>
          </a:p>
        </p:txBody>
      </p:sp>
      <p:sp>
        <p:nvSpPr>
          <p:cNvPr id="887" name="Google Shape;887;p75"/>
          <p:cNvSpPr txBox="1"/>
          <p:nvPr/>
        </p:nvSpPr>
        <p:spPr>
          <a:xfrm>
            <a:off x="423625" y="3761900"/>
            <a:ext cx="63099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By learning heuristics, ML IDS systems can generalize to novel situations better than rule-based systems</a:t>
            </a:r>
            <a:endParaRPr sz="1800">
              <a:solidFill>
                <a:schemeClr val="dk1"/>
              </a:solidFill>
              <a:latin typeface="Nunito"/>
              <a:ea typeface="Nunito"/>
              <a:cs typeface="Nunito"/>
              <a:sym typeface="Nunito"/>
            </a:endParaRPr>
          </a:p>
        </p:txBody>
      </p:sp>
      <p:sp>
        <p:nvSpPr>
          <p:cNvPr id="888" name="Google Shape;888;p7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89" name="Google Shape;889;p7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46</a:t>
            </a:fld>
            <a:endParaRPr sz="1300" b="0" i="0" u="none" strike="noStrike" cap="none">
              <a:solidFill>
                <a:srgbClr val="FFFFFF"/>
              </a:solidFill>
              <a:latin typeface="Nunito"/>
              <a:ea typeface="Nunito"/>
              <a:cs typeface="Nunito"/>
              <a:sym typeface="Nunito"/>
            </a:endParaRPr>
          </a:p>
        </p:txBody>
      </p:sp>
      <p:sp>
        <p:nvSpPr>
          <p:cNvPr id="890" name="Google Shape;890;p7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3"/>
                                        </p:tgtEl>
                                        <p:attrNameLst>
                                          <p:attrName>style.visibility</p:attrName>
                                        </p:attrNameLst>
                                      </p:cBhvr>
                                      <p:to>
                                        <p:strVal val="visible"/>
                                      </p:to>
                                    </p:set>
                                    <p:animEffect transition="in" filter="fade">
                                      <p:cBhvr>
                                        <p:cTn id="7" dur="1000"/>
                                        <p:tgtEl>
                                          <p:spTgt spid="8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5"/>
                                        </p:tgtEl>
                                        <p:attrNameLst>
                                          <p:attrName>style.visibility</p:attrName>
                                        </p:attrNameLst>
                                      </p:cBhvr>
                                      <p:to>
                                        <p:strVal val="visible"/>
                                      </p:to>
                                    </p:set>
                                    <p:animEffect transition="in" filter="fade">
                                      <p:cBhvr>
                                        <p:cTn id="12" dur="1000"/>
                                        <p:tgtEl>
                                          <p:spTgt spid="885"/>
                                        </p:tgtEl>
                                      </p:cBhvr>
                                    </p:animEffect>
                                  </p:childTnLst>
                                </p:cTn>
                              </p:par>
                              <p:par>
                                <p:cTn id="13" presetID="10" presetClass="entr" presetSubtype="0" fill="hold" nodeType="withEffect">
                                  <p:stCondLst>
                                    <p:cond delay="0"/>
                                  </p:stCondLst>
                                  <p:childTnLst>
                                    <p:set>
                                      <p:cBhvr>
                                        <p:cTn id="14" dur="1" fill="hold">
                                          <p:stCondLst>
                                            <p:cond delay="0"/>
                                          </p:stCondLst>
                                        </p:cTn>
                                        <p:tgtEl>
                                          <p:spTgt spid="884"/>
                                        </p:tgtEl>
                                        <p:attrNameLst>
                                          <p:attrName>style.visibility</p:attrName>
                                        </p:attrNameLst>
                                      </p:cBhvr>
                                      <p:to>
                                        <p:strVal val="visible"/>
                                      </p:to>
                                    </p:set>
                                    <p:animEffect transition="in" filter="fade">
                                      <p:cBhvr>
                                        <p:cTn id="15" dur="1000"/>
                                        <p:tgtEl>
                                          <p:spTgt spid="88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86"/>
                                        </p:tgtEl>
                                        <p:attrNameLst>
                                          <p:attrName>style.visibility</p:attrName>
                                        </p:attrNameLst>
                                      </p:cBhvr>
                                      <p:to>
                                        <p:strVal val="visible"/>
                                      </p:to>
                                    </p:set>
                                    <p:animEffect transition="in" filter="fade">
                                      <p:cBhvr>
                                        <p:cTn id="20" dur="1000"/>
                                        <p:tgtEl>
                                          <p:spTgt spid="88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87"/>
                                        </p:tgtEl>
                                        <p:attrNameLst>
                                          <p:attrName>style.visibility</p:attrName>
                                        </p:attrNameLst>
                                      </p:cBhvr>
                                      <p:to>
                                        <p:strVal val="visible"/>
                                      </p:to>
                                    </p:set>
                                    <p:animEffect transition="in" filter="fade">
                                      <p:cBhvr>
                                        <p:cTn id="25" dur="1000"/>
                                        <p:tgtEl>
                                          <p:spTgt spid="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76"/>
          <p:cNvSpPr txBox="1"/>
          <p:nvPr/>
        </p:nvSpPr>
        <p:spPr>
          <a:xfrm>
            <a:off x="762001" y="4796225"/>
            <a:ext cx="98298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latin typeface="Roboto"/>
              <a:ea typeface="Roboto"/>
              <a:cs typeface="Roboto"/>
              <a:sym typeface="Roboto"/>
            </a:endParaRPr>
          </a:p>
        </p:txBody>
      </p:sp>
      <p:sp>
        <p:nvSpPr>
          <p:cNvPr id="896" name="Google Shape;896;p7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97" name="Google Shape;897;p7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98" name="Google Shape;898;p7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47</a:t>
            </a:fld>
            <a:endParaRPr/>
          </a:p>
        </p:txBody>
      </p:sp>
      <p:sp>
        <p:nvSpPr>
          <p:cNvPr id="899" name="Google Shape;899;p7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900" name="Google Shape;900;p7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Malware and Binary Analysis</a:t>
            </a:r>
            <a:endParaRPr sz="3600">
              <a:latin typeface="Nunito"/>
              <a:ea typeface="Nunito"/>
              <a:cs typeface="Nunito"/>
              <a:sym typeface="Nunito"/>
            </a:endParaRPr>
          </a:p>
        </p:txBody>
      </p:sp>
      <p:pic>
        <p:nvPicPr>
          <p:cNvPr id="901" name="Google Shape;901;p76"/>
          <p:cNvPicPr preferRelativeResize="0"/>
          <p:nvPr/>
        </p:nvPicPr>
        <p:blipFill>
          <a:blip r:embed="rId3">
            <a:alphaModFix/>
          </a:blip>
          <a:stretch>
            <a:fillRect/>
          </a:stretch>
        </p:blipFill>
        <p:spPr>
          <a:xfrm>
            <a:off x="5450517" y="1740075"/>
            <a:ext cx="3422385" cy="2438751"/>
          </a:xfrm>
          <a:prstGeom prst="rect">
            <a:avLst/>
          </a:prstGeom>
          <a:noFill/>
          <a:ln>
            <a:noFill/>
          </a:ln>
        </p:spPr>
      </p:pic>
      <p:sp>
        <p:nvSpPr>
          <p:cNvPr id="902" name="Google Shape;902;p76"/>
          <p:cNvSpPr txBox="1"/>
          <p:nvPr/>
        </p:nvSpPr>
        <p:spPr>
          <a:xfrm>
            <a:off x="423400" y="866300"/>
            <a:ext cx="8297100" cy="7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Malware, short for “malicious software,” is software developed by attackers to steal information or damage computer systems</a:t>
            </a:r>
            <a:endParaRPr sz="2000">
              <a:latin typeface="Nunito"/>
              <a:ea typeface="Nunito"/>
              <a:cs typeface="Nunito"/>
              <a:sym typeface="Nunito"/>
            </a:endParaRPr>
          </a:p>
        </p:txBody>
      </p:sp>
      <p:sp>
        <p:nvSpPr>
          <p:cNvPr id="903" name="Google Shape;903;p76"/>
          <p:cNvSpPr txBox="1"/>
          <p:nvPr/>
        </p:nvSpPr>
        <p:spPr>
          <a:xfrm>
            <a:off x="423400" y="1780700"/>
            <a:ext cx="4735500" cy="169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Malware is an umbrella term and includes many different types of malicious programs, including “viruses” that spread across computers and networks</a:t>
            </a:r>
            <a:endParaRPr sz="2000">
              <a:latin typeface="Nunito"/>
              <a:ea typeface="Nunito"/>
              <a:cs typeface="Nunito"/>
              <a:sym typeface="Nunito"/>
            </a:endParaRPr>
          </a:p>
        </p:txBody>
      </p:sp>
      <p:sp>
        <p:nvSpPr>
          <p:cNvPr id="904" name="Google Shape;904;p76"/>
          <p:cNvSpPr txBox="1"/>
          <p:nvPr/>
        </p:nvSpPr>
        <p:spPr>
          <a:xfrm>
            <a:off x="423400" y="3609500"/>
            <a:ext cx="5614200" cy="11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Binary analysis analyzes programs</a:t>
            </a:r>
            <a:endParaRPr sz="2000">
              <a:latin typeface="Nunito"/>
              <a:ea typeface="Nunito"/>
              <a:cs typeface="Nunito"/>
              <a:sym typeface="Nunito"/>
            </a:endParaRPr>
          </a:p>
          <a:p>
            <a:pPr marL="0" lvl="0" indent="0" algn="l" rtl="0">
              <a:spcBef>
                <a:spcPts val="0"/>
              </a:spcBef>
              <a:spcAft>
                <a:spcPts val="0"/>
              </a:spcAft>
              <a:buNone/>
            </a:pPr>
            <a:r>
              <a:rPr lang="en" sz="2000">
                <a:latin typeface="Nunito"/>
                <a:ea typeface="Nunito"/>
                <a:cs typeface="Nunito"/>
                <a:sym typeface="Nunito"/>
              </a:rPr>
              <a:t>(such as malware) at a low-level, which is useful when source code is not available</a:t>
            </a:r>
            <a:endParaRPr sz="2000">
              <a:latin typeface="Nunito"/>
              <a:ea typeface="Nunito"/>
              <a:cs typeface="Nunito"/>
              <a:sym typeface="Nunito"/>
            </a:endParaRPr>
          </a:p>
        </p:txBody>
      </p:sp>
      <p:sp>
        <p:nvSpPr>
          <p:cNvPr id="905" name="Google Shape;905;p7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06" name="Google Shape;906;p7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47</a:t>
            </a:fld>
            <a:endParaRPr sz="1300" b="0" i="0" u="none" strike="noStrike" cap="none">
              <a:solidFill>
                <a:srgbClr val="FFFFFF"/>
              </a:solidFill>
              <a:latin typeface="Nunito"/>
              <a:ea typeface="Nunito"/>
              <a:cs typeface="Nunito"/>
              <a:sym typeface="Nunito"/>
            </a:endParaRPr>
          </a:p>
        </p:txBody>
      </p:sp>
      <p:sp>
        <p:nvSpPr>
          <p:cNvPr id="907" name="Google Shape;907;p7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
                                        </p:tgtEl>
                                        <p:attrNameLst>
                                          <p:attrName>style.visibility</p:attrName>
                                        </p:attrNameLst>
                                      </p:cBhvr>
                                      <p:to>
                                        <p:strVal val="visible"/>
                                      </p:to>
                                    </p:set>
                                    <p:animEffect transition="in" filter="fade">
                                      <p:cBhvr>
                                        <p:cTn id="7" dur="1000"/>
                                        <p:tgtEl>
                                          <p:spTgt spid="9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
                                        </p:tgtEl>
                                        <p:attrNameLst>
                                          <p:attrName>style.visibility</p:attrName>
                                        </p:attrNameLst>
                                      </p:cBhvr>
                                      <p:to>
                                        <p:strVal val="visible"/>
                                      </p:to>
                                    </p:set>
                                    <p:animEffect transition="in" filter="fade">
                                      <p:cBhvr>
                                        <p:cTn id="12" dur="1000"/>
                                        <p:tgtEl>
                                          <p:spTgt spid="903"/>
                                        </p:tgtEl>
                                      </p:cBhvr>
                                    </p:animEffect>
                                  </p:childTnLst>
                                </p:cTn>
                              </p:par>
                              <p:par>
                                <p:cTn id="13" presetID="10" presetClass="entr" presetSubtype="0" fill="hold" nodeType="withEffect">
                                  <p:stCondLst>
                                    <p:cond delay="0"/>
                                  </p:stCondLst>
                                  <p:childTnLst>
                                    <p:set>
                                      <p:cBhvr>
                                        <p:cTn id="14" dur="1" fill="hold">
                                          <p:stCondLst>
                                            <p:cond delay="0"/>
                                          </p:stCondLst>
                                        </p:cTn>
                                        <p:tgtEl>
                                          <p:spTgt spid="901"/>
                                        </p:tgtEl>
                                        <p:attrNameLst>
                                          <p:attrName>style.visibility</p:attrName>
                                        </p:attrNameLst>
                                      </p:cBhvr>
                                      <p:to>
                                        <p:strVal val="visible"/>
                                      </p:to>
                                    </p:set>
                                    <p:animEffect transition="in" filter="fade">
                                      <p:cBhvr>
                                        <p:cTn id="15" dur="1000"/>
                                        <p:tgtEl>
                                          <p:spTgt spid="90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04"/>
                                        </p:tgtEl>
                                        <p:attrNameLst>
                                          <p:attrName>style.visibility</p:attrName>
                                        </p:attrNameLst>
                                      </p:cBhvr>
                                      <p:to>
                                        <p:strVal val="visible"/>
                                      </p:to>
                                    </p:set>
                                    <p:animEffect transition="in" filter="fade">
                                      <p:cBhvr>
                                        <p:cTn id="20" dur="1000"/>
                                        <p:tgtEl>
                                          <p:spTgt spid="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7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Other Examples of Systemic Safety</a:t>
            </a:r>
            <a:endParaRPr sz="3600">
              <a:latin typeface="Nunito"/>
              <a:ea typeface="Nunito"/>
              <a:cs typeface="Nunito"/>
              <a:sym typeface="Nunito"/>
            </a:endParaRPr>
          </a:p>
        </p:txBody>
      </p:sp>
      <p:sp>
        <p:nvSpPr>
          <p:cNvPr id="913" name="Google Shape;913;p7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914" name="Google Shape;914;p7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915" name="Google Shape;915;p7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48</a:t>
            </a:fld>
            <a:endParaRPr/>
          </a:p>
        </p:txBody>
      </p:sp>
      <p:sp>
        <p:nvSpPr>
          <p:cNvPr id="916" name="Google Shape;916;p77"/>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917" name="Google Shape;917;p77"/>
          <p:cNvSpPr txBox="1"/>
          <p:nvPr/>
        </p:nvSpPr>
        <p:spPr>
          <a:xfrm>
            <a:off x="423400" y="790100"/>
            <a:ext cx="8530500" cy="21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a:ea typeface="Nunito"/>
                <a:cs typeface="Nunito"/>
                <a:sym typeface="Nunito"/>
              </a:rPr>
              <a:t>Monitoring of wastewater samples to identify potential biothreats, such as new viruses or bacteria, well before they spread widely</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r>
              <a:rPr lang="en" sz="2400">
                <a:solidFill>
                  <a:schemeClr val="dk1"/>
                </a:solidFill>
                <a:latin typeface="Nunito"/>
                <a:ea typeface="Nunito"/>
                <a:cs typeface="Nunito"/>
                <a:sym typeface="Nunito"/>
              </a:rPr>
              <a:t>Predicting natural disasters like earthquakes, hurricanes, or floods</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r>
              <a:rPr lang="en" sz="2400">
                <a:solidFill>
                  <a:schemeClr val="dk1"/>
                </a:solidFill>
                <a:latin typeface="Nunito"/>
                <a:ea typeface="Nunito"/>
                <a:cs typeface="Nunito"/>
                <a:sym typeface="Nunito"/>
              </a:rPr>
              <a:t>Monitor the condition of critical infrastructure like bridges, dams, and buildings, identifying signs of wear or damage early. </a:t>
            </a:r>
            <a:endParaRPr sz="2400">
              <a:solidFill>
                <a:schemeClr val="dk1"/>
              </a:solidFill>
              <a:latin typeface="Nunito"/>
              <a:ea typeface="Nunito"/>
              <a:cs typeface="Nunito"/>
              <a:sym typeface="Nunito"/>
            </a:endParaRPr>
          </a:p>
        </p:txBody>
      </p:sp>
      <p:sp>
        <p:nvSpPr>
          <p:cNvPr id="918" name="Google Shape;918;p7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19" name="Google Shape;919;p7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48</a:t>
            </a:fld>
            <a:endParaRPr sz="1300" b="0" i="0" u="none" strike="noStrike" cap="none">
              <a:solidFill>
                <a:srgbClr val="FFFFFF"/>
              </a:solidFill>
              <a:latin typeface="Nunito"/>
              <a:ea typeface="Nunito"/>
              <a:cs typeface="Nunito"/>
              <a:sym typeface="Nunito"/>
            </a:endParaRPr>
          </a:p>
        </p:txBody>
      </p:sp>
      <p:sp>
        <p:nvSpPr>
          <p:cNvPr id="920" name="Google Shape;920;p7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78"/>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 of ML Safety</a:t>
            </a:r>
            <a:endParaRPr/>
          </a:p>
          <a:p>
            <a:pPr marL="0" lvl="0" indent="0" algn="ctr" rtl="0">
              <a:lnSpc>
                <a:spcPct val="100000"/>
              </a:lnSpc>
              <a:spcBef>
                <a:spcPts val="0"/>
              </a:spcBef>
              <a:spcAft>
                <a:spcPts val="0"/>
              </a:spcAft>
              <a:buSzPts val="3600"/>
              <a:buNone/>
            </a:pPr>
            <a:endParaRPr/>
          </a:p>
        </p:txBody>
      </p:sp>
      <p:sp>
        <p:nvSpPr>
          <p:cNvPr id="926" name="Google Shape;926;p78"/>
          <p:cNvSpPr txBox="1"/>
          <p:nvPr/>
        </p:nvSpPr>
        <p:spPr>
          <a:xfrm>
            <a:off x="423400" y="893400"/>
            <a:ext cx="8409000" cy="3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000"/>
              <a:buFont typeface="Arial"/>
              <a:buNone/>
            </a:pPr>
            <a:r>
              <a:rPr lang="en" sz="2000">
                <a:solidFill>
                  <a:schemeClr val="dk1"/>
                </a:solidFill>
                <a:latin typeface="Nunito"/>
                <a:ea typeface="Nunito"/>
                <a:cs typeface="Nunito"/>
                <a:sym typeface="Nunito"/>
              </a:rPr>
              <a:t>We examined risks posed by single AI agents.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Robustness </a:t>
            </a:r>
            <a:r>
              <a:rPr lang="en" sz="2000">
                <a:solidFill>
                  <a:schemeClr val="dk1"/>
                </a:solidFill>
                <a:latin typeface="Nunito"/>
                <a:ea typeface="Nunito"/>
                <a:cs typeface="Nunito"/>
                <a:sym typeface="Nunito"/>
              </a:rPr>
              <a:t>aims to withstand hazards, and includes the problem of adversarial attacks and trojans.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Monitoring </a:t>
            </a:r>
            <a:r>
              <a:rPr lang="en" sz="2000">
                <a:solidFill>
                  <a:schemeClr val="dk1"/>
                </a:solidFill>
                <a:latin typeface="Nunito"/>
                <a:ea typeface="Nunito"/>
                <a:cs typeface="Nunito"/>
                <a:sym typeface="Nunito"/>
              </a:rPr>
              <a:t>aims to identifying hazards in AI agents, and includes the problem of benchmarking, anomaly detection, and transparency.</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Control</a:t>
            </a:r>
            <a:r>
              <a:rPr lang="en" sz="2000">
                <a:solidFill>
                  <a:schemeClr val="dk1"/>
                </a:solidFill>
                <a:latin typeface="Nunito"/>
                <a:ea typeface="Nunito"/>
                <a:cs typeface="Nunito"/>
                <a:sym typeface="Nunito"/>
              </a:rPr>
              <a:t> aims to reduce inherent model hazards, and includes problems of representation control, machine unlearning, and machine ethics.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Systemic Safety</a:t>
            </a:r>
            <a:r>
              <a:rPr lang="en" sz="2000">
                <a:solidFill>
                  <a:schemeClr val="dk1"/>
                </a:solidFill>
                <a:latin typeface="Nunito"/>
                <a:ea typeface="Nunito"/>
                <a:cs typeface="Nunito"/>
                <a:sym typeface="Nunito"/>
              </a:rPr>
              <a:t> aims to reduce risks beyond individual models, and includes problems of watermarking and ML for cyberdefense.</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b="1">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latin typeface="Nunito"/>
              <a:ea typeface="Nunito"/>
              <a:cs typeface="Nunito"/>
              <a:sym typeface="Nunito"/>
            </a:endParaRPr>
          </a:p>
        </p:txBody>
      </p:sp>
      <p:sp>
        <p:nvSpPr>
          <p:cNvPr id="927" name="Google Shape;927;p7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28" name="Google Shape;928;p7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49</a:t>
            </a:fld>
            <a:endParaRPr sz="1300" b="0" i="0" u="none" strike="noStrike" cap="none">
              <a:solidFill>
                <a:srgbClr val="FFFFFF"/>
              </a:solidFill>
              <a:latin typeface="Nunito"/>
              <a:ea typeface="Nunito"/>
              <a:cs typeface="Nunito"/>
              <a:sym typeface="Nunito"/>
            </a:endParaRPr>
          </a:p>
        </p:txBody>
      </p:sp>
      <p:sp>
        <p:nvSpPr>
          <p:cNvPr id="929" name="Google Shape;929;p7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
                                            <p:txEl>
                                              <p:pRg st="0" end="0"/>
                                            </p:txEl>
                                          </p:spTgt>
                                        </p:tgtEl>
                                        <p:attrNameLst>
                                          <p:attrName>style.visibility</p:attrName>
                                        </p:attrNameLst>
                                      </p:cBhvr>
                                      <p:to>
                                        <p:strVal val="visible"/>
                                      </p:to>
                                    </p:set>
                                    <p:animEffect transition="in" filter="fade">
                                      <p:cBhvr>
                                        <p:cTn id="7" dur="1000"/>
                                        <p:tgtEl>
                                          <p:spTgt spid="9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6">
                                            <p:txEl>
                                              <p:pRg st="1" end="1"/>
                                            </p:txEl>
                                          </p:spTgt>
                                        </p:tgtEl>
                                        <p:attrNameLst>
                                          <p:attrName>style.visibility</p:attrName>
                                        </p:attrNameLst>
                                      </p:cBhvr>
                                      <p:to>
                                        <p:strVal val="visible"/>
                                      </p:to>
                                    </p:set>
                                    <p:animEffect transition="in" filter="fade">
                                      <p:cBhvr>
                                        <p:cTn id="12" dur="1000"/>
                                        <p:tgtEl>
                                          <p:spTgt spid="9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6">
                                            <p:txEl>
                                              <p:pRg st="2" end="2"/>
                                            </p:txEl>
                                          </p:spTgt>
                                        </p:tgtEl>
                                        <p:attrNameLst>
                                          <p:attrName>style.visibility</p:attrName>
                                        </p:attrNameLst>
                                      </p:cBhvr>
                                      <p:to>
                                        <p:strVal val="visible"/>
                                      </p:to>
                                    </p:set>
                                    <p:animEffect transition="in" filter="fade">
                                      <p:cBhvr>
                                        <p:cTn id="17" dur="1000"/>
                                        <p:tgtEl>
                                          <p:spTgt spid="9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6">
                                            <p:txEl>
                                              <p:pRg st="3" end="3"/>
                                            </p:txEl>
                                          </p:spTgt>
                                        </p:tgtEl>
                                        <p:attrNameLst>
                                          <p:attrName>style.visibility</p:attrName>
                                        </p:attrNameLst>
                                      </p:cBhvr>
                                      <p:to>
                                        <p:strVal val="visible"/>
                                      </p:to>
                                    </p:set>
                                    <p:animEffect transition="in" filter="fade">
                                      <p:cBhvr>
                                        <p:cTn id="22" dur="1000"/>
                                        <p:tgtEl>
                                          <p:spTgt spid="9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6">
                                            <p:txEl>
                                              <p:pRg st="4" end="4"/>
                                            </p:txEl>
                                          </p:spTgt>
                                        </p:tgtEl>
                                        <p:attrNameLst>
                                          <p:attrName>style.visibility</p:attrName>
                                        </p:attrNameLst>
                                      </p:cBhvr>
                                      <p:to>
                                        <p:strVal val="visible"/>
                                      </p:to>
                                    </p:set>
                                    <p:animEffect transition="in" filter="fade">
                                      <p:cBhvr>
                                        <p:cTn id="27" dur="1000"/>
                                        <p:tgtEl>
                                          <p:spTgt spid="9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6">
                                            <p:txEl>
                                              <p:pRg st="5" end="5"/>
                                            </p:txEl>
                                          </p:spTgt>
                                        </p:tgtEl>
                                        <p:attrNameLst>
                                          <p:attrName>style.visibility</p:attrName>
                                        </p:attrNameLst>
                                      </p:cBhvr>
                                      <p:to>
                                        <p:strVal val="visible"/>
                                      </p:to>
                                    </p:set>
                                    <p:animEffect transition="in" filter="fade">
                                      <p:cBhvr>
                                        <p:cTn id="32" dur="1000"/>
                                        <p:tgtEl>
                                          <p:spTgt spid="9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26">
                                            <p:txEl>
                                              <p:pRg st="6" end="6"/>
                                            </p:txEl>
                                          </p:spTgt>
                                        </p:tgtEl>
                                        <p:attrNameLst>
                                          <p:attrName>style.visibility</p:attrName>
                                        </p:attrNameLst>
                                      </p:cBhvr>
                                      <p:to>
                                        <p:strVal val="visible"/>
                                      </p:to>
                                    </p:set>
                                    <p:animEffect transition="in" filter="fade">
                                      <p:cBhvr>
                                        <p:cTn id="37" dur="1000"/>
                                        <p:tgtEl>
                                          <p:spTgt spid="9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26">
                                            <p:txEl>
                                              <p:pRg st="7" end="7"/>
                                            </p:txEl>
                                          </p:spTgt>
                                        </p:tgtEl>
                                        <p:attrNameLst>
                                          <p:attrName>style.visibility</p:attrName>
                                        </p:attrNameLst>
                                      </p:cBhvr>
                                      <p:to>
                                        <p:strVal val="visible"/>
                                      </p:to>
                                    </p:set>
                                    <p:animEffect transition="in" filter="fade">
                                      <p:cBhvr>
                                        <p:cTn id="42" dur="1000"/>
                                        <p:tgtEl>
                                          <p:spTgt spid="92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26">
                                            <p:txEl>
                                              <p:pRg st="8" end="8"/>
                                            </p:txEl>
                                          </p:spTgt>
                                        </p:tgtEl>
                                        <p:attrNameLst>
                                          <p:attrName>style.visibility</p:attrName>
                                        </p:attrNameLst>
                                      </p:cBhvr>
                                      <p:to>
                                        <p:strVal val="visible"/>
                                      </p:to>
                                    </p:set>
                                    <p:animEffect transition="in" filter="fade">
                                      <p:cBhvr>
                                        <p:cTn id="47" dur="1000"/>
                                        <p:tgtEl>
                                          <p:spTgt spid="92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26">
                                            <p:txEl>
                                              <p:pRg st="9" end="9"/>
                                            </p:txEl>
                                          </p:spTgt>
                                        </p:tgtEl>
                                        <p:attrNameLst>
                                          <p:attrName>style.visibility</p:attrName>
                                        </p:attrNameLst>
                                      </p:cBhvr>
                                      <p:to>
                                        <p:strVal val="visible"/>
                                      </p:to>
                                    </p:set>
                                    <p:animEffect transition="in" filter="fade">
                                      <p:cBhvr>
                                        <p:cTn id="52" dur="1000"/>
                                        <p:tgtEl>
                                          <p:spTgt spid="92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2748</Words>
  <Application>Microsoft Office PowerPoint</Application>
  <PresentationFormat>On-screen Show (16:9)</PresentationFormat>
  <Paragraphs>468</Paragraphs>
  <Slides>49</Slides>
  <Notes>49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49</vt:i4>
      </vt:variant>
    </vt:vector>
  </HeadingPairs>
  <TitlesOfParts>
    <vt:vector size="60" baseType="lpstr">
      <vt:lpstr>Nunito</vt:lpstr>
      <vt:lpstr>Calibri</vt:lpstr>
      <vt:lpstr>Arial</vt:lpstr>
      <vt:lpstr>Port Lligat Sans</vt:lpstr>
      <vt:lpstr>Telex</vt:lpstr>
      <vt:lpstr>Times New Roman</vt:lpstr>
      <vt:lpstr>Montserrat</vt:lpstr>
      <vt:lpstr>Roboto</vt:lpstr>
      <vt:lpstr>Nunito Light</vt:lpstr>
      <vt:lpstr>Simple Light</vt:lpstr>
      <vt:lpstr>Simple Light</vt:lpstr>
      <vt:lpstr>PowerPoint Presentation</vt:lpstr>
      <vt:lpstr>Introduction</vt:lpstr>
      <vt:lpstr>Research Areas in Safety</vt:lpstr>
      <vt:lpstr>Research Areas in Safety</vt:lpstr>
      <vt:lpstr>Robustness</vt:lpstr>
      <vt:lpstr>A Classic Adversarial Distortion</vt:lpstr>
      <vt:lpstr>Perceptible Adversarial Examples</vt:lpstr>
      <vt:lpstr>Adversarial Training (AT)</vt:lpstr>
      <vt:lpstr>White Box vs Black Box Testing</vt:lpstr>
      <vt:lpstr>Transferability</vt:lpstr>
      <vt:lpstr>Language Model Attacks</vt:lpstr>
      <vt:lpstr>Adversarial Arms Races</vt:lpstr>
      <vt:lpstr>Trojan Attacks</vt:lpstr>
      <vt:lpstr>Trojans</vt:lpstr>
      <vt:lpstr>Attack Vectors</vt:lpstr>
      <vt:lpstr>Data Poisoning</vt:lpstr>
      <vt:lpstr>Data Poisoning</vt:lpstr>
      <vt:lpstr>Data Poisoning</vt:lpstr>
      <vt:lpstr>Roadmap</vt:lpstr>
      <vt:lpstr>Monitoring</vt:lpstr>
      <vt:lpstr>Evaluations</vt:lpstr>
      <vt:lpstr>General Intelligence (Benchmark Desiderata)</vt:lpstr>
      <vt:lpstr>General Intelligence (Benchmark Desiderata)  </vt:lpstr>
      <vt:lpstr>Example Benchmark: MMLU</vt:lpstr>
      <vt:lpstr>Most Capabilities Are Extremely Correlated</vt:lpstr>
      <vt:lpstr>Intelligence Can Harm or Help Safety</vt:lpstr>
      <vt:lpstr>Anomaly Detection</vt:lpstr>
      <vt:lpstr>What Is Anomaly Detection?</vt:lpstr>
      <vt:lpstr>Why Research Anomaly Detection?</vt:lpstr>
      <vt:lpstr>Anomaly Scores</vt:lpstr>
      <vt:lpstr>Transparency</vt:lpstr>
      <vt:lpstr>Mechanistic Interpretability</vt:lpstr>
      <vt:lpstr>Top-Down &amp; Bottom-Up Transparency</vt:lpstr>
      <vt:lpstr>Representation Engineering Pipeline</vt:lpstr>
      <vt:lpstr>Applications of Representation Reading</vt:lpstr>
      <vt:lpstr>Roadmap</vt:lpstr>
      <vt:lpstr>Representation Control</vt:lpstr>
      <vt:lpstr>Applications of Representation Control</vt:lpstr>
      <vt:lpstr>Machine Unlearning</vt:lpstr>
      <vt:lpstr>Introduction to Unlearning</vt:lpstr>
      <vt:lpstr>Unlearning Hazardous Knowledge</vt:lpstr>
      <vt:lpstr>Machine Ethics (To Be Continued)</vt:lpstr>
      <vt:lpstr>Roadmap</vt:lpstr>
      <vt:lpstr>Watermarking</vt:lpstr>
      <vt:lpstr>ML for Cyberdefense </vt:lpstr>
      <vt:lpstr>Intrusion Detection</vt:lpstr>
      <vt:lpstr>Malware and Binary Analysis</vt:lpstr>
      <vt:lpstr>Other Examples of Systemic Safety</vt:lpstr>
      <vt:lpstr>Recap of ML Safety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5</cp:revision>
  <dcterms:modified xsi:type="dcterms:W3CDTF">2026-09-25T19:08:30Z</dcterms:modified>
</cp:coreProperties>
</file>