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74561"/>
            <a:ext cx="5760085" cy="2865755"/>
          </a:xfrm>
          <a:custGeom>
            <a:avLst/>
            <a:gdLst/>
            <a:ahLst/>
            <a:cxnLst/>
            <a:rect l="l" t="t" r="r" b="b"/>
            <a:pathLst>
              <a:path w="5760085" h="2865755">
                <a:moveTo>
                  <a:pt x="0" y="2865437"/>
                </a:moveTo>
                <a:lnTo>
                  <a:pt x="5759996" y="2865437"/>
                </a:lnTo>
                <a:lnTo>
                  <a:pt x="5759996" y="0"/>
                </a:lnTo>
                <a:lnTo>
                  <a:pt x="0" y="0"/>
                </a:lnTo>
                <a:lnTo>
                  <a:pt x="0" y="2865437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74650"/>
          </a:xfrm>
          <a:custGeom>
            <a:avLst/>
            <a:gdLst/>
            <a:ahLst/>
            <a:cxnLst/>
            <a:rect l="l" t="t" r="r" b="b"/>
            <a:pathLst>
              <a:path w="5760085" h="374650">
                <a:moveTo>
                  <a:pt x="5759996" y="0"/>
                </a:moveTo>
                <a:lnTo>
                  <a:pt x="0" y="0"/>
                </a:lnTo>
                <a:lnTo>
                  <a:pt x="0" y="374561"/>
                </a:lnTo>
                <a:lnTo>
                  <a:pt x="5759996" y="374561"/>
                </a:lnTo>
                <a:lnTo>
                  <a:pt x="5759996" y="0"/>
                </a:lnTo>
                <a:close/>
              </a:path>
            </a:pathLst>
          </a:custGeom>
          <a:solidFill>
            <a:srgbClr val="1E39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770" y="74559"/>
            <a:ext cx="3421379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9953" y="533513"/>
            <a:ext cx="4680585" cy="2207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08320" y="2951066"/>
            <a:ext cx="18542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21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0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21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0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21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0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21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0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21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0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21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0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9.xml"/><Relationship Id="rId4" Type="http://schemas.openxmlformats.org/officeDocument/2006/relationships/slide" Target="slide16.xml"/><Relationship Id="rId5" Type="http://schemas.openxmlformats.org/officeDocument/2006/relationships/slide" Target="slide21.xml"/><Relationship Id="rId6" Type="http://schemas.openxmlformats.org/officeDocument/2006/relationships/slide" Target="slide29.xml"/><Relationship Id="rId7" Type="http://schemas.openxmlformats.org/officeDocument/2006/relationships/slide" Target="slide34.xml"/><Relationship Id="rId8" Type="http://schemas.openxmlformats.org/officeDocument/2006/relationships/slide" Target="slide40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0085" cy="3240405"/>
            <a:chOff x="0" y="0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59929" cy="32399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3206" y="842009"/>
              <a:ext cx="4234180" cy="1161415"/>
            </a:xfrm>
            <a:custGeom>
              <a:avLst/>
              <a:gdLst/>
              <a:ahLst/>
              <a:cxnLst/>
              <a:rect l="l" t="t" r="r" b="b"/>
              <a:pathLst>
                <a:path w="4234180" h="1161414">
                  <a:moveTo>
                    <a:pt x="4188086" y="0"/>
                  </a:moveTo>
                  <a:lnTo>
                    <a:pt x="45549" y="0"/>
                  </a:lnTo>
                  <a:lnTo>
                    <a:pt x="27819" y="3579"/>
                  </a:lnTo>
                  <a:lnTo>
                    <a:pt x="13341" y="13341"/>
                  </a:lnTo>
                  <a:lnTo>
                    <a:pt x="3579" y="27819"/>
                  </a:lnTo>
                  <a:lnTo>
                    <a:pt x="0" y="45549"/>
                  </a:lnTo>
                  <a:lnTo>
                    <a:pt x="0" y="1115636"/>
                  </a:lnTo>
                  <a:lnTo>
                    <a:pt x="3579" y="1133367"/>
                  </a:lnTo>
                  <a:lnTo>
                    <a:pt x="13341" y="1147845"/>
                  </a:lnTo>
                  <a:lnTo>
                    <a:pt x="27819" y="1157607"/>
                  </a:lnTo>
                  <a:lnTo>
                    <a:pt x="45549" y="1161186"/>
                  </a:lnTo>
                  <a:lnTo>
                    <a:pt x="4188086" y="1161186"/>
                  </a:lnTo>
                  <a:lnTo>
                    <a:pt x="4205816" y="1157607"/>
                  </a:lnTo>
                  <a:lnTo>
                    <a:pt x="4220294" y="1147845"/>
                  </a:lnTo>
                  <a:lnTo>
                    <a:pt x="4230056" y="1133367"/>
                  </a:lnTo>
                  <a:lnTo>
                    <a:pt x="4233635" y="1115636"/>
                  </a:lnTo>
                  <a:lnTo>
                    <a:pt x="4233635" y="45549"/>
                  </a:lnTo>
                  <a:lnTo>
                    <a:pt x="4230056" y="27819"/>
                  </a:lnTo>
                  <a:lnTo>
                    <a:pt x="4220294" y="13341"/>
                  </a:lnTo>
                  <a:lnTo>
                    <a:pt x="4205816" y="3579"/>
                  </a:lnTo>
                  <a:lnTo>
                    <a:pt x="4188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70798" y="849601"/>
              <a:ext cx="4218940" cy="1146175"/>
            </a:xfrm>
            <a:custGeom>
              <a:avLst/>
              <a:gdLst/>
              <a:ahLst/>
              <a:cxnLst/>
              <a:rect l="l" t="t" r="r" b="b"/>
              <a:pathLst>
                <a:path w="4218940" h="1146175">
                  <a:moveTo>
                    <a:pt x="4180494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8045"/>
                  </a:lnTo>
                  <a:lnTo>
                    <a:pt x="2982" y="1122820"/>
                  </a:lnTo>
                  <a:lnTo>
                    <a:pt x="11117" y="1134885"/>
                  </a:lnTo>
                  <a:lnTo>
                    <a:pt x="23183" y="1143020"/>
                  </a:lnTo>
                  <a:lnTo>
                    <a:pt x="37958" y="1146003"/>
                  </a:lnTo>
                  <a:lnTo>
                    <a:pt x="4180494" y="1146003"/>
                  </a:lnTo>
                  <a:lnTo>
                    <a:pt x="4195269" y="1143020"/>
                  </a:lnTo>
                  <a:lnTo>
                    <a:pt x="4207335" y="1134885"/>
                  </a:lnTo>
                  <a:lnTo>
                    <a:pt x="4215469" y="1122820"/>
                  </a:lnTo>
                  <a:lnTo>
                    <a:pt x="4218452" y="1108045"/>
                  </a:lnTo>
                  <a:lnTo>
                    <a:pt x="4218452" y="37958"/>
                  </a:lnTo>
                  <a:lnTo>
                    <a:pt x="4215469" y="23182"/>
                  </a:lnTo>
                  <a:lnTo>
                    <a:pt x="4207335" y="11117"/>
                  </a:lnTo>
                  <a:lnTo>
                    <a:pt x="4195269" y="2982"/>
                  </a:lnTo>
                  <a:lnTo>
                    <a:pt x="4180494" y="0"/>
                  </a:lnTo>
                  <a:close/>
                </a:path>
              </a:pathLst>
            </a:custGeom>
            <a:solidFill>
              <a:srgbClr val="2D2D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557667" y="956345"/>
            <a:ext cx="264477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35"/>
              <a:t>Games</a:t>
            </a:r>
            <a:r>
              <a:rPr dirty="0" sz="1400" spc="-105"/>
              <a:t> </a:t>
            </a:r>
            <a:r>
              <a:rPr dirty="0" sz="1400" spc="-100"/>
              <a:t>and the</a:t>
            </a:r>
            <a:r>
              <a:rPr dirty="0" sz="1400" spc="-105"/>
              <a:t> </a:t>
            </a:r>
            <a:r>
              <a:rPr dirty="0" sz="1400" spc="-120"/>
              <a:t>Meaning</a:t>
            </a:r>
            <a:r>
              <a:rPr dirty="0" sz="1400" spc="-100"/>
              <a:t> </a:t>
            </a:r>
            <a:r>
              <a:rPr dirty="0" sz="1400" spc="-95"/>
              <a:t>of</a:t>
            </a:r>
            <a:r>
              <a:rPr dirty="0" sz="1400" spc="-105"/>
              <a:t> </a:t>
            </a:r>
            <a:r>
              <a:rPr dirty="0" sz="1400" spc="-75"/>
              <a:t>Life</a:t>
            </a:r>
            <a:endParaRPr sz="1400"/>
          </a:p>
        </p:txBody>
      </p:sp>
      <p:sp>
        <p:nvSpPr>
          <p:cNvPr id="7" name="object 7"/>
          <p:cNvSpPr txBox="1"/>
          <p:nvPr/>
        </p:nvSpPr>
        <p:spPr>
          <a:xfrm>
            <a:off x="1119505" y="1086021"/>
            <a:ext cx="3521075" cy="7588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200" spc="-40">
                <a:solidFill>
                  <a:srgbClr val="D4870A"/>
                </a:solidFill>
                <a:latin typeface="Arial"/>
                <a:cs typeface="Arial"/>
              </a:rPr>
              <a:t>Play,</a:t>
            </a:r>
            <a:r>
              <a:rPr dirty="0" sz="1200" spc="-2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4870A"/>
                </a:solidFill>
                <a:latin typeface="Arial"/>
                <a:cs typeface="Arial"/>
              </a:rPr>
              <a:t>Virtue,</a:t>
            </a:r>
            <a:r>
              <a:rPr dirty="0" sz="1200" spc="-15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4870A"/>
                </a:solidFill>
                <a:latin typeface="Arial"/>
                <a:cs typeface="Arial"/>
              </a:rPr>
              <a:t>and</a:t>
            </a:r>
            <a:r>
              <a:rPr dirty="0" sz="1200" spc="-15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4870A"/>
                </a:solidFill>
                <a:latin typeface="Arial"/>
                <a:cs typeface="Arial"/>
              </a:rPr>
              <a:t>Human</a:t>
            </a:r>
            <a:r>
              <a:rPr dirty="0" sz="1200" spc="-2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4870A"/>
                </a:solidFill>
                <a:latin typeface="Arial"/>
                <a:cs typeface="Arial"/>
              </a:rPr>
              <a:t>Flourishing</a:t>
            </a:r>
            <a:r>
              <a:rPr dirty="0" sz="1200" spc="-15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4870A"/>
                </a:solidFill>
                <a:latin typeface="Arial"/>
                <a:cs typeface="Arial"/>
              </a:rPr>
              <a:t>in</a:t>
            </a:r>
            <a:r>
              <a:rPr dirty="0" sz="1200" spc="-15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4870A"/>
                </a:solidFill>
                <a:latin typeface="Arial"/>
                <a:cs typeface="Arial"/>
              </a:rPr>
              <a:t>the</a:t>
            </a:r>
            <a:r>
              <a:rPr dirty="0" sz="1200" spc="-2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D4870A"/>
                </a:solidFill>
                <a:latin typeface="Arial"/>
                <a:cs typeface="Arial"/>
              </a:rPr>
              <a:t>Age</a:t>
            </a:r>
            <a:r>
              <a:rPr dirty="0" sz="1200" spc="-15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4870A"/>
                </a:solidFill>
                <a:latin typeface="Arial"/>
                <a:cs typeface="Arial"/>
              </a:rPr>
              <a:t>of</a:t>
            </a:r>
            <a:r>
              <a:rPr dirty="0" sz="1200" spc="-15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dirty="0" sz="1200" spc="25">
                <a:solidFill>
                  <a:srgbClr val="D4870A"/>
                </a:solidFill>
                <a:latin typeface="Arial"/>
                <a:cs typeface="Arial"/>
              </a:rPr>
              <a:t>AI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ts val="1115"/>
              </a:lnSpc>
              <a:spcBef>
                <a:spcPts val="68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Brendan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Shea,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PhD</a:t>
            </a:r>
            <a:endParaRPr sz="1000">
              <a:latin typeface="Arial"/>
              <a:cs typeface="Arial"/>
            </a:endParaRPr>
          </a:p>
          <a:p>
            <a:pPr algn="ctr" marL="751205" marR="743585">
              <a:lnSpc>
                <a:spcPts val="830"/>
              </a:lnSpc>
              <a:spcBef>
                <a:spcPts val="55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Rochester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Community</a:t>
            </a:r>
            <a:r>
              <a:rPr dirty="0" sz="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College PHIL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1150:</a:t>
            </a:r>
            <a:r>
              <a:rPr dirty="0" sz="8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Computing</a:t>
            </a:r>
            <a:r>
              <a:rPr dirty="0" sz="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Ethics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122555" cy="5080"/>
            </a:xfrm>
            <a:custGeom>
              <a:avLst/>
              <a:gdLst/>
              <a:ahLst/>
              <a:cxnLst/>
              <a:rect l="l" t="t" r="r" b="b"/>
              <a:pathLst>
                <a:path w="122555" h="5080">
                  <a:moveTo>
                    <a:pt x="0" y="5060"/>
                  </a:moveTo>
                  <a:lnTo>
                    <a:pt x="0" y="0"/>
                  </a:lnTo>
                  <a:lnTo>
                    <a:pt x="122520" y="0"/>
                  </a:lnTo>
                  <a:lnTo>
                    <a:pt x="1225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0783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4"/>
              <a:t>Before</a:t>
            </a:r>
            <a:r>
              <a:rPr dirty="0" spc="-95"/>
              <a:t> </a:t>
            </a:r>
            <a:r>
              <a:rPr dirty="0" spc="-114"/>
              <a:t>We</a:t>
            </a:r>
            <a:r>
              <a:rPr dirty="0" spc="-95"/>
              <a:t> </a:t>
            </a:r>
            <a:r>
              <a:rPr dirty="0" spc="-100"/>
              <a:t>Begin:</a:t>
            </a:r>
            <a:r>
              <a:rPr dirty="0" spc="-45"/>
              <a:t> </a:t>
            </a:r>
            <a:r>
              <a:rPr dirty="0" spc="-140"/>
              <a:t>The</a:t>
            </a:r>
            <a:r>
              <a:rPr dirty="0" spc="-95"/>
              <a:t> </a:t>
            </a:r>
            <a:r>
              <a:rPr dirty="0" spc="-85"/>
              <a:t>Button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822264"/>
            <a:ext cx="5040630" cy="708660"/>
            <a:chOff x="359994" y="1822264"/>
            <a:chExt cx="5040630" cy="708660"/>
          </a:xfrm>
        </p:grpSpPr>
        <p:sp>
          <p:nvSpPr>
            <p:cNvPr id="4" name="object 4"/>
            <p:cNvSpPr/>
            <p:nvPr/>
          </p:nvSpPr>
          <p:spPr>
            <a:xfrm>
              <a:off x="359994" y="1822264"/>
              <a:ext cx="5040630" cy="708660"/>
            </a:xfrm>
            <a:custGeom>
              <a:avLst/>
              <a:gdLst/>
              <a:ahLst/>
              <a:cxnLst/>
              <a:rect l="l" t="t" r="r" b="b"/>
              <a:pathLst>
                <a:path w="5040630" h="70866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70455"/>
                  </a:lnTo>
                  <a:lnTo>
                    <a:pt x="2982" y="685230"/>
                  </a:lnTo>
                  <a:lnTo>
                    <a:pt x="11117" y="697296"/>
                  </a:lnTo>
                  <a:lnTo>
                    <a:pt x="23182" y="705430"/>
                  </a:lnTo>
                  <a:lnTo>
                    <a:pt x="37958" y="708413"/>
                  </a:lnTo>
                  <a:lnTo>
                    <a:pt x="5002106" y="708413"/>
                  </a:lnTo>
                  <a:lnTo>
                    <a:pt x="5016882" y="705430"/>
                  </a:lnTo>
                  <a:lnTo>
                    <a:pt x="5028947" y="697296"/>
                  </a:lnTo>
                  <a:lnTo>
                    <a:pt x="5037082" y="685230"/>
                  </a:lnTo>
                  <a:lnTo>
                    <a:pt x="5040064" y="670455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2033333"/>
              <a:ext cx="5015230" cy="485140"/>
            </a:xfrm>
            <a:custGeom>
              <a:avLst/>
              <a:gdLst/>
              <a:ahLst/>
              <a:cxnLst/>
              <a:rect l="l" t="t" r="r" b="b"/>
              <a:pathLst>
                <a:path w="5015230" h="485139">
                  <a:moveTo>
                    <a:pt x="5014759" y="0"/>
                  </a:moveTo>
                  <a:lnTo>
                    <a:pt x="0" y="0"/>
                  </a:lnTo>
                  <a:lnTo>
                    <a:pt x="0" y="459386"/>
                  </a:lnTo>
                  <a:lnTo>
                    <a:pt x="1988" y="469237"/>
                  </a:lnTo>
                  <a:lnTo>
                    <a:pt x="7411" y="477280"/>
                  </a:lnTo>
                  <a:lnTo>
                    <a:pt x="15455" y="482703"/>
                  </a:lnTo>
                  <a:lnTo>
                    <a:pt x="25305" y="484692"/>
                  </a:lnTo>
                  <a:lnTo>
                    <a:pt x="4989454" y="484692"/>
                  </a:lnTo>
                  <a:lnTo>
                    <a:pt x="4999304" y="482703"/>
                  </a:lnTo>
                  <a:lnTo>
                    <a:pt x="5007347" y="477280"/>
                  </a:lnTo>
                  <a:lnTo>
                    <a:pt x="5012770" y="469237"/>
                  </a:lnTo>
                  <a:lnTo>
                    <a:pt x="5014759" y="459386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47294" y="640929"/>
            <a:ext cx="5066030" cy="18783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35"/>
              </a:spcBef>
            </a:pP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button.</a:t>
            </a:r>
            <a:r>
              <a:rPr dirty="0" sz="11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get,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instantly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permanently,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0">
                <a:solidFill>
                  <a:srgbClr val="22373A"/>
                </a:solidFill>
                <a:latin typeface="Arial Black"/>
                <a:cs typeface="Arial Black"/>
              </a:rPr>
              <a:t>everything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 Black"/>
                <a:cs typeface="Arial Black"/>
              </a:rPr>
              <a:t>you </a:t>
            </a:r>
            <a:r>
              <a:rPr dirty="0" sz="1100" spc="-100">
                <a:solidFill>
                  <a:srgbClr val="22373A"/>
                </a:solidFill>
                <a:latin typeface="Arial Black"/>
                <a:cs typeface="Arial Black"/>
              </a:rPr>
              <a:t>would</a:t>
            </a:r>
            <a:r>
              <a:rPr dirty="0" sz="1100" spc="-8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22373A"/>
                </a:solidFill>
                <a:latin typeface="Arial Black"/>
                <a:cs typeface="Arial Black"/>
              </a:rPr>
              <a:t>otherwise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have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22373A"/>
                </a:solidFill>
                <a:latin typeface="Arial Black"/>
                <a:cs typeface="Arial Black"/>
              </a:rPr>
              <a:t>had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10">
                <a:solidFill>
                  <a:srgbClr val="22373A"/>
                </a:solidFill>
                <a:latin typeface="Arial Black"/>
                <a:cs typeface="Arial Black"/>
              </a:rPr>
              <a:t>to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22373A"/>
                </a:solidFill>
                <a:latin typeface="Arial Black"/>
                <a:cs typeface="Arial Black"/>
              </a:rPr>
              <a:t>work</a:t>
            </a:r>
            <a:r>
              <a:rPr dirty="0" sz="1100" spc="-8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 Black"/>
                <a:cs typeface="Arial Black"/>
              </a:rPr>
              <a:t>for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60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3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skill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wanted,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wanted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25">
                <a:solidFill>
                  <a:srgbClr val="22373A"/>
                </a:solidFill>
                <a:latin typeface="Arial"/>
                <a:cs typeface="Arial"/>
              </a:rPr>
              <a:t>it</a:t>
            </a:r>
            <a:endParaRPr sz="11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27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win,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won</a:t>
            </a:r>
            <a:endParaRPr sz="11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3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body,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grades,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job,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friendships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No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side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effects.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catch.</a:t>
            </a:r>
            <a:r>
              <a:rPr dirty="0" sz="11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Nobody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harmed.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simply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have</a:t>
            </a:r>
            <a:r>
              <a:rPr dirty="0" sz="11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all,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starting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now.</a:t>
            </a:r>
            <a:endParaRPr sz="11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765"/>
              </a:spcBef>
            </a:pPr>
            <a:r>
              <a:rPr dirty="0" sz="1100" spc="-114">
                <a:solidFill>
                  <a:srgbClr val="FFFFFF"/>
                </a:solidFill>
                <a:latin typeface="Arial Black"/>
                <a:cs typeface="Arial Black"/>
              </a:rPr>
              <a:t>Commit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FFFFFF"/>
                </a:solidFill>
                <a:latin typeface="Arial Black"/>
                <a:cs typeface="Arial Black"/>
              </a:rPr>
              <a:t>before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FFFFFF"/>
                </a:solidFill>
                <a:latin typeface="Arial Black"/>
                <a:cs typeface="Arial Black"/>
              </a:rPr>
              <a:t>we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45">
                <a:solidFill>
                  <a:srgbClr val="FFFFFF"/>
                </a:solidFill>
                <a:latin typeface="Arial Black"/>
                <a:cs typeface="Arial Black"/>
              </a:rPr>
              <a:t>go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 Black"/>
                <a:cs typeface="Arial Black"/>
              </a:rPr>
              <a:t>on</a:t>
            </a:r>
            <a:endParaRPr sz="1100">
              <a:latin typeface="Arial Black"/>
              <a:cs typeface="Arial Black"/>
            </a:endParaRPr>
          </a:p>
          <a:p>
            <a:pPr algn="just" marL="100965" marR="93345">
              <a:lnSpc>
                <a:spcPts val="1190"/>
              </a:lnSpc>
              <a:spcBef>
                <a:spcPts val="480"/>
              </a:spcBef>
            </a:pPr>
            <a:r>
              <a:rPr dirty="0" sz="1100">
                <a:latin typeface="Arial"/>
                <a:cs typeface="Arial"/>
              </a:rPr>
              <a:t>Hands</a:t>
            </a:r>
            <a:r>
              <a:rPr dirty="0" sz="1100" spc="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up</a:t>
            </a:r>
            <a:r>
              <a:rPr dirty="0" sz="1100" spc="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press.</a:t>
            </a:r>
            <a:r>
              <a:rPr dirty="0" sz="1100" spc="30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Hands</a:t>
            </a:r>
            <a:r>
              <a:rPr dirty="0" sz="1100" spc="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up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don’t.</a:t>
            </a:r>
            <a:r>
              <a:rPr dirty="0" sz="1100" spc="30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Then,</a:t>
            </a:r>
            <a:r>
              <a:rPr dirty="0" sz="1100" spc="8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anyone</a:t>
            </a:r>
            <a:r>
              <a:rPr dirty="0" sz="1100" spc="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who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did</a:t>
            </a:r>
            <a:r>
              <a:rPr dirty="0" sz="1100" spc="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press: </a:t>
            </a:r>
            <a:r>
              <a:rPr dirty="0" sz="1100" spc="-160">
                <a:latin typeface="Arial Black"/>
                <a:cs typeface="Arial Black"/>
              </a:rPr>
              <a:t>what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40">
                <a:latin typeface="Arial Black"/>
                <a:cs typeface="Arial Black"/>
              </a:rPr>
              <a:t>exactly</a:t>
            </a:r>
            <a:r>
              <a:rPr dirty="0" sz="1100" spc="50">
                <a:latin typeface="Arial Black"/>
                <a:cs typeface="Arial Black"/>
              </a:rPr>
              <a:t> </a:t>
            </a:r>
            <a:r>
              <a:rPr dirty="0" sz="1100" spc="-175">
                <a:latin typeface="Arial Black"/>
                <a:cs typeface="Arial Black"/>
              </a:rPr>
              <a:t>were</a:t>
            </a:r>
            <a:r>
              <a:rPr dirty="0" sz="1100" spc="85">
                <a:latin typeface="Arial Black"/>
                <a:cs typeface="Arial Black"/>
              </a:rPr>
              <a:t> </a:t>
            </a:r>
            <a:r>
              <a:rPr dirty="0" sz="1100" spc="-200">
                <a:latin typeface="Arial Black"/>
                <a:cs typeface="Arial Black"/>
              </a:rPr>
              <a:t>you</a:t>
            </a:r>
            <a:r>
              <a:rPr dirty="0" sz="1100" spc="110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protecting?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20">
                <a:latin typeface="Arial"/>
                <a:cs typeface="Arial"/>
              </a:rPr>
              <a:t>Whatever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you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name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is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entire</a:t>
            </a:r>
            <a:r>
              <a:rPr dirty="0" sz="1100" spc="5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lec-</a:t>
            </a:r>
            <a:r>
              <a:rPr dirty="0" sz="1100">
                <a:latin typeface="Arial"/>
                <a:cs typeface="Arial"/>
              </a:rPr>
              <a:t>ture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 </a:t>
            </a:r>
            <a:r>
              <a:rPr dirty="0" sz="1100" spc="-10">
                <a:latin typeface="Arial"/>
                <a:cs typeface="Arial"/>
              </a:rPr>
              <a:t>about.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245745" cy="5080"/>
            </a:xfrm>
            <a:custGeom>
              <a:avLst/>
              <a:gdLst/>
              <a:ahLst/>
              <a:cxnLst/>
              <a:rect l="l" t="t" r="r" b="b"/>
              <a:pathLst>
                <a:path w="245745" h="5080">
                  <a:moveTo>
                    <a:pt x="0" y="5060"/>
                  </a:moveTo>
                  <a:lnTo>
                    <a:pt x="0" y="0"/>
                  </a:lnTo>
                  <a:lnTo>
                    <a:pt x="245129" y="0"/>
                  </a:lnTo>
                  <a:lnTo>
                    <a:pt x="2451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Central</a:t>
            </a:r>
            <a:r>
              <a:rPr dirty="0" spc="-80"/>
              <a:t> </a:t>
            </a:r>
            <a:r>
              <a:rPr dirty="0" spc="-105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252" y="681466"/>
            <a:ext cx="4600575" cy="11239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28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1100" spc="-2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game </a:t>
            </a:r>
            <a:r>
              <a:rPr dirty="0" sz="1100" spc="-254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separates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work?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2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games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Arial Black"/>
                <a:cs typeface="Arial Black"/>
              </a:rPr>
              <a:t>build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10">
                <a:solidFill>
                  <a:srgbClr val="22373A"/>
                </a:solidFill>
                <a:latin typeface="Arial Black"/>
                <a:cs typeface="Arial Black"/>
              </a:rPr>
              <a:t>erode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moral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character?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2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generation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fear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5">
                <a:solidFill>
                  <a:srgbClr val="22373A"/>
                </a:solidFill>
                <a:latin typeface="Arial Black"/>
                <a:cs typeface="Arial Black"/>
              </a:rPr>
              <a:t>latest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22373A"/>
                </a:solidFill>
                <a:latin typeface="Arial Black"/>
                <a:cs typeface="Arial Black"/>
              </a:rPr>
              <a:t>entertainment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medium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  <a:p>
            <a:pPr marL="136525" marR="5080" indent="-124460">
              <a:lnSpc>
                <a:spcPts val="1190"/>
              </a:lnSpc>
              <a:spcBef>
                <a:spcPts val="320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3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Suits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argues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perfect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world,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Arial Black"/>
                <a:cs typeface="Arial Black"/>
              </a:rPr>
              <a:t>life </a:t>
            </a:r>
            <a:r>
              <a:rPr dirty="0" sz="1100" spc="-100">
                <a:solidFill>
                  <a:srgbClr val="22373A"/>
                </a:solidFill>
                <a:latin typeface="Arial Black"/>
                <a:cs typeface="Arial Black"/>
              </a:rPr>
              <a:t>would</a:t>
            </a:r>
            <a:r>
              <a:rPr dirty="0" sz="11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5">
                <a:solidFill>
                  <a:srgbClr val="22373A"/>
                </a:solidFill>
                <a:latin typeface="Arial Black"/>
                <a:cs typeface="Arial Black"/>
              </a:rPr>
              <a:t>consist</a:t>
            </a:r>
            <a:r>
              <a:rPr dirty="0" sz="11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90">
                <a:solidFill>
                  <a:srgbClr val="22373A"/>
                </a:solidFill>
                <a:latin typeface="Arial Black"/>
                <a:cs typeface="Arial Black"/>
              </a:rPr>
              <a:t>of</a:t>
            </a:r>
            <a:r>
              <a:rPr dirty="0" sz="11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games</a:t>
            </a:r>
            <a:r>
              <a:rPr dirty="0" sz="11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254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he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right?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1100" spc="2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9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labor,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gives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lives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meaning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992706"/>
          <a:ext cx="5116195" cy="57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13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dirty="0" sz="1100" spc="-9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Big</a:t>
                      </a:r>
                      <a:r>
                        <a:rPr dirty="0" sz="1100" spc="-9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Idea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45720" marR="393065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dirty="0" sz="11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Games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are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4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retreat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serious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business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life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4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may</a:t>
                      </a:r>
                      <a:r>
                        <a:rPr dirty="0" sz="11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its </a:t>
                      </a:r>
                      <a:r>
                        <a:rPr dirty="0" sz="1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deepest</a:t>
                      </a:r>
                      <a:r>
                        <a:rPr dirty="0" sz="11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expression.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367665" cy="5080"/>
            </a:xfrm>
            <a:custGeom>
              <a:avLst/>
              <a:gdLst/>
              <a:ahLst/>
              <a:cxnLst/>
              <a:rect l="l" t="t" r="r" b="b"/>
              <a:pathLst>
                <a:path w="367665" h="5080">
                  <a:moveTo>
                    <a:pt x="0" y="5060"/>
                  </a:moveTo>
                  <a:lnTo>
                    <a:pt x="0" y="0"/>
                  </a:lnTo>
                  <a:lnTo>
                    <a:pt x="367651" y="0"/>
                  </a:lnTo>
                  <a:lnTo>
                    <a:pt x="3676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5"/>
              <a:t>Connections</a:t>
            </a:r>
            <a:r>
              <a:rPr dirty="0" spc="-70"/>
              <a:t> </a:t>
            </a:r>
            <a:r>
              <a:rPr dirty="0" spc="-114"/>
              <a:t>to</a:t>
            </a:r>
            <a:r>
              <a:rPr dirty="0" spc="-70"/>
              <a:t> </a:t>
            </a:r>
            <a:r>
              <a:rPr dirty="0" spc="-114"/>
              <a:t>Previous</a:t>
            </a:r>
            <a:r>
              <a:rPr dirty="0" spc="-70"/>
              <a:t> </a:t>
            </a:r>
            <a:r>
              <a:rPr dirty="0" spc="-110"/>
              <a:t>Lectures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2016046"/>
            <a:ext cx="5040630" cy="361315"/>
            <a:chOff x="359994" y="2016046"/>
            <a:chExt cx="5040630" cy="361315"/>
          </a:xfrm>
        </p:grpSpPr>
        <p:sp>
          <p:nvSpPr>
            <p:cNvPr id="4" name="object 4"/>
            <p:cNvSpPr/>
            <p:nvPr/>
          </p:nvSpPr>
          <p:spPr>
            <a:xfrm>
              <a:off x="359994" y="2016046"/>
              <a:ext cx="5040630" cy="361315"/>
            </a:xfrm>
            <a:custGeom>
              <a:avLst/>
              <a:gdLst/>
              <a:ahLst/>
              <a:cxnLst/>
              <a:rect l="l" t="t" r="r" b="b"/>
              <a:pathLst>
                <a:path w="5040630" h="36131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3244"/>
                  </a:lnTo>
                  <a:lnTo>
                    <a:pt x="2982" y="338019"/>
                  </a:lnTo>
                  <a:lnTo>
                    <a:pt x="11117" y="350085"/>
                  </a:lnTo>
                  <a:lnTo>
                    <a:pt x="23182" y="358219"/>
                  </a:lnTo>
                  <a:lnTo>
                    <a:pt x="37958" y="361202"/>
                  </a:lnTo>
                  <a:lnTo>
                    <a:pt x="5002106" y="361202"/>
                  </a:lnTo>
                  <a:lnTo>
                    <a:pt x="5016882" y="358219"/>
                  </a:lnTo>
                  <a:lnTo>
                    <a:pt x="5028947" y="350085"/>
                  </a:lnTo>
                  <a:lnTo>
                    <a:pt x="5037082" y="338019"/>
                  </a:lnTo>
                  <a:lnTo>
                    <a:pt x="5040064" y="323244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2180215"/>
              <a:ext cx="5015230" cy="184785"/>
            </a:xfrm>
            <a:custGeom>
              <a:avLst/>
              <a:gdLst/>
              <a:ahLst/>
              <a:cxnLst/>
              <a:rect l="l" t="t" r="r" b="b"/>
              <a:pathLst>
                <a:path w="5015230" h="184785">
                  <a:moveTo>
                    <a:pt x="5014759" y="0"/>
                  </a:moveTo>
                  <a:lnTo>
                    <a:pt x="0" y="0"/>
                  </a:lnTo>
                  <a:lnTo>
                    <a:pt x="0" y="159076"/>
                  </a:lnTo>
                  <a:lnTo>
                    <a:pt x="1988" y="168926"/>
                  </a:lnTo>
                  <a:lnTo>
                    <a:pt x="7411" y="176969"/>
                  </a:lnTo>
                  <a:lnTo>
                    <a:pt x="15455" y="182392"/>
                  </a:lnTo>
                  <a:lnTo>
                    <a:pt x="25305" y="184381"/>
                  </a:lnTo>
                  <a:lnTo>
                    <a:pt x="4989454" y="184381"/>
                  </a:lnTo>
                  <a:lnTo>
                    <a:pt x="4999304" y="182392"/>
                  </a:lnTo>
                  <a:lnTo>
                    <a:pt x="5007347" y="176969"/>
                  </a:lnTo>
                  <a:lnTo>
                    <a:pt x="5012770" y="168926"/>
                  </a:lnTo>
                  <a:lnTo>
                    <a:pt x="5014759" y="159076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47294" y="804565"/>
            <a:ext cx="5062220" cy="153479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214629">
              <a:lnSpc>
                <a:spcPts val="960"/>
              </a:lnSpc>
              <a:spcBef>
                <a:spcPts val="225"/>
              </a:spcBef>
            </a:pP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Lecture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2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(Virtue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Ethics)</a:t>
            </a:r>
            <a:r>
              <a:rPr dirty="0" sz="900" spc="-8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Aristotle:</a:t>
            </a:r>
            <a:r>
              <a:rPr dirty="0" sz="900" spc="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character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formed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habituation</a:t>
            </a:r>
            <a:r>
              <a:rPr dirty="0" sz="900" spc="-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become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repeatedly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do.</a:t>
            </a:r>
            <a:r>
              <a:rPr dirty="0" sz="9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millions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repeatedly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do.</a:t>
            </a:r>
            <a:endParaRPr sz="900">
              <a:latin typeface="Arial"/>
              <a:cs typeface="Arial"/>
            </a:endParaRPr>
          </a:p>
          <a:p>
            <a:pPr marL="12700" marR="86995">
              <a:lnSpc>
                <a:spcPts val="960"/>
              </a:lnSpc>
              <a:spcBef>
                <a:spcPts val="350"/>
              </a:spcBef>
            </a:pP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Lecture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7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(AI)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Complex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goal-directed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behavior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raises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questions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AI: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constitute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genuine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agency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960"/>
              </a:lnSpc>
              <a:spcBef>
                <a:spcPts val="350"/>
              </a:spcBef>
            </a:pP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Lecture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8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(Work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and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Automation)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eliminates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labor,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Suits’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philosophy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serious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answers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“what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then?”</a:t>
            </a:r>
            <a:endParaRPr sz="900">
              <a:latin typeface="Arial"/>
              <a:cs typeface="Arial"/>
            </a:endParaRPr>
          </a:p>
          <a:p>
            <a:pPr marL="12700" marR="184150">
              <a:lnSpc>
                <a:spcPts val="960"/>
              </a:lnSpc>
              <a:spcBef>
                <a:spcPts val="350"/>
              </a:spcBef>
            </a:pP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Lecture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11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(Robot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Rights)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Suits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argues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life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playing.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systems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someday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participate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game?</a:t>
            </a:r>
            <a:endParaRPr sz="9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665"/>
              </a:spcBef>
            </a:pP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900">
              <a:latin typeface="Arial Black"/>
              <a:cs typeface="Arial Black"/>
            </a:endParaRPr>
          </a:p>
          <a:p>
            <a:pPr marL="100965">
              <a:lnSpc>
                <a:spcPct val="100000"/>
              </a:lnSpc>
              <a:spcBef>
                <a:spcPts val="204"/>
              </a:spcBef>
            </a:pP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opposite</a:t>
            </a:r>
            <a:r>
              <a:rPr dirty="0" sz="900" spc="5" i="1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work,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its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complement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215">
                <a:latin typeface="Arial"/>
                <a:cs typeface="Arial"/>
              </a:rPr>
              <a:t>—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could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someday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its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replacement</a:t>
            </a:r>
            <a:r>
              <a:rPr dirty="0" sz="900" spc="-10">
                <a:latin typeface="Arial"/>
                <a:cs typeface="Arial"/>
              </a:rPr>
              <a:t>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490855" cy="5080"/>
            </a:xfrm>
            <a:custGeom>
              <a:avLst/>
              <a:gdLst/>
              <a:ahLst/>
              <a:cxnLst/>
              <a:rect l="l" t="t" r="r" b="b"/>
              <a:pathLst>
                <a:path w="490855" h="5080">
                  <a:moveTo>
                    <a:pt x="0" y="5060"/>
                  </a:moveTo>
                  <a:lnTo>
                    <a:pt x="0" y="0"/>
                  </a:lnTo>
                  <a:lnTo>
                    <a:pt x="490260" y="0"/>
                  </a:lnTo>
                  <a:lnTo>
                    <a:pt x="4902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L</a:t>
            </a:r>
            <a:r>
              <a:rPr dirty="0" spc="-135"/>
              <a:t>ectu</a:t>
            </a:r>
            <a:r>
              <a:rPr dirty="0" spc="-135"/>
              <a:t>re</a:t>
            </a:r>
            <a:r>
              <a:rPr dirty="0" spc="-60"/>
              <a:t> </a:t>
            </a:r>
            <a:r>
              <a:rPr dirty="0" spc="-85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23235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Part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I: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What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Is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Play?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Part</a:t>
            </a:r>
            <a:r>
              <a:rPr dirty="0" sz="1100" spc="-4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9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II: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Defining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10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III: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Games,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Moral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Panic,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Work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Ethic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IV: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Games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—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Harm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or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Benefit?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Virtue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Ethics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7112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VI: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Life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as 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Game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—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Suits’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Grasshopper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Part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5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VII: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AI,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Post-Work,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the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Meaning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of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Life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612775" cy="5080"/>
            </a:xfrm>
            <a:custGeom>
              <a:avLst/>
              <a:gdLst/>
              <a:ahLst/>
              <a:cxnLst/>
              <a:rect l="l" t="t" r="r" b="b"/>
              <a:pathLst>
                <a:path w="612775" h="5080">
                  <a:moveTo>
                    <a:pt x="0" y="5060"/>
                  </a:moveTo>
                  <a:lnTo>
                    <a:pt x="0" y="0"/>
                  </a:lnTo>
                  <a:lnTo>
                    <a:pt x="612780" y="0"/>
                  </a:lnTo>
                  <a:lnTo>
                    <a:pt x="6127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Play </a:t>
            </a:r>
            <a:r>
              <a:rPr dirty="0" spc="-140"/>
              <a:t>as</a:t>
            </a:r>
            <a:r>
              <a:rPr dirty="0" spc="-105"/>
              <a:t> </a:t>
            </a:r>
            <a:r>
              <a:rPr dirty="0" spc="-120"/>
              <a:t>a</a:t>
            </a:r>
            <a:r>
              <a:rPr dirty="0" spc="-100"/>
              <a:t> </a:t>
            </a:r>
            <a:r>
              <a:rPr dirty="0" spc="-125"/>
              <a:t>Human</a:t>
            </a:r>
            <a:r>
              <a:rPr dirty="0" spc="-100"/>
              <a:t> </a:t>
            </a:r>
            <a:r>
              <a:rPr dirty="0" spc="-95"/>
              <a:t>Universal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2154087"/>
            <a:ext cx="5040630" cy="362585"/>
            <a:chOff x="359994" y="2154087"/>
            <a:chExt cx="5040630" cy="362585"/>
          </a:xfrm>
        </p:grpSpPr>
        <p:sp>
          <p:nvSpPr>
            <p:cNvPr id="4" name="object 4"/>
            <p:cNvSpPr/>
            <p:nvPr/>
          </p:nvSpPr>
          <p:spPr>
            <a:xfrm>
              <a:off x="359994" y="2154087"/>
              <a:ext cx="5040630" cy="362585"/>
            </a:xfrm>
            <a:custGeom>
              <a:avLst/>
              <a:gdLst/>
              <a:ahLst/>
              <a:cxnLst/>
              <a:rect l="l" t="t" r="r" b="b"/>
              <a:pathLst>
                <a:path w="5040630" h="36258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24611"/>
                  </a:lnTo>
                  <a:lnTo>
                    <a:pt x="2982" y="339386"/>
                  </a:lnTo>
                  <a:lnTo>
                    <a:pt x="11117" y="351451"/>
                  </a:lnTo>
                  <a:lnTo>
                    <a:pt x="23182" y="359586"/>
                  </a:lnTo>
                  <a:lnTo>
                    <a:pt x="37958" y="362569"/>
                  </a:lnTo>
                  <a:lnTo>
                    <a:pt x="5002106" y="362569"/>
                  </a:lnTo>
                  <a:lnTo>
                    <a:pt x="5016882" y="359586"/>
                  </a:lnTo>
                  <a:lnTo>
                    <a:pt x="5028947" y="351451"/>
                  </a:lnTo>
                  <a:lnTo>
                    <a:pt x="5037082" y="339386"/>
                  </a:lnTo>
                  <a:lnTo>
                    <a:pt x="5040064" y="324611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2318256"/>
              <a:ext cx="5015230" cy="186055"/>
            </a:xfrm>
            <a:custGeom>
              <a:avLst/>
              <a:gdLst/>
              <a:ahLst/>
              <a:cxnLst/>
              <a:rect l="l" t="t" r="r" b="b"/>
              <a:pathLst>
                <a:path w="5015230" h="186055">
                  <a:moveTo>
                    <a:pt x="5014759" y="0"/>
                  </a:moveTo>
                  <a:lnTo>
                    <a:pt x="0" y="0"/>
                  </a:lnTo>
                  <a:lnTo>
                    <a:pt x="0" y="160442"/>
                  </a:lnTo>
                  <a:lnTo>
                    <a:pt x="1988" y="170292"/>
                  </a:lnTo>
                  <a:lnTo>
                    <a:pt x="7411" y="178336"/>
                  </a:lnTo>
                  <a:lnTo>
                    <a:pt x="15455" y="183759"/>
                  </a:lnTo>
                  <a:lnTo>
                    <a:pt x="25305" y="185747"/>
                  </a:lnTo>
                  <a:lnTo>
                    <a:pt x="4989454" y="185747"/>
                  </a:lnTo>
                  <a:lnTo>
                    <a:pt x="4999304" y="183759"/>
                  </a:lnTo>
                  <a:lnTo>
                    <a:pt x="5007347" y="178336"/>
                  </a:lnTo>
                  <a:lnTo>
                    <a:pt x="5012770" y="170292"/>
                  </a:lnTo>
                  <a:lnTo>
                    <a:pt x="5014759" y="160442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47294" y="627485"/>
            <a:ext cx="4690745" cy="1850389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appear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every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human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culture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Dice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ancient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Mesopotamia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(c.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3000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BCE);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board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Egypt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China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Greek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Olympics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(776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BCE)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athletic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competition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civic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ritual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Children’s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society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near-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universal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feature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mammalian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development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Yet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philosophers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ambivalent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7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Play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voluntary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autotelic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(done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sake)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makes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trivial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dangerously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attractive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Aristotle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distinguished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leisure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schole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mere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amusement</a:t>
            </a:r>
            <a:endParaRPr sz="9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900">
              <a:latin typeface="Arial Black"/>
              <a:cs typeface="Arial Black"/>
            </a:endParaRPr>
          </a:p>
          <a:p>
            <a:pPr marL="100965">
              <a:lnSpc>
                <a:spcPct val="100000"/>
              </a:lnSpc>
              <a:spcBef>
                <a:spcPts val="200"/>
              </a:spcBef>
            </a:pPr>
            <a:r>
              <a:rPr dirty="0" sz="900" spc="-40">
                <a:latin typeface="Arial"/>
                <a:cs typeface="Arial"/>
              </a:rPr>
              <a:t>Can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something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both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unserious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 </a:t>
            </a:r>
            <a:r>
              <a:rPr dirty="0" sz="900" spc="-10" i="1">
                <a:latin typeface="Arial"/>
                <a:cs typeface="Arial"/>
              </a:rPr>
              <a:t>deeply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important</a:t>
            </a:r>
            <a:r>
              <a:rPr dirty="0" sz="900" spc="-10">
                <a:latin typeface="Arial"/>
                <a:cs typeface="Arial"/>
              </a:rPr>
              <a:t>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735330" cy="5080"/>
            </a:xfrm>
            <a:custGeom>
              <a:avLst/>
              <a:gdLst/>
              <a:ahLst/>
              <a:cxnLst/>
              <a:rect l="l" t="t" r="r" b="b"/>
              <a:pathLst>
                <a:path w="735330" h="5080">
                  <a:moveTo>
                    <a:pt x="0" y="5060"/>
                  </a:moveTo>
                  <a:lnTo>
                    <a:pt x="0" y="0"/>
                  </a:lnTo>
                  <a:lnTo>
                    <a:pt x="735302" y="0"/>
                  </a:lnTo>
                  <a:lnTo>
                    <a:pt x="7353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9057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0"/>
              <a:t>Johan</a:t>
            </a:r>
            <a:r>
              <a:rPr dirty="0" spc="-95"/>
              <a:t> </a:t>
            </a:r>
            <a:r>
              <a:rPr dirty="0" spc="-100"/>
              <a:t>Huizinga</a:t>
            </a:r>
            <a:r>
              <a:rPr dirty="0" spc="-95"/>
              <a:t> </a:t>
            </a:r>
            <a:r>
              <a:rPr dirty="0" spc="-105"/>
              <a:t>and</a:t>
            </a:r>
            <a:r>
              <a:rPr dirty="0" spc="-95"/>
              <a:t> </a:t>
            </a:r>
            <a:r>
              <a:rPr dirty="0" spc="-60" b="1" i="1">
                <a:latin typeface="Arial"/>
                <a:cs typeface="Arial"/>
              </a:rPr>
              <a:t>Homo</a:t>
            </a:r>
            <a:r>
              <a:rPr dirty="0" spc="-25" b="1" i="1">
                <a:latin typeface="Arial"/>
                <a:cs typeface="Arial"/>
              </a:rPr>
              <a:t> </a:t>
            </a:r>
            <a:r>
              <a:rPr dirty="0" spc="-70" b="1" i="1">
                <a:latin typeface="Arial"/>
                <a:cs typeface="Arial"/>
              </a:rPr>
              <a:t>Ludens</a:t>
            </a:r>
            <a:r>
              <a:rPr dirty="0" spc="-30" b="1" i="1">
                <a:latin typeface="Arial"/>
                <a:cs typeface="Arial"/>
              </a:rPr>
              <a:t> </a:t>
            </a:r>
            <a:r>
              <a:rPr dirty="0" spc="-55"/>
              <a:t>(1938)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688" y="566849"/>
            <a:ext cx="1179576" cy="15609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698" y="2208236"/>
            <a:ext cx="1778635" cy="3587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Johan</a:t>
            </a:r>
            <a:r>
              <a:rPr dirty="0" sz="8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Huizinga</a:t>
            </a:r>
            <a:r>
              <a:rPr dirty="0" sz="8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(1872–1945).</a:t>
            </a:r>
            <a:r>
              <a:rPr dirty="0" sz="8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Portrait,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dirty="0" sz="8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domain, via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Wikimedia Commons.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44826" y="600308"/>
            <a:ext cx="3124835" cy="1258570"/>
            <a:chOff x="2344826" y="600308"/>
            <a:chExt cx="3124835" cy="1258570"/>
          </a:xfrm>
        </p:grpSpPr>
        <p:sp>
          <p:nvSpPr>
            <p:cNvPr id="6" name="object 6"/>
            <p:cNvSpPr/>
            <p:nvPr/>
          </p:nvSpPr>
          <p:spPr>
            <a:xfrm>
              <a:off x="2344826" y="600308"/>
              <a:ext cx="3124835" cy="1258570"/>
            </a:xfrm>
            <a:custGeom>
              <a:avLst/>
              <a:gdLst/>
              <a:ahLst/>
              <a:cxnLst/>
              <a:rect l="l" t="t" r="r" b="b"/>
              <a:pathLst>
                <a:path w="3124835" h="1258570">
                  <a:moveTo>
                    <a:pt x="3086857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220212"/>
                  </a:lnTo>
                  <a:lnTo>
                    <a:pt x="2982" y="1234987"/>
                  </a:lnTo>
                  <a:lnTo>
                    <a:pt x="11117" y="1247053"/>
                  </a:lnTo>
                  <a:lnTo>
                    <a:pt x="23182" y="1255187"/>
                  </a:lnTo>
                  <a:lnTo>
                    <a:pt x="37958" y="1258170"/>
                  </a:lnTo>
                  <a:lnTo>
                    <a:pt x="3086857" y="1258170"/>
                  </a:lnTo>
                  <a:lnTo>
                    <a:pt x="3101632" y="1255187"/>
                  </a:lnTo>
                  <a:lnTo>
                    <a:pt x="3113697" y="1247053"/>
                  </a:lnTo>
                  <a:lnTo>
                    <a:pt x="3121832" y="1234987"/>
                  </a:lnTo>
                  <a:lnTo>
                    <a:pt x="3124815" y="1220212"/>
                  </a:lnTo>
                  <a:lnTo>
                    <a:pt x="3124815" y="37958"/>
                  </a:lnTo>
                  <a:lnTo>
                    <a:pt x="3121832" y="23182"/>
                  </a:lnTo>
                  <a:lnTo>
                    <a:pt x="3113697" y="11117"/>
                  </a:lnTo>
                  <a:lnTo>
                    <a:pt x="3101632" y="2982"/>
                  </a:lnTo>
                  <a:lnTo>
                    <a:pt x="3086857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57479" y="984195"/>
              <a:ext cx="3100070" cy="861694"/>
            </a:xfrm>
            <a:custGeom>
              <a:avLst/>
              <a:gdLst/>
              <a:ahLst/>
              <a:cxnLst/>
              <a:rect l="l" t="t" r="r" b="b"/>
              <a:pathLst>
                <a:path w="3100070" h="861694">
                  <a:moveTo>
                    <a:pt x="3099510" y="0"/>
                  </a:moveTo>
                  <a:lnTo>
                    <a:pt x="0" y="0"/>
                  </a:lnTo>
                  <a:lnTo>
                    <a:pt x="0" y="836325"/>
                  </a:lnTo>
                  <a:lnTo>
                    <a:pt x="1988" y="846175"/>
                  </a:lnTo>
                  <a:lnTo>
                    <a:pt x="7411" y="854219"/>
                  </a:lnTo>
                  <a:lnTo>
                    <a:pt x="15455" y="859642"/>
                  </a:lnTo>
                  <a:lnTo>
                    <a:pt x="25305" y="861631"/>
                  </a:lnTo>
                  <a:lnTo>
                    <a:pt x="3074204" y="861631"/>
                  </a:lnTo>
                  <a:lnTo>
                    <a:pt x="3084054" y="859642"/>
                  </a:lnTo>
                  <a:lnTo>
                    <a:pt x="3092098" y="854219"/>
                  </a:lnTo>
                  <a:lnTo>
                    <a:pt x="3097521" y="846175"/>
                  </a:lnTo>
                  <a:lnTo>
                    <a:pt x="3099510" y="836325"/>
                  </a:lnTo>
                  <a:lnTo>
                    <a:pt x="3099510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524772" y="603515"/>
            <a:ext cx="2765425" cy="11461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12700" marR="5080">
              <a:lnSpc>
                <a:spcPts val="1190"/>
              </a:lnSpc>
              <a:spcBef>
                <a:spcPts val="235"/>
              </a:spcBef>
            </a:pPr>
            <a:r>
              <a:rPr dirty="0" sz="1100" spc="-25">
                <a:solidFill>
                  <a:srgbClr val="FFFFFF"/>
                </a:solidFill>
                <a:latin typeface="Arial Black"/>
                <a:cs typeface="Arial Black"/>
              </a:rPr>
              <a:t>Homo</a:t>
            </a:r>
            <a:r>
              <a:rPr dirty="0" sz="11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 Black"/>
                <a:cs typeface="Arial Black"/>
              </a:rPr>
              <a:t>Ludens</a:t>
            </a:r>
            <a:r>
              <a:rPr dirty="0" sz="1100">
                <a:solidFill>
                  <a:srgbClr val="FFFFFF"/>
                </a:solidFill>
                <a:latin typeface="Arial Black"/>
                <a:cs typeface="Arial Black"/>
              </a:rPr>
              <a:t> and the </a:t>
            </a:r>
            <a:r>
              <a:rPr dirty="0" sz="1100" spc="-55">
                <a:solidFill>
                  <a:srgbClr val="FFFFFF"/>
                </a:solidFill>
                <a:latin typeface="Arial Black"/>
                <a:cs typeface="Arial Black"/>
              </a:rPr>
              <a:t>Magic</a:t>
            </a:r>
            <a:r>
              <a:rPr dirty="0" sz="11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 Black"/>
                <a:cs typeface="Arial Black"/>
              </a:rPr>
              <a:t>Circle</a:t>
            </a:r>
            <a:r>
              <a:rPr dirty="0" sz="11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305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100" spc="-45">
                <a:solidFill>
                  <a:srgbClr val="FFFFFF"/>
                </a:solidFill>
                <a:latin typeface="Arial Black"/>
                <a:cs typeface="Arial Black"/>
              </a:rPr>
              <a:t> huizinga_homo_ludens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830"/>
              </a:lnSpc>
              <a:spcBef>
                <a:spcPts val="1175"/>
              </a:spcBef>
            </a:pPr>
            <a:r>
              <a:rPr dirty="0" sz="800">
                <a:latin typeface="Arial"/>
                <a:cs typeface="Arial"/>
              </a:rPr>
              <a:t>Huizinga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argued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40">
                <a:latin typeface="Arial Black"/>
                <a:cs typeface="Arial Black"/>
              </a:rPr>
              <a:t>play</a:t>
            </a:r>
            <a:r>
              <a:rPr dirty="0" sz="800" spc="-15">
                <a:latin typeface="Arial Black"/>
                <a:cs typeface="Arial Black"/>
              </a:rPr>
              <a:t> </a:t>
            </a:r>
            <a:r>
              <a:rPr dirty="0" sz="800">
                <a:latin typeface="Arial Black"/>
                <a:cs typeface="Arial Black"/>
              </a:rPr>
              <a:t>is</a:t>
            </a:r>
            <a:r>
              <a:rPr dirty="0" sz="800" spc="-20">
                <a:latin typeface="Arial Black"/>
                <a:cs typeface="Arial Black"/>
              </a:rPr>
              <a:t> </a:t>
            </a:r>
            <a:r>
              <a:rPr dirty="0" sz="800" spc="-60">
                <a:latin typeface="Arial Black"/>
                <a:cs typeface="Arial Black"/>
              </a:rPr>
              <a:t>culture’s</a:t>
            </a:r>
            <a:r>
              <a:rPr dirty="0" sz="800" spc="-5">
                <a:latin typeface="Arial Black"/>
                <a:cs typeface="Arial Black"/>
              </a:rPr>
              <a:t> </a:t>
            </a:r>
            <a:r>
              <a:rPr dirty="0" sz="800" spc="-20">
                <a:latin typeface="Arial Black"/>
                <a:cs typeface="Arial Black"/>
              </a:rPr>
              <a:t>foundation</a:t>
            </a:r>
            <a:r>
              <a:rPr dirty="0" sz="800" spc="-20">
                <a:latin typeface="Arial"/>
                <a:cs typeface="Arial"/>
              </a:rPr>
              <a:t>.</a:t>
            </a:r>
            <a:r>
              <a:rPr dirty="0" sz="800" spc="275">
                <a:latin typeface="Arial"/>
                <a:cs typeface="Arial"/>
              </a:rPr>
              <a:t> </a:t>
            </a:r>
            <a:r>
              <a:rPr dirty="0" sz="800" spc="-20" i="1">
                <a:latin typeface="Arial"/>
                <a:cs typeface="Arial"/>
              </a:rPr>
              <a:t>Homo</a:t>
            </a:r>
            <a:r>
              <a:rPr dirty="0" sz="800" spc="-20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sapiens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homo</a:t>
            </a:r>
            <a:r>
              <a:rPr dirty="0" sz="800" spc="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faber</a:t>
            </a:r>
            <a:r>
              <a:rPr dirty="0" sz="800" spc="5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both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miss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something: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20" i="1">
                <a:latin typeface="Arial"/>
                <a:cs typeface="Arial"/>
              </a:rPr>
              <a:t>homo</a:t>
            </a:r>
            <a:r>
              <a:rPr dirty="0" sz="800" spc="-20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ludens</a:t>
            </a:r>
            <a:r>
              <a:rPr dirty="0" sz="800" spc="-5" i="1">
                <a:latin typeface="Arial"/>
                <a:cs typeface="Arial"/>
              </a:rPr>
              <a:t> </a:t>
            </a:r>
            <a:r>
              <a:rPr dirty="0" sz="800" spc="-190">
                <a:latin typeface="Arial"/>
                <a:cs typeface="Arial"/>
              </a:rPr>
              <a:t>—</a:t>
            </a:r>
            <a:r>
              <a:rPr dirty="0" sz="800">
                <a:latin typeface="Arial"/>
                <a:cs typeface="Arial"/>
              </a:rPr>
              <a:t> the </a:t>
            </a:r>
            <a:r>
              <a:rPr dirty="0" sz="800" spc="-70">
                <a:latin typeface="Arial Black"/>
                <a:cs typeface="Arial Black"/>
              </a:rPr>
              <a:t>playing</a:t>
            </a:r>
            <a:r>
              <a:rPr dirty="0" sz="800" spc="-50">
                <a:latin typeface="Arial Black"/>
                <a:cs typeface="Arial Black"/>
              </a:rPr>
              <a:t> </a:t>
            </a:r>
            <a:r>
              <a:rPr dirty="0" sz="800" spc="-10">
                <a:latin typeface="Arial Black"/>
                <a:cs typeface="Arial Black"/>
              </a:rPr>
              <a:t>human</a:t>
            </a:r>
            <a:r>
              <a:rPr dirty="0" sz="800" spc="-10"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  <a:p>
            <a:pPr algn="just" marL="12700" marR="5080" indent="-635">
              <a:lnSpc>
                <a:spcPts val="830"/>
              </a:lnSpc>
              <a:spcBef>
                <a:spcPts val="150"/>
              </a:spcBef>
            </a:pPr>
            <a:r>
              <a:rPr dirty="0" sz="800">
                <a:latin typeface="Arial"/>
                <a:cs typeface="Arial"/>
              </a:rPr>
              <a:t>Play</a:t>
            </a:r>
            <a:r>
              <a:rPr dirty="0" sz="800" spc="-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occurs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 a </a:t>
            </a:r>
            <a:r>
              <a:rPr dirty="0" sz="800" spc="-110">
                <a:latin typeface="Arial Black"/>
                <a:cs typeface="Arial Black"/>
              </a:rPr>
              <a:t>magic</a:t>
            </a:r>
            <a:r>
              <a:rPr dirty="0" sz="800" spc="40">
                <a:latin typeface="Arial Black"/>
                <a:cs typeface="Arial Black"/>
              </a:rPr>
              <a:t> </a:t>
            </a:r>
            <a:r>
              <a:rPr dirty="0" sz="800" spc="-60">
                <a:latin typeface="Arial Black"/>
                <a:cs typeface="Arial Black"/>
              </a:rPr>
              <a:t>circle</a:t>
            </a:r>
            <a:r>
              <a:rPr dirty="0" sz="800" spc="-60">
                <a:latin typeface="Arial"/>
                <a:cs typeface="Arial"/>
              </a:rPr>
              <a:t>: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 special, bounded space </a:t>
            </a:r>
            <a:r>
              <a:rPr dirty="0" sz="800" spc="-25">
                <a:latin typeface="Arial"/>
                <a:cs typeface="Arial"/>
              </a:rPr>
              <a:t>en-</a:t>
            </a:r>
            <a:r>
              <a:rPr dirty="0" sz="800">
                <a:latin typeface="Arial"/>
                <a:cs typeface="Arial"/>
              </a:rPr>
              <a:t>tered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voluntarily,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where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ordinary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rules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are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suspended</a:t>
            </a:r>
            <a:r>
              <a:rPr dirty="0" sz="800" spc="-30">
                <a:latin typeface="Arial"/>
                <a:cs typeface="Arial"/>
              </a:rPr>
              <a:t> and</a:t>
            </a:r>
            <a:r>
              <a:rPr dirty="0" sz="800" spc="-25">
                <a:latin typeface="Arial"/>
                <a:cs typeface="Arial"/>
              </a:rPr>
              <a:t> the</a:t>
            </a:r>
            <a:r>
              <a:rPr dirty="0" sz="800" spc="-20">
                <a:latin typeface="Arial"/>
                <a:cs typeface="Arial"/>
              </a:rPr>
              <a:t> game’s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own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rules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reign.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858519" cy="5080"/>
            </a:xfrm>
            <a:custGeom>
              <a:avLst/>
              <a:gdLst/>
              <a:ahLst/>
              <a:cxnLst/>
              <a:rect l="l" t="t" r="r" b="b"/>
              <a:pathLst>
                <a:path w="858519" h="5080">
                  <a:moveTo>
                    <a:pt x="0" y="5060"/>
                  </a:moveTo>
                  <a:lnTo>
                    <a:pt x="0" y="0"/>
                  </a:lnTo>
                  <a:lnTo>
                    <a:pt x="857911" y="0"/>
                  </a:lnTo>
                  <a:lnTo>
                    <a:pt x="8579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17475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5"/>
              <a:t>Features</a:t>
            </a:r>
            <a:r>
              <a:rPr dirty="0" spc="-75"/>
              <a:t> </a:t>
            </a:r>
            <a:r>
              <a:rPr dirty="0" spc="-95"/>
              <a:t>of</a:t>
            </a:r>
            <a:r>
              <a:rPr dirty="0" spc="-70"/>
              <a:t> 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7095"/>
            <a:ext cx="40544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Huizinga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identifies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defining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features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genuine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play</a:t>
            </a:r>
            <a:r>
              <a:rPr dirty="0" sz="900" spc="-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huizinga_homo_ludens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):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7213" y="823373"/>
            <a:ext cx="2419350" cy="1476375"/>
            <a:chOff x="307213" y="823373"/>
            <a:chExt cx="2419350" cy="1476375"/>
          </a:xfrm>
        </p:grpSpPr>
        <p:sp>
          <p:nvSpPr>
            <p:cNvPr id="5" name="object 5"/>
            <p:cNvSpPr/>
            <p:nvPr/>
          </p:nvSpPr>
          <p:spPr>
            <a:xfrm>
              <a:off x="307213" y="823373"/>
              <a:ext cx="2419350" cy="1476375"/>
            </a:xfrm>
            <a:custGeom>
              <a:avLst/>
              <a:gdLst/>
              <a:ahLst/>
              <a:cxnLst/>
              <a:rect l="l" t="t" r="r" b="b"/>
              <a:pathLst>
                <a:path w="2419350" h="1476375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438384"/>
                  </a:lnTo>
                  <a:lnTo>
                    <a:pt x="2982" y="1453159"/>
                  </a:lnTo>
                  <a:lnTo>
                    <a:pt x="11117" y="1465225"/>
                  </a:lnTo>
                  <a:lnTo>
                    <a:pt x="23182" y="1473359"/>
                  </a:lnTo>
                  <a:lnTo>
                    <a:pt x="37958" y="1476342"/>
                  </a:lnTo>
                  <a:lnTo>
                    <a:pt x="2381251" y="1476342"/>
                  </a:lnTo>
                  <a:lnTo>
                    <a:pt x="2396026" y="1473359"/>
                  </a:lnTo>
                  <a:lnTo>
                    <a:pt x="2408091" y="1465225"/>
                  </a:lnTo>
                  <a:lnTo>
                    <a:pt x="2416226" y="1453159"/>
                  </a:lnTo>
                  <a:lnTo>
                    <a:pt x="2419209" y="1438384"/>
                  </a:lnTo>
                  <a:lnTo>
                    <a:pt x="2419209" y="37958"/>
                  </a:lnTo>
                  <a:lnTo>
                    <a:pt x="2416226" y="23182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9865" y="1031763"/>
              <a:ext cx="2393950" cy="1255395"/>
            </a:xfrm>
            <a:custGeom>
              <a:avLst/>
              <a:gdLst/>
              <a:ahLst/>
              <a:cxnLst/>
              <a:rect l="l" t="t" r="r" b="b"/>
              <a:pathLst>
                <a:path w="2393950" h="1255395">
                  <a:moveTo>
                    <a:pt x="2393904" y="0"/>
                  </a:moveTo>
                  <a:lnTo>
                    <a:pt x="0" y="0"/>
                  </a:lnTo>
                  <a:lnTo>
                    <a:pt x="0" y="1229994"/>
                  </a:lnTo>
                  <a:lnTo>
                    <a:pt x="1988" y="1239844"/>
                  </a:lnTo>
                  <a:lnTo>
                    <a:pt x="7411" y="1247888"/>
                  </a:lnTo>
                  <a:lnTo>
                    <a:pt x="15455" y="1253311"/>
                  </a:lnTo>
                  <a:lnTo>
                    <a:pt x="25305" y="1255299"/>
                  </a:lnTo>
                  <a:lnTo>
                    <a:pt x="2368598" y="1255299"/>
                  </a:lnTo>
                  <a:lnTo>
                    <a:pt x="2378448" y="1253311"/>
                  </a:lnTo>
                  <a:lnTo>
                    <a:pt x="2386492" y="1247888"/>
                  </a:lnTo>
                  <a:lnTo>
                    <a:pt x="2391915" y="1239844"/>
                  </a:lnTo>
                  <a:lnTo>
                    <a:pt x="2393904" y="1229994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87172" y="832403"/>
            <a:ext cx="1887220" cy="1359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FFFFFF"/>
                </a:solidFill>
                <a:latin typeface="Arial Black"/>
                <a:cs typeface="Arial Black"/>
              </a:rPr>
              <a:t>Makes</a:t>
            </a:r>
            <a:r>
              <a:rPr dirty="0" sz="90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FFFFFF"/>
                </a:solidFill>
                <a:latin typeface="Arial Black"/>
                <a:cs typeface="Arial Black"/>
              </a:rPr>
              <a:t>Something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Play</a:t>
            </a:r>
            <a:endParaRPr sz="900">
              <a:latin typeface="Arial Black"/>
              <a:cs typeface="Arial Black"/>
            </a:endParaRPr>
          </a:p>
          <a:p>
            <a:pPr marL="180340">
              <a:lnSpc>
                <a:spcPct val="100000"/>
              </a:lnSpc>
              <a:spcBef>
                <a:spcPts val="104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800" spc="3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70">
                <a:solidFill>
                  <a:srgbClr val="22373A"/>
                </a:solidFill>
                <a:latin typeface="Arial Black"/>
                <a:cs typeface="Arial Black"/>
              </a:rPr>
              <a:t>Free</a:t>
            </a:r>
            <a:r>
              <a:rPr dirty="0" sz="8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entered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voluntarily</a:t>
            </a:r>
            <a:endParaRPr sz="800">
              <a:latin typeface="Arial"/>
              <a:cs typeface="Arial"/>
            </a:endParaRPr>
          </a:p>
          <a:p>
            <a:pPr marL="289560" marR="5080" indent="-109855">
              <a:lnSpc>
                <a:spcPts val="830"/>
              </a:lnSpc>
              <a:spcBef>
                <a:spcPts val="40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800" spc="3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70">
                <a:solidFill>
                  <a:srgbClr val="22373A"/>
                </a:solidFill>
                <a:latin typeface="Arial Black"/>
                <a:cs typeface="Arial Black"/>
              </a:rPr>
              <a:t>Separate</a:t>
            </a:r>
            <a:r>
              <a:rPr dirty="0" sz="8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enclosed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time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8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endParaRPr sz="800">
              <a:latin typeface="Arial"/>
              <a:cs typeface="Arial"/>
            </a:endParaRPr>
          </a:p>
          <a:p>
            <a:pPr marL="289560" marR="492125" indent="-109855">
              <a:lnSpc>
                <a:spcPts val="830"/>
              </a:lnSpc>
              <a:spcBef>
                <a:spcPts val="40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800" spc="3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70">
                <a:solidFill>
                  <a:srgbClr val="22373A"/>
                </a:solidFill>
                <a:latin typeface="Arial Black"/>
                <a:cs typeface="Arial Black"/>
              </a:rPr>
              <a:t>Uncertain</a:t>
            </a:r>
            <a:r>
              <a:rPr dirty="0" sz="8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outcome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predetermined</a:t>
            </a:r>
            <a:endParaRPr sz="800">
              <a:latin typeface="Arial"/>
              <a:cs typeface="Arial"/>
            </a:endParaRPr>
          </a:p>
          <a:p>
            <a:pPr marL="289560" marR="116839" indent="-109855">
              <a:lnSpc>
                <a:spcPts val="830"/>
              </a:lnSpc>
              <a:spcBef>
                <a:spcPts val="40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800" spc="3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70">
                <a:solidFill>
                  <a:srgbClr val="22373A"/>
                </a:solidFill>
                <a:latin typeface="Arial Black"/>
                <a:cs typeface="Arial Black"/>
              </a:rPr>
              <a:t>Unproductive</a:t>
            </a:r>
            <a:r>
              <a:rPr dirty="0" sz="8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8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creates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 goods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outside</a:t>
            </a:r>
            <a:r>
              <a:rPr dirty="0" sz="8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itself</a:t>
            </a:r>
            <a:endParaRPr sz="8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270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800" spc="4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90">
                <a:solidFill>
                  <a:srgbClr val="22373A"/>
                </a:solidFill>
                <a:latin typeface="Arial Black"/>
                <a:cs typeface="Arial Black"/>
              </a:rPr>
              <a:t>Make-</a:t>
            </a:r>
            <a:r>
              <a:rPr dirty="0" sz="800" spc="-50">
                <a:solidFill>
                  <a:srgbClr val="22373A"/>
                </a:solidFill>
                <a:latin typeface="Arial Black"/>
                <a:cs typeface="Arial Black"/>
              </a:rPr>
              <a:t>believe</a:t>
            </a:r>
            <a:r>
              <a:rPr dirty="0" sz="800" spc="-5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8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8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“second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reality”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33610" y="823377"/>
            <a:ext cx="2419350" cy="1108710"/>
            <a:chOff x="3033610" y="823377"/>
            <a:chExt cx="2419350" cy="1108710"/>
          </a:xfrm>
        </p:grpSpPr>
        <p:sp>
          <p:nvSpPr>
            <p:cNvPr id="9" name="object 9"/>
            <p:cNvSpPr/>
            <p:nvPr/>
          </p:nvSpPr>
          <p:spPr>
            <a:xfrm>
              <a:off x="3033610" y="823377"/>
              <a:ext cx="2419350" cy="1108710"/>
            </a:xfrm>
            <a:custGeom>
              <a:avLst/>
              <a:gdLst/>
              <a:ahLst/>
              <a:cxnLst/>
              <a:rect l="l" t="t" r="r" b="b"/>
              <a:pathLst>
                <a:path w="2419350" h="1108710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070232"/>
                  </a:lnTo>
                  <a:lnTo>
                    <a:pt x="2982" y="1085007"/>
                  </a:lnTo>
                  <a:lnTo>
                    <a:pt x="11117" y="1097073"/>
                  </a:lnTo>
                  <a:lnTo>
                    <a:pt x="23182" y="1105207"/>
                  </a:lnTo>
                  <a:lnTo>
                    <a:pt x="37958" y="1108190"/>
                  </a:lnTo>
                  <a:lnTo>
                    <a:pt x="2381251" y="1108190"/>
                  </a:lnTo>
                  <a:lnTo>
                    <a:pt x="2396026" y="1105207"/>
                  </a:lnTo>
                  <a:lnTo>
                    <a:pt x="2408091" y="1097073"/>
                  </a:lnTo>
                  <a:lnTo>
                    <a:pt x="2416226" y="1085007"/>
                  </a:lnTo>
                  <a:lnTo>
                    <a:pt x="2419209" y="1070232"/>
                  </a:lnTo>
                  <a:lnTo>
                    <a:pt x="2419209" y="37958"/>
                  </a:lnTo>
                  <a:lnTo>
                    <a:pt x="2416226" y="23183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46263" y="1004495"/>
              <a:ext cx="2393950" cy="915035"/>
            </a:xfrm>
            <a:custGeom>
              <a:avLst/>
              <a:gdLst/>
              <a:ahLst/>
              <a:cxnLst/>
              <a:rect l="l" t="t" r="r" b="b"/>
              <a:pathLst>
                <a:path w="2393950" h="915035">
                  <a:moveTo>
                    <a:pt x="2393904" y="0"/>
                  </a:moveTo>
                  <a:lnTo>
                    <a:pt x="0" y="0"/>
                  </a:lnTo>
                  <a:lnTo>
                    <a:pt x="0" y="889114"/>
                  </a:lnTo>
                  <a:lnTo>
                    <a:pt x="1988" y="898965"/>
                  </a:lnTo>
                  <a:lnTo>
                    <a:pt x="7411" y="907008"/>
                  </a:lnTo>
                  <a:lnTo>
                    <a:pt x="15455" y="912431"/>
                  </a:lnTo>
                  <a:lnTo>
                    <a:pt x="25305" y="914420"/>
                  </a:lnTo>
                  <a:lnTo>
                    <a:pt x="2368598" y="914420"/>
                  </a:lnTo>
                  <a:lnTo>
                    <a:pt x="2378448" y="912431"/>
                  </a:lnTo>
                  <a:lnTo>
                    <a:pt x="2386492" y="907008"/>
                  </a:lnTo>
                  <a:lnTo>
                    <a:pt x="2391915" y="898965"/>
                  </a:lnTo>
                  <a:lnTo>
                    <a:pt x="2393904" y="889114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BF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213557" y="827984"/>
            <a:ext cx="2059939" cy="995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5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9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Puzzle</a:t>
            </a:r>
            <a:endParaRPr sz="900">
              <a:latin typeface="Arial Black"/>
              <a:cs typeface="Arial Black"/>
            </a:endParaRPr>
          </a:p>
          <a:p>
            <a:pPr algn="just" marL="12700" marR="5080">
              <a:lnSpc>
                <a:spcPts val="830"/>
              </a:lnSpc>
              <a:spcBef>
                <a:spcPts val="1010"/>
              </a:spcBef>
            </a:pPr>
            <a:r>
              <a:rPr dirty="0" sz="800" spc="60">
                <a:latin typeface="Arial"/>
                <a:cs typeface="Arial"/>
              </a:rPr>
              <a:t>If</a:t>
            </a:r>
            <a:r>
              <a:rPr dirty="0" sz="800" spc="114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play</a:t>
            </a:r>
            <a:r>
              <a:rPr dirty="0" sz="800" spc="1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120">
                <a:latin typeface="Arial"/>
                <a:cs typeface="Arial"/>
              </a:rPr>
              <a:t> </a:t>
            </a:r>
            <a:r>
              <a:rPr dirty="0" sz="800" spc="-65">
                <a:latin typeface="Arial Black"/>
                <a:cs typeface="Arial Black"/>
              </a:rPr>
              <a:t>unproductive</a:t>
            </a:r>
            <a:r>
              <a:rPr dirty="0" sz="800" spc="7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120">
                <a:latin typeface="Arial"/>
                <a:cs typeface="Arial"/>
              </a:rPr>
              <a:t> </a:t>
            </a:r>
            <a:r>
              <a:rPr dirty="0" sz="800" spc="-75">
                <a:latin typeface="Arial Black"/>
                <a:cs typeface="Arial Black"/>
              </a:rPr>
              <a:t>separate</a:t>
            </a:r>
            <a:r>
              <a:rPr dirty="0" sz="800" spc="70">
                <a:latin typeface="Arial Black"/>
                <a:cs typeface="Arial Black"/>
              </a:rPr>
              <a:t> </a:t>
            </a:r>
            <a:r>
              <a:rPr dirty="0" sz="800" spc="-20">
                <a:latin typeface="Arial"/>
                <a:cs typeface="Arial"/>
              </a:rPr>
              <a:t>from </a:t>
            </a:r>
            <a:r>
              <a:rPr dirty="0" sz="800">
                <a:latin typeface="Arial"/>
                <a:cs typeface="Arial"/>
              </a:rPr>
              <a:t>real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life, why does it matter so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much?</a:t>
            </a:r>
            <a:endParaRPr sz="800">
              <a:latin typeface="Arial"/>
              <a:cs typeface="Arial"/>
            </a:endParaRPr>
          </a:p>
          <a:p>
            <a:pPr algn="just" marL="12700" marR="5080">
              <a:lnSpc>
                <a:spcPts val="830"/>
              </a:lnSpc>
              <a:spcBef>
                <a:spcPts val="290"/>
              </a:spcBef>
            </a:pP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9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if</a:t>
            </a:r>
            <a:r>
              <a:rPr dirty="0" sz="800" spc="9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9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magic</a:t>
            </a:r>
            <a:r>
              <a:rPr dirty="0" sz="800" spc="10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circle</a:t>
            </a:r>
            <a:r>
              <a:rPr dirty="0" sz="800" spc="9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can</a:t>
            </a:r>
            <a:r>
              <a:rPr dirty="0" sz="800" spc="9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be</a:t>
            </a:r>
            <a:r>
              <a:rPr dirty="0" sz="800" spc="10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shattered</a:t>
            </a:r>
            <a:r>
              <a:rPr dirty="0" sz="800" spc="9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by</a:t>
            </a:r>
            <a:r>
              <a:rPr dirty="0" sz="800">
                <a:latin typeface="Arial"/>
                <a:cs typeface="Arial"/>
              </a:rPr>
              <a:t> stepping</a:t>
            </a:r>
            <a:r>
              <a:rPr dirty="0" sz="800" spc="1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outside</a:t>
            </a:r>
            <a:r>
              <a:rPr dirty="0" sz="800" spc="1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it,</a:t>
            </a:r>
            <a:r>
              <a:rPr dirty="0" sz="800" spc="19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how</a:t>
            </a:r>
            <a:r>
              <a:rPr dirty="0" sz="800" spc="1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can</a:t>
            </a:r>
            <a:r>
              <a:rPr dirty="0" sz="800" spc="15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play</a:t>
            </a:r>
            <a:r>
              <a:rPr dirty="0" sz="800" spc="1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bear</a:t>
            </a:r>
            <a:r>
              <a:rPr dirty="0" sz="800" spc="15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 weight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65">
                <a:latin typeface="Arial Black"/>
                <a:cs typeface="Arial Black"/>
              </a:rPr>
              <a:t>life’s</a:t>
            </a:r>
            <a:r>
              <a:rPr dirty="0" sz="800" spc="-35">
                <a:latin typeface="Arial Black"/>
                <a:cs typeface="Arial Black"/>
              </a:rPr>
              <a:t> </a:t>
            </a:r>
            <a:r>
              <a:rPr dirty="0" sz="800" spc="-10">
                <a:latin typeface="Arial Black"/>
                <a:cs typeface="Arial Black"/>
              </a:rPr>
              <a:t>meaning</a:t>
            </a:r>
            <a:r>
              <a:rPr dirty="0" sz="800" spc="-10">
                <a:latin typeface="Arial"/>
                <a:cs typeface="Arial"/>
              </a:rPr>
              <a:t>?</a:t>
            </a:r>
            <a:endParaRPr sz="8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55"/>
              </a:spcBef>
            </a:pPr>
            <a:r>
              <a:rPr dirty="0" sz="800" spc="-10">
                <a:latin typeface="Arial"/>
                <a:cs typeface="Arial"/>
              </a:rPr>
              <a:t>This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tension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Suits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will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try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resolve.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8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73"/>
                  </a:moveTo>
                  <a:lnTo>
                    <a:pt x="0" y="12"/>
                  </a:lnTo>
                  <a:lnTo>
                    <a:pt x="5760073" y="12"/>
                  </a:lnTo>
                  <a:lnTo>
                    <a:pt x="5760073" y="5073"/>
                  </a:lnTo>
                  <a:lnTo>
                    <a:pt x="0" y="5073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3234937"/>
              <a:ext cx="980440" cy="5080"/>
            </a:xfrm>
            <a:custGeom>
              <a:avLst/>
              <a:gdLst/>
              <a:ahLst/>
              <a:cxnLst/>
              <a:rect l="l" t="t" r="r" b="b"/>
              <a:pathLst>
                <a:path w="980440" h="5080">
                  <a:moveTo>
                    <a:pt x="0" y="5073"/>
                  </a:moveTo>
                  <a:lnTo>
                    <a:pt x="0" y="12"/>
                  </a:lnTo>
                  <a:lnTo>
                    <a:pt x="980432" y="12"/>
                  </a:lnTo>
                  <a:lnTo>
                    <a:pt x="980432" y="5073"/>
                  </a:lnTo>
                  <a:lnTo>
                    <a:pt x="0" y="5073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L</a:t>
            </a:r>
            <a:r>
              <a:rPr dirty="0" spc="-135"/>
              <a:t>ectu</a:t>
            </a:r>
            <a:r>
              <a:rPr dirty="0" spc="-135"/>
              <a:t>re</a:t>
            </a:r>
            <a:r>
              <a:rPr dirty="0" spc="-60"/>
              <a:t> </a:t>
            </a:r>
            <a:r>
              <a:rPr dirty="0" spc="-85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23235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Part</a:t>
            </a:r>
            <a:r>
              <a:rPr dirty="0" sz="1100" spc="-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I: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What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Is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Play?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Part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95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II: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Defining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10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III: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Games,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Moral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Panic,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Work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Ethic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IV: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Games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—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Harm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or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Benefit?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Virtue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Ethics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7112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VI: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Life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as 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Game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—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Suits’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Grasshopper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Part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5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VII: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AI,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Post-Work,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the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Meaning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of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Life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1102995" cy="5080"/>
            </a:xfrm>
            <a:custGeom>
              <a:avLst/>
              <a:gdLst/>
              <a:ahLst/>
              <a:cxnLst/>
              <a:rect l="l" t="t" r="r" b="b"/>
              <a:pathLst>
                <a:path w="1102995" h="5080">
                  <a:moveTo>
                    <a:pt x="0" y="5060"/>
                  </a:moveTo>
                  <a:lnTo>
                    <a:pt x="0" y="0"/>
                  </a:lnTo>
                  <a:lnTo>
                    <a:pt x="1102953" y="0"/>
                  </a:lnTo>
                  <a:lnTo>
                    <a:pt x="11029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85"/>
              <a:t> </a:t>
            </a:r>
            <a:r>
              <a:rPr dirty="0" spc="-105"/>
              <a:t>Problem</a:t>
            </a:r>
            <a:r>
              <a:rPr dirty="0" spc="-85"/>
              <a:t> </a:t>
            </a:r>
            <a:r>
              <a:rPr dirty="0" spc="-95"/>
              <a:t>of</a:t>
            </a:r>
            <a:r>
              <a:rPr dirty="0" spc="-80"/>
              <a:t> </a:t>
            </a:r>
            <a:r>
              <a:rPr dirty="0" spc="-95"/>
              <a:t>Defining</a:t>
            </a:r>
            <a:r>
              <a:rPr dirty="0" spc="-85"/>
              <a:t> </a:t>
            </a:r>
            <a:r>
              <a:rPr dirty="0" spc="-75"/>
              <a:t>“Game”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7095"/>
            <a:ext cx="16795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have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common?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91602" y="773099"/>
            <a:ext cx="2976880" cy="0"/>
          </a:xfrm>
          <a:custGeom>
            <a:avLst/>
            <a:gdLst/>
            <a:ahLst/>
            <a:cxnLst/>
            <a:rect l="l" t="t" r="r" b="b"/>
            <a:pathLst>
              <a:path w="2976879" h="0">
                <a:moveTo>
                  <a:pt x="0" y="0"/>
                </a:moveTo>
                <a:lnTo>
                  <a:pt x="2976791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54823" y="777831"/>
            <a:ext cx="1147445" cy="28511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960"/>
              </a:lnSpc>
              <a:spcBef>
                <a:spcPts val="225"/>
              </a:spcBef>
              <a:tabLst>
                <a:tab pos="586740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Chess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Poker Solitaire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Hopscotch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8455" y="777831"/>
            <a:ext cx="1577340" cy="28511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960"/>
              </a:lnSpc>
              <a:spcBef>
                <a:spcPts val="225"/>
              </a:spcBef>
              <a:tabLst>
                <a:tab pos="802005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Tennis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Minecraft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22373A"/>
                </a:solidFill>
                <a:latin typeface="Arial"/>
                <a:cs typeface="Arial"/>
              </a:rPr>
              <a:t>Candy</a:t>
            </a:r>
            <a:r>
              <a:rPr dirty="0" sz="900" spc="-1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Crush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Hide-and-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seek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91602" y="1093800"/>
            <a:ext cx="2976880" cy="0"/>
          </a:xfrm>
          <a:custGeom>
            <a:avLst/>
            <a:gdLst/>
            <a:ahLst/>
            <a:cxnLst/>
            <a:rect l="l" t="t" r="r" b="b"/>
            <a:pathLst>
              <a:path w="2976879" h="0">
                <a:moveTo>
                  <a:pt x="0" y="0"/>
                </a:moveTo>
                <a:lnTo>
                  <a:pt x="2976791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359994" y="1500775"/>
            <a:ext cx="5040630" cy="528320"/>
            <a:chOff x="359994" y="1500775"/>
            <a:chExt cx="5040630" cy="528320"/>
          </a:xfrm>
        </p:grpSpPr>
        <p:sp>
          <p:nvSpPr>
            <p:cNvPr id="9" name="object 9"/>
            <p:cNvSpPr/>
            <p:nvPr/>
          </p:nvSpPr>
          <p:spPr>
            <a:xfrm>
              <a:off x="359994" y="1500775"/>
              <a:ext cx="5040630" cy="528320"/>
            </a:xfrm>
            <a:custGeom>
              <a:avLst/>
              <a:gdLst/>
              <a:ahLst/>
              <a:cxnLst/>
              <a:rect l="l" t="t" r="r" b="b"/>
              <a:pathLst>
                <a:path w="5040630" h="528319">
                  <a:moveTo>
                    <a:pt x="5008433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496265"/>
                  </a:lnTo>
                  <a:lnTo>
                    <a:pt x="2485" y="508578"/>
                  </a:lnTo>
                  <a:lnTo>
                    <a:pt x="9264" y="518632"/>
                  </a:lnTo>
                  <a:lnTo>
                    <a:pt x="19319" y="525411"/>
                  </a:lnTo>
                  <a:lnTo>
                    <a:pt x="31631" y="527897"/>
                  </a:lnTo>
                  <a:lnTo>
                    <a:pt x="5008433" y="527897"/>
                  </a:lnTo>
                  <a:lnTo>
                    <a:pt x="5020745" y="525411"/>
                  </a:lnTo>
                  <a:lnTo>
                    <a:pt x="5030800" y="518632"/>
                  </a:lnTo>
                  <a:lnTo>
                    <a:pt x="5037579" y="508578"/>
                  </a:lnTo>
                  <a:lnTo>
                    <a:pt x="5040064" y="496265"/>
                  </a:lnTo>
                  <a:lnTo>
                    <a:pt x="5040064" y="31631"/>
                  </a:lnTo>
                  <a:lnTo>
                    <a:pt x="5037579" y="19319"/>
                  </a:lnTo>
                  <a:lnTo>
                    <a:pt x="5030800" y="9264"/>
                  </a:lnTo>
                  <a:lnTo>
                    <a:pt x="5020745" y="2485"/>
                  </a:lnTo>
                  <a:lnTo>
                    <a:pt x="5008433" y="0"/>
                  </a:lnTo>
                  <a:close/>
                </a:path>
              </a:pathLst>
            </a:custGeom>
            <a:solidFill>
              <a:srgbClr val="545F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7952" y="1696512"/>
              <a:ext cx="4996180" cy="326390"/>
            </a:xfrm>
            <a:custGeom>
              <a:avLst/>
              <a:gdLst/>
              <a:ahLst/>
              <a:cxnLst/>
              <a:rect l="l" t="t" r="r" b="b"/>
              <a:pathLst>
                <a:path w="4996180" h="326389">
                  <a:moveTo>
                    <a:pt x="4995780" y="0"/>
                  </a:moveTo>
                  <a:lnTo>
                    <a:pt x="0" y="0"/>
                  </a:lnTo>
                  <a:lnTo>
                    <a:pt x="0" y="300528"/>
                  </a:lnTo>
                  <a:lnTo>
                    <a:pt x="1988" y="310378"/>
                  </a:lnTo>
                  <a:lnTo>
                    <a:pt x="7411" y="318421"/>
                  </a:lnTo>
                  <a:lnTo>
                    <a:pt x="15455" y="323845"/>
                  </a:lnTo>
                  <a:lnTo>
                    <a:pt x="25305" y="325833"/>
                  </a:lnTo>
                  <a:lnTo>
                    <a:pt x="4970475" y="325833"/>
                  </a:lnTo>
                  <a:lnTo>
                    <a:pt x="4980325" y="323845"/>
                  </a:lnTo>
                  <a:lnTo>
                    <a:pt x="4988368" y="318421"/>
                  </a:lnTo>
                  <a:lnTo>
                    <a:pt x="4993791" y="310378"/>
                  </a:lnTo>
                  <a:lnTo>
                    <a:pt x="4995780" y="300528"/>
                  </a:lnTo>
                  <a:lnTo>
                    <a:pt x="499578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47294" y="1240226"/>
            <a:ext cx="4645660" cy="685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Wittgenstein:</a:t>
            </a:r>
            <a:r>
              <a:rPr dirty="0" sz="9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no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single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22373A"/>
                </a:solidFill>
                <a:latin typeface="Arial Black"/>
                <a:cs typeface="Arial Black"/>
              </a:rPr>
              <a:t>essence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“family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resemblances.”</a:t>
            </a:r>
            <a:r>
              <a:rPr dirty="0" sz="9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Suits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disagreed:</a:t>
            </a:r>
            <a:endParaRPr sz="900">
              <a:latin typeface="Arial"/>
              <a:cs typeface="Arial"/>
            </a:endParaRPr>
          </a:p>
          <a:p>
            <a:pPr marL="212725">
              <a:lnSpc>
                <a:spcPct val="100000"/>
              </a:lnSpc>
              <a:spcBef>
                <a:spcPts val="995"/>
              </a:spcBef>
            </a:pPr>
            <a:r>
              <a:rPr dirty="0" sz="900" spc="-10" i="1">
                <a:solidFill>
                  <a:srgbClr val="FFFFFF"/>
                </a:solidFill>
                <a:latin typeface="Arial"/>
                <a:cs typeface="Arial"/>
              </a:rPr>
              <a:t>Suits</a:t>
            </a:r>
            <a:r>
              <a:rPr dirty="0" sz="9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suits_grasshopper</a:t>
            </a:r>
            <a:r>
              <a:rPr dirty="0" sz="900" spc="-20" i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12725">
              <a:lnSpc>
                <a:spcPct val="100000"/>
              </a:lnSpc>
              <a:spcBef>
                <a:spcPts val="965"/>
              </a:spcBef>
            </a:pPr>
            <a:r>
              <a:rPr dirty="0" sz="900" spc="114">
                <a:latin typeface="Arial"/>
                <a:cs typeface="Arial"/>
              </a:rPr>
              <a:t>“I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propose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demonstrate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games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defined,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Wittgenstein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wrong.”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9994" y="2178481"/>
          <a:ext cx="5116195" cy="491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8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Why</a:t>
                      </a:r>
                      <a:r>
                        <a:rPr dirty="0" sz="1100" spc="-9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It</a:t>
                      </a:r>
                      <a:r>
                        <a:rPr dirty="0" sz="1100" spc="-9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Matters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45720" marR="106045">
                        <a:lnSpc>
                          <a:spcPts val="830"/>
                        </a:lnSpc>
                        <a:spcBef>
                          <a:spcPts val="300"/>
                        </a:spcBef>
                      </a:pPr>
                      <a:r>
                        <a:rPr dirty="0" sz="800" spc="6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say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precisely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800" spc="-15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game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is,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ask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games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</a:t>
                      </a:r>
                      <a:r>
                        <a:rPr dirty="0" sz="800" spc="-15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9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character,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sense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800" spc="-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meaning,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8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dirty="0" sz="8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understanding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8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life.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3234937"/>
              <a:ext cx="1226185" cy="5080"/>
            </a:xfrm>
            <a:custGeom>
              <a:avLst/>
              <a:gdLst/>
              <a:ahLst/>
              <a:cxnLst/>
              <a:rect l="l" t="t" r="r" b="b"/>
              <a:pathLst>
                <a:path w="1226185" h="5080">
                  <a:moveTo>
                    <a:pt x="0" y="5060"/>
                  </a:moveTo>
                  <a:lnTo>
                    <a:pt x="0" y="0"/>
                  </a:lnTo>
                  <a:lnTo>
                    <a:pt x="1225562" y="0"/>
                  </a:lnTo>
                  <a:lnTo>
                    <a:pt x="12255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Suits’</a:t>
            </a:r>
            <a:r>
              <a:rPr dirty="0" spc="-85"/>
              <a:t> Definition:</a:t>
            </a:r>
            <a:r>
              <a:rPr dirty="0" spc="-30"/>
              <a:t> </a:t>
            </a:r>
            <a:r>
              <a:rPr dirty="0" spc="-140"/>
              <a:t>The</a:t>
            </a:r>
            <a:r>
              <a:rPr dirty="0" spc="-80"/>
              <a:t> </a:t>
            </a:r>
            <a:r>
              <a:rPr dirty="0" spc="-125"/>
              <a:t>Three</a:t>
            </a:r>
            <a:r>
              <a:rPr dirty="0" spc="-85"/>
              <a:t> </a:t>
            </a:r>
            <a:r>
              <a:rPr dirty="0" spc="-95"/>
              <a:t>Elements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0321"/>
            <a:ext cx="5040630" cy="930275"/>
            <a:chOff x="359994" y="530321"/>
            <a:chExt cx="5040630" cy="930275"/>
          </a:xfrm>
        </p:grpSpPr>
        <p:sp>
          <p:nvSpPr>
            <p:cNvPr id="4" name="object 4"/>
            <p:cNvSpPr/>
            <p:nvPr/>
          </p:nvSpPr>
          <p:spPr>
            <a:xfrm>
              <a:off x="359994" y="530321"/>
              <a:ext cx="5040630" cy="930275"/>
            </a:xfrm>
            <a:custGeom>
              <a:avLst/>
              <a:gdLst/>
              <a:ahLst/>
              <a:cxnLst/>
              <a:rect l="l" t="t" r="r" b="b"/>
              <a:pathLst>
                <a:path w="5040630" h="93027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891712"/>
                  </a:lnTo>
                  <a:lnTo>
                    <a:pt x="2982" y="906487"/>
                  </a:lnTo>
                  <a:lnTo>
                    <a:pt x="11117" y="918552"/>
                  </a:lnTo>
                  <a:lnTo>
                    <a:pt x="23182" y="926687"/>
                  </a:lnTo>
                  <a:lnTo>
                    <a:pt x="37958" y="929670"/>
                  </a:lnTo>
                  <a:lnTo>
                    <a:pt x="5002106" y="929670"/>
                  </a:lnTo>
                  <a:lnTo>
                    <a:pt x="5016882" y="926687"/>
                  </a:lnTo>
                  <a:lnTo>
                    <a:pt x="5028947" y="918552"/>
                  </a:lnTo>
                  <a:lnTo>
                    <a:pt x="5037082" y="906487"/>
                  </a:lnTo>
                  <a:lnTo>
                    <a:pt x="5040064" y="891712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762780"/>
              <a:ext cx="5015230" cy="685165"/>
            </a:xfrm>
            <a:custGeom>
              <a:avLst/>
              <a:gdLst/>
              <a:ahLst/>
              <a:cxnLst/>
              <a:rect l="l" t="t" r="r" b="b"/>
              <a:pathLst>
                <a:path w="5015230" h="685165">
                  <a:moveTo>
                    <a:pt x="5014759" y="0"/>
                  </a:moveTo>
                  <a:lnTo>
                    <a:pt x="0" y="0"/>
                  </a:lnTo>
                  <a:lnTo>
                    <a:pt x="0" y="659253"/>
                  </a:lnTo>
                  <a:lnTo>
                    <a:pt x="1988" y="669103"/>
                  </a:lnTo>
                  <a:lnTo>
                    <a:pt x="7411" y="677147"/>
                  </a:lnTo>
                  <a:lnTo>
                    <a:pt x="15455" y="682570"/>
                  </a:lnTo>
                  <a:lnTo>
                    <a:pt x="25305" y="684559"/>
                  </a:lnTo>
                  <a:lnTo>
                    <a:pt x="4989454" y="684559"/>
                  </a:lnTo>
                  <a:lnTo>
                    <a:pt x="4999304" y="682570"/>
                  </a:lnTo>
                  <a:lnTo>
                    <a:pt x="5007347" y="677147"/>
                  </a:lnTo>
                  <a:lnTo>
                    <a:pt x="5012770" y="669103"/>
                  </a:lnTo>
                  <a:lnTo>
                    <a:pt x="5014759" y="659253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9953" y="533513"/>
            <a:ext cx="4680585" cy="826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solidFill>
                  <a:srgbClr val="FFFFFF"/>
                </a:solidFill>
                <a:latin typeface="Arial Black"/>
                <a:cs typeface="Arial Black"/>
              </a:rPr>
              <a:t>Playing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25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FFFFFF"/>
                </a:solidFill>
                <a:latin typeface="Arial Black"/>
                <a:cs typeface="Arial Black"/>
              </a:rPr>
              <a:t>Game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254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Arial Black"/>
                <a:cs typeface="Arial Black"/>
              </a:rPr>
              <a:t>suits_grasshopper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960"/>
              </a:lnSpc>
              <a:spcBef>
                <a:spcPts val="1150"/>
              </a:spcBef>
            </a:pPr>
            <a:r>
              <a:rPr dirty="0" sz="900" spc="-8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play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game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attempt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bring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about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specific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state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affairs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70">
                <a:latin typeface="Arial"/>
                <a:cs typeface="Arial"/>
              </a:rPr>
              <a:t>(</a:t>
            </a:r>
            <a:r>
              <a:rPr dirty="0" sz="900" spc="-70">
                <a:latin typeface="Arial Black"/>
                <a:cs typeface="Arial Black"/>
              </a:rPr>
              <a:t>prelusory</a:t>
            </a:r>
            <a:r>
              <a:rPr dirty="0" sz="900" spc="-5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goal</a:t>
            </a:r>
            <a:r>
              <a:rPr dirty="0" sz="900" spc="-70">
                <a:latin typeface="Arial"/>
                <a:cs typeface="Arial"/>
              </a:rPr>
              <a:t>),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using </a:t>
            </a:r>
            <a:r>
              <a:rPr dirty="0" sz="900">
                <a:latin typeface="Arial"/>
                <a:cs typeface="Arial"/>
              </a:rPr>
              <a:t>only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means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permitted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rules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80">
                <a:latin typeface="Arial"/>
                <a:cs typeface="Arial"/>
              </a:rPr>
              <a:t>(</a:t>
            </a:r>
            <a:r>
              <a:rPr dirty="0" sz="900" spc="-80">
                <a:latin typeface="Arial Black"/>
                <a:cs typeface="Arial Black"/>
              </a:rPr>
              <a:t>constitutive</a:t>
            </a:r>
            <a:r>
              <a:rPr dirty="0" sz="900" spc="10">
                <a:latin typeface="Arial Black"/>
                <a:cs typeface="Arial Black"/>
              </a:rPr>
              <a:t> </a:t>
            </a:r>
            <a:r>
              <a:rPr dirty="0" sz="900" spc="-50">
                <a:latin typeface="Arial Black"/>
                <a:cs typeface="Arial Black"/>
              </a:rPr>
              <a:t>rules</a:t>
            </a:r>
            <a:r>
              <a:rPr dirty="0" sz="900" spc="-50">
                <a:latin typeface="Arial"/>
                <a:cs typeface="Arial"/>
              </a:rPr>
              <a:t>),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where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rules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prohibit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more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efficient means,</a:t>
            </a:r>
            <a:r>
              <a:rPr dirty="0" sz="900">
                <a:latin typeface="Arial"/>
                <a:cs typeface="Arial"/>
              </a:rPr>
              <a:t> 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where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such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rules are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accepted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because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they make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activity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possible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(</a:t>
            </a:r>
            <a:r>
              <a:rPr dirty="0" sz="900" spc="-40">
                <a:latin typeface="Arial Black"/>
                <a:cs typeface="Arial Black"/>
              </a:rPr>
              <a:t>lusory </a:t>
            </a:r>
            <a:r>
              <a:rPr dirty="0" sz="900" spc="-10">
                <a:latin typeface="Arial Black"/>
                <a:cs typeface="Arial Black"/>
              </a:rPr>
              <a:t>attitude</a:t>
            </a:r>
            <a:r>
              <a:rPr dirty="0" sz="900" spc="-1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8211" y="1735400"/>
            <a:ext cx="1562735" cy="955675"/>
            <a:chOff x="268211" y="1735400"/>
            <a:chExt cx="1562735" cy="955675"/>
          </a:xfrm>
        </p:grpSpPr>
        <p:sp>
          <p:nvSpPr>
            <p:cNvPr id="8" name="object 8"/>
            <p:cNvSpPr/>
            <p:nvPr/>
          </p:nvSpPr>
          <p:spPr>
            <a:xfrm>
              <a:off x="268211" y="1735400"/>
              <a:ext cx="1562735" cy="955675"/>
            </a:xfrm>
            <a:custGeom>
              <a:avLst/>
              <a:gdLst/>
              <a:ahLst/>
              <a:cxnLst/>
              <a:rect l="l" t="t" r="r" b="b"/>
              <a:pathLst>
                <a:path w="1562735" h="955675">
                  <a:moveTo>
                    <a:pt x="1524449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917695"/>
                  </a:lnTo>
                  <a:lnTo>
                    <a:pt x="2982" y="932470"/>
                  </a:lnTo>
                  <a:lnTo>
                    <a:pt x="11117" y="944535"/>
                  </a:lnTo>
                  <a:lnTo>
                    <a:pt x="23182" y="952670"/>
                  </a:lnTo>
                  <a:lnTo>
                    <a:pt x="37958" y="955653"/>
                  </a:lnTo>
                  <a:lnTo>
                    <a:pt x="1524449" y="955653"/>
                  </a:lnTo>
                  <a:lnTo>
                    <a:pt x="1539224" y="952670"/>
                  </a:lnTo>
                  <a:lnTo>
                    <a:pt x="1551290" y="944535"/>
                  </a:lnTo>
                  <a:lnTo>
                    <a:pt x="1559424" y="932470"/>
                  </a:lnTo>
                  <a:lnTo>
                    <a:pt x="1562407" y="917695"/>
                  </a:lnTo>
                  <a:lnTo>
                    <a:pt x="1562407" y="37958"/>
                  </a:lnTo>
                  <a:lnTo>
                    <a:pt x="1559424" y="23182"/>
                  </a:lnTo>
                  <a:lnTo>
                    <a:pt x="1551290" y="11117"/>
                  </a:lnTo>
                  <a:lnTo>
                    <a:pt x="1539224" y="2982"/>
                  </a:lnTo>
                  <a:lnTo>
                    <a:pt x="1524449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0864" y="1960792"/>
              <a:ext cx="1537335" cy="718185"/>
            </a:xfrm>
            <a:custGeom>
              <a:avLst/>
              <a:gdLst/>
              <a:ahLst/>
              <a:cxnLst/>
              <a:rect l="l" t="t" r="r" b="b"/>
              <a:pathLst>
                <a:path w="1537335" h="718185">
                  <a:moveTo>
                    <a:pt x="1537102" y="0"/>
                  </a:moveTo>
                  <a:lnTo>
                    <a:pt x="0" y="0"/>
                  </a:lnTo>
                  <a:lnTo>
                    <a:pt x="0" y="692302"/>
                  </a:lnTo>
                  <a:lnTo>
                    <a:pt x="1988" y="702153"/>
                  </a:lnTo>
                  <a:lnTo>
                    <a:pt x="7411" y="710196"/>
                  </a:lnTo>
                  <a:lnTo>
                    <a:pt x="15455" y="715619"/>
                  </a:lnTo>
                  <a:lnTo>
                    <a:pt x="25305" y="717608"/>
                  </a:lnTo>
                  <a:lnTo>
                    <a:pt x="1511796" y="717608"/>
                  </a:lnTo>
                  <a:lnTo>
                    <a:pt x="1521646" y="715619"/>
                  </a:lnTo>
                  <a:lnTo>
                    <a:pt x="1529690" y="710196"/>
                  </a:lnTo>
                  <a:lnTo>
                    <a:pt x="1535113" y="702153"/>
                  </a:lnTo>
                  <a:lnTo>
                    <a:pt x="1537102" y="692302"/>
                  </a:lnTo>
                  <a:lnTo>
                    <a:pt x="1537102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48157" y="1733205"/>
            <a:ext cx="1202690" cy="8693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solidFill>
                  <a:srgbClr val="FFFFFF"/>
                </a:solidFill>
                <a:latin typeface="Arial Black"/>
                <a:cs typeface="Arial Black"/>
              </a:rPr>
              <a:t>1.</a:t>
            </a:r>
            <a:r>
              <a:rPr dirty="0" sz="110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FFFFFF"/>
                </a:solidFill>
                <a:latin typeface="Arial Black"/>
                <a:cs typeface="Arial Black"/>
              </a:rPr>
              <a:t>Prelusory</a:t>
            </a:r>
            <a:r>
              <a:rPr dirty="0" sz="11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Black"/>
                <a:cs typeface="Arial Black"/>
              </a:rPr>
              <a:t>Goal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830"/>
              </a:lnSpc>
              <a:spcBef>
                <a:spcPts val="1175"/>
              </a:spcBef>
            </a:pP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265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goal</a:t>
            </a:r>
            <a:r>
              <a:rPr dirty="0" sz="800" spc="265">
                <a:latin typeface="Arial"/>
                <a:cs typeface="Arial"/>
              </a:rPr>
              <a:t>  </a:t>
            </a:r>
            <a:r>
              <a:rPr dirty="0" sz="800" spc="-80">
                <a:latin typeface="Arial Black"/>
                <a:cs typeface="Arial Black"/>
              </a:rPr>
              <a:t>describable</a:t>
            </a:r>
            <a:r>
              <a:rPr dirty="0" sz="800" spc="-35">
                <a:latin typeface="Arial Black"/>
                <a:cs typeface="Arial Black"/>
              </a:rPr>
              <a:t> without</a:t>
            </a:r>
            <a:r>
              <a:rPr dirty="0" sz="800" spc="-15">
                <a:latin typeface="Arial Black"/>
                <a:cs typeface="Arial Black"/>
              </a:rPr>
              <a:t> </a:t>
            </a:r>
            <a:r>
              <a:rPr dirty="0" sz="800">
                <a:latin typeface="Arial Black"/>
                <a:cs typeface="Arial Black"/>
              </a:rPr>
              <a:t>the</a:t>
            </a:r>
            <a:r>
              <a:rPr dirty="0" sz="800" spc="-10">
                <a:latin typeface="Arial Black"/>
                <a:cs typeface="Arial Black"/>
              </a:rPr>
              <a:t> </a:t>
            </a:r>
            <a:r>
              <a:rPr dirty="0" sz="800">
                <a:latin typeface="Arial Black"/>
                <a:cs typeface="Arial Black"/>
              </a:rPr>
              <a:t>game</a:t>
            </a:r>
            <a:r>
              <a:rPr dirty="0" sz="800">
                <a:latin typeface="Arial"/>
                <a:cs typeface="Arial"/>
              </a:rPr>
              <a:t>:</a:t>
            </a:r>
            <a:r>
              <a:rPr dirty="0" sz="800" spc="21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get</a:t>
            </a:r>
            <a:r>
              <a:rPr dirty="0" sz="800">
                <a:latin typeface="Arial"/>
                <a:cs typeface="Arial"/>
              </a:rPr>
              <a:t> the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ball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hole;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reach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145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150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side</a:t>
            </a:r>
            <a:r>
              <a:rPr dirty="0" sz="800" spc="145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150">
                <a:latin typeface="Arial"/>
                <a:cs typeface="Arial"/>
              </a:rPr>
              <a:t> 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 spc="-10">
                <a:latin typeface="Arial"/>
                <a:cs typeface="Arial"/>
              </a:rPr>
              <a:t> board.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98801" y="1735405"/>
            <a:ext cx="1562735" cy="1106805"/>
            <a:chOff x="2098801" y="1735405"/>
            <a:chExt cx="1562735" cy="1106805"/>
          </a:xfrm>
        </p:grpSpPr>
        <p:sp>
          <p:nvSpPr>
            <p:cNvPr id="12" name="object 12"/>
            <p:cNvSpPr/>
            <p:nvPr/>
          </p:nvSpPr>
          <p:spPr>
            <a:xfrm>
              <a:off x="2098801" y="1735405"/>
              <a:ext cx="1562735" cy="1106805"/>
            </a:xfrm>
            <a:custGeom>
              <a:avLst/>
              <a:gdLst/>
              <a:ahLst/>
              <a:cxnLst/>
              <a:rect l="l" t="t" r="r" b="b"/>
              <a:pathLst>
                <a:path w="1562735" h="1106805">
                  <a:moveTo>
                    <a:pt x="1524449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068655"/>
                  </a:lnTo>
                  <a:lnTo>
                    <a:pt x="2982" y="1083430"/>
                  </a:lnTo>
                  <a:lnTo>
                    <a:pt x="11117" y="1095496"/>
                  </a:lnTo>
                  <a:lnTo>
                    <a:pt x="23182" y="1103630"/>
                  </a:lnTo>
                  <a:lnTo>
                    <a:pt x="37958" y="1106613"/>
                  </a:lnTo>
                  <a:lnTo>
                    <a:pt x="1524449" y="1106613"/>
                  </a:lnTo>
                  <a:lnTo>
                    <a:pt x="1539224" y="1103630"/>
                  </a:lnTo>
                  <a:lnTo>
                    <a:pt x="1551290" y="1095496"/>
                  </a:lnTo>
                  <a:lnTo>
                    <a:pt x="1559424" y="1083430"/>
                  </a:lnTo>
                  <a:lnTo>
                    <a:pt x="1562407" y="1068655"/>
                  </a:lnTo>
                  <a:lnTo>
                    <a:pt x="1562407" y="37958"/>
                  </a:lnTo>
                  <a:lnTo>
                    <a:pt x="1559424" y="23182"/>
                  </a:lnTo>
                  <a:lnTo>
                    <a:pt x="1551290" y="11117"/>
                  </a:lnTo>
                  <a:lnTo>
                    <a:pt x="1539224" y="2982"/>
                  </a:lnTo>
                  <a:lnTo>
                    <a:pt x="1524449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11454" y="2091513"/>
              <a:ext cx="1537335" cy="737870"/>
            </a:xfrm>
            <a:custGeom>
              <a:avLst/>
              <a:gdLst/>
              <a:ahLst/>
              <a:cxnLst/>
              <a:rect l="l" t="t" r="r" b="b"/>
              <a:pathLst>
                <a:path w="1537335" h="737869">
                  <a:moveTo>
                    <a:pt x="1537102" y="0"/>
                  </a:moveTo>
                  <a:lnTo>
                    <a:pt x="0" y="0"/>
                  </a:lnTo>
                  <a:lnTo>
                    <a:pt x="0" y="712547"/>
                  </a:lnTo>
                  <a:lnTo>
                    <a:pt x="1988" y="722397"/>
                  </a:lnTo>
                  <a:lnTo>
                    <a:pt x="7411" y="730440"/>
                  </a:lnTo>
                  <a:lnTo>
                    <a:pt x="15455" y="735864"/>
                  </a:lnTo>
                  <a:lnTo>
                    <a:pt x="25305" y="737852"/>
                  </a:lnTo>
                  <a:lnTo>
                    <a:pt x="1511796" y="737852"/>
                  </a:lnTo>
                  <a:lnTo>
                    <a:pt x="1521646" y="735864"/>
                  </a:lnTo>
                  <a:lnTo>
                    <a:pt x="1529690" y="730440"/>
                  </a:lnTo>
                  <a:lnTo>
                    <a:pt x="1535113" y="722397"/>
                  </a:lnTo>
                  <a:lnTo>
                    <a:pt x="1537102" y="712547"/>
                  </a:lnTo>
                  <a:lnTo>
                    <a:pt x="1537102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278760" y="1738603"/>
            <a:ext cx="1202690" cy="99441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35"/>
              </a:spcBef>
              <a:tabLst>
                <a:tab pos="397510" algn="l"/>
              </a:tabLst>
            </a:pPr>
            <a:r>
              <a:rPr dirty="0" sz="1100" spc="-25">
                <a:solidFill>
                  <a:srgbClr val="FFFFFF"/>
                </a:solidFill>
                <a:latin typeface="Arial Black"/>
                <a:cs typeface="Arial Black"/>
              </a:rPr>
              <a:t>2.</a:t>
            </a:r>
            <a:r>
              <a:rPr dirty="0" sz="11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1100" spc="-100">
                <a:solidFill>
                  <a:srgbClr val="FFFFFF"/>
                </a:solidFill>
                <a:latin typeface="Arial Black"/>
                <a:cs typeface="Arial Black"/>
              </a:rPr>
              <a:t>Constitutive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Rules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830"/>
              </a:lnSpc>
              <a:spcBef>
                <a:spcPts val="955"/>
              </a:spcBef>
            </a:pPr>
            <a:r>
              <a:rPr dirty="0" sz="800">
                <a:latin typeface="Arial"/>
                <a:cs typeface="Arial"/>
              </a:rPr>
              <a:t>Rules</a:t>
            </a:r>
            <a:r>
              <a:rPr dirty="0" sz="800" spc="4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430">
                <a:latin typeface="Arial"/>
                <a:cs typeface="Arial"/>
              </a:rPr>
              <a:t> </a:t>
            </a:r>
            <a:r>
              <a:rPr dirty="0" sz="800">
                <a:latin typeface="Arial Black"/>
                <a:cs typeface="Arial Black"/>
              </a:rPr>
              <a:t>define</a:t>
            </a:r>
            <a:r>
              <a:rPr dirty="0" sz="800" spc="375">
                <a:latin typeface="Arial Black"/>
                <a:cs typeface="Arial Black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 game</a:t>
            </a:r>
            <a:r>
              <a:rPr dirty="0" sz="800" spc="345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345">
                <a:latin typeface="Arial"/>
                <a:cs typeface="Arial"/>
              </a:rPr>
              <a:t>  </a:t>
            </a:r>
            <a:r>
              <a:rPr dirty="0" sz="800" spc="-65">
                <a:latin typeface="Arial Black"/>
                <a:cs typeface="Arial Black"/>
              </a:rPr>
              <a:t>prohibiting</a:t>
            </a:r>
            <a:r>
              <a:rPr dirty="0" sz="800">
                <a:latin typeface="Arial Black"/>
                <a:cs typeface="Arial Black"/>
              </a:rPr>
              <a:t> efficient</a:t>
            </a:r>
            <a:r>
              <a:rPr dirty="0" sz="800" spc="145">
                <a:latin typeface="Arial Black"/>
                <a:cs typeface="Arial Black"/>
              </a:rPr>
              <a:t> </a:t>
            </a:r>
            <a:r>
              <a:rPr dirty="0" sz="800">
                <a:latin typeface="Arial Black"/>
                <a:cs typeface="Arial Black"/>
              </a:rPr>
              <a:t>means</a:t>
            </a:r>
            <a:r>
              <a:rPr dirty="0" sz="800">
                <a:latin typeface="Arial"/>
                <a:cs typeface="Arial"/>
              </a:rPr>
              <a:t>:</a:t>
            </a:r>
            <a:r>
              <a:rPr dirty="0" sz="800" spc="150">
                <a:latin typeface="Arial"/>
                <a:cs typeface="Arial"/>
              </a:rPr>
              <a:t>  </a:t>
            </a:r>
            <a:r>
              <a:rPr dirty="0" sz="800" spc="-25">
                <a:latin typeface="Arial"/>
                <a:cs typeface="Arial"/>
              </a:rPr>
              <a:t>you</a:t>
            </a:r>
            <a:r>
              <a:rPr dirty="0" sz="800">
                <a:latin typeface="Arial"/>
                <a:cs typeface="Arial"/>
              </a:rPr>
              <a:t> must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use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club;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bishop moves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diagonally.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29405" y="1735401"/>
            <a:ext cx="1562735" cy="875030"/>
            <a:chOff x="3929405" y="1735401"/>
            <a:chExt cx="1562735" cy="875030"/>
          </a:xfrm>
        </p:grpSpPr>
        <p:sp>
          <p:nvSpPr>
            <p:cNvPr id="16" name="object 16"/>
            <p:cNvSpPr/>
            <p:nvPr/>
          </p:nvSpPr>
          <p:spPr>
            <a:xfrm>
              <a:off x="3929405" y="1735401"/>
              <a:ext cx="1562735" cy="875030"/>
            </a:xfrm>
            <a:custGeom>
              <a:avLst/>
              <a:gdLst/>
              <a:ahLst/>
              <a:cxnLst/>
              <a:rect l="l" t="t" r="r" b="b"/>
              <a:pathLst>
                <a:path w="1562735" h="875030">
                  <a:moveTo>
                    <a:pt x="1524449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836452"/>
                  </a:lnTo>
                  <a:lnTo>
                    <a:pt x="2982" y="851227"/>
                  </a:lnTo>
                  <a:lnTo>
                    <a:pt x="11117" y="863293"/>
                  </a:lnTo>
                  <a:lnTo>
                    <a:pt x="23182" y="871427"/>
                  </a:lnTo>
                  <a:lnTo>
                    <a:pt x="37958" y="874410"/>
                  </a:lnTo>
                  <a:lnTo>
                    <a:pt x="1524449" y="874410"/>
                  </a:lnTo>
                  <a:lnTo>
                    <a:pt x="1539224" y="871427"/>
                  </a:lnTo>
                  <a:lnTo>
                    <a:pt x="1551290" y="863293"/>
                  </a:lnTo>
                  <a:lnTo>
                    <a:pt x="1559424" y="851227"/>
                  </a:lnTo>
                  <a:lnTo>
                    <a:pt x="1562407" y="836452"/>
                  </a:lnTo>
                  <a:lnTo>
                    <a:pt x="1562407" y="37958"/>
                  </a:lnTo>
                  <a:lnTo>
                    <a:pt x="1559424" y="23183"/>
                  </a:lnTo>
                  <a:lnTo>
                    <a:pt x="1551290" y="11117"/>
                  </a:lnTo>
                  <a:lnTo>
                    <a:pt x="1539224" y="2982"/>
                  </a:lnTo>
                  <a:lnTo>
                    <a:pt x="1524449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42058" y="1966197"/>
              <a:ext cx="1537335" cy="631190"/>
            </a:xfrm>
            <a:custGeom>
              <a:avLst/>
              <a:gdLst/>
              <a:ahLst/>
              <a:cxnLst/>
              <a:rect l="l" t="t" r="r" b="b"/>
              <a:pathLst>
                <a:path w="1537335" h="631189">
                  <a:moveTo>
                    <a:pt x="1537102" y="0"/>
                  </a:moveTo>
                  <a:lnTo>
                    <a:pt x="0" y="0"/>
                  </a:lnTo>
                  <a:lnTo>
                    <a:pt x="0" y="605656"/>
                  </a:lnTo>
                  <a:lnTo>
                    <a:pt x="1988" y="615506"/>
                  </a:lnTo>
                  <a:lnTo>
                    <a:pt x="7411" y="623550"/>
                  </a:lnTo>
                  <a:lnTo>
                    <a:pt x="15455" y="628973"/>
                  </a:lnTo>
                  <a:lnTo>
                    <a:pt x="25305" y="630962"/>
                  </a:lnTo>
                  <a:lnTo>
                    <a:pt x="1511796" y="630962"/>
                  </a:lnTo>
                  <a:lnTo>
                    <a:pt x="1521646" y="628973"/>
                  </a:lnTo>
                  <a:lnTo>
                    <a:pt x="1529690" y="623550"/>
                  </a:lnTo>
                  <a:lnTo>
                    <a:pt x="1535113" y="615506"/>
                  </a:lnTo>
                  <a:lnTo>
                    <a:pt x="1537102" y="605656"/>
                  </a:lnTo>
                  <a:lnTo>
                    <a:pt x="1537102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109351" y="1738603"/>
            <a:ext cx="1202690" cy="7626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solidFill>
                  <a:srgbClr val="FFFFFF"/>
                </a:solidFill>
                <a:latin typeface="Arial Black"/>
                <a:cs typeface="Arial Black"/>
              </a:rPr>
              <a:t>3. </a:t>
            </a:r>
            <a:r>
              <a:rPr dirty="0" sz="1100" spc="-114">
                <a:solidFill>
                  <a:srgbClr val="FFFFFF"/>
                </a:solidFill>
                <a:latin typeface="Arial Black"/>
                <a:cs typeface="Arial Black"/>
              </a:rPr>
              <a:t>Lusory</a:t>
            </a:r>
            <a:r>
              <a:rPr dirty="0" sz="1100" spc="-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70">
                <a:solidFill>
                  <a:srgbClr val="FFFFFF"/>
                </a:solidFill>
                <a:latin typeface="Arial Black"/>
                <a:cs typeface="Arial Black"/>
              </a:rPr>
              <a:t>Attitude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830"/>
              </a:lnSpc>
              <a:spcBef>
                <a:spcPts val="1165"/>
              </a:spcBef>
            </a:pPr>
            <a:r>
              <a:rPr dirty="0" sz="800" spc="-70">
                <a:latin typeface="Arial Black"/>
                <a:cs typeface="Arial Black"/>
              </a:rPr>
              <a:t>Voluntary</a:t>
            </a:r>
            <a:r>
              <a:rPr dirty="0" sz="800" spc="50">
                <a:latin typeface="Arial Black"/>
                <a:cs typeface="Arial Black"/>
              </a:rPr>
              <a:t> </a:t>
            </a:r>
            <a:r>
              <a:rPr dirty="0" sz="800" spc="-95">
                <a:latin typeface="Arial Black"/>
                <a:cs typeface="Arial Black"/>
              </a:rPr>
              <a:t>acceptance</a:t>
            </a:r>
            <a:r>
              <a:rPr dirty="0" sz="800" spc="50">
                <a:latin typeface="Arial Black"/>
                <a:cs typeface="Arial Black"/>
              </a:rPr>
              <a:t> </a:t>
            </a:r>
            <a:r>
              <a:rPr dirty="0" sz="800" spc="10">
                <a:latin typeface="Arial"/>
                <a:cs typeface="Arial"/>
              </a:rPr>
              <a:t>of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15">
                <a:latin typeface="Arial"/>
                <a:cs typeface="Arial"/>
              </a:rPr>
              <a:t>the</a:t>
            </a:r>
            <a:r>
              <a:rPr dirty="0" sz="800" spc="-95">
                <a:latin typeface="Arial"/>
                <a:cs typeface="Arial"/>
              </a:rPr>
              <a:t> </a:t>
            </a:r>
            <a:r>
              <a:rPr dirty="0" sz="800" spc="5">
                <a:latin typeface="Arial"/>
                <a:cs typeface="Arial"/>
              </a:rPr>
              <a:t>rules</a:t>
            </a:r>
            <a:r>
              <a:rPr dirty="0" sz="800" spc="-95">
                <a:latin typeface="Arial"/>
                <a:cs typeface="Arial"/>
              </a:rPr>
              <a:t> </a:t>
            </a:r>
            <a:r>
              <a:rPr dirty="0" sz="800" spc="-185">
                <a:latin typeface="Arial"/>
                <a:cs typeface="Arial"/>
              </a:rPr>
              <a:t>—</a:t>
            </a:r>
            <a:r>
              <a:rPr dirty="0" sz="800" spc="-95">
                <a:latin typeface="Arial"/>
                <a:cs typeface="Arial"/>
              </a:rPr>
              <a:t> </a:t>
            </a:r>
            <a:r>
              <a:rPr dirty="0" sz="800" spc="15">
                <a:latin typeface="Arial"/>
                <a:cs typeface="Arial"/>
              </a:rPr>
              <a:t>not</a:t>
            </a:r>
            <a:r>
              <a:rPr dirty="0" sz="800" spc="-95">
                <a:latin typeface="Arial"/>
                <a:cs typeface="Arial"/>
              </a:rPr>
              <a:t> </a:t>
            </a:r>
            <a:r>
              <a:rPr dirty="0" sz="800" spc="5">
                <a:latin typeface="Arial"/>
                <a:cs typeface="Arial"/>
              </a:rPr>
              <a:t>despite</a:t>
            </a:r>
            <a:r>
              <a:rPr dirty="0" sz="800" spc="-95">
                <a:latin typeface="Arial"/>
                <a:cs typeface="Arial"/>
              </a:rPr>
              <a:t> </a:t>
            </a:r>
            <a:r>
              <a:rPr dirty="0" sz="800" spc="20">
                <a:latin typeface="Arial"/>
                <a:cs typeface="Arial"/>
              </a:rPr>
              <a:t>but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20" i="1">
                <a:latin typeface="Arial"/>
                <a:cs typeface="Arial"/>
              </a:rPr>
              <a:t>because</a:t>
            </a:r>
            <a:r>
              <a:rPr dirty="0" sz="800" spc="320" i="1">
                <a:latin typeface="Arial"/>
                <a:cs typeface="Arial"/>
              </a:rPr>
              <a:t> </a:t>
            </a:r>
            <a:r>
              <a:rPr dirty="0" sz="800" spc="5">
                <a:latin typeface="Arial"/>
                <a:cs typeface="Arial"/>
              </a:rPr>
              <a:t>they</a:t>
            </a:r>
            <a:r>
              <a:rPr dirty="0" sz="800" spc="320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make</a:t>
            </a:r>
            <a:r>
              <a:rPr dirty="0" sz="800" spc="320">
                <a:latin typeface="Arial"/>
                <a:cs typeface="Arial"/>
              </a:rPr>
              <a:t> </a:t>
            </a:r>
            <a:r>
              <a:rPr dirty="0" sz="800" spc="15">
                <a:latin typeface="Arial"/>
                <a:cs typeface="Arial"/>
              </a:rPr>
              <a:t>the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5">
                <a:latin typeface="Arial"/>
                <a:cs typeface="Arial"/>
              </a:rPr>
              <a:t>game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possible.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20" name="object 20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0" y="3234937"/>
              <a:ext cx="1348105" cy="5080"/>
            </a:xfrm>
            <a:custGeom>
              <a:avLst/>
              <a:gdLst/>
              <a:ahLst/>
              <a:cxnLst/>
              <a:rect l="l" t="t" r="r" b="b"/>
              <a:pathLst>
                <a:path w="1348105" h="5080">
                  <a:moveTo>
                    <a:pt x="0" y="5060"/>
                  </a:moveTo>
                  <a:lnTo>
                    <a:pt x="0" y="0"/>
                  </a:lnTo>
                  <a:lnTo>
                    <a:pt x="1348083" y="0"/>
                  </a:lnTo>
                  <a:lnTo>
                    <a:pt x="13480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95"/>
              <a:t> Golf</a:t>
            </a:r>
            <a:r>
              <a:rPr dirty="0" spc="-90"/>
              <a:t> </a:t>
            </a:r>
            <a:r>
              <a:rPr dirty="0" spc="-105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10"/>
            <a:ext cx="5040630" cy="1289685"/>
            <a:chOff x="359994" y="602310"/>
            <a:chExt cx="5040630" cy="1289685"/>
          </a:xfrm>
        </p:grpSpPr>
        <p:sp>
          <p:nvSpPr>
            <p:cNvPr id="4" name="object 4"/>
            <p:cNvSpPr/>
            <p:nvPr/>
          </p:nvSpPr>
          <p:spPr>
            <a:xfrm>
              <a:off x="359994" y="602310"/>
              <a:ext cx="5040630" cy="1289685"/>
            </a:xfrm>
            <a:custGeom>
              <a:avLst/>
              <a:gdLst/>
              <a:ahLst/>
              <a:cxnLst/>
              <a:rect l="l" t="t" r="r" b="b"/>
              <a:pathLst>
                <a:path w="5040630" h="128968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251726"/>
                  </a:lnTo>
                  <a:lnTo>
                    <a:pt x="2982" y="1266501"/>
                  </a:lnTo>
                  <a:lnTo>
                    <a:pt x="11117" y="1278567"/>
                  </a:lnTo>
                  <a:lnTo>
                    <a:pt x="23182" y="1286701"/>
                  </a:lnTo>
                  <a:lnTo>
                    <a:pt x="37958" y="1289684"/>
                  </a:lnTo>
                  <a:lnTo>
                    <a:pt x="5002106" y="1289684"/>
                  </a:lnTo>
                  <a:lnTo>
                    <a:pt x="5016882" y="1286701"/>
                  </a:lnTo>
                  <a:lnTo>
                    <a:pt x="5028947" y="1278567"/>
                  </a:lnTo>
                  <a:lnTo>
                    <a:pt x="5037082" y="1266501"/>
                  </a:lnTo>
                  <a:lnTo>
                    <a:pt x="5040064" y="1251726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3106"/>
              <a:ext cx="5015230" cy="1046480"/>
            </a:xfrm>
            <a:custGeom>
              <a:avLst/>
              <a:gdLst/>
              <a:ahLst/>
              <a:cxnLst/>
              <a:rect l="l" t="t" r="r" b="b"/>
              <a:pathLst>
                <a:path w="5015230" h="1046480">
                  <a:moveTo>
                    <a:pt x="5014759" y="0"/>
                  </a:moveTo>
                  <a:lnTo>
                    <a:pt x="0" y="0"/>
                  </a:lnTo>
                  <a:lnTo>
                    <a:pt x="0" y="1020930"/>
                  </a:lnTo>
                  <a:lnTo>
                    <a:pt x="1988" y="1030780"/>
                  </a:lnTo>
                  <a:lnTo>
                    <a:pt x="7411" y="1038824"/>
                  </a:lnTo>
                  <a:lnTo>
                    <a:pt x="15455" y="1044247"/>
                  </a:lnTo>
                  <a:lnTo>
                    <a:pt x="25305" y="1046236"/>
                  </a:lnTo>
                  <a:lnTo>
                    <a:pt x="4989454" y="1046236"/>
                  </a:lnTo>
                  <a:lnTo>
                    <a:pt x="4999304" y="1044247"/>
                  </a:lnTo>
                  <a:lnTo>
                    <a:pt x="5007347" y="1038824"/>
                  </a:lnTo>
                  <a:lnTo>
                    <a:pt x="5012770" y="1030780"/>
                  </a:lnTo>
                  <a:lnTo>
                    <a:pt x="5014759" y="102093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7F1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47294" y="605522"/>
            <a:ext cx="4900930" cy="171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5104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1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FFFFFF"/>
                </a:solidFill>
                <a:latin typeface="Arial Black"/>
                <a:cs typeface="Arial Black"/>
              </a:rPr>
              <a:t>Simplest</a:t>
            </a:r>
            <a:r>
              <a:rPr dirty="0" sz="11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Example:</a:t>
            </a:r>
            <a:r>
              <a:rPr dirty="0" sz="1100" spc="-20">
                <a:solidFill>
                  <a:srgbClr val="FFFFFF"/>
                </a:solidFill>
                <a:latin typeface="Arial Black"/>
                <a:cs typeface="Arial Black"/>
              </a:rPr>
              <a:t> Golf</a:t>
            </a:r>
            <a:endParaRPr sz="1100">
              <a:latin typeface="Arial Black"/>
              <a:cs typeface="Arial Black"/>
            </a:endParaRPr>
          </a:p>
          <a:p>
            <a:pPr marL="205104" marR="516890">
              <a:lnSpc>
                <a:spcPct val="115500"/>
              </a:lnSpc>
              <a:spcBef>
                <a:spcPts val="840"/>
              </a:spcBef>
            </a:pPr>
            <a:r>
              <a:rPr dirty="0" sz="900" spc="-20">
                <a:latin typeface="Arial"/>
                <a:cs typeface="Arial"/>
              </a:rPr>
              <a:t>The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prelusory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goal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golf is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 get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small ball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into </a:t>
            </a: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series of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holes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 the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ground.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easy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spc="-215">
                <a:latin typeface="Arial"/>
                <a:cs typeface="Arial"/>
              </a:rPr>
              <a:t>—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you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could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just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walk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up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drop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ball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in.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Done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two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minutes.</a:t>
            </a:r>
            <a:endParaRPr sz="900">
              <a:latin typeface="Arial"/>
              <a:cs typeface="Arial"/>
            </a:endParaRPr>
          </a:p>
          <a:p>
            <a:pPr marL="205104">
              <a:lnSpc>
                <a:spcPts val="1019"/>
              </a:lnSpc>
              <a:spcBef>
                <a:spcPts val="165"/>
              </a:spcBef>
            </a:pPr>
            <a:r>
              <a:rPr dirty="0" sz="900">
                <a:latin typeface="Arial"/>
                <a:cs typeface="Arial"/>
              </a:rPr>
              <a:t>Instead,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golfers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use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clubs</a:t>
            </a:r>
            <a:r>
              <a:rPr dirty="0" sz="900" spc="-75">
                <a:latin typeface="Arial"/>
                <a:cs typeface="Arial"/>
              </a:rPr>
              <a:t>,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start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far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away,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count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every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stroke.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These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rules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make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goal</a:t>
            </a:r>
            <a:endParaRPr sz="900">
              <a:latin typeface="Arial"/>
              <a:cs typeface="Arial"/>
            </a:endParaRPr>
          </a:p>
          <a:p>
            <a:pPr marL="205104">
              <a:lnSpc>
                <a:spcPts val="1019"/>
              </a:lnSpc>
            </a:pPr>
            <a:r>
              <a:rPr dirty="0" sz="900" spc="-100">
                <a:latin typeface="Arial Black"/>
                <a:cs typeface="Arial Black"/>
              </a:rPr>
              <a:t>much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harder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215">
                <a:latin typeface="Arial"/>
                <a:cs typeface="Arial"/>
              </a:rPr>
              <a:t>—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point.</a:t>
            </a:r>
            <a:endParaRPr sz="900">
              <a:latin typeface="Arial"/>
              <a:cs typeface="Arial"/>
            </a:endParaRPr>
          </a:p>
          <a:p>
            <a:pPr marL="205104" marR="33020">
              <a:lnSpc>
                <a:spcPts val="960"/>
              </a:lnSpc>
              <a:spcBef>
                <a:spcPts val="300"/>
              </a:spcBef>
            </a:pPr>
            <a:r>
              <a:rPr dirty="0" sz="900" spc="-20">
                <a:latin typeface="Arial"/>
                <a:cs typeface="Arial"/>
              </a:rPr>
              <a:t>The</a:t>
            </a:r>
            <a:r>
              <a:rPr dirty="0" sz="900">
                <a:latin typeface="Arial"/>
                <a:cs typeface="Arial"/>
              </a:rPr>
              <a:t> player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who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carries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ball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 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hole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achieved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the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prelusory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goal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but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abandoned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25">
                <a:latin typeface="Arial Black"/>
                <a:cs typeface="Arial Black"/>
              </a:rPr>
              <a:t>the </a:t>
            </a:r>
            <a:r>
              <a:rPr dirty="0" sz="900" spc="-90">
                <a:latin typeface="Arial Black"/>
                <a:cs typeface="Arial Black"/>
              </a:rPr>
              <a:t>game</a:t>
            </a:r>
            <a:r>
              <a:rPr dirty="0" sz="900" spc="-90">
                <a:latin typeface="Arial"/>
                <a:cs typeface="Arial"/>
              </a:rPr>
              <a:t>.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Cheating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means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you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haven’t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really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won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anything.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1190"/>
              </a:lnSpc>
              <a:spcBef>
                <a:spcPts val="5"/>
              </a:spcBef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Suits’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famous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summary:</a:t>
            </a:r>
            <a:r>
              <a:rPr dirty="0" sz="11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game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Arial"/>
                <a:cs typeface="Arial"/>
              </a:rPr>
              <a:t>“the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95">
                <a:solidFill>
                  <a:srgbClr val="22373A"/>
                </a:solidFill>
                <a:latin typeface="Arial Black"/>
                <a:cs typeface="Arial Black"/>
              </a:rPr>
              <a:t>voluntary</a:t>
            </a:r>
            <a:r>
              <a:rPr dirty="0" sz="11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acceptance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90">
                <a:solidFill>
                  <a:srgbClr val="22373A"/>
                </a:solidFill>
                <a:latin typeface="Arial Black"/>
                <a:cs typeface="Arial Black"/>
              </a:rPr>
              <a:t>of</a:t>
            </a:r>
            <a:r>
              <a:rPr dirty="0" sz="11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95">
                <a:solidFill>
                  <a:srgbClr val="22373A"/>
                </a:solidFill>
                <a:latin typeface="Arial Black"/>
                <a:cs typeface="Arial Black"/>
              </a:rPr>
              <a:t>unnecessary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obstacles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.”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1471295" cy="5080"/>
            </a:xfrm>
            <a:custGeom>
              <a:avLst/>
              <a:gdLst/>
              <a:ahLst/>
              <a:cxnLst/>
              <a:rect l="l" t="t" r="r" b="b"/>
              <a:pathLst>
                <a:path w="1471295" h="5080">
                  <a:moveTo>
                    <a:pt x="0" y="5060"/>
                  </a:moveTo>
                  <a:lnTo>
                    <a:pt x="0" y="0"/>
                  </a:lnTo>
                  <a:lnTo>
                    <a:pt x="1470692" y="0"/>
                  </a:lnTo>
                  <a:lnTo>
                    <a:pt x="14706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12344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Caillois:</a:t>
            </a:r>
            <a:r>
              <a:rPr dirty="0" spc="-45"/>
              <a:t> </a:t>
            </a:r>
            <a:r>
              <a:rPr dirty="0" spc="-114"/>
              <a:t>Four</a:t>
            </a:r>
            <a:r>
              <a:rPr dirty="0" spc="-90"/>
              <a:t> </a:t>
            </a:r>
            <a:r>
              <a:rPr dirty="0" spc="-140"/>
              <a:t>Types</a:t>
            </a:r>
            <a:r>
              <a:rPr dirty="0" spc="-90"/>
              <a:t> </a:t>
            </a:r>
            <a:r>
              <a:rPr dirty="0" spc="-95"/>
              <a:t>of</a:t>
            </a:r>
            <a:r>
              <a:rPr dirty="0" spc="-90"/>
              <a:t> </a:t>
            </a:r>
            <a:r>
              <a:rPr dirty="0" spc="-110"/>
              <a:t>Games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7095"/>
            <a:ext cx="34575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Roger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Caillois classified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into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four types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caillois_man_play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):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663" y="823377"/>
            <a:ext cx="1159510" cy="962660"/>
            <a:chOff x="224663" y="823377"/>
            <a:chExt cx="1159510" cy="962660"/>
          </a:xfrm>
        </p:grpSpPr>
        <p:sp>
          <p:nvSpPr>
            <p:cNvPr id="5" name="object 5"/>
            <p:cNvSpPr/>
            <p:nvPr/>
          </p:nvSpPr>
          <p:spPr>
            <a:xfrm>
              <a:off x="224663" y="823377"/>
              <a:ext cx="1159510" cy="962660"/>
            </a:xfrm>
            <a:custGeom>
              <a:avLst/>
              <a:gdLst/>
              <a:ahLst/>
              <a:cxnLst/>
              <a:rect l="l" t="t" r="r" b="b"/>
              <a:pathLst>
                <a:path w="1159510" h="962660">
                  <a:moveTo>
                    <a:pt x="112123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924220"/>
                  </a:lnTo>
                  <a:lnTo>
                    <a:pt x="2982" y="938995"/>
                  </a:lnTo>
                  <a:lnTo>
                    <a:pt x="11117" y="951061"/>
                  </a:lnTo>
                  <a:lnTo>
                    <a:pt x="23182" y="959196"/>
                  </a:lnTo>
                  <a:lnTo>
                    <a:pt x="37958" y="962178"/>
                  </a:lnTo>
                  <a:lnTo>
                    <a:pt x="1121234" y="962178"/>
                  </a:lnTo>
                  <a:lnTo>
                    <a:pt x="1136010" y="959196"/>
                  </a:lnTo>
                  <a:lnTo>
                    <a:pt x="1148075" y="951061"/>
                  </a:lnTo>
                  <a:lnTo>
                    <a:pt x="1156210" y="938995"/>
                  </a:lnTo>
                  <a:lnTo>
                    <a:pt x="1159193" y="924220"/>
                  </a:lnTo>
                  <a:lnTo>
                    <a:pt x="1159193" y="37958"/>
                  </a:lnTo>
                  <a:lnTo>
                    <a:pt x="1156210" y="23183"/>
                  </a:lnTo>
                  <a:lnTo>
                    <a:pt x="1148075" y="11117"/>
                  </a:lnTo>
                  <a:lnTo>
                    <a:pt x="1136010" y="2982"/>
                  </a:lnTo>
                  <a:lnTo>
                    <a:pt x="1121234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7315" y="1036265"/>
              <a:ext cx="1134110" cy="737235"/>
            </a:xfrm>
            <a:custGeom>
              <a:avLst/>
              <a:gdLst/>
              <a:ahLst/>
              <a:cxnLst/>
              <a:rect l="l" t="t" r="r" b="b"/>
              <a:pathLst>
                <a:path w="1134110" h="737235">
                  <a:moveTo>
                    <a:pt x="1133887" y="0"/>
                  </a:moveTo>
                  <a:lnTo>
                    <a:pt x="0" y="0"/>
                  </a:lnTo>
                  <a:lnTo>
                    <a:pt x="0" y="711332"/>
                  </a:lnTo>
                  <a:lnTo>
                    <a:pt x="1988" y="721182"/>
                  </a:lnTo>
                  <a:lnTo>
                    <a:pt x="7411" y="729226"/>
                  </a:lnTo>
                  <a:lnTo>
                    <a:pt x="15455" y="734649"/>
                  </a:lnTo>
                  <a:lnTo>
                    <a:pt x="25305" y="736637"/>
                  </a:lnTo>
                  <a:lnTo>
                    <a:pt x="1108582" y="736637"/>
                  </a:lnTo>
                  <a:lnTo>
                    <a:pt x="1118432" y="734649"/>
                  </a:lnTo>
                  <a:lnTo>
                    <a:pt x="1126476" y="729226"/>
                  </a:lnTo>
                  <a:lnTo>
                    <a:pt x="1131899" y="721182"/>
                  </a:lnTo>
                  <a:lnTo>
                    <a:pt x="1133887" y="711332"/>
                  </a:lnTo>
                  <a:lnTo>
                    <a:pt x="1133887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04609" y="836899"/>
            <a:ext cx="799465" cy="840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 b="1" i="1">
                <a:solidFill>
                  <a:srgbClr val="FFFFFF"/>
                </a:solidFill>
                <a:latin typeface="Arial"/>
                <a:cs typeface="Arial"/>
              </a:rPr>
              <a:t>Agôn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5"/>
              </a:spcBef>
              <a:tabLst>
                <a:tab pos="455930" algn="l"/>
              </a:tabLst>
            </a:pPr>
            <a:r>
              <a:rPr dirty="0" sz="800" spc="-10">
                <a:latin typeface="Arial Black"/>
                <a:cs typeface="Arial Black"/>
              </a:rPr>
              <a:t>Competition</a:t>
            </a:r>
            <a:r>
              <a:rPr dirty="0" sz="800" spc="-10">
                <a:latin typeface="Arial"/>
                <a:cs typeface="Arial"/>
              </a:rPr>
              <a:t>: </a:t>
            </a:r>
            <a:r>
              <a:rPr dirty="0" sz="800">
                <a:latin typeface="Arial"/>
                <a:cs typeface="Arial"/>
              </a:rPr>
              <a:t>skill</a:t>
            </a:r>
            <a:r>
              <a:rPr dirty="0" sz="800" spc="45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determines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10">
                <a:latin typeface="Arial"/>
                <a:cs typeface="Arial"/>
              </a:rPr>
              <a:t>winner.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5"/>
              </a:spcBef>
              <a:tabLst>
                <a:tab pos="478790" algn="l"/>
              </a:tabLst>
            </a:pPr>
            <a:r>
              <a:rPr dirty="0" sz="800" spc="-10">
                <a:latin typeface="Arial"/>
                <a:cs typeface="Arial"/>
              </a:rPr>
              <a:t>Chess,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10">
                <a:latin typeface="Arial"/>
                <a:cs typeface="Arial"/>
              </a:rPr>
              <a:t>tennis, esports.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08493" y="823369"/>
            <a:ext cx="1159510" cy="911225"/>
            <a:chOff x="1608493" y="823369"/>
            <a:chExt cx="1159510" cy="911225"/>
          </a:xfrm>
        </p:grpSpPr>
        <p:sp>
          <p:nvSpPr>
            <p:cNvPr id="9" name="object 9"/>
            <p:cNvSpPr/>
            <p:nvPr/>
          </p:nvSpPr>
          <p:spPr>
            <a:xfrm>
              <a:off x="1608493" y="823369"/>
              <a:ext cx="1159510" cy="911225"/>
            </a:xfrm>
            <a:custGeom>
              <a:avLst/>
              <a:gdLst/>
              <a:ahLst/>
              <a:cxnLst/>
              <a:rect l="l" t="t" r="r" b="b"/>
              <a:pathLst>
                <a:path w="1159510" h="911225">
                  <a:moveTo>
                    <a:pt x="112123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872705"/>
                  </a:lnTo>
                  <a:lnTo>
                    <a:pt x="2982" y="887480"/>
                  </a:lnTo>
                  <a:lnTo>
                    <a:pt x="11117" y="899545"/>
                  </a:lnTo>
                  <a:lnTo>
                    <a:pt x="23182" y="907680"/>
                  </a:lnTo>
                  <a:lnTo>
                    <a:pt x="37958" y="910663"/>
                  </a:lnTo>
                  <a:lnTo>
                    <a:pt x="1121234" y="910663"/>
                  </a:lnTo>
                  <a:lnTo>
                    <a:pt x="1136010" y="907680"/>
                  </a:lnTo>
                  <a:lnTo>
                    <a:pt x="1148075" y="899545"/>
                  </a:lnTo>
                  <a:lnTo>
                    <a:pt x="1156210" y="887480"/>
                  </a:lnTo>
                  <a:lnTo>
                    <a:pt x="1159193" y="872705"/>
                  </a:lnTo>
                  <a:lnTo>
                    <a:pt x="1159193" y="37958"/>
                  </a:lnTo>
                  <a:lnTo>
                    <a:pt x="1156210" y="23182"/>
                  </a:lnTo>
                  <a:lnTo>
                    <a:pt x="1148075" y="11117"/>
                  </a:lnTo>
                  <a:lnTo>
                    <a:pt x="1136010" y="2982"/>
                  </a:lnTo>
                  <a:lnTo>
                    <a:pt x="1121234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1145" y="1004884"/>
              <a:ext cx="1134110" cy="716915"/>
            </a:xfrm>
            <a:custGeom>
              <a:avLst/>
              <a:gdLst/>
              <a:ahLst/>
              <a:cxnLst/>
              <a:rect l="l" t="t" r="r" b="b"/>
              <a:pathLst>
                <a:path w="1134110" h="716914">
                  <a:moveTo>
                    <a:pt x="1133887" y="0"/>
                  </a:moveTo>
                  <a:lnTo>
                    <a:pt x="0" y="0"/>
                  </a:lnTo>
                  <a:lnTo>
                    <a:pt x="0" y="691189"/>
                  </a:lnTo>
                  <a:lnTo>
                    <a:pt x="1988" y="701039"/>
                  </a:lnTo>
                  <a:lnTo>
                    <a:pt x="7411" y="709083"/>
                  </a:lnTo>
                  <a:lnTo>
                    <a:pt x="15455" y="714506"/>
                  </a:lnTo>
                  <a:lnTo>
                    <a:pt x="25305" y="716494"/>
                  </a:lnTo>
                  <a:lnTo>
                    <a:pt x="1108582" y="716494"/>
                  </a:lnTo>
                  <a:lnTo>
                    <a:pt x="1118432" y="714506"/>
                  </a:lnTo>
                  <a:lnTo>
                    <a:pt x="1126476" y="709083"/>
                  </a:lnTo>
                  <a:lnTo>
                    <a:pt x="1131899" y="701039"/>
                  </a:lnTo>
                  <a:lnTo>
                    <a:pt x="1133887" y="691189"/>
                  </a:lnTo>
                  <a:lnTo>
                    <a:pt x="1133887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88439" y="1180920"/>
            <a:ext cx="7994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determines</a:t>
            </a:r>
            <a:r>
              <a:rPr dirty="0" sz="800" spc="229">
                <a:latin typeface="Arial"/>
                <a:cs typeface="Arial"/>
              </a:rPr>
              <a:t>  </a:t>
            </a:r>
            <a:r>
              <a:rPr dirty="0" sz="800" spc="-25">
                <a:latin typeface="Arial"/>
                <a:cs typeface="Arial"/>
              </a:rPr>
              <a:t>the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8439" y="1286699"/>
            <a:ext cx="799465" cy="3587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 marR="5080">
              <a:lnSpc>
                <a:spcPts val="830"/>
              </a:lnSpc>
              <a:spcBef>
                <a:spcPts val="229"/>
              </a:spcBef>
            </a:pPr>
            <a:r>
              <a:rPr dirty="0" sz="800">
                <a:latin typeface="Arial"/>
                <a:cs typeface="Arial"/>
              </a:rPr>
              <a:t>outcome.</a:t>
            </a:r>
            <a:r>
              <a:rPr dirty="0" sz="800" spc="275">
                <a:latin typeface="Arial"/>
                <a:cs typeface="Arial"/>
              </a:rPr>
              <a:t>  </a:t>
            </a:r>
            <a:r>
              <a:rPr dirty="0" sz="800" spc="-25">
                <a:latin typeface="Arial"/>
                <a:cs typeface="Arial"/>
              </a:rPr>
              <a:t>Dice,</a:t>
            </a:r>
            <a:r>
              <a:rPr dirty="0" sz="800">
                <a:latin typeface="Arial"/>
                <a:cs typeface="Arial"/>
              </a:rPr>
              <a:t> roulette,</a:t>
            </a:r>
            <a:r>
              <a:rPr dirty="0" sz="800" spc="370">
                <a:latin typeface="Arial"/>
                <a:cs typeface="Arial"/>
              </a:rPr>
              <a:t>   </a:t>
            </a:r>
            <a:r>
              <a:rPr dirty="0" sz="800" spc="-20">
                <a:latin typeface="Arial"/>
                <a:cs typeface="Arial"/>
              </a:rPr>
              <a:t>loot </a:t>
            </a:r>
            <a:r>
              <a:rPr dirty="0" sz="800" spc="-10">
                <a:latin typeface="Arial"/>
                <a:cs typeface="Arial"/>
              </a:rPr>
              <a:t>boxes.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2323" y="823368"/>
            <a:ext cx="1159510" cy="929640"/>
            <a:chOff x="2992323" y="823368"/>
            <a:chExt cx="1159510" cy="929640"/>
          </a:xfrm>
        </p:grpSpPr>
        <p:sp>
          <p:nvSpPr>
            <p:cNvPr id="14" name="object 14"/>
            <p:cNvSpPr/>
            <p:nvPr/>
          </p:nvSpPr>
          <p:spPr>
            <a:xfrm>
              <a:off x="2992323" y="823368"/>
              <a:ext cx="1159510" cy="929640"/>
            </a:xfrm>
            <a:custGeom>
              <a:avLst/>
              <a:gdLst/>
              <a:ahLst/>
              <a:cxnLst/>
              <a:rect l="l" t="t" r="r" b="b"/>
              <a:pathLst>
                <a:path w="1159510" h="929639">
                  <a:moveTo>
                    <a:pt x="112123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891336"/>
                  </a:lnTo>
                  <a:lnTo>
                    <a:pt x="2982" y="906111"/>
                  </a:lnTo>
                  <a:lnTo>
                    <a:pt x="11117" y="918176"/>
                  </a:lnTo>
                  <a:lnTo>
                    <a:pt x="23182" y="926311"/>
                  </a:lnTo>
                  <a:lnTo>
                    <a:pt x="37958" y="929294"/>
                  </a:lnTo>
                  <a:lnTo>
                    <a:pt x="1121234" y="929294"/>
                  </a:lnTo>
                  <a:lnTo>
                    <a:pt x="1136010" y="926311"/>
                  </a:lnTo>
                  <a:lnTo>
                    <a:pt x="1148075" y="918176"/>
                  </a:lnTo>
                  <a:lnTo>
                    <a:pt x="1156210" y="906111"/>
                  </a:lnTo>
                  <a:lnTo>
                    <a:pt x="1159193" y="891336"/>
                  </a:lnTo>
                  <a:lnTo>
                    <a:pt x="1159193" y="37958"/>
                  </a:lnTo>
                  <a:lnTo>
                    <a:pt x="1156210" y="23182"/>
                  </a:lnTo>
                  <a:lnTo>
                    <a:pt x="1148075" y="11117"/>
                  </a:lnTo>
                  <a:lnTo>
                    <a:pt x="1136010" y="2982"/>
                  </a:lnTo>
                  <a:lnTo>
                    <a:pt x="1121234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04975" y="1026350"/>
              <a:ext cx="1134110" cy="713740"/>
            </a:xfrm>
            <a:custGeom>
              <a:avLst/>
              <a:gdLst/>
              <a:ahLst/>
              <a:cxnLst/>
              <a:rect l="l" t="t" r="r" b="b"/>
              <a:pathLst>
                <a:path w="1134110" h="713739">
                  <a:moveTo>
                    <a:pt x="1133887" y="0"/>
                  </a:moveTo>
                  <a:lnTo>
                    <a:pt x="0" y="0"/>
                  </a:lnTo>
                  <a:lnTo>
                    <a:pt x="0" y="688355"/>
                  </a:lnTo>
                  <a:lnTo>
                    <a:pt x="1988" y="698205"/>
                  </a:lnTo>
                  <a:lnTo>
                    <a:pt x="7411" y="706248"/>
                  </a:lnTo>
                  <a:lnTo>
                    <a:pt x="15455" y="711672"/>
                  </a:lnTo>
                  <a:lnTo>
                    <a:pt x="25305" y="713660"/>
                  </a:lnTo>
                  <a:lnTo>
                    <a:pt x="1108582" y="713660"/>
                  </a:lnTo>
                  <a:lnTo>
                    <a:pt x="1118432" y="711672"/>
                  </a:lnTo>
                  <a:lnTo>
                    <a:pt x="1126476" y="706248"/>
                  </a:lnTo>
                  <a:lnTo>
                    <a:pt x="1131899" y="698205"/>
                  </a:lnTo>
                  <a:lnTo>
                    <a:pt x="1133887" y="688355"/>
                  </a:lnTo>
                  <a:lnTo>
                    <a:pt x="1133887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788439" y="828365"/>
            <a:ext cx="1826260" cy="393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6365" algn="l"/>
              </a:tabLst>
            </a:pPr>
            <a:r>
              <a:rPr dirty="0" sz="900" spc="-20" b="1" i="1">
                <a:solidFill>
                  <a:srgbClr val="FFFFFF"/>
                </a:solidFill>
                <a:latin typeface="Arial"/>
                <a:cs typeface="Arial"/>
              </a:rPr>
              <a:t>Alea</a:t>
            </a:r>
            <a:r>
              <a:rPr dirty="0" sz="900" b="1" i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00" spc="-10" b="1" i="1">
                <a:solidFill>
                  <a:srgbClr val="FFFFFF"/>
                </a:solidFill>
                <a:latin typeface="Arial"/>
                <a:cs typeface="Arial"/>
              </a:rPr>
              <a:t>Mimicry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608330" algn="l"/>
              </a:tabLst>
            </a:pPr>
            <a:r>
              <a:rPr dirty="0" sz="800" spc="-10">
                <a:latin typeface="Arial Black"/>
                <a:cs typeface="Arial Black"/>
              </a:rPr>
              <a:t>Chance</a:t>
            </a:r>
            <a:r>
              <a:rPr dirty="0" sz="800" spc="-10">
                <a:latin typeface="Arial"/>
                <a:cs typeface="Arial"/>
              </a:rPr>
              <a:t>: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20">
                <a:latin typeface="Arial"/>
                <a:cs typeface="Arial"/>
              </a:rPr>
              <a:t>fate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2282" y="1093773"/>
            <a:ext cx="7994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70">
                <a:latin typeface="Arial Black"/>
                <a:cs typeface="Arial Black"/>
              </a:rPr>
              <a:t>Role-</a:t>
            </a:r>
            <a:r>
              <a:rPr dirty="0" sz="800">
                <a:latin typeface="Arial Black"/>
                <a:cs typeface="Arial Black"/>
              </a:rPr>
              <a:t>play</a:t>
            </a:r>
            <a:r>
              <a:rPr dirty="0" sz="800">
                <a:latin typeface="Arial"/>
                <a:cs typeface="Arial"/>
              </a:rPr>
              <a:t>:</a:t>
            </a:r>
            <a:r>
              <a:rPr dirty="0" sz="800" spc="40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pre-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72282" y="1199551"/>
            <a:ext cx="7994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tending</a:t>
            </a:r>
            <a:r>
              <a:rPr dirty="0" sz="800" spc="245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240">
                <a:latin typeface="Arial"/>
                <a:cs typeface="Arial"/>
              </a:rPr>
              <a:t>  </a:t>
            </a:r>
            <a:r>
              <a:rPr dirty="0" sz="800" spc="-25">
                <a:latin typeface="Arial"/>
                <a:cs typeface="Arial"/>
              </a:rPr>
              <a:t>be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2282" y="1305330"/>
            <a:ext cx="799465" cy="3587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 marR="5080">
              <a:lnSpc>
                <a:spcPts val="830"/>
              </a:lnSpc>
              <a:spcBef>
                <a:spcPts val="229"/>
              </a:spcBef>
            </a:pPr>
            <a:r>
              <a:rPr dirty="0" sz="800">
                <a:latin typeface="Arial"/>
                <a:cs typeface="Arial"/>
              </a:rPr>
              <a:t>someone</a:t>
            </a:r>
            <a:r>
              <a:rPr dirty="0" sz="800" spc="315">
                <a:latin typeface="Arial"/>
                <a:cs typeface="Arial"/>
              </a:rPr>
              <a:t>  </a:t>
            </a:r>
            <a:r>
              <a:rPr dirty="0" sz="800" spc="-10">
                <a:latin typeface="Arial"/>
                <a:cs typeface="Arial"/>
              </a:rPr>
              <a:t>else. </a:t>
            </a:r>
            <a:r>
              <a:rPr dirty="0" sz="800">
                <a:latin typeface="Arial"/>
                <a:cs typeface="Arial"/>
              </a:rPr>
              <a:t>Theatre,</a:t>
            </a:r>
            <a:r>
              <a:rPr dirty="0" sz="800" spc="235">
                <a:latin typeface="Arial"/>
                <a:cs typeface="Arial"/>
              </a:rPr>
              <a:t>  </a:t>
            </a:r>
            <a:r>
              <a:rPr dirty="0" sz="800" spc="-55">
                <a:latin typeface="Arial"/>
                <a:cs typeface="Arial"/>
              </a:rPr>
              <a:t>RPGs,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35" i="1">
                <a:latin typeface="Arial"/>
                <a:cs typeface="Arial"/>
              </a:rPr>
              <a:t>The</a:t>
            </a:r>
            <a:r>
              <a:rPr dirty="0" sz="800" spc="-30" i="1">
                <a:latin typeface="Arial"/>
                <a:cs typeface="Arial"/>
              </a:rPr>
              <a:t> </a:t>
            </a:r>
            <a:r>
              <a:rPr dirty="0" sz="800" spc="-20" i="1">
                <a:latin typeface="Arial"/>
                <a:cs typeface="Arial"/>
              </a:rPr>
              <a:t>Sims</a:t>
            </a:r>
            <a:r>
              <a:rPr dirty="0" sz="800" spc="-20"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76165" y="823381"/>
            <a:ext cx="1159510" cy="824230"/>
            <a:chOff x="4376165" y="823381"/>
            <a:chExt cx="1159510" cy="824230"/>
          </a:xfrm>
        </p:grpSpPr>
        <p:sp>
          <p:nvSpPr>
            <p:cNvPr id="21" name="object 21"/>
            <p:cNvSpPr/>
            <p:nvPr/>
          </p:nvSpPr>
          <p:spPr>
            <a:xfrm>
              <a:off x="4376165" y="823381"/>
              <a:ext cx="1159510" cy="824230"/>
            </a:xfrm>
            <a:custGeom>
              <a:avLst/>
              <a:gdLst/>
              <a:ahLst/>
              <a:cxnLst/>
              <a:rect l="l" t="t" r="r" b="b"/>
              <a:pathLst>
                <a:path w="1159510" h="824230">
                  <a:moveTo>
                    <a:pt x="112123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785761"/>
                  </a:lnTo>
                  <a:lnTo>
                    <a:pt x="2982" y="800536"/>
                  </a:lnTo>
                  <a:lnTo>
                    <a:pt x="11117" y="812602"/>
                  </a:lnTo>
                  <a:lnTo>
                    <a:pt x="23182" y="820736"/>
                  </a:lnTo>
                  <a:lnTo>
                    <a:pt x="37958" y="823719"/>
                  </a:lnTo>
                  <a:lnTo>
                    <a:pt x="1121234" y="823719"/>
                  </a:lnTo>
                  <a:lnTo>
                    <a:pt x="1136010" y="820736"/>
                  </a:lnTo>
                  <a:lnTo>
                    <a:pt x="1148075" y="812602"/>
                  </a:lnTo>
                  <a:lnTo>
                    <a:pt x="1156210" y="800536"/>
                  </a:lnTo>
                  <a:lnTo>
                    <a:pt x="1159193" y="785761"/>
                  </a:lnTo>
                  <a:lnTo>
                    <a:pt x="1159193" y="37958"/>
                  </a:lnTo>
                  <a:lnTo>
                    <a:pt x="1156210" y="23183"/>
                  </a:lnTo>
                  <a:lnTo>
                    <a:pt x="1148075" y="11117"/>
                  </a:lnTo>
                  <a:lnTo>
                    <a:pt x="1136010" y="2982"/>
                  </a:lnTo>
                  <a:lnTo>
                    <a:pt x="1121234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88818" y="1003587"/>
              <a:ext cx="1134110" cy="631190"/>
            </a:xfrm>
            <a:custGeom>
              <a:avLst/>
              <a:gdLst/>
              <a:ahLst/>
              <a:cxnLst/>
              <a:rect l="l" t="t" r="r" b="b"/>
              <a:pathLst>
                <a:path w="1134110" h="631189">
                  <a:moveTo>
                    <a:pt x="1133887" y="0"/>
                  </a:moveTo>
                  <a:lnTo>
                    <a:pt x="0" y="0"/>
                  </a:lnTo>
                  <a:lnTo>
                    <a:pt x="0" y="605555"/>
                  </a:lnTo>
                  <a:lnTo>
                    <a:pt x="1988" y="615405"/>
                  </a:lnTo>
                  <a:lnTo>
                    <a:pt x="7411" y="623449"/>
                  </a:lnTo>
                  <a:lnTo>
                    <a:pt x="15455" y="628872"/>
                  </a:lnTo>
                  <a:lnTo>
                    <a:pt x="25305" y="630860"/>
                  </a:lnTo>
                  <a:lnTo>
                    <a:pt x="1108582" y="630860"/>
                  </a:lnTo>
                  <a:lnTo>
                    <a:pt x="1118432" y="628872"/>
                  </a:lnTo>
                  <a:lnTo>
                    <a:pt x="1126476" y="623449"/>
                  </a:lnTo>
                  <a:lnTo>
                    <a:pt x="1131899" y="615405"/>
                  </a:lnTo>
                  <a:lnTo>
                    <a:pt x="1133887" y="605555"/>
                  </a:lnTo>
                  <a:lnTo>
                    <a:pt x="1133887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556112" y="828365"/>
            <a:ext cx="799465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 i="1">
                <a:solidFill>
                  <a:srgbClr val="FFFFFF"/>
                </a:solidFill>
                <a:latin typeface="Arial"/>
                <a:cs typeface="Arial"/>
              </a:rPr>
              <a:t>Ilinx</a:t>
            </a:r>
            <a:endParaRPr sz="900">
              <a:latin typeface="Arial"/>
              <a:cs typeface="Arial"/>
            </a:endParaRPr>
          </a:p>
          <a:p>
            <a:pPr algn="just" marL="12700" marR="5080">
              <a:lnSpc>
                <a:spcPts val="830"/>
              </a:lnSpc>
              <a:spcBef>
                <a:spcPts val="1000"/>
              </a:spcBef>
            </a:pPr>
            <a:r>
              <a:rPr dirty="0" sz="800" spc="-10">
                <a:latin typeface="Arial Black"/>
                <a:cs typeface="Arial Black"/>
              </a:rPr>
              <a:t>Vertigo</a:t>
            </a:r>
            <a:r>
              <a:rPr dirty="0" sz="800" spc="-10">
                <a:latin typeface="Arial"/>
                <a:cs typeface="Arial"/>
              </a:rPr>
              <a:t>: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altered </a:t>
            </a:r>
            <a:r>
              <a:rPr dirty="0" sz="800">
                <a:latin typeface="Arial"/>
                <a:cs typeface="Arial"/>
              </a:rPr>
              <a:t>sensation.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Roller </a:t>
            </a:r>
            <a:r>
              <a:rPr dirty="0" sz="800">
                <a:latin typeface="Arial"/>
                <a:cs typeface="Arial"/>
              </a:rPr>
              <a:t>coasters,</a:t>
            </a:r>
            <a:r>
              <a:rPr dirty="0" sz="800" spc="-6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VR,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ex-</a:t>
            </a:r>
            <a:r>
              <a:rPr dirty="0" sz="800">
                <a:latin typeface="Arial"/>
                <a:cs typeface="Arial"/>
              </a:rPr>
              <a:t>treme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sports.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359994" y="1928126"/>
          <a:ext cx="5116195" cy="5118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Video</a:t>
                      </a:r>
                      <a:r>
                        <a:rPr dirty="0" sz="1100" spc="-8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3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Games</a:t>
                      </a:r>
                      <a:r>
                        <a:rPr dirty="0" sz="1100" spc="-8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3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as</a:t>
                      </a:r>
                      <a:r>
                        <a:rPr dirty="0" sz="1100" spc="-8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Hybrid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45720" marR="61594">
                        <a:lnSpc>
                          <a:spcPts val="960"/>
                        </a:lnSpc>
                        <a:spcBef>
                          <a:spcPts val="270"/>
                        </a:spcBef>
                      </a:pPr>
                      <a:r>
                        <a:rPr dirty="0" sz="9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Fortnite</a:t>
                      </a:r>
                      <a:r>
                        <a:rPr dirty="0" sz="900" spc="15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combines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four:</a:t>
                      </a:r>
                      <a:r>
                        <a:rPr dirty="0" sz="900" spc="6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competition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900" spc="-1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agôn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),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random</a:t>
                      </a:r>
                      <a:r>
                        <a:rPr dirty="0" sz="900" spc="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loot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9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alea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),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character</a:t>
                      </a:r>
                      <a:r>
                        <a:rPr dirty="0" sz="900" spc="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skins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9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mimicry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),</a:t>
                      </a:r>
                      <a:r>
                        <a:rPr dirty="0" sz="9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kinesthetic</a:t>
                      </a:r>
                      <a:r>
                        <a:rPr dirty="0" sz="900" spc="9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excitement</a:t>
                      </a:r>
                      <a:r>
                        <a:rPr dirty="0" sz="900" spc="1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900" spc="-1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ilinx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).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26" name="object 2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0" y="3234937"/>
              <a:ext cx="1593215" cy="5080"/>
            </a:xfrm>
            <a:custGeom>
              <a:avLst/>
              <a:gdLst/>
              <a:ahLst/>
              <a:cxnLst/>
              <a:rect l="l" t="t" r="r" b="b"/>
              <a:pathLst>
                <a:path w="1593215" h="5080">
                  <a:moveTo>
                    <a:pt x="0" y="5060"/>
                  </a:moveTo>
                  <a:lnTo>
                    <a:pt x="0" y="0"/>
                  </a:lnTo>
                  <a:lnTo>
                    <a:pt x="1593213" y="0"/>
                  </a:lnTo>
                  <a:lnTo>
                    <a:pt x="1593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Nguyen:</a:t>
            </a:r>
            <a:r>
              <a:rPr dirty="0" spc="-50"/>
              <a:t> </a:t>
            </a:r>
            <a:r>
              <a:rPr dirty="0" spc="-145"/>
              <a:t>Games</a:t>
            </a:r>
            <a:r>
              <a:rPr dirty="0" spc="-95"/>
              <a:t> </a:t>
            </a:r>
            <a:r>
              <a:rPr dirty="0" spc="-140"/>
              <a:t>as</a:t>
            </a:r>
            <a:r>
              <a:rPr dirty="0" spc="-95"/>
              <a:t> </a:t>
            </a:r>
            <a:r>
              <a:rPr dirty="0" spc="-110"/>
              <a:t>an</a:t>
            </a:r>
            <a:r>
              <a:rPr dirty="0" spc="-100"/>
              <a:t> </a:t>
            </a:r>
            <a:r>
              <a:rPr dirty="0" spc="-95"/>
              <a:t>Art </a:t>
            </a:r>
            <a:r>
              <a:rPr dirty="0" spc="-125"/>
              <a:t>Form</a:t>
            </a:r>
            <a:r>
              <a:rPr dirty="0" spc="-95"/>
              <a:t> </a:t>
            </a:r>
            <a:r>
              <a:rPr dirty="0" spc="-80"/>
              <a:t>for</a:t>
            </a:r>
            <a:r>
              <a:rPr dirty="0" spc="-95"/>
              <a:t> </a:t>
            </a:r>
            <a:r>
              <a:rPr dirty="0" spc="-105"/>
              <a:t>Agency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3"/>
            <a:ext cx="5040630" cy="1075055"/>
            <a:chOff x="359994" y="602323"/>
            <a:chExt cx="5040630" cy="1075055"/>
          </a:xfrm>
        </p:grpSpPr>
        <p:sp>
          <p:nvSpPr>
            <p:cNvPr id="4" name="object 4"/>
            <p:cNvSpPr/>
            <p:nvPr/>
          </p:nvSpPr>
          <p:spPr>
            <a:xfrm>
              <a:off x="359994" y="602323"/>
              <a:ext cx="5040630" cy="1075055"/>
            </a:xfrm>
            <a:custGeom>
              <a:avLst/>
              <a:gdLst/>
              <a:ahLst/>
              <a:cxnLst/>
              <a:rect l="l" t="t" r="r" b="b"/>
              <a:pathLst>
                <a:path w="5040630" h="107505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036752"/>
                  </a:lnTo>
                  <a:lnTo>
                    <a:pt x="2982" y="1051528"/>
                  </a:lnTo>
                  <a:lnTo>
                    <a:pt x="11117" y="1063593"/>
                  </a:lnTo>
                  <a:lnTo>
                    <a:pt x="23182" y="1071728"/>
                  </a:lnTo>
                  <a:lnTo>
                    <a:pt x="37958" y="1074711"/>
                  </a:lnTo>
                  <a:lnTo>
                    <a:pt x="5002106" y="1074711"/>
                  </a:lnTo>
                  <a:lnTo>
                    <a:pt x="5016882" y="1071728"/>
                  </a:lnTo>
                  <a:lnTo>
                    <a:pt x="5028947" y="1063593"/>
                  </a:lnTo>
                  <a:lnTo>
                    <a:pt x="5037082" y="1051528"/>
                  </a:lnTo>
                  <a:lnTo>
                    <a:pt x="5040064" y="1036752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29378"/>
              <a:ext cx="5015230" cy="835025"/>
            </a:xfrm>
            <a:custGeom>
              <a:avLst/>
              <a:gdLst/>
              <a:ahLst/>
              <a:cxnLst/>
              <a:rect l="l" t="t" r="r" b="b"/>
              <a:pathLst>
                <a:path w="5015230" h="835025">
                  <a:moveTo>
                    <a:pt x="5014759" y="0"/>
                  </a:moveTo>
                  <a:lnTo>
                    <a:pt x="0" y="0"/>
                  </a:lnTo>
                  <a:lnTo>
                    <a:pt x="0" y="809697"/>
                  </a:lnTo>
                  <a:lnTo>
                    <a:pt x="1988" y="819548"/>
                  </a:lnTo>
                  <a:lnTo>
                    <a:pt x="7411" y="827591"/>
                  </a:lnTo>
                  <a:lnTo>
                    <a:pt x="15455" y="833014"/>
                  </a:lnTo>
                  <a:lnTo>
                    <a:pt x="25305" y="835003"/>
                  </a:lnTo>
                  <a:lnTo>
                    <a:pt x="4989454" y="835003"/>
                  </a:lnTo>
                  <a:lnTo>
                    <a:pt x="4999304" y="833014"/>
                  </a:lnTo>
                  <a:lnTo>
                    <a:pt x="5007347" y="827591"/>
                  </a:lnTo>
                  <a:lnTo>
                    <a:pt x="5012770" y="819548"/>
                  </a:lnTo>
                  <a:lnTo>
                    <a:pt x="5014759" y="809697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9953" y="600111"/>
            <a:ext cx="4680585" cy="9677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solidFill>
                  <a:srgbClr val="FFFFFF"/>
                </a:solidFill>
                <a:latin typeface="Arial Black"/>
                <a:cs typeface="Arial Black"/>
              </a:rPr>
              <a:t>Games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35">
                <a:solidFill>
                  <a:srgbClr val="FFFFFF"/>
                </a:solidFill>
                <a:latin typeface="Arial Black"/>
                <a:cs typeface="Arial Black"/>
              </a:rPr>
              <a:t>as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FFFFFF"/>
                </a:solidFill>
                <a:latin typeface="Arial Black"/>
                <a:cs typeface="Arial Black"/>
              </a:rPr>
              <a:t>Agency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35">
                <a:solidFill>
                  <a:srgbClr val="FFFFFF"/>
                </a:solidFill>
                <a:latin typeface="Arial Black"/>
                <a:cs typeface="Arial Black"/>
              </a:rPr>
              <a:t>as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Art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254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55">
                <a:solidFill>
                  <a:srgbClr val="FFFFFF"/>
                </a:solidFill>
                <a:latin typeface="Arial Black"/>
                <a:cs typeface="Arial Black"/>
              </a:rPr>
              <a:t>nguyen_games_agency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960"/>
              </a:lnSpc>
              <a:spcBef>
                <a:spcPts val="1160"/>
              </a:spcBef>
            </a:pPr>
            <a:r>
              <a:rPr dirty="0" sz="900" spc="-55">
                <a:latin typeface="Arial"/>
                <a:cs typeface="Arial"/>
              </a:rPr>
              <a:t>C.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Thi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Nguyen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15">
                <a:latin typeface="Arial"/>
                <a:cs typeface="Arial"/>
              </a:rPr>
              <a:t>argues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25">
                <a:latin typeface="Arial"/>
                <a:cs typeface="Arial"/>
              </a:rPr>
              <a:t>that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15">
                <a:latin typeface="Arial"/>
                <a:cs typeface="Arial"/>
              </a:rPr>
              <a:t>what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makes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15">
                <a:latin typeface="Arial"/>
                <a:cs typeface="Arial"/>
              </a:rPr>
              <a:t>games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unique</a:t>
            </a:r>
            <a:r>
              <a:rPr dirty="0" sz="900" spc="-95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as</a:t>
            </a:r>
            <a:r>
              <a:rPr dirty="0" sz="900" spc="-9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an</a:t>
            </a:r>
            <a:r>
              <a:rPr dirty="0" sz="900" spc="-95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art</a:t>
            </a:r>
            <a:r>
              <a:rPr dirty="0" sz="900" spc="-95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form</a:t>
            </a:r>
            <a:r>
              <a:rPr dirty="0" sz="900" spc="-95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25">
                <a:latin typeface="Arial"/>
                <a:cs typeface="Arial"/>
              </a:rPr>
              <a:t>not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15">
                <a:latin typeface="Arial"/>
                <a:cs typeface="Arial"/>
              </a:rPr>
              <a:t>what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they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15">
                <a:latin typeface="Arial"/>
                <a:cs typeface="Arial"/>
              </a:rPr>
              <a:t>repre-</a:t>
            </a:r>
            <a:r>
              <a:rPr dirty="0" sz="900" spc="5">
                <a:latin typeface="Arial"/>
                <a:cs typeface="Arial"/>
              </a:rPr>
              <a:t>sent,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25">
                <a:latin typeface="Arial"/>
                <a:cs typeface="Arial"/>
              </a:rPr>
              <a:t>but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15">
                <a:latin typeface="Arial"/>
                <a:cs typeface="Arial"/>
              </a:rPr>
              <a:t>what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they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5" i="1">
                <a:latin typeface="Arial"/>
                <a:cs typeface="Arial"/>
              </a:rPr>
              <a:t>do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10" i="1">
                <a:latin typeface="Arial"/>
                <a:cs typeface="Arial"/>
              </a:rPr>
              <a:t>to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the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player’s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15" i="1">
                <a:latin typeface="Arial"/>
                <a:cs typeface="Arial"/>
              </a:rPr>
              <a:t>agency</a:t>
            </a:r>
            <a:r>
              <a:rPr dirty="0" sz="900" spc="-15">
                <a:latin typeface="Arial"/>
                <a:cs typeface="Arial"/>
              </a:rPr>
              <a:t>.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 </a:t>
            </a:r>
            <a:r>
              <a:rPr dirty="0" sz="900" spc="-10">
                <a:latin typeface="Arial"/>
                <a:cs typeface="Arial"/>
              </a:rPr>
              <a:t>game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designer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crafts</a:t>
            </a:r>
            <a:r>
              <a:rPr dirty="0" sz="900" spc="-25">
                <a:latin typeface="Arial"/>
                <a:cs typeface="Arial"/>
              </a:rPr>
              <a:t> a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form</a:t>
            </a:r>
            <a:r>
              <a:rPr dirty="0" sz="900" spc="-8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of</a:t>
            </a:r>
            <a:r>
              <a:rPr dirty="0" sz="900" spc="-8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striving</a:t>
            </a:r>
            <a:r>
              <a:rPr dirty="0" sz="900" spc="-75">
                <a:latin typeface="Arial Black"/>
                <a:cs typeface="Arial Black"/>
              </a:rPr>
              <a:t> </a:t>
            </a:r>
            <a:r>
              <a:rPr dirty="0" sz="900" spc="-210">
                <a:latin typeface="Arial"/>
                <a:cs typeface="Arial"/>
              </a:rPr>
              <a:t>—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temporary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set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 spc="15">
                <a:latin typeface="Arial"/>
                <a:cs typeface="Arial"/>
              </a:rPr>
              <a:t>of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motivations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values.</a:t>
            </a:r>
            <a:endParaRPr sz="900">
              <a:latin typeface="Arial"/>
              <a:cs typeface="Arial"/>
            </a:endParaRPr>
          </a:p>
          <a:p>
            <a:pPr algn="just" marL="12700" marR="5080">
              <a:lnSpc>
                <a:spcPts val="960"/>
              </a:lnSpc>
              <a:spcBef>
                <a:spcPts val="155"/>
              </a:spcBef>
            </a:pPr>
            <a:r>
              <a:rPr dirty="0" sz="900">
                <a:latin typeface="Arial"/>
                <a:cs typeface="Arial"/>
              </a:rPr>
              <a:t>When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you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play,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you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adopt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temporary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goals</a:t>
            </a:r>
            <a:r>
              <a:rPr dirty="0" sz="900" spc="-65">
                <a:latin typeface="Arial"/>
                <a:cs typeface="Arial"/>
              </a:rPr>
              <a:t>:</a:t>
            </a:r>
            <a:r>
              <a:rPr dirty="0" sz="900" spc="1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capture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king,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survive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next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wave.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borrowed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agency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art.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7213" y="1952446"/>
            <a:ext cx="2419350" cy="912494"/>
            <a:chOff x="307213" y="1952446"/>
            <a:chExt cx="2419350" cy="912494"/>
          </a:xfrm>
        </p:grpSpPr>
        <p:sp>
          <p:nvSpPr>
            <p:cNvPr id="8" name="object 8"/>
            <p:cNvSpPr/>
            <p:nvPr/>
          </p:nvSpPr>
          <p:spPr>
            <a:xfrm>
              <a:off x="307213" y="1952446"/>
              <a:ext cx="2419350" cy="912494"/>
            </a:xfrm>
            <a:custGeom>
              <a:avLst/>
              <a:gdLst/>
              <a:ahLst/>
              <a:cxnLst/>
              <a:rect l="l" t="t" r="r" b="b"/>
              <a:pathLst>
                <a:path w="2419350" h="912494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874309"/>
                  </a:lnTo>
                  <a:lnTo>
                    <a:pt x="2982" y="889084"/>
                  </a:lnTo>
                  <a:lnTo>
                    <a:pt x="11117" y="901149"/>
                  </a:lnTo>
                  <a:lnTo>
                    <a:pt x="23182" y="909284"/>
                  </a:lnTo>
                  <a:lnTo>
                    <a:pt x="37958" y="912267"/>
                  </a:lnTo>
                  <a:lnTo>
                    <a:pt x="2381251" y="912267"/>
                  </a:lnTo>
                  <a:lnTo>
                    <a:pt x="2396026" y="909284"/>
                  </a:lnTo>
                  <a:lnTo>
                    <a:pt x="2408091" y="901149"/>
                  </a:lnTo>
                  <a:lnTo>
                    <a:pt x="2416226" y="889084"/>
                  </a:lnTo>
                  <a:lnTo>
                    <a:pt x="2419209" y="874309"/>
                  </a:lnTo>
                  <a:lnTo>
                    <a:pt x="2419209" y="37958"/>
                  </a:lnTo>
                  <a:lnTo>
                    <a:pt x="2416226" y="23182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9865" y="2183241"/>
              <a:ext cx="2393950" cy="669290"/>
            </a:xfrm>
            <a:custGeom>
              <a:avLst/>
              <a:gdLst/>
              <a:ahLst/>
              <a:cxnLst/>
              <a:rect l="l" t="t" r="r" b="b"/>
              <a:pathLst>
                <a:path w="2393950" h="669289">
                  <a:moveTo>
                    <a:pt x="2393904" y="0"/>
                  </a:moveTo>
                  <a:lnTo>
                    <a:pt x="0" y="0"/>
                  </a:lnTo>
                  <a:lnTo>
                    <a:pt x="0" y="643513"/>
                  </a:lnTo>
                  <a:lnTo>
                    <a:pt x="1988" y="653363"/>
                  </a:lnTo>
                  <a:lnTo>
                    <a:pt x="7411" y="661407"/>
                  </a:lnTo>
                  <a:lnTo>
                    <a:pt x="15455" y="666830"/>
                  </a:lnTo>
                  <a:lnTo>
                    <a:pt x="25305" y="668818"/>
                  </a:lnTo>
                  <a:lnTo>
                    <a:pt x="2368598" y="668818"/>
                  </a:lnTo>
                  <a:lnTo>
                    <a:pt x="2378448" y="666830"/>
                  </a:lnTo>
                  <a:lnTo>
                    <a:pt x="2386492" y="661407"/>
                  </a:lnTo>
                  <a:lnTo>
                    <a:pt x="2391915" y="653363"/>
                  </a:lnTo>
                  <a:lnTo>
                    <a:pt x="2393904" y="643513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87172" y="1955646"/>
            <a:ext cx="1903730" cy="801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Explains</a:t>
            </a:r>
            <a:endParaRPr sz="1100">
              <a:latin typeface="Arial Black"/>
              <a:cs typeface="Arial Black"/>
            </a:endParaRPr>
          </a:p>
          <a:p>
            <a:pPr marL="289560" marR="5080" indent="-109855">
              <a:lnSpc>
                <a:spcPts val="830"/>
              </a:lnSpc>
              <a:spcBef>
                <a:spcPts val="117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800" spc="3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games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feel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70">
                <a:solidFill>
                  <a:srgbClr val="22373A"/>
                </a:solidFill>
                <a:latin typeface="Arial Black"/>
                <a:cs typeface="Arial Black"/>
              </a:rPr>
              <a:t>meaningful</a:t>
            </a:r>
            <a:r>
              <a:rPr dirty="0" sz="8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even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 outcomes</a:t>
            </a:r>
            <a:r>
              <a:rPr dirty="0" sz="8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“don’t</a:t>
            </a:r>
            <a:r>
              <a:rPr dirty="0" sz="8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matter”</a:t>
            </a:r>
            <a:endParaRPr sz="800">
              <a:latin typeface="Arial"/>
              <a:cs typeface="Arial"/>
            </a:endParaRPr>
          </a:p>
          <a:p>
            <a:pPr marL="289560" marR="17145" indent="-109855">
              <a:lnSpc>
                <a:spcPts val="830"/>
              </a:lnSpc>
              <a:spcBef>
                <a:spcPts val="30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800" spc="4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dirty="0" sz="8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70">
                <a:solidFill>
                  <a:srgbClr val="22373A"/>
                </a:solidFill>
                <a:latin typeface="Arial Black"/>
                <a:cs typeface="Arial Black"/>
              </a:rPr>
              <a:t>bad</a:t>
            </a:r>
            <a:r>
              <a:rPr dirty="0" sz="8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100">
                <a:solidFill>
                  <a:srgbClr val="22373A"/>
                </a:solidFill>
                <a:latin typeface="Arial Black"/>
                <a:cs typeface="Arial Black"/>
              </a:rPr>
              <a:t>game</a:t>
            </a:r>
            <a:r>
              <a:rPr dirty="0" sz="8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80">
                <a:solidFill>
                  <a:srgbClr val="22373A"/>
                </a:solidFill>
                <a:latin typeface="Arial Black"/>
                <a:cs typeface="Arial Black"/>
              </a:rPr>
              <a:t>design</a:t>
            </a:r>
            <a:r>
              <a:rPr dirty="0" sz="8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feels</a:t>
            </a:r>
            <a:r>
              <a:rPr dirty="0" sz="8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imposition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33610" y="1952444"/>
            <a:ext cx="2419350" cy="770255"/>
            <a:chOff x="3033610" y="1952444"/>
            <a:chExt cx="2419350" cy="770255"/>
          </a:xfrm>
        </p:grpSpPr>
        <p:sp>
          <p:nvSpPr>
            <p:cNvPr id="12" name="object 12"/>
            <p:cNvSpPr/>
            <p:nvPr/>
          </p:nvSpPr>
          <p:spPr>
            <a:xfrm>
              <a:off x="3033610" y="1952444"/>
              <a:ext cx="2419350" cy="770255"/>
            </a:xfrm>
            <a:custGeom>
              <a:avLst/>
              <a:gdLst/>
              <a:ahLst/>
              <a:cxnLst/>
              <a:rect l="l" t="t" r="r" b="b"/>
              <a:pathLst>
                <a:path w="2419350" h="770255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732236"/>
                  </a:lnTo>
                  <a:lnTo>
                    <a:pt x="2982" y="747011"/>
                  </a:lnTo>
                  <a:lnTo>
                    <a:pt x="11117" y="759077"/>
                  </a:lnTo>
                  <a:lnTo>
                    <a:pt x="23182" y="767211"/>
                  </a:lnTo>
                  <a:lnTo>
                    <a:pt x="37958" y="770194"/>
                  </a:lnTo>
                  <a:lnTo>
                    <a:pt x="2381251" y="770194"/>
                  </a:lnTo>
                  <a:lnTo>
                    <a:pt x="2396026" y="767211"/>
                  </a:lnTo>
                  <a:lnTo>
                    <a:pt x="2408091" y="759077"/>
                  </a:lnTo>
                  <a:lnTo>
                    <a:pt x="2416226" y="747011"/>
                  </a:lnTo>
                  <a:lnTo>
                    <a:pt x="2419209" y="732236"/>
                  </a:lnTo>
                  <a:lnTo>
                    <a:pt x="2419209" y="37958"/>
                  </a:lnTo>
                  <a:lnTo>
                    <a:pt x="2416226" y="23183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46263" y="2184902"/>
              <a:ext cx="2393950" cy="525145"/>
            </a:xfrm>
            <a:custGeom>
              <a:avLst/>
              <a:gdLst/>
              <a:ahLst/>
              <a:cxnLst/>
              <a:rect l="l" t="t" r="r" b="b"/>
              <a:pathLst>
                <a:path w="2393950" h="525144">
                  <a:moveTo>
                    <a:pt x="2393904" y="0"/>
                  </a:moveTo>
                  <a:lnTo>
                    <a:pt x="0" y="0"/>
                  </a:lnTo>
                  <a:lnTo>
                    <a:pt x="0" y="499778"/>
                  </a:lnTo>
                  <a:lnTo>
                    <a:pt x="1988" y="509628"/>
                  </a:lnTo>
                  <a:lnTo>
                    <a:pt x="7411" y="517671"/>
                  </a:lnTo>
                  <a:lnTo>
                    <a:pt x="15455" y="523094"/>
                  </a:lnTo>
                  <a:lnTo>
                    <a:pt x="25305" y="525083"/>
                  </a:lnTo>
                  <a:lnTo>
                    <a:pt x="2368598" y="525083"/>
                  </a:lnTo>
                  <a:lnTo>
                    <a:pt x="2378448" y="523094"/>
                  </a:lnTo>
                  <a:lnTo>
                    <a:pt x="2386492" y="517671"/>
                  </a:lnTo>
                  <a:lnTo>
                    <a:pt x="2391915" y="509628"/>
                  </a:lnTo>
                  <a:lnTo>
                    <a:pt x="2393904" y="499778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BF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213557" y="1955646"/>
            <a:ext cx="2059305" cy="659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FFFFFF"/>
                </a:solidFill>
                <a:latin typeface="Arial Black"/>
                <a:cs typeface="Arial Black"/>
              </a:rPr>
              <a:t>Nguyen’s</a:t>
            </a:r>
            <a:r>
              <a:rPr dirty="0" sz="11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Warning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830"/>
              </a:lnSpc>
              <a:spcBef>
                <a:spcPts val="1190"/>
              </a:spcBef>
            </a:pPr>
            <a:r>
              <a:rPr dirty="0" sz="800" spc="-10">
                <a:latin typeface="Arial"/>
                <a:cs typeface="Arial"/>
              </a:rPr>
              <a:t>Games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can</a:t>
            </a:r>
            <a:r>
              <a:rPr dirty="0" sz="800" spc="-55">
                <a:latin typeface="Arial"/>
                <a:cs typeface="Arial"/>
              </a:rPr>
              <a:t> </a:t>
            </a:r>
            <a:r>
              <a:rPr dirty="0" sz="800" spc="-80">
                <a:latin typeface="Arial Black"/>
                <a:cs typeface="Arial Black"/>
              </a:rPr>
              <a:t>hijack</a:t>
            </a:r>
            <a:r>
              <a:rPr dirty="0" sz="800" spc="15">
                <a:latin typeface="Arial Black"/>
                <a:cs typeface="Arial Black"/>
              </a:rPr>
              <a:t> </a:t>
            </a:r>
            <a:r>
              <a:rPr dirty="0" sz="800" spc="-40">
                <a:latin typeface="Arial Black"/>
                <a:cs typeface="Arial Black"/>
              </a:rPr>
              <a:t>values</a:t>
            </a:r>
            <a:r>
              <a:rPr dirty="0" sz="800" spc="-40">
                <a:latin typeface="Arial"/>
                <a:cs typeface="Arial"/>
              </a:rPr>
              <a:t>.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Leaderboards</a:t>
            </a:r>
            <a:r>
              <a:rPr dirty="0" sz="800" spc="-25">
                <a:latin typeface="Arial"/>
                <a:cs typeface="Arial"/>
              </a:rPr>
              <a:t> re-</a:t>
            </a:r>
            <a:r>
              <a:rPr dirty="0" sz="800">
                <a:latin typeface="Arial"/>
                <a:cs typeface="Arial"/>
              </a:rPr>
              <a:t>place</a:t>
            </a:r>
            <a:r>
              <a:rPr dirty="0" sz="800" spc="1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genuine</a:t>
            </a:r>
            <a:r>
              <a:rPr dirty="0" sz="800" spc="1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goals</a:t>
            </a:r>
            <a:r>
              <a:rPr dirty="0" sz="800" spc="1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</a:t>
            </a:r>
            <a:r>
              <a:rPr dirty="0" sz="800" spc="120">
                <a:latin typeface="Arial"/>
                <a:cs typeface="Arial"/>
              </a:rPr>
              <a:t> </a:t>
            </a:r>
            <a:r>
              <a:rPr dirty="0" sz="800" spc="-65">
                <a:latin typeface="Arial Black"/>
                <a:cs typeface="Arial Black"/>
              </a:rPr>
              <a:t>gamified</a:t>
            </a:r>
            <a:r>
              <a:rPr dirty="0" sz="800" spc="75">
                <a:latin typeface="Arial Black"/>
                <a:cs typeface="Arial Black"/>
              </a:rPr>
              <a:t> </a:t>
            </a:r>
            <a:r>
              <a:rPr dirty="0" sz="800" spc="-80">
                <a:latin typeface="Arial Black"/>
                <a:cs typeface="Arial Black"/>
              </a:rPr>
              <a:t>metrics</a:t>
            </a:r>
            <a:r>
              <a:rPr dirty="0" sz="80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we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then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import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into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rest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our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lives.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1715770" cy="5080"/>
            </a:xfrm>
            <a:custGeom>
              <a:avLst/>
              <a:gdLst/>
              <a:ahLst/>
              <a:cxnLst/>
              <a:rect l="l" t="t" r="r" b="b"/>
              <a:pathLst>
                <a:path w="1715770" h="5080">
                  <a:moveTo>
                    <a:pt x="0" y="5060"/>
                  </a:moveTo>
                  <a:lnTo>
                    <a:pt x="0" y="0"/>
                  </a:lnTo>
                  <a:lnTo>
                    <a:pt x="1715734" y="0"/>
                  </a:lnTo>
                  <a:lnTo>
                    <a:pt x="17157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01104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Discussion:</a:t>
            </a:r>
            <a:r>
              <a:rPr dirty="0" spc="-50"/>
              <a:t> </a:t>
            </a:r>
            <a:r>
              <a:rPr dirty="0" spc="-55"/>
              <a:t>Is</a:t>
            </a:r>
            <a:r>
              <a:rPr dirty="0" spc="-95"/>
              <a:t> </a:t>
            </a:r>
            <a:r>
              <a:rPr dirty="0" spc="-120"/>
              <a:t>This</a:t>
            </a:r>
            <a:r>
              <a:rPr dirty="0" spc="-100"/>
              <a:t> </a:t>
            </a:r>
            <a:r>
              <a:rPr dirty="0" spc="-120"/>
              <a:t>a</a:t>
            </a:r>
            <a:r>
              <a:rPr dirty="0" spc="-95"/>
              <a:t> </a:t>
            </a:r>
            <a:r>
              <a:rPr dirty="0" spc="-114"/>
              <a:t>Game?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034204"/>
            <a:ext cx="5040630" cy="1223010"/>
            <a:chOff x="359994" y="1034204"/>
            <a:chExt cx="5040630" cy="1223010"/>
          </a:xfrm>
        </p:grpSpPr>
        <p:sp>
          <p:nvSpPr>
            <p:cNvPr id="4" name="object 4"/>
            <p:cNvSpPr/>
            <p:nvPr/>
          </p:nvSpPr>
          <p:spPr>
            <a:xfrm>
              <a:off x="359994" y="1034204"/>
              <a:ext cx="5040630" cy="1223010"/>
            </a:xfrm>
            <a:custGeom>
              <a:avLst/>
              <a:gdLst/>
              <a:ahLst/>
              <a:cxnLst/>
              <a:rect l="l" t="t" r="r" b="b"/>
              <a:pathLst>
                <a:path w="5040630" h="122301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84983"/>
                  </a:lnTo>
                  <a:lnTo>
                    <a:pt x="2982" y="1199758"/>
                  </a:lnTo>
                  <a:lnTo>
                    <a:pt x="11117" y="1211823"/>
                  </a:lnTo>
                  <a:lnTo>
                    <a:pt x="23182" y="1219958"/>
                  </a:lnTo>
                  <a:lnTo>
                    <a:pt x="37958" y="1222941"/>
                  </a:lnTo>
                  <a:lnTo>
                    <a:pt x="5002106" y="1222941"/>
                  </a:lnTo>
                  <a:lnTo>
                    <a:pt x="5016882" y="1219958"/>
                  </a:lnTo>
                  <a:lnTo>
                    <a:pt x="5028947" y="1211823"/>
                  </a:lnTo>
                  <a:lnTo>
                    <a:pt x="5037082" y="1199758"/>
                  </a:lnTo>
                  <a:lnTo>
                    <a:pt x="5040064" y="1184983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1245273"/>
              <a:ext cx="5015230" cy="999490"/>
            </a:xfrm>
            <a:custGeom>
              <a:avLst/>
              <a:gdLst/>
              <a:ahLst/>
              <a:cxnLst/>
              <a:rect l="l" t="t" r="r" b="b"/>
              <a:pathLst>
                <a:path w="5015230" h="999489">
                  <a:moveTo>
                    <a:pt x="5014759" y="0"/>
                  </a:moveTo>
                  <a:lnTo>
                    <a:pt x="0" y="0"/>
                  </a:lnTo>
                  <a:lnTo>
                    <a:pt x="0" y="973914"/>
                  </a:lnTo>
                  <a:lnTo>
                    <a:pt x="1988" y="983764"/>
                  </a:lnTo>
                  <a:lnTo>
                    <a:pt x="7411" y="991807"/>
                  </a:lnTo>
                  <a:lnTo>
                    <a:pt x="15455" y="997231"/>
                  </a:lnTo>
                  <a:lnTo>
                    <a:pt x="25305" y="999219"/>
                  </a:lnTo>
                  <a:lnTo>
                    <a:pt x="4989454" y="999219"/>
                  </a:lnTo>
                  <a:lnTo>
                    <a:pt x="4999304" y="997231"/>
                  </a:lnTo>
                  <a:lnTo>
                    <a:pt x="5007347" y="991807"/>
                  </a:lnTo>
                  <a:lnTo>
                    <a:pt x="5012770" y="983764"/>
                  </a:lnTo>
                  <a:lnTo>
                    <a:pt x="5014759" y="973914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35863" y="966601"/>
            <a:ext cx="4888865" cy="125285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00" spc="-130">
                <a:solidFill>
                  <a:srgbClr val="FFFFFF"/>
                </a:solidFill>
                <a:latin typeface="Arial Black"/>
                <a:cs typeface="Arial Black"/>
              </a:rPr>
              <a:t>Testing</a:t>
            </a:r>
            <a:r>
              <a:rPr dirty="0" sz="11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Suits’</a:t>
            </a:r>
            <a:r>
              <a:rPr dirty="0" sz="11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Definition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960"/>
              </a:lnSpc>
              <a:spcBef>
                <a:spcPts val="515"/>
              </a:spcBef>
            </a:pPr>
            <a:r>
              <a:rPr dirty="0" sz="900">
                <a:latin typeface="Arial"/>
                <a:cs typeface="Arial"/>
              </a:rPr>
              <a:t>Apply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three-part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test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each.</a:t>
            </a:r>
            <a:r>
              <a:rPr dirty="0" sz="900" spc="1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Does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have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prelusory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goal,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constitutive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rules,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lusory attitude?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4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A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mobile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“idle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game”</a:t>
            </a:r>
            <a:r>
              <a:rPr dirty="0" sz="900" spc="-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itself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sleep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3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A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loot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box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money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randomized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in-game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reward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3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A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job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simulation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Stardew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Valley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):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50">
                <a:solidFill>
                  <a:srgbClr val="22373A"/>
                </a:solidFill>
                <a:latin typeface="Arial"/>
                <a:cs typeface="Arial"/>
              </a:rPr>
              <a:t>“work”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voluntarily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900" spc="-80">
                <a:latin typeface="Arial Black"/>
                <a:cs typeface="Arial Black"/>
              </a:rPr>
              <a:t>Which</a:t>
            </a:r>
            <a:r>
              <a:rPr dirty="0" sz="900" spc="-65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pass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Suits’</a:t>
            </a:r>
            <a:r>
              <a:rPr dirty="0" sz="900" spc="-6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test?</a:t>
            </a:r>
            <a:r>
              <a:rPr dirty="0" sz="900" spc="-20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Which</a:t>
            </a:r>
            <a:r>
              <a:rPr dirty="0" sz="900" spc="-65">
                <a:latin typeface="Arial Black"/>
                <a:cs typeface="Arial Black"/>
              </a:rPr>
              <a:t> </a:t>
            </a:r>
            <a:r>
              <a:rPr dirty="0" sz="900" spc="-60">
                <a:latin typeface="Arial Black"/>
                <a:cs typeface="Arial Black"/>
              </a:rPr>
              <a:t>fail </a:t>
            </a:r>
            <a:r>
              <a:rPr dirty="0" sz="900" spc="-215">
                <a:latin typeface="Arial Black"/>
                <a:cs typeface="Arial Black"/>
              </a:rPr>
              <a:t>—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and</a:t>
            </a:r>
            <a:r>
              <a:rPr dirty="0" sz="900" spc="-65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does</a:t>
            </a:r>
            <a:r>
              <a:rPr dirty="0" sz="900" spc="-60">
                <a:latin typeface="Arial Black"/>
                <a:cs typeface="Arial Black"/>
              </a:rPr>
              <a:t> it</a:t>
            </a:r>
            <a:r>
              <a:rPr dirty="0" sz="900" spc="-65">
                <a:latin typeface="Arial Black"/>
                <a:cs typeface="Arial Black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matter?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1838960" cy="5080"/>
            </a:xfrm>
            <a:custGeom>
              <a:avLst/>
              <a:gdLst/>
              <a:ahLst/>
              <a:cxnLst/>
              <a:rect l="l" t="t" r="r" b="b"/>
              <a:pathLst>
                <a:path w="1838960" h="5080">
                  <a:moveTo>
                    <a:pt x="0" y="5060"/>
                  </a:moveTo>
                  <a:lnTo>
                    <a:pt x="0" y="0"/>
                  </a:lnTo>
                  <a:lnTo>
                    <a:pt x="1838343" y="0"/>
                  </a:lnTo>
                  <a:lnTo>
                    <a:pt x="18383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L</a:t>
            </a:r>
            <a:r>
              <a:rPr dirty="0" spc="-135"/>
              <a:t>ectu</a:t>
            </a:r>
            <a:r>
              <a:rPr dirty="0" spc="-135"/>
              <a:t>re</a:t>
            </a:r>
            <a:r>
              <a:rPr dirty="0" spc="-60"/>
              <a:t> </a:t>
            </a:r>
            <a:r>
              <a:rPr dirty="0" spc="-85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23235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Part</a:t>
            </a:r>
            <a:r>
              <a:rPr dirty="0" sz="1100" spc="-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I: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What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Is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Play?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Part</a:t>
            </a:r>
            <a:r>
              <a:rPr dirty="0" sz="1100" spc="-4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9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II: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Defining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214299"/>
              </a:lnSpc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Part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105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III: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Games,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Moral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Panic,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Work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Ethic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IV: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Games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—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Harm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or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Benefit?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Virtue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Ethics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7112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VI: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Life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as 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Game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—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Suits’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Grasshopper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Part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5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VII: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AI,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Post-Work,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the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Meaning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of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Life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1960880" cy="5080"/>
            </a:xfrm>
            <a:custGeom>
              <a:avLst/>
              <a:gdLst/>
              <a:ahLst/>
              <a:cxnLst/>
              <a:rect l="l" t="t" r="r" b="b"/>
              <a:pathLst>
                <a:path w="1960880" h="5080">
                  <a:moveTo>
                    <a:pt x="0" y="5060"/>
                  </a:moveTo>
                  <a:lnTo>
                    <a:pt x="0" y="0"/>
                  </a:lnTo>
                  <a:lnTo>
                    <a:pt x="1960864" y="0"/>
                  </a:lnTo>
                  <a:lnTo>
                    <a:pt x="19608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9164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Plato</a:t>
            </a:r>
            <a:r>
              <a:rPr dirty="0" spc="-90"/>
              <a:t> </a:t>
            </a:r>
            <a:r>
              <a:rPr dirty="0" spc="-105"/>
              <a:t>and</a:t>
            </a:r>
            <a:r>
              <a:rPr dirty="0" spc="-85"/>
              <a:t> </a:t>
            </a:r>
            <a:r>
              <a:rPr dirty="0" spc="-105"/>
              <a:t>Aristotle</a:t>
            </a:r>
            <a:r>
              <a:rPr dirty="0" spc="-90"/>
              <a:t> </a:t>
            </a:r>
            <a:r>
              <a:rPr dirty="0" spc="-120"/>
              <a:t>on</a:t>
            </a:r>
            <a:r>
              <a:rPr dirty="0" spc="-85"/>
              <a:t> </a:t>
            </a:r>
            <a:r>
              <a:rPr dirty="0" spc="-55"/>
              <a:t>Play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213" y="708313"/>
            <a:ext cx="2419350" cy="1340485"/>
            <a:chOff x="307213" y="708313"/>
            <a:chExt cx="2419350" cy="1340485"/>
          </a:xfrm>
        </p:grpSpPr>
        <p:sp>
          <p:nvSpPr>
            <p:cNvPr id="4" name="object 4"/>
            <p:cNvSpPr/>
            <p:nvPr/>
          </p:nvSpPr>
          <p:spPr>
            <a:xfrm>
              <a:off x="307213" y="708313"/>
              <a:ext cx="2419350" cy="1340485"/>
            </a:xfrm>
            <a:custGeom>
              <a:avLst/>
              <a:gdLst/>
              <a:ahLst/>
              <a:cxnLst/>
              <a:rect l="l" t="t" r="r" b="b"/>
              <a:pathLst>
                <a:path w="2419350" h="1340485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302200"/>
                  </a:lnTo>
                  <a:lnTo>
                    <a:pt x="2982" y="1316975"/>
                  </a:lnTo>
                  <a:lnTo>
                    <a:pt x="11117" y="1329040"/>
                  </a:lnTo>
                  <a:lnTo>
                    <a:pt x="23182" y="1337175"/>
                  </a:lnTo>
                  <a:lnTo>
                    <a:pt x="37958" y="1340158"/>
                  </a:lnTo>
                  <a:lnTo>
                    <a:pt x="2381251" y="1340158"/>
                  </a:lnTo>
                  <a:lnTo>
                    <a:pt x="2396026" y="1337175"/>
                  </a:lnTo>
                  <a:lnTo>
                    <a:pt x="2408091" y="1329040"/>
                  </a:lnTo>
                  <a:lnTo>
                    <a:pt x="2416226" y="1316975"/>
                  </a:lnTo>
                  <a:lnTo>
                    <a:pt x="2419209" y="1302200"/>
                  </a:lnTo>
                  <a:lnTo>
                    <a:pt x="2419209" y="37958"/>
                  </a:lnTo>
                  <a:lnTo>
                    <a:pt x="2416226" y="23182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19865" y="939109"/>
              <a:ext cx="2393950" cy="1097280"/>
            </a:xfrm>
            <a:custGeom>
              <a:avLst/>
              <a:gdLst/>
              <a:ahLst/>
              <a:cxnLst/>
              <a:rect l="l" t="t" r="r" b="b"/>
              <a:pathLst>
                <a:path w="2393950" h="1097280">
                  <a:moveTo>
                    <a:pt x="2393904" y="0"/>
                  </a:moveTo>
                  <a:lnTo>
                    <a:pt x="0" y="0"/>
                  </a:lnTo>
                  <a:lnTo>
                    <a:pt x="0" y="1071404"/>
                  </a:lnTo>
                  <a:lnTo>
                    <a:pt x="1988" y="1081254"/>
                  </a:lnTo>
                  <a:lnTo>
                    <a:pt x="7411" y="1089298"/>
                  </a:lnTo>
                  <a:lnTo>
                    <a:pt x="15455" y="1094721"/>
                  </a:lnTo>
                  <a:lnTo>
                    <a:pt x="25305" y="1096710"/>
                  </a:lnTo>
                  <a:lnTo>
                    <a:pt x="2368598" y="1096710"/>
                  </a:lnTo>
                  <a:lnTo>
                    <a:pt x="2378448" y="1094721"/>
                  </a:lnTo>
                  <a:lnTo>
                    <a:pt x="2386492" y="1089298"/>
                  </a:lnTo>
                  <a:lnTo>
                    <a:pt x="2391915" y="1081254"/>
                  </a:lnTo>
                  <a:lnTo>
                    <a:pt x="2393904" y="1071404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BF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87172" y="711516"/>
            <a:ext cx="2059305" cy="1228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Plato’s</a:t>
            </a:r>
            <a:r>
              <a:rPr dirty="0" sz="11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Suspicion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960"/>
              </a:lnSpc>
              <a:spcBef>
                <a:spcPts val="1140"/>
              </a:spcBef>
            </a:pPr>
            <a:r>
              <a:rPr dirty="0" sz="900" spc="30">
                <a:latin typeface="Arial"/>
                <a:cs typeface="Arial"/>
              </a:rPr>
              <a:t>In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Republic</a:t>
            </a:r>
            <a:r>
              <a:rPr dirty="0" sz="900" spc="-20">
                <a:latin typeface="Arial"/>
                <a:cs typeface="Arial"/>
              </a:rPr>
              <a:t>,</a:t>
            </a:r>
            <a:r>
              <a:rPr dirty="0" sz="900" spc="-10">
                <a:latin typeface="Arial"/>
                <a:cs typeface="Arial"/>
              </a:rPr>
              <a:t> Plato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argued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poetry </a:t>
            </a:r>
            <a:r>
              <a:rPr dirty="0" sz="900" spc="-120">
                <a:latin typeface="Arial Black"/>
                <a:cs typeface="Arial Black"/>
              </a:rPr>
              <a:t>and</a:t>
            </a:r>
            <a:r>
              <a:rPr dirty="0" sz="900" spc="4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performance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corrupted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soul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by </a:t>
            </a:r>
            <a:r>
              <a:rPr dirty="0" sz="900">
                <a:latin typeface="Arial"/>
                <a:cs typeface="Arial"/>
              </a:rPr>
              <a:t>appealing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lower,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emotional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parts </a:t>
            </a:r>
            <a:r>
              <a:rPr dirty="0" sz="900">
                <a:latin typeface="Arial"/>
                <a:cs typeface="Arial"/>
              </a:rPr>
              <a:t>of the </a:t>
            </a:r>
            <a:r>
              <a:rPr dirty="0" sz="900" spc="-10">
                <a:latin typeface="Arial"/>
                <a:cs typeface="Arial"/>
              </a:rPr>
              <a:t>psyche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(</a:t>
            </a:r>
            <a:r>
              <a:rPr dirty="0" sz="900" spc="-10">
                <a:latin typeface="Arial Black"/>
                <a:cs typeface="Arial Black"/>
              </a:rPr>
              <a:t>plato_republic</a:t>
            </a:r>
            <a:r>
              <a:rPr dirty="0" sz="900" spc="-1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algn="just" marL="12700" marR="5080">
              <a:lnSpc>
                <a:spcPts val="960"/>
              </a:lnSpc>
              <a:spcBef>
                <a:spcPts val="300"/>
              </a:spcBef>
            </a:pPr>
            <a:r>
              <a:rPr dirty="0" sz="900" spc="-35">
                <a:latin typeface="Arial"/>
                <a:cs typeface="Arial"/>
              </a:rPr>
              <a:t>The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state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must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control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35">
                <a:latin typeface="Arial Black"/>
                <a:cs typeface="Arial Black"/>
              </a:rPr>
              <a:t>what</a:t>
            </a:r>
            <a:r>
              <a:rPr dirty="0" sz="900" spc="60">
                <a:latin typeface="Arial Black"/>
                <a:cs typeface="Arial Black"/>
              </a:rPr>
              <a:t> </a:t>
            </a:r>
            <a:r>
              <a:rPr dirty="0" sz="900" spc="-105">
                <a:latin typeface="Arial Black"/>
                <a:cs typeface="Arial Black"/>
              </a:rPr>
              <a:t>stories</a:t>
            </a:r>
            <a:r>
              <a:rPr dirty="0" sz="900" spc="30">
                <a:latin typeface="Arial Black"/>
                <a:cs typeface="Arial Black"/>
              </a:rPr>
              <a:t> </a:t>
            </a:r>
            <a:r>
              <a:rPr dirty="0" sz="900" spc="-60">
                <a:latin typeface="Arial Black"/>
                <a:cs typeface="Arial Black"/>
              </a:rPr>
              <a:t>are </a:t>
            </a:r>
            <a:r>
              <a:rPr dirty="0" sz="900">
                <a:latin typeface="Arial Black"/>
                <a:cs typeface="Arial Black"/>
              </a:rPr>
              <a:t>told</a:t>
            </a:r>
            <a:r>
              <a:rPr dirty="0" sz="900">
                <a:latin typeface="Arial"/>
                <a:cs typeface="Arial"/>
              </a:rPr>
              <a:t>.</a:t>
            </a:r>
            <a:r>
              <a:rPr dirty="0" sz="900" spc="160">
                <a:latin typeface="Arial"/>
                <a:cs typeface="Arial"/>
              </a:rPr>
              <a:t> 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wrong</a:t>
            </a:r>
            <a:r>
              <a:rPr dirty="0" sz="900" spc="15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spectacles</a:t>
            </a:r>
            <a:r>
              <a:rPr dirty="0" sz="900" spc="14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form</a:t>
            </a:r>
            <a:r>
              <a:rPr dirty="0" sz="900" spc="15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the </a:t>
            </a:r>
            <a:r>
              <a:rPr dirty="0" sz="900">
                <a:latin typeface="Arial"/>
                <a:cs typeface="Arial"/>
              </a:rPr>
              <a:t>wrong</a:t>
            </a:r>
            <a:r>
              <a:rPr dirty="0" sz="900" spc="-10">
                <a:latin typeface="Arial"/>
                <a:cs typeface="Arial"/>
              </a:rPr>
              <a:t> character.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33610" y="708309"/>
            <a:ext cx="2419350" cy="1291590"/>
            <a:chOff x="3033610" y="708309"/>
            <a:chExt cx="2419350" cy="1291590"/>
          </a:xfrm>
        </p:grpSpPr>
        <p:sp>
          <p:nvSpPr>
            <p:cNvPr id="8" name="object 8"/>
            <p:cNvSpPr/>
            <p:nvPr/>
          </p:nvSpPr>
          <p:spPr>
            <a:xfrm>
              <a:off x="3033610" y="708309"/>
              <a:ext cx="2419350" cy="1291590"/>
            </a:xfrm>
            <a:custGeom>
              <a:avLst/>
              <a:gdLst/>
              <a:ahLst/>
              <a:cxnLst/>
              <a:rect l="l" t="t" r="r" b="b"/>
              <a:pathLst>
                <a:path w="2419350" h="1291589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253309"/>
                  </a:lnTo>
                  <a:lnTo>
                    <a:pt x="2982" y="1268084"/>
                  </a:lnTo>
                  <a:lnTo>
                    <a:pt x="11117" y="1280149"/>
                  </a:lnTo>
                  <a:lnTo>
                    <a:pt x="23182" y="1288284"/>
                  </a:lnTo>
                  <a:lnTo>
                    <a:pt x="37958" y="1291267"/>
                  </a:lnTo>
                  <a:lnTo>
                    <a:pt x="2381251" y="1291267"/>
                  </a:lnTo>
                  <a:lnTo>
                    <a:pt x="2396026" y="1288284"/>
                  </a:lnTo>
                  <a:lnTo>
                    <a:pt x="2408091" y="1280149"/>
                  </a:lnTo>
                  <a:lnTo>
                    <a:pt x="2416226" y="1268084"/>
                  </a:lnTo>
                  <a:lnTo>
                    <a:pt x="2419209" y="1253309"/>
                  </a:lnTo>
                  <a:lnTo>
                    <a:pt x="2419209" y="37958"/>
                  </a:lnTo>
                  <a:lnTo>
                    <a:pt x="2416226" y="23182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46263" y="912989"/>
              <a:ext cx="2393950" cy="1074420"/>
            </a:xfrm>
            <a:custGeom>
              <a:avLst/>
              <a:gdLst/>
              <a:ahLst/>
              <a:cxnLst/>
              <a:rect l="l" t="t" r="r" b="b"/>
              <a:pathLst>
                <a:path w="2393950" h="1074420">
                  <a:moveTo>
                    <a:pt x="2393904" y="0"/>
                  </a:moveTo>
                  <a:lnTo>
                    <a:pt x="0" y="0"/>
                  </a:lnTo>
                  <a:lnTo>
                    <a:pt x="0" y="1048629"/>
                  </a:lnTo>
                  <a:lnTo>
                    <a:pt x="1988" y="1058479"/>
                  </a:lnTo>
                  <a:lnTo>
                    <a:pt x="7411" y="1066523"/>
                  </a:lnTo>
                  <a:lnTo>
                    <a:pt x="15455" y="1071946"/>
                  </a:lnTo>
                  <a:lnTo>
                    <a:pt x="25305" y="1073934"/>
                  </a:lnTo>
                  <a:lnTo>
                    <a:pt x="2368598" y="1073934"/>
                  </a:lnTo>
                  <a:lnTo>
                    <a:pt x="2378448" y="1071946"/>
                  </a:lnTo>
                  <a:lnTo>
                    <a:pt x="2386492" y="1066523"/>
                  </a:lnTo>
                  <a:lnTo>
                    <a:pt x="2391915" y="1058479"/>
                  </a:lnTo>
                  <a:lnTo>
                    <a:pt x="2393904" y="1048629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213557" y="711516"/>
            <a:ext cx="2059305" cy="1202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solidFill>
                  <a:srgbClr val="FFFFFF"/>
                </a:solidFill>
                <a:latin typeface="Arial Black"/>
                <a:cs typeface="Arial Black"/>
              </a:rPr>
              <a:t>Aristotle’s</a:t>
            </a:r>
            <a:r>
              <a:rPr dirty="0" sz="110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Defense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960"/>
              </a:lnSpc>
              <a:spcBef>
                <a:spcPts val="930"/>
              </a:spcBef>
            </a:pPr>
            <a:r>
              <a:rPr dirty="0" sz="900">
                <a:latin typeface="Arial"/>
                <a:cs typeface="Arial"/>
              </a:rPr>
              <a:t>Aristotle</a:t>
            </a:r>
            <a:r>
              <a:rPr dirty="0" sz="900" spc="365">
                <a:latin typeface="Arial"/>
                <a:cs typeface="Arial"/>
              </a:rPr>
              <a:t>  </a:t>
            </a:r>
            <a:r>
              <a:rPr dirty="0" sz="900">
                <a:latin typeface="Arial"/>
                <a:cs typeface="Arial"/>
              </a:rPr>
              <a:t>distinguished</a:t>
            </a:r>
            <a:r>
              <a:rPr dirty="0" sz="900" spc="365">
                <a:latin typeface="Arial"/>
                <a:cs typeface="Arial"/>
              </a:rPr>
              <a:t>  </a:t>
            </a:r>
            <a:r>
              <a:rPr dirty="0" sz="900" spc="-90">
                <a:latin typeface="Arial Black"/>
                <a:cs typeface="Arial Black"/>
              </a:rPr>
              <a:t>amusement </a:t>
            </a:r>
            <a:r>
              <a:rPr dirty="0" sz="900">
                <a:latin typeface="Arial"/>
                <a:cs typeface="Arial"/>
              </a:rPr>
              <a:t>(mere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relaxation)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from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leisure</a:t>
            </a:r>
            <a:r>
              <a:rPr dirty="0" sz="900" spc="45"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(</a:t>
            </a:r>
            <a:r>
              <a:rPr dirty="0" sz="900" spc="-10" i="1">
                <a:latin typeface="Arial"/>
                <a:cs typeface="Arial"/>
              </a:rPr>
              <a:t>schole</a:t>
            </a:r>
            <a:r>
              <a:rPr dirty="0" sz="900" spc="-10">
                <a:latin typeface="Arial"/>
                <a:cs typeface="Arial"/>
              </a:rPr>
              <a:t>): </a:t>
            </a:r>
            <a:r>
              <a:rPr dirty="0" sz="900">
                <a:latin typeface="Arial"/>
                <a:cs typeface="Arial"/>
              </a:rPr>
              <a:t>freely</a:t>
            </a:r>
            <a:r>
              <a:rPr dirty="0" sz="900" spc="3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chosen</a:t>
            </a:r>
            <a:r>
              <a:rPr dirty="0" sz="900" spc="3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activity</a:t>
            </a:r>
            <a:r>
              <a:rPr dirty="0" sz="900" spc="3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pursued</a:t>
            </a:r>
            <a:r>
              <a:rPr dirty="0" sz="900" spc="3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3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its </a:t>
            </a:r>
            <a:r>
              <a:rPr dirty="0" sz="900">
                <a:latin typeface="Arial"/>
                <a:cs typeface="Arial"/>
              </a:rPr>
              <a:t>own</a:t>
            </a:r>
            <a:r>
              <a:rPr dirty="0" sz="900" spc="1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sake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—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highest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human</a:t>
            </a:r>
            <a:r>
              <a:rPr dirty="0" sz="900" spc="18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good </a:t>
            </a:r>
            <a:r>
              <a:rPr dirty="0" sz="900" spc="-35">
                <a:latin typeface="Arial"/>
                <a:cs typeface="Arial"/>
              </a:rPr>
              <a:t>(</a:t>
            </a:r>
            <a:r>
              <a:rPr dirty="0" sz="900" spc="-35">
                <a:latin typeface="Arial Black"/>
                <a:cs typeface="Arial Black"/>
              </a:rPr>
              <a:t>aristotle_nicomachean</a:t>
            </a:r>
            <a:r>
              <a:rPr dirty="0" sz="900" spc="-35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algn="just" marL="12700" marR="5080">
              <a:lnSpc>
                <a:spcPts val="960"/>
              </a:lnSpc>
              <a:spcBef>
                <a:spcPts val="309"/>
              </a:spcBef>
            </a:pPr>
            <a:r>
              <a:rPr dirty="0" sz="900" spc="-100">
                <a:latin typeface="Arial Black"/>
                <a:cs typeface="Arial Black"/>
              </a:rPr>
              <a:t>Work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14">
                <a:latin typeface="Arial Black"/>
                <a:cs typeface="Arial Black"/>
              </a:rPr>
              <a:t>exists</a:t>
            </a:r>
            <a:r>
              <a:rPr dirty="0" sz="900" spc="40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for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20">
                <a:latin typeface="Arial Black"/>
                <a:cs typeface="Arial Black"/>
              </a:rPr>
              <a:t>the</a:t>
            </a:r>
            <a:r>
              <a:rPr dirty="0" sz="900" spc="45">
                <a:latin typeface="Arial Black"/>
                <a:cs typeface="Arial Black"/>
              </a:rPr>
              <a:t> </a:t>
            </a:r>
            <a:r>
              <a:rPr dirty="0" sz="900" spc="-150">
                <a:latin typeface="Arial Black"/>
                <a:cs typeface="Arial Black"/>
              </a:rPr>
              <a:t>sake</a:t>
            </a:r>
            <a:r>
              <a:rPr dirty="0" sz="900" spc="75">
                <a:latin typeface="Arial Black"/>
                <a:cs typeface="Arial Black"/>
              </a:rPr>
              <a:t> </a:t>
            </a:r>
            <a:r>
              <a:rPr dirty="0" sz="900" spc="-155">
                <a:latin typeface="Arial Black"/>
                <a:cs typeface="Arial Black"/>
              </a:rPr>
              <a:t>of</a:t>
            </a:r>
            <a:r>
              <a:rPr dirty="0" sz="900" spc="8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leisure</a:t>
            </a:r>
            <a:r>
              <a:rPr dirty="0" sz="900" spc="-70">
                <a:latin typeface="Arial"/>
                <a:cs typeface="Arial"/>
              </a:rPr>
              <a:t>,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not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reverse.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9994" y="2178170"/>
            <a:ext cx="5040630" cy="495934"/>
            <a:chOff x="359994" y="2178170"/>
            <a:chExt cx="5040630" cy="495934"/>
          </a:xfrm>
        </p:grpSpPr>
        <p:sp>
          <p:nvSpPr>
            <p:cNvPr id="12" name="object 12"/>
            <p:cNvSpPr/>
            <p:nvPr/>
          </p:nvSpPr>
          <p:spPr>
            <a:xfrm>
              <a:off x="359994" y="2178170"/>
              <a:ext cx="5040630" cy="495934"/>
            </a:xfrm>
            <a:custGeom>
              <a:avLst/>
              <a:gdLst/>
              <a:ahLst/>
              <a:cxnLst/>
              <a:rect l="l" t="t" r="r" b="b"/>
              <a:pathLst>
                <a:path w="5040630" h="49593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57500"/>
                  </a:lnTo>
                  <a:lnTo>
                    <a:pt x="2982" y="472275"/>
                  </a:lnTo>
                  <a:lnTo>
                    <a:pt x="11117" y="484340"/>
                  </a:lnTo>
                  <a:lnTo>
                    <a:pt x="23182" y="492475"/>
                  </a:lnTo>
                  <a:lnTo>
                    <a:pt x="37958" y="495458"/>
                  </a:lnTo>
                  <a:lnTo>
                    <a:pt x="5002106" y="495458"/>
                  </a:lnTo>
                  <a:lnTo>
                    <a:pt x="5016882" y="492475"/>
                  </a:lnTo>
                  <a:lnTo>
                    <a:pt x="5028947" y="484340"/>
                  </a:lnTo>
                  <a:lnTo>
                    <a:pt x="5037082" y="472275"/>
                  </a:lnTo>
                  <a:lnTo>
                    <a:pt x="5040064" y="457500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72646" y="2361461"/>
              <a:ext cx="5015230" cy="299720"/>
            </a:xfrm>
            <a:custGeom>
              <a:avLst/>
              <a:gdLst/>
              <a:ahLst/>
              <a:cxnLst/>
              <a:rect l="l" t="t" r="r" b="b"/>
              <a:pathLst>
                <a:path w="5015230" h="299719">
                  <a:moveTo>
                    <a:pt x="5014759" y="0"/>
                  </a:moveTo>
                  <a:lnTo>
                    <a:pt x="0" y="0"/>
                  </a:lnTo>
                  <a:lnTo>
                    <a:pt x="0" y="274210"/>
                  </a:lnTo>
                  <a:lnTo>
                    <a:pt x="1988" y="284060"/>
                  </a:lnTo>
                  <a:lnTo>
                    <a:pt x="7411" y="292103"/>
                  </a:lnTo>
                  <a:lnTo>
                    <a:pt x="15455" y="297526"/>
                  </a:lnTo>
                  <a:lnTo>
                    <a:pt x="25305" y="299515"/>
                  </a:lnTo>
                  <a:lnTo>
                    <a:pt x="4989454" y="299515"/>
                  </a:lnTo>
                  <a:lnTo>
                    <a:pt x="4999304" y="297526"/>
                  </a:lnTo>
                  <a:lnTo>
                    <a:pt x="5007347" y="292103"/>
                  </a:lnTo>
                  <a:lnTo>
                    <a:pt x="5012770" y="284060"/>
                  </a:lnTo>
                  <a:lnTo>
                    <a:pt x="5014759" y="27421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35863" y="2144374"/>
            <a:ext cx="4888865" cy="499109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960"/>
              </a:lnSpc>
              <a:spcBef>
                <a:spcPts val="300"/>
              </a:spcBef>
            </a:pP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today’s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video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game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debate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closer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Plato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(wrong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content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corrupts)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Aristotle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(is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right </a:t>
            </a:r>
            <a:r>
              <a:rPr dirty="0" sz="900">
                <a:latin typeface="Arial"/>
                <a:cs typeface="Arial"/>
              </a:rPr>
              <a:t>use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leisure)?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2084070" cy="5080"/>
            </a:xfrm>
            <a:custGeom>
              <a:avLst/>
              <a:gdLst/>
              <a:ahLst/>
              <a:cxnLst/>
              <a:rect l="l" t="t" r="r" b="b"/>
              <a:pathLst>
                <a:path w="2084070" h="5080">
                  <a:moveTo>
                    <a:pt x="0" y="5060"/>
                  </a:moveTo>
                  <a:lnTo>
                    <a:pt x="0" y="0"/>
                  </a:lnTo>
                  <a:lnTo>
                    <a:pt x="2083473" y="0"/>
                  </a:lnTo>
                  <a:lnTo>
                    <a:pt x="20834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8935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75"/>
              <a:t> </a:t>
            </a:r>
            <a:r>
              <a:rPr dirty="0" spc="-114"/>
              <a:t>Protestant</a:t>
            </a:r>
            <a:r>
              <a:rPr dirty="0" spc="-70"/>
              <a:t> </a:t>
            </a:r>
            <a:r>
              <a:rPr dirty="0" spc="-100"/>
              <a:t>Work</a:t>
            </a:r>
            <a:r>
              <a:rPr dirty="0" spc="-75"/>
              <a:t> </a:t>
            </a:r>
            <a:r>
              <a:rPr dirty="0" spc="-90"/>
              <a:t>Ethic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5"/>
            <a:ext cx="5040630" cy="853440"/>
            <a:chOff x="359994" y="602325"/>
            <a:chExt cx="5040630" cy="853440"/>
          </a:xfrm>
        </p:grpSpPr>
        <p:sp>
          <p:nvSpPr>
            <p:cNvPr id="4" name="object 4"/>
            <p:cNvSpPr/>
            <p:nvPr/>
          </p:nvSpPr>
          <p:spPr>
            <a:xfrm>
              <a:off x="359994" y="602325"/>
              <a:ext cx="5040630" cy="853440"/>
            </a:xfrm>
            <a:custGeom>
              <a:avLst/>
              <a:gdLst/>
              <a:ahLst/>
              <a:cxnLst/>
              <a:rect l="l" t="t" r="r" b="b"/>
              <a:pathLst>
                <a:path w="5040630" h="85344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815199"/>
                  </a:lnTo>
                  <a:lnTo>
                    <a:pt x="2982" y="829975"/>
                  </a:lnTo>
                  <a:lnTo>
                    <a:pt x="11117" y="842040"/>
                  </a:lnTo>
                  <a:lnTo>
                    <a:pt x="23182" y="850175"/>
                  </a:lnTo>
                  <a:lnTo>
                    <a:pt x="37958" y="853158"/>
                  </a:lnTo>
                  <a:lnTo>
                    <a:pt x="5002106" y="853158"/>
                  </a:lnTo>
                  <a:lnTo>
                    <a:pt x="5016882" y="850175"/>
                  </a:lnTo>
                  <a:lnTo>
                    <a:pt x="5028947" y="842040"/>
                  </a:lnTo>
                  <a:lnTo>
                    <a:pt x="5037082" y="829975"/>
                  </a:lnTo>
                  <a:lnTo>
                    <a:pt x="5040064" y="815199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4783"/>
              <a:ext cx="5015230" cy="608330"/>
            </a:xfrm>
            <a:custGeom>
              <a:avLst/>
              <a:gdLst/>
              <a:ahLst/>
              <a:cxnLst/>
              <a:rect l="l" t="t" r="r" b="b"/>
              <a:pathLst>
                <a:path w="5015230" h="608330">
                  <a:moveTo>
                    <a:pt x="5014759" y="0"/>
                  </a:moveTo>
                  <a:lnTo>
                    <a:pt x="0" y="0"/>
                  </a:lnTo>
                  <a:lnTo>
                    <a:pt x="0" y="582741"/>
                  </a:lnTo>
                  <a:lnTo>
                    <a:pt x="1988" y="592591"/>
                  </a:lnTo>
                  <a:lnTo>
                    <a:pt x="7411" y="600635"/>
                  </a:lnTo>
                  <a:lnTo>
                    <a:pt x="15455" y="606058"/>
                  </a:lnTo>
                  <a:lnTo>
                    <a:pt x="25305" y="608046"/>
                  </a:lnTo>
                  <a:lnTo>
                    <a:pt x="4989454" y="608046"/>
                  </a:lnTo>
                  <a:lnTo>
                    <a:pt x="4999304" y="606058"/>
                  </a:lnTo>
                  <a:lnTo>
                    <a:pt x="5007347" y="600635"/>
                  </a:lnTo>
                  <a:lnTo>
                    <a:pt x="5012770" y="592591"/>
                  </a:lnTo>
                  <a:lnTo>
                    <a:pt x="5014759" y="582741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300771"/>
            <a:ext cx="5040630" cy="350520"/>
            <a:chOff x="359994" y="2300771"/>
            <a:chExt cx="5040630" cy="350520"/>
          </a:xfrm>
        </p:grpSpPr>
        <p:sp>
          <p:nvSpPr>
            <p:cNvPr id="7" name="object 7"/>
            <p:cNvSpPr/>
            <p:nvPr/>
          </p:nvSpPr>
          <p:spPr>
            <a:xfrm>
              <a:off x="359994" y="2300771"/>
              <a:ext cx="5040630" cy="350520"/>
            </a:xfrm>
            <a:custGeom>
              <a:avLst/>
              <a:gdLst/>
              <a:ahLst/>
              <a:cxnLst/>
              <a:rect l="l" t="t" r="r" b="b"/>
              <a:pathLst>
                <a:path w="5040630" h="350519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12407"/>
                  </a:lnTo>
                  <a:lnTo>
                    <a:pt x="2982" y="327182"/>
                  </a:lnTo>
                  <a:lnTo>
                    <a:pt x="11117" y="339248"/>
                  </a:lnTo>
                  <a:lnTo>
                    <a:pt x="23182" y="347382"/>
                  </a:lnTo>
                  <a:lnTo>
                    <a:pt x="37958" y="350365"/>
                  </a:lnTo>
                  <a:lnTo>
                    <a:pt x="5002106" y="350365"/>
                  </a:lnTo>
                  <a:lnTo>
                    <a:pt x="5016882" y="347382"/>
                  </a:lnTo>
                  <a:lnTo>
                    <a:pt x="5028947" y="339248"/>
                  </a:lnTo>
                  <a:lnTo>
                    <a:pt x="5037082" y="327182"/>
                  </a:lnTo>
                  <a:lnTo>
                    <a:pt x="5040064" y="312407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2464940"/>
              <a:ext cx="5015230" cy="173990"/>
            </a:xfrm>
            <a:custGeom>
              <a:avLst/>
              <a:gdLst/>
              <a:ahLst/>
              <a:cxnLst/>
              <a:rect l="l" t="t" r="r" b="b"/>
              <a:pathLst>
                <a:path w="5015230" h="173989">
                  <a:moveTo>
                    <a:pt x="5014759" y="0"/>
                  </a:moveTo>
                  <a:lnTo>
                    <a:pt x="0" y="0"/>
                  </a:lnTo>
                  <a:lnTo>
                    <a:pt x="0" y="148239"/>
                  </a:lnTo>
                  <a:lnTo>
                    <a:pt x="1988" y="158089"/>
                  </a:lnTo>
                  <a:lnTo>
                    <a:pt x="7411" y="166132"/>
                  </a:lnTo>
                  <a:lnTo>
                    <a:pt x="15455" y="171555"/>
                  </a:lnTo>
                  <a:lnTo>
                    <a:pt x="25305" y="173544"/>
                  </a:lnTo>
                  <a:lnTo>
                    <a:pt x="4989454" y="173544"/>
                  </a:lnTo>
                  <a:lnTo>
                    <a:pt x="4999304" y="171555"/>
                  </a:lnTo>
                  <a:lnTo>
                    <a:pt x="5007347" y="166132"/>
                  </a:lnTo>
                  <a:lnTo>
                    <a:pt x="5012770" y="158089"/>
                  </a:lnTo>
                  <a:lnTo>
                    <a:pt x="5014759" y="148239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47294" y="605522"/>
            <a:ext cx="4872990" cy="2006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5104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solidFill>
                  <a:srgbClr val="FFFFFF"/>
                </a:solidFill>
                <a:latin typeface="Arial Black"/>
                <a:cs typeface="Arial Black"/>
              </a:rPr>
              <a:t>Work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35">
                <a:solidFill>
                  <a:srgbClr val="FFFFFF"/>
                </a:solidFill>
                <a:latin typeface="Arial Black"/>
                <a:cs typeface="Arial Black"/>
              </a:rPr>
              <a:t>as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25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95">
                <a:solidFill>
                  <a:srgbClr val="FFFFFF"/>
                </a:solidFill>
                <a:latin typeface="Arial Black"/>
                <a:cs typeface="Arial Black"/>
              </a:rPr>
              <a:t>Calling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254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10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Arial Black"/>
                <a:cs typeface="Arial Black"/>
              </a:rPr>
              <a:t>weber_protestant_ethic</a:t>
            </a:r>
            <a:endParaRPr sz="1100">
              <a:latin typeface="Arial Black"/>
              <a:cs typeface="Arial Black"/>
            </a:endParaRPr>
          </a:p>
          <a:p>
            <a:pPr marL="205104" marR="5080">
              <a:lnSpc>
                <a:spcPts val="960"/>
              </a:lnSpc>
              <a:spcBef>
                <a:spcPts val="1160"/>
              </a:spcBef>
            </a:pPr>
            <a:r>
              <a:rPr dirty="0" sz="900" spc="-10">
                <a:latin typeface="Arial"/>
                <a:cs typeface="Arial"/>
              </a:rPr>
              <a:t>Weber argued </a:t>
            </a:r>
            <a:r>
              <a:rPr dirty="0" sz="900">
                <a:latin typeface="Arial"/>
                <a:cs typeface="Arial"/>
              </a:rPr>
              <a:t>that the Reformation produced a new attitude: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 Calvinist Protestants, </a:t>
            </a:r>
            <a:r>
              <a:rPr dirty="0" sz="900" spc="-10">
                <a:latin typeface="Arial Black"/>
                <a:cs typeface="Arial Black"/>
              </a:rPr>
              <a:t>dili-</a:t>
            </a:r>
            <a:r>
              <a:rPr dirty="0" sz="900" spc="-114">
                <a:latin typeface="Arial Black"/>
                <a:cs typeface="Arial Black"/>
              </a:rPr>
              <a:t>gence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in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one’s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earthly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calling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110">
                <a:latin typeface="Arial Black"/>
                <a:cs typeface="Arial Black"/>
              </a:rPr>
              <a:t>was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a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sign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of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divine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election</a:t>
            </a:r>
            <a:r>
              <a:rPr dirty="0" sz="900" spc="-75">
                <a:latin typeface="Arial"/>
                <a:cs typeface="Arial"/>
              </a:rPr>
              <a:t>.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Idleness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became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sinful</a:t>
            </a:r>
            <a:r>
              <a:rPr dirty="0" sz="900" spc="-1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spcBef>
                <a:spcPts val="160"/>
              </a:spcBef>
            </a:pP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ethic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shaped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industrial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capitalism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even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after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its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religious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roots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faded.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Consequences</a:t>
            </a:r>
            <a:r>
              <a:rPr dirty="0" sz="9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attitudes</a:t>
            </a:r>
            <a:r>
              <a:rPr dirty="0" sz="9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toward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games: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became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morally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suspect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adults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became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intrinsically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virtuous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independent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produced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Suits/Keynes vision of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leisure society felt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threatening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liberating</a:t>
            </a:r>
            <a:endParaRPr sz="9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675"/>
              </a:spcBef>
            </a:pP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900">
              <a:latin typeface="Arial Black"/>
              <a:cs typeface="Arial Black"/>
            </a:endParaRPr>
          </a:p>
          <a:p>
            <a:pPr marL="100965">
              <a:lnSpc>
                <a:spcPct val="100000"/>
              </a:lnSpc>
              <a:spcBef>
                <a:spcPts val="229"/>
              </a:spcBef>
            </a:pPr>
            <a:r>
              <a:rPr dirty="0" sz="800" spc="-35">
                <a:latin typeface="Arial"/>
                <a:cs typeface="Arial"/>
              </a:rPr>
              <a:t>Do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you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feel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guilty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spending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an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afternoon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playing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a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video</a:t>
            </a:r>
            <a:r>
              <a:rPr dirty="0" sz="800" spc="-20">
                <a:latin typeface="Arial"/>
                <a:cs typeface="Arial"/>
              </a:rPr>
              <a:t> game?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Where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feeling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come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from?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2205990" cy="5080"/>
            </a:xfrm>
            <a:custGeom>
              <a:avLst/>
              <a:gdLst/>
              <a:ahLst/>
              <a:cxnLst/>
              <a:rect l="l" t="t" r="r" b="b"/>
              <a:pathLst>
                <a:path w="2205990" h="5080">
                  <a:moveTo>
                    <a:pt x="0" y="5060"/>
                  </a:moveTo>
                  <a:lnTo>
                    <a:pt x="0" y="0"/>
                  </a:lnTo>
                  <a:lnTo>
                    <a:pt x="2205995" y="0"/>
                  </a:lnTo>
                  <a:lnTo>
                    <a:pt x="2205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73037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85"/>
              <a:t> </a:t>
            </a:r>
            <a:r>
              <a:rPr dirty="0" spc="-114"/>
              <a:t>Moral</a:t>
            </a:r>
            <a:r>
              <a:rPr dirty="0" spc="-85"/>
              <a:t> </a:t>
            </a:r>
            <a:r>
              <a:rPr dirty="0" spc="-120"/>
              <a:t>Panic</a:t>
            </a:r>
            <a:r>
              <a:rPr dirty="0" spc="-80"/>
              <a:t> </a:t>
            </a:r>
            <a:r>
              <a:rPr dirty="0" spc="-85"/>
              <a:t>Pattern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7"/>
            <a:ext cx="5040630" cy="667385"/>
            <a:chOff x="359994" y="602327"/>
            <a:chExt cx="5040630" cy="667385"/>
          </a:xfrm>
        </p:grpSpPr>
        <p:sp>
          <p:nvSpPr>
            <p:cNvPr id="4" name="object 4"/>
            <p:cNvSpPr/>
            <p:nvPr/>
          </p:nvSpPr>
          <p:spPr>
            <a:xfrm>
              <a:off x="359994" y="602327"/>
              <a:ext cx="5040630" cy="667385"/>
            </a:xfrm>
            <a:custGeom>
              <a:avLst/>
              <a:gdLst/>
              <a:ahLst/>
              <a:cxnLst/>
              <a:rect l="l" t="t" r="r" b="b"/>
              <a:pathLst>
                <a:path w="5040630" h="66738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28939"/>
                  </a:lnTo>
                  <a:lnTo>
                    <a:pt x="2982" y="643714"/>
                  </a:lnTo>
                  <a:lnTo>
                    <a:pt x="11117" y="655780"/>
                  </a:lnTo>
                  <a:lnTo>
                    <a:pt x="23182" y="663914"/>
                  </a:lnTo>
                  <a:lnTo>
                    <a:pt x="37958" y="666897"/>
                  </a:lnTo>
                  <a:lnTo>
                    <a:pt x="5002106" y="666897"/>
                  </a:lnTo>
                  <a:lnTo>
                    <a:pt x="5016882" y="663914"/>
                  </a:lnTo>
                  <a:lnTo>
                    <a:pt x="5028947" y="655780"/>
                  </a:lnTo>
                  <a:lnTo>
                    <a:pt x="5037082" y="643714"/>
                  </a:lnTo>
                  <a:lnTo>
                    <a:pt x="5040064" y="628939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07007"/>
              <a:ext cx="5015230" cy="449580"/>
            </a:xfrm>
            <a:custGeom>
              <a:avLst/>
              <a:gdLst/>
              <a:ahLst/>
              <a:cxnLst/>
              <a:rect l="l" t="t" r="r" b="b"/>
              <a:pathLst>
                <a:path w="5015230" h="449580">
                  <a:moveTo>
                    <a:pt x="5014759" y="0"/>
                  </a:moveTo>
                  <a:lnTo>
                    <a:pt x="0" y="0"/>
                  </a:lnTo>
                  <a:lnTo>
                    <a:pt x="0" y="424259"/>
                  </a:lnTo>
                  <a:lnTo>
                    <a:pt x="1988" y="434109"/>
                  </a:lnTo>
                  <a:lnTo>
                    <a:pt x="7411" y="442153"/>
                  </a:lnTo>
                  <a:lnTo>
                    <a:pt x="15455" y="447576"/>
                  </a:lnTo>
                  <a:lnTo>
                    <a:pt x="25305" y="449565"/>
                  </a:lnTo>
                  <a:lnTo>
                    <a:pt x="4989454" y="449565"/>
                  </a:lnTo>
                  <a:lnTo>
                    <a:pt x="4999304" y="447576"/>
                  </a:lnTo>
                  <a:lnTo>
                    <a:pt x="5007347" y="442153"/>
                  </a:lnTo>
                  <a:lnTo>
                    <a:pt x="5012770" y="434109"/>
                  </a:lnTo>
                  <a:lnTo>
                    <a:pt x="5014759" y="424259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9953" y="605522"/>
            <a:ext cx="4680585" cy="554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Moral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Panic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960"/>
              </a:lnSpc>
              <a:spcBef>
                <a:spcPts val="940"/>
              </a:spcBef>
            </a:pP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-60">
                <a:latin typeface="Arial"/>
                <a:cs typeface="Arial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moral</a:t>
            </a:r>
            <a:r>
              <a:rPr dirty="0" sz="900" spc="-10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panic</a:t>
            </a:r>
            <a:r>
              <a:rPr dirty="0" sz="900" spc="-105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6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widespread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social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reaction</a:t>
            </a:r>
            <a:r>
              <a:rPr dirty="0" sz="900" spc="-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perceived</a:t>
            </a:r>
            <a:r>
              <a:rPr dirty="0" sz="900" spc="-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threat,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usually</a:t>
            </a:r>
            <a:r>
              <a:rPr dirty="0" sz="900" spc="-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focused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on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</a:t>
            </a:r>
            <a:r>
              <a:rPr dirty="0" sz="900" spc="-60">
                <a:latin typeface="Arial"/>
                <a:cs typeface="Arial"/>
              </a:rPr>
              <a:t> </a:t>
            </a:r>
            <a:r>
              <a:rPr dirty="0" sz="900" spc="-30">
                <a:latin typeface="Arial Black"/>
                <a:cs typeface="Arial Black"/>
              </a:rPr>
              <a:t>new </a:t>
            </a:r>
            <a:r>
              <a:rPr dirty="0" sz="900" spc="-75">
                <a:latin typeface="Arial Black"/>
                <a:cs typeface="Arial Black"/>
              </a:rPr>
              <a:t>cultural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product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associated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with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young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people</a:t>
            </a:r>
            <a:r>
              <a:rPr dirty="0" sz="900" spc="-1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1204" y="1434922"/>
            <a:ext cx="3357879" cy="0"/>
          </a:xfrm>
          <a:custGeom>
            <a:avLst/>
            <a:gdLst/>
            <a:ahLst/>
            <a:cxnLst/>
            <a:rect l="l" t="t" r="r" b="b"/>
            <a:pathLst>
              <a:path w="3357879" h="0">
                <a:moveTo>
                  <a:pt x="0" y="0"/>
                </a:moveTo>
                <a:lnTo>
                  <a:pt x="3357575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64424" y="1440610"/>
            <a:ext cx="1841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60">
                <a:solidFill>
                  <a:srgbClr val="22373A"/>
                </a:solidFill>
                <a:latin typeface="Arial Black"/>
                <a:cs typeface="Arial Black"/>
              </a:rPr>
              <a:t>Era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9206" y="1440610"/>
            <a:ext cx="3257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85">
                <a:solidFill>
                  <a:srgbClr val="22373A"/>
                </a:solidFill>
                <a:latin typeface="Arial Black"/>
                <a:cs typeface="Arial Black"/>
              </a:rPr>
              <a:t>Target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98243" y="1440610"/>
            <a:ext cx="6724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75">
                <a:solidFill>
                  <a:srgbClr val="22373A"/>
                </a:solidFill>
                <a:latin typeface="Arial Black"/>
                <a:cs typeface="Arial Black"/>
              </a:rPr>
              <a:t>Alleged</a:t>
            </a:r>
            <a:r>
              <a:rPr dirty="0" sz="8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60">
                <a:solidFill>
                  <a:srgbClr val="22373A"/>
                </a:solidFill>
                <a:latin typeface="Arial Black"/>
                <a:cs typeface="Arial Black"/>
              </a:rPr>
              <a:t>Harm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01204" y="1614360"/>
            <a:ext cx="3357879" cy="0"/>
          </a:xfrm>
          <a:custGeom>
            <a:avLst/>
            <a:gdLst/>
            <a:ahLst/>
            <a:cxnLst/>
            <a:rect l="l" t="t" r="r" b="b"/>
            <a:pathLst>
              <a:path w="3357879" h="0">
                <a:moveTo>
                  <a:pt x="0" y="0"/>
                </a:moveTo>
                <a:lnTo>
                  <a:pt x="3357575" y="0"/>
                </a:lnTo>
              </a:path>
            </a:pathLst>
          </a:custGeom>
          <a:ln w="6921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64424" y="1620099"/>
            <a:ext cx="668655" cy="578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05"/>
              </a:lnSpc>
              <a:spcBef>
                <a:spcPts val="95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1800s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0"/>
              </a:lnSpc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1950s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0"/>
              </a:lnSpc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1970s–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80s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0"/>
              </a:lnSpc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1990s–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2000s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5"/>
              </a:lnSpc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2010s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59206" y="1620099"/>
            <a:ext cx="1113155" cy="5784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just" marL="12700" marR="5080">
              <a:lnSpc>
                <a:spcPts val="850"/>
              </a:lnSpc>
              <a:spcBef>
                <a:spcPts val="21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“Penny</a:t>
            </a:r>
            <a:r>
              <a:rPr dirty="0" sz="8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dreadful”</a:t>
            </a:r>
            <a:r>
              <a:rPr dirty="0" sz="8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fiction Comic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books</a:t>
            </a:r>
            <a:endParaRPr sz="800">
              <a:latin typeface="Arial"/>
              <a:cs typeface="Arial"/>
            </a:endParaRPr>
          </a:p>
          <a:p>
            <a:pPr algn="just" marL="12700" marR="144145">
              <a:lnSpc>
                <a:spcPts val="850"/>
              </a:lnSpc>
            </a:pP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Dungeons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&amp;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Dragons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 game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violence Social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 media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8243" y="1620099"/>
            <a:ext cx="1197610" cy="5784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217804">
              <a:lnSpc>
                <a:spcPts val="850"/>
              </a:lnSpc>
              <a:spcBef>
                <a:spcPts val="215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Crime,</a:t>
            </a:r>
            <a:r>
              <a:rPr dirty="0" sz="8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immorality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Juvenile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delinquency Satanism,</a:t>
            </a:r>
            <a:r>
              <a:rPr dirty="0" sz="8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suicide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Mass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shootings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40"/>
              </a:lnSpc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Depression,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radicalization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01204" y="2227529"/>
            <a:ext cx="3357879" cy="0"/>
          </a:xfrm>
          <a:custGeom>
            <a:avLst/>
            <a:gdLst/>
            <a:ahLst/>
            <a:cxnLst/>
            <a:rect l="l" t="t" r="r" b="b"/>
            <a:pathLst>
              <a:path w="3357879" h="0">
                <a:moveTo>
                  <a:pt x="0" y="0"/>
                </a:moveTo>
                <a:lnTo>
                  <a:pt x="3357575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59994" y="2351404"/>
          <a:ext cx="5116195" cy="47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13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dirty="0" sz="1100" spc="-9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Pattern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274955">
                <a:tc>
                  <a:txBody>
                    <a:bodyPr/>
                    <a:lstStyle/>
                    <a:p>
                      <a:pPr marL="45720" marR="262255">
                        <a:lnSpc>
                          <a:spcPts val="830"/>
                        </a:lnSpc>
                        <a:spcBef>
                          <a:spcPts val="300"/>
                        </a:spcBef>
                      </a:pP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medium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800" spc="15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young</a:t>
                      </a:r>
                      <a:r>
                        <a:rPr dirty="0" sz="800" spc="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people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adopt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800" spc="2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moral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authorities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warn</a:t>
                      </a:r>
                      <a:r>
                        <a:rPr dirty="0" sz="800" spc="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800" spc="15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calls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restriction</a:t>
                      </a:r>
                      <a:r>
                        <a:rPr dirty="0" sz="800" spc="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800" spc="15" i="1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800" spc="1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finds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effects</a:t>
                      </a:r>
                      <a:r>
                        <a:rPr dirty="0" sz="800" spc="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smaller</a:t>
                      </a:r>
                      <a:r>
                        <a:rPr dirty="0" sz="800" spc="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800" spc="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feared.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8" name="object 1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0" y="3234937"/>
              <a:ext cx="2328545" cy="5080"/>
            </a:xfrm>
            <a:custGeom>
              <a:avLst/>
              <a:gdLst/>
              <a:ahLst/>
              <a:cxnLst/>
              <a:rect l="l" t="t" r="r" b="b"/>
              <a:pathLst>
                <a:path w="2328545" h="5080">
                  <a:moveTo>
                    <a:pt x="0" y="5060"/>
                  </a:moveTo>
                  <a:lnTo>
                    <a:pt x="0" y="0"/>
                  </a:lnTo>
                  <a:lnTo>
                    <a:pt x="2328516" y="0"/>
                  </a:lnTo>
                  <a:lnTo>
                    <a:pt x="23285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1221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0"/>
              <a:t>Video</a:t>
            </a:r>
            <a:r>
              <a:rPr dirty="0" spc="-85"/>
              <a:t> </a:t>
            </a:r>
            <a:r>
              <a:rPr dirty="0" spc="-145"/>
              <a:t>Games</a:t>
            </a:r>
            <a:r>
              <a:rPr dirty="0" spc="-85"/>
              <a:t> </a:t>
            </a:r>
            <a:r>
              <a:rPr dirty="0" spc="-110"/>
              <a:t>Enter</a:t>
            </a:r>
            <a:r>
              <a:rPr dirty="0" spc="-80"/>
              <a:t> </a:t>
            </a:r>
            <a:r>
              <a:rPr dirty="0" spc="-105"/>
              <a:t>the</a:t>
            </a:r>
            <a:r>
              <a:rPr dirty="0" spc="-85"/>
              <a:t> </a:t>
            </a:r>
            <a:r>
              <a:rPr dirty="0" spc="-114"/>
              <a:t>Scene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37" y="674969"/>
            <a:ext cx="2015744" cy="11766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698" y="1932075"/>
            <a:ext cx="1924050" cy="358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95"/>
              </a:spcBef>
            </a:pP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Atari</a:t>
            </a:r>
            <a:r>
              <a:rPr dirty="0" sz="8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2600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(1977).</a:t>
            </a:r>
            <a:r>
              <a:rPr dirty="0" sz="8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Photo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by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75"/>
              </a:spcBef>
            </a:pP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Evan-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Amos.</a:t>
            </a:r>
            <a:r>
              <a:rPr dirty="0" sz="8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domain,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dirty="0" sz="8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Wikimedia Commons.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4069" y="465788"/>
            <a:ext cx="2898775" cy="156908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brief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history: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42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1972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 i="1">
                <a:solidFill>
                  <a:srgbClr val="22373A"/>
                </a:solidFill>
                <a:latin typeface="Arial"/>
                <a:cs typeface="Arial"/>
              </a:rPr>
              <a:t>Pong</a:t>
            </a:r>
            <a:r>
              <a:rPr dirty="0" sz="900" spc="-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first hit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arcade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game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1977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Atari 2600 brings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into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homes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1985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NES;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Super</a:t>
            </a:r>
            <a:r>
              <a:rPr dirty="0" sz="900" spc="-2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Mario</a:t>
            </a:r>
            <a:r>
              <a:rPr dirty="0" sz="900" spc="-2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Bros.</a:t>
            </a:r>
            <a:endParaRPr sz="900">
              <a:latin typeface="Arial"/>
              <a:cs typeface="Arial"/>
            </a:endParaRPr>
          </a:p>
          <a:p>
            <a:pPr marL="289560" marR="5080" indent="-114935">
              <a:lnSpc>
                <a:spcPts val="960"/>
              </a:lnSpc>
              <a:spcBef>
                <a:spcPts val="41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1993–</a:t>
            </a:r>
            <a:r>
              <a:rPr dirty="0" sz="900" spc="-20">
                <a:solidFill>
                  <a:srgbClr val="22373A"/>
                </a:solidFill>
                <a:latin typeface="Arial Black"/>
                <a:cs typeface="Arial Black"/>
              </a:rPr>
              <a:t>94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Mortal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Kombat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Senate hearings; 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ESRB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ratings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created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2004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Warcraft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;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MMO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era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2008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iPhone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App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Store;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explosion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59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2020s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billion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players;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$200B/year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revenue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2451735" cy="5080"/>
            </a:xfrm>
            <a:custGeom>
              <a:avLst/>
              <a:gdLst/>
              <a:ahLst/>
              <a:cxnLst/>
              <a:rect l="l" t="t" r="r" b="b"/>
              <a:pathLst>
                <a:path w="2451735" h="5080">
                  <a:moveTo>
                    <a:pt x="0" y="5060"/>
                  </a:moveTo>
                  <a:lnTo>
                    <a:pt x="0" y="0"/>
                  </a:lnTo>
                  <a:lnTo>
                    <a:pt x="2451125" y="0"/>
                  </a:lnTo>
                  <a:lnTo>
                    <a:pt x="24511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L</a:t>
            </a:r>
            <a:r>
              <a:rPr dirty="0" spc="-135"/>
              <a:t>ectu</a:t>
            </a:r>
            <a:r>
              <a:rPr dirty="0" spc="-135"/>
              <a:t>re</a:t>
            </a:r>
            <a:r>
              <a:rPr dirty="0" spc="-60"/>
              <a:t> </a:t>
            </a:r>
            <a:r>
              <a:rPr dirty="0" spc="-85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23235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Part</a:t>
            </a:r>
            <a:r>
              <a:rPr dirty="0" sz="1100" spc="-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I: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What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Is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Play?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Part</a:t>
            </a:r>
            <a:r>
              <a:rPr dirty="0" sz="1100" spc="-4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9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II: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Defining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10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III: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Games,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Moral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Panic,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Work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Ethic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Part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IV: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Video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Games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254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—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Harm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or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Benefit?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Virtue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Ethics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7112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VI: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Life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as 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Game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—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Suits’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Grasshopper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Part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5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VII: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AI,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Post-Work,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the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Meaning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of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Life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2573655" cy="5080"/>
            </a:xfrm>
            <a:custGeom>
              <a:avLst/>
              <a:gdLst/>
              <a:ahLst/>
              <a:cxnLst/>
              <a:rect l="l" t="t" r="r" b="b"/>
              <a:pathLst>
                <a:path w="2573655" h="5080">
                  <a:moveTo>
                    <a:pt x="0" y="5060"/>
                  </a:moveTo>
                  <a:lnTo>
                    <a:pt x="0" y="0"/>
                  </a:lnTo>
                  <a:lnTo>
                    <a:pt x="2573646" y="0"/>
                  </a:lnTo>
                  <a:lnTo>
                    <a:pt x="25736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46824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90"/>
              <a:t> </a:t>
            </a:r>
            <a:r>
              <a:rPr dirty="0" spc="-125"/>
              <a:t>Violence</a:t>
            </a:r>
            <a:r>
              <a:rPr dirty="0" spc="-85"/>
              <a:t> </a:t>
            </a:r>
            <a:r>
              <a:rPr dirty="0" spc="-100"/>
              <a:t>Debate:</a:t>
            </a:r>
            <a:r>
              <a:rPr dirty="0" spc="-35"/>
              <a:t> </a:t>
            </a:r>
            <a:r>
              <a:rPr dirty="0" spc="-140"/>
              <a:t>The</a:t>
            </a:r>
            <a:r>
              <a:rPr dirty="0" spc="-85"/>
              <a:t> </a:t>
            </a:r>
            <a:r>
              <a:rPr dirty="0" spc="-105"/>
              <a:t>Concern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2"/>
            <a:ext cx="5040630" cy="815975"/>
            <a:chOff x="359994" y="602322"/>
            <a:chExt cx="5040630" cy="815975"/>
          </a:xfrm>
        </p:grpSpPr>
        <p:sp>
          <p:nvSpPr>
            <p:cNvPr id="4" name="object 4"/>
            <p:cNvSpPr/>
            <p:nvPr/>
          </p:nvSpPr>
          <p:spPr>
            <a:xfrm>
              <a:off x="359994" y="602322"/>
              <a:ext cx="5040630" cy="815975"/>
            </a:xfrm>
            <a:custGeom>
              <a:avLst/>
              <a:gdLst/>
              <a:ahLst/>
              <a:cxnLst/>
              <a:rect l="l" t="t" r="r" b="b"/>
              <a:pathLst>
                <a:path w="5040630" h="81597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777534"/>
                  </a:lnTo>
                  <a:lnTo>
                    <a:pt x="2982" y="792309"/>
                  </a:lnTo>
                  <a:lnTo>
                    <a:pt x="11117" y="804375"/>
                  </a:lnTo>
                  <a:lnTo>
                    <a:pt x="23182" y="812509"/>
                  </a:lnTo>
                  <a:lnTo>
                    <a:pt x="37958" y="815492"/>
                  </a:lnTo>
                  <a:lnTo>
                    <a:pt x="5002106" y="815492"/>
                  </a:lnTo>
                  <a:lnTo>
                    <a:pt x="5016882" y="812509"/>
                  </a:lnTo>
                  <a:lnTo>
                    <a:pt x="5028947" y="804375"/>
                  </a:lnTo>
                  <a:lnTo>
                    <a:pt x="5037082" y="792309"/>
                  </a:lnTo>
                  <a:lnTo>
                    <a:pt x="5040064" y="777534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3118"/>
              <a:ext cx="5015230" cy="572135"/>
            </a:xfrm>
            <a:custGeom>
              <a:avLst/>
              <a:gdLst/>
              <a:ahLst/>
              <a:cxnLst/>
              <a:rect l="l" t="t" r="r" b="b"/>
              <a:pathLst>
                <a:path w="5015230" h="572135">
                  <a:moveTo>
                    <a:pt x="5014759" y="0"/>
                  </a:moveTo>
                  <a:lnTo>
                    <a:pt x="0" y="0"/>
                  </a:lnTo>
                  <a:lnTo>
                    <a:pt x="0" y="546738"/>
                  </a:lnTo>
                  <a:lnTo>
                    <a:pt x="1988" y="556588"/>
                  </a:lnTo>
                  <a:lnTo>
                    <a:pt x="7411" y="564632"/>
                  </a:lnTo>
                  <a:lnTo>
                    <a:pt x="15455" y="570055"/>
                  </a:lnTo>
                  <a:lnTo>
                    <a:pt x="25305" y="572044"/>
                  </a:lnTo>
                  <a:lnTo>
                    <a:pt x="4989454" y="572044"/>
                  </a:lnTo>
                  <a:lnTo>
                    <a:pt x="4999304" y="570055"/>
                  </a:lnTo>
                  <a:lnTo>
                    <a:pt x="5007347" y="564632"/>
                  </a:lnTo>
                  <a:lnTo>
                    <a:pt x="5012770" y="556588"/>
                  </a:lnTo>
                  <a:lnTo>
                    <a:pt x="5014759" y="546738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623226"/>
            <a:ext cx="5040630" cy="890905"/>
            <a:chOff x="359994" y="1623226"/>
            <a:chExt cx="5040630" cy="890905"/>
          </a:xfrm>
        </p:grpSpPr>
        <p:sp>
          <p:nvSpPr>
            <p:cNvPr id="7" name="object 7"/>
            <p:cNvSpPr/>
            <p:nvPr/>
          </p:nvSpPr>
          <p:spPr>
            <a:xfrm>
              <a:off x="359994" y="1623226"/>
              <a:ext cx="5040630" cy="890905"/>
            </a:xfrm>
            <a:custGeom>
              <a:avLst/>
              <a:gdLst/>
              <a:ahLst/>
              <a:cxnLst/>
              <a:rect l="l" t="t" r="r" b="b"/>
              <a:pathLst>
                <a:path w="5040630" h="89090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852640"/>
                  </a:lnTo>
                  <a:lnTo>
                    <a:pt x="2982" y="867415"/>
                  </a:lnTo>
                  <a:lnTo>
                    <a:pt x="11117" y="879480"/>
                  </a:lnTo>
                  <a:lnTo>
                    <a:pt x="23182" y="887615"/>
                  </a:lnTo>
                  <a:lnTo>
                    <a:pt x="37958" y="890598"/>
                  </a:lnTo>
                  <a:lnTo>
                    <a:pt x="5002106" y="890598"/>
                  </a:lnTo>
                  <a:lnTo>
                    <a:pt x="5016882" y="887615"/>
                  </a:lnTo>
                  <a:lnTo>
                    <a:pt x="5028947" y="879480"/>
                  </a:lnTo>
                  <a:lnTo>
                    <a:pt x="5037082" y="867415"/>
                  </a:lnTo>
                  <a:lnTo>
                    <a:pt x="5040064" y="852640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1827906"/>
              <a:ext cx="5015230" cy="673735"/>
            </a:xfrm>
            <a:custGeom>
              <a:avLst/>
              <a:gdLst/>
              <a:ahLst/>
              <a:cxnLst/>
              <a:rect l="l" t="t" r="r" b="b"/>
              <a:pathLst>
                <a:path w="5015230" h="673735">
                  <a:moveTo>
                    <a:pt x="5014759" y="0"/>
                  </a:moveTo>
                  <a:lnTo>
                    <a:pt x="0" y="0"/>
                  </a:lnTo>
                  <a:lnTo>
                    <a:pt x="0" y="647960"/>
                  </a:lnTo>
                  <a:lnTo>
                    <a:pt x="1988" y="657810"/>
                  </a:lnTo>
                  <a:lnTo>
                    <a:pt x="7411" y="665854"/>
                  </a:lnTo>
                  <a:lnTo>
                    <a:pt x="15455" y="671277"/>
                  </a:lnTo>
                  <a:lnTo>
                    <a:pt x="25305" y="673265"/>
                  </a:lnTo>
                  <a:lnTo>
                    <a:pt x="4989454" y="673265"/>
                  </a:lnTo>
                  <a:lnTo>
                    <a:pt x="4999304" y="671277"/>
                  </a:lnTo>
                  <a:lnTo>
                    <a:pt x="5007347" y="665854"/>
                  </a:lnTo>
                  <a:lnTo>
                    <a:pt x="5012770" y="657810"/>
                  </a:lnTo>
                  <a:lnTo>
                    <a:pt x="5014759" y="64796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438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pc="-110"/>
              <a:t>Anderson’s</a:t>
            </a:r>
            <a:r>
              <a:rPr dirty="0" spc="25"/>
              <a:t> </a:t>
            </a:r>
            <a:r>
              <a:rPr dirty="0" spc="-95"/>
              <a:t>Meta-</a:t>
            </a:r>
            <a:r>
              <a:rPr dirty="0" spc="-10"/>
              <a:t>Analyses</a:t>
            </a:r>
          </a:p>
          <a:p>
            <a:pPr algn="just" marL="12700" marR="5080">
              <a:lnSpc>
                <a:spcPts val="960"/>
              </a:lnSpc>
              <a:spcBef>
                <a:spcPts val="1150"/>
              </a:spcBef>
            </a:pP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Anderson et al. found that exposure to </a:t>
            </a:r>
            <a:r>
              <a:rPr dirty="0" sz="900" spc="-80">
                <a:solidFill>
                  <a:srgbClr val="000000"/>
                </a:solidFill>
              </a:rPr>
              <a:t>violent</a:t>
            </a:r>
            <a:r>
              <a:rPr dirty="0" sz="900" spc="20">
                <a:solidFill>
                  <a:srgbClr val="000000"/>
                </a:solidFill>
              </a:rPr>
              <a:t> </a:t>
            </a:r>
            <a:r>
              <a:rPr dirty="0" sz="900" spc="-85">
                <a:solidFill>
                  <a:srgbClr val="000000"/>
                </a:solidFill>
              </a:rPr>
              <a:t>video</a:t>
            </a:r>
            <a:r>
              <a:rPr dirty="0" sz="900" spc="20">
                <a:solidFill>
                  <a:srgbClr val="000000"/>
                </a:solidFill>
              </a:rPr>
              <a:t> </a:t>
            </a:r>
            <a:r>
              <a:rPr dirty="0" sz="900" spc="-120">
                <a:solidFill>
                  <a:srgbClr val="000000"/>
                </a:solidFill>
              </a:rPr>
              <a:t>games</a:t>
            </a:r>
            <a:r>
              <a:rPr dirty="0" sz="900" spc="45">
                <a:solidFill>
                  <a:srgbClr val="000000"/>
                </a:solidFill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correlates with increased </a:t>
            </a:r>
            <a:r>
              <a:rPr dirty="0" sz="900" spc="-25">
                <a:solidFill>
                  <a:srgbClr val="000000"/>
                </a:solidFill>
              </a:rPr>
              <a:t>ag-</a:t>
            </a:r>
            <a:r>
              <a:rPr dirty="0" sz="900" spc="-90">
                <a:solidFill>
                  <a:srgbClr val="000000"/>
                </a:solidFill>
              </a:rPr>
              <a:t>gressive</a:t>
            </a:r>
            <a:r>
              <a:rPr dirty="0" sz="900" spc="20">
                <a:solidFill>
                  <a:srgbClr val="000000"/>
                </a:solidFill>
              </a:rPr>
              <a:t> </a:t>
            </a:r>
            <a:r>
              <a:rPr dirty="0" sz="900" spc="-70">
                <a:solidFill>
                  <a:srgbClr val="000000"/>
                </a:solidFill>
              </a:rPr>
              <a:t>thoughts,</a:t>
            </a:r>
            <a:r>
              <a:rPr dirty="0" sz="900" spc="60">
                <a:solidFill>
                  <a:srgbClr val="000000"/>
                </a:solidFill>
              </a:rPr>
              <a:t> </a:t>
            </a:r>
            <a:r>
              <a:rPr dirty="0" sz="900" spc="-60">
                <a:solidFill>
                  <a:srgbClr val="000000"/>
                </a:solidFill>
              </a:rPr>
              <a:t>feelings,</a:t>
            </a:r>
            <a:r>
              <a:rPr dirty="0" sz="900" spc="55">
                <a:solidFill>
                  <a:srgbClr val="000000"/>
                </a:solidFill>
              </a:rPr>
              <a:t> </a:t>
            </a:r>
            <a:r>
              <a:rPr dirty="0" sz="900" spc="-50">
                <a:solidFill>
                  <a:srgbClr val="000000"/>
                </a:solidFill>
              </a:rPr>
              <a:t>and</a:t>
            </a:r>
            <a:r>
              <a:rPr dirty="0" sz="900" spc="30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behavior</a:t>
            </a:r>
            <a:r>
              <a:rPr dirty="0" sz="900" spc="25">
                <a:solidFill>
                  <a:srgbClr val="000000"/>
                </a:solidFill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900" spc="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decreased</a:t>
            </a:r>
            <a:r>
              <a:rPr dirty="0" sz="900" spc="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empathy,</a:t>
            </a:r>
            <a:r>
              <a:rPr dirty="0" sz="9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across</a:t>
            </a:r>
            <a:r>
              <a:rPr dirty="0" sz="900" spc="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Eastern</a:t>
            </a:r>
            <a:r>
              <a:rPr dirty="0" sz="900" spc="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and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Western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cultures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dirty="0" sz="900" spc="-35">
                <a:solidFill>
                  <a:srgbClr val="000000"/>
                </a:solidFill>
              </a:rPr>
              <a:t>anderson_violent_video_games</a:t>
            </a:r>
            <a:r>
              <a:rPr dirty="0" sz="900" spc="-35">
                <a:solidFill>
                  <a:srgbClr val="000000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9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pc="-100"/>
              <a:t>Habituation</a:t>
            </a:r>
            <a:r>
              <a:rPr dirty="0" spc="-60"/>
              <a:t> </a:t>
            </a:r>
            <a:r>
              <a:rPr dirty="0" spc="-105"/>
              <a:t>and</a:t>
            </a:r>
            <a:r>
              <a:rPr dirty="0" spc="-55"/>
              <a:t> </a:t>
            </a:r>
            <a:r>
              <a:rPr dirty="0" spc="-90"/>
              <a:t>Virtual</a:t>
            </a:r>
            <a:r>
              <a:rPr dirty="0" spc="-60"/>
              <a:t> </a:t>
            </a:r>
            <a:r>
              <a:rPr dirty="0" spc="-10"/>
              <a:t>Violence</a:t>
            </a:r>
          </a:p>
          <a:p>
            <a:pPr marL="120650">
              <a:lnSpc>
                <a:spcPct val="100000"/>
              </a:lnSpc>
              <a:spcBef>
                <a:spcPts val="81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4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Aristotle: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</a:rPr>
              <a:t>character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is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formed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by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 spc="-75">
                <a:solidFill>
                  <a:srgbClr val="22373A"/>
                </a:solidFill>
              </a:rPr>
              <a:t>habituation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become what 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repeatedly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3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Violent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involve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repeatedly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75">
                <a:solidFill>
                  <a:srgbClr val="22373A"/>
                </a:solidFill>
              </a:rPr>
              <a:t>simulating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and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85">
                <a:solidFill>
                  <a:srgbClr val="22373A"/>
                </a:solidFill>
              </a:rPr>
              <a:t>being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85">
                <a:solidFill>
                  <a:srgbClr val="22373A"/>
                </a:solidFill>
              </a:rPr>
              <a:t>rewarded</a:t>
            </a:r>
            <a:r>
              <a:rPr dirty="0" sz="900" spc="-65">
                <a:solidFill>
                  <a:srgbClr val="22373A"/>
                </a:solidFill>
              </a:rPr>
              <a:t> for </a:t>
            </a:r>
            <a:r>
              <a:rPr dirty="0" sz="900" spc="-10">
                <a:solidFill>
                  <a:srgbClr val="22373A"/>
                </a:solidFill>
              </a:rPr>
              <a:t>violence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409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Therefore,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tend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22373A"/>
                </a:solidFill>
              </a:rPr>
              <a:t>aggressive,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95">
                <a:solidFill>
                  <a:srgbClr val="22373A"/>
                </a:solidFill>
              </a:rPr>
              <a:t>less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90">
                <a:solidFill>
                  <a:srgbClr val="22373A"/>
                </a:solidFill>
              </a:rPr>
              <a:t>empathetic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dispositions.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2696210" cy="5080"/>
            </a:xfrm>
            <a:custGeom>
              <a:avLst/>
              <a:gdLst/>
              <a:ahLst/>
              <a:cxnLst/>
              <a:rect l="l" t="t" r="r" b="b"/>
              <a:pathLst>
                <a:path w="2696210" h="5080">
                  <a:moveTo>
                    <a:pt x="0" y="5060"/>
                  </a:moveTo>
                  <a:lnTo>
                    <a:pt x="0" y="0"/>
                  </a:lnTo>
                  <a:lnTo>
                    <a:pt x="2696167" y="0"/>
                  </a:lnTo>
                  <a:lnTo>
                    <a:pt x="2696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90"/>
              <a:t> </a:t>
            </a:r>
            <a:r>
              <a:rPr dirty="0" spc="-125"/>
              <a:t>Violence</a:t>
            </a:r>
            <a:r>
              <a:rPr dirty="0" spc="-85"/>
              <a:t> </a:t>
            </a:r>
            <a:r>
              <a:rPr dirty="0" spc="-100"/>
              <a:t>Debate:</a:t>
            </a:r>
            <a:r>
              <a:rPr dirty="0" spc="-35"/>
              <a:t> </a:t>
            </a:r>
            <a:r>
              <a:rPr dirty="0" spc="-140"/>
              <a:t>The</a:t>
            </a:r>
            <a:r>
              <a:rPr dirty="0" spc="-85"/>
              <a:t> </a:t>
            </a:r>
            <a:r>
              <a:rPr dirty="0" spc="-80"/>
              <a:t>Critique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19"/>
            <a:ext cx="5040630" cy="1091565"/>
            <a:chOff x="359994" y="602319"/>
            <a:chExt cx="5040630" cy="1091565"/>
          </a:xfrm>
        </p:grpSpPr>
        <p:sp>
          <p:nvSpPr>
            <p:cNvPr id="4" name="object 4"/>
            <p:cNvSpPr/>
            <p:nvPr/>
          </p:nvSpPr>
          <p:spPr>
            <a:xfrm>
              <a:off x="359994" y="602319"/>
              <a:ext cx="5040630" cy="1091565"/>
            </a:xfrm>
            <a:custGeom>
              <a:avLst/>
              <a:gdLst/>
              <a:ahLst/>
              <a:cxnLst/>
              <a:rect l="l" t="t" r="r" b="b"/>
              <a:pathLst>
                <a:path w="5040630" h="109156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053508"/>
                  </a:lnTo>
                  <a:lnTo>
                    <a:pt x="2982" y="1068283"/>
                  </a:lnTo>
                  <a:lnTo>
                    <a:pt x="11117" y="1080349"/>
                  </a:lnTo>
                  <a:lnTo>
                    <a:pt x="23182" y="1088484"/>
                  </a:lnTo>
                  <a:lnTo>
                    <a:pt x="37958" y="1091466"/>
                  </a:lnTo>
                  <a:lnTo>
                    <a:pt x="5002106" y="1091466"/>
                  </a:lnTo>
                  <a:lnTo>
                    <a:pt x="5016882" y="1088484"/>
                  </a:lnTo>
                  <a:lnTo>
                    <a:pt x="5028947" y="1080349"/>
                  </a:lnTo>
                  <a:lnTo>
                    <a:pt x="5037082" y="1068283"/>
                  </a:lnTo>
                  <a:lnTo>
                    <a:pt x="5040064" y="1053508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4777"/>
              <a:ext cx="5015230" cy="846455"/>
            </a:xfrm>
            <a:custGeom>
              <a:avLst/>
              <a:gdLst/>
              <a:ahLst/>
              <a:cxnLst/>
              <a:rect l="l" t="t" r="r" b="b"/>
              <a:pathLst>
                <a:path w="5015230" h="846455">
                  <a:moveTo>
                    <a:pt x="5014759" y="0"/>
                  </a:moveTo>
                  <a:lnTo>
                    <a:pt x="0" y="0"/>
                  </a:lnTo>
                  <a:lnTo>
                    <a:pt x="0" y="821050"/>
                  </a:lnTo>
                  <a:lnTo>
                    <a:pt x="1988" y="830900"/>
                  </a:lnTo>
                  <a:lnTo>
                    <a:pt x="7411" y="838944"/>
                  </a:lnTo>
                  <a:lnTo>
                    <a:pt x="15455" y="844367"/>
                  </a:lnTo>
                  <a:lnTo>
                    <a:pt x="25305" y="846355"/>
                  </a:lnTo>
                  <a:lnTo>
                    <a:pt x="4989454" y="846355"/>
                  </a:lnTo>
                  <a:lnTo>
                    <a:pt x="4999304" y="844367"/>
                  </a:lnTo>
                  <a:lnTo>
                    <a:pt x="5007347" y="838944"/>
                  </a:lnTo>
                  <a:lnTo>
                    <a:pt x="5012770" y="830900"/>
                  </a:lnTo>
                  <a:lnTo>
                    <a:pt x="5014759" y="82105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5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899203"/>
            <a:ext cx="5040630" cy="692150"/>
            <a:chOff x="359994" y="1899203"/>
            <a:chExt cx="5040630" cy="692150"/>
          </a:xfrm>
        </p:grpSpPr>
        <p:sp>
          <p:nvSpPr>
            <p:cNvPr id="7" name="object 7"/>
            <p:cNvSpPr/>
            <p:nvPr/>
          </p:nvSpPr>
          <p:spPr>
            <a:xfrm>
              <a:off x="359994" y="1899203"/>
              <a:ext cx="5040630" cy="692150"/>
            </a:xfrm>
            <a:custGeom>
              <a:avLst/>
              <a:gdLst/>
              <a:ahLst/>
              <a:cxnLst/>
              <a:rect l="l" t="t" r="r" b="b"/>
              <a:pathLst>
                <a:path w="5040630" h="69215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53688"/>
                  </a:lnTo>
                  <a:lnTo>
                    <a:pt x="2982" y="668464"/>
                  </a:lnTo>
                  <a:lnTo>
                    <a:pt x="11117" y="680529"/>
                  </a:lnTo>
                  <a:lnTo>
                    <a:pt x="23182" y="688664"/>
                  </a:lnTo>
                  <a:lnTo>
                    <a:pt x="37958" y="691647"/>
                  </a:lnTo>
                  <a:lnTo>
                    <a:pt x="5002106" y="691647"/>
                  </a:lnTo>
                  <a:lnTo>
                    <a:pt x="5016882" y="688664"/>
                  </a:lnTo>
                  <a:lnTo>
                    <a:pt x="5028947" y="680529"/>
                  </a:lnTo>
                  <a:lnTo>
                    <a:pt x="5037082" y="668464"/>
                  </a:lnTo>
                  <a:lnTo>
                    <a:pt x="5040064" y="653688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2129999"/>
              <a:ext cx="5015230" cy="448309"/>
            </a:xfrm>
            <a:custGeom>
              <a:avLst/>
              <a:gdLst/>
              <a:ahLst/>
              <a:cxnLst/>
              <a:rect l="l" t="t" r="r" b="b"/>
              <a:pathLst>
                <a:path w="5015230" h="448310">
                  <a:moveTo>
                    <a:pt x="5014759" y="0"/>
                  </a:moveTo>
                  <a:lnTo>
                    <a:pt x="0" y="0"/>
                  </a:lnTo>
                  <a:lnTo>
                    <a:pt x="0" y="422893"/>
                  </a:lnTo>
                  <a:lnTo>
                    <a:pt x="1988" y="432743"/>
                  </a:lnTo>
                  <a:lnTo>
                    <a:pt x="7411" y="440786"/>
                  </a:lnTo>
                  <a:lnTo>
                    <a:pt x="15455" y="446209"/>
                  </a:lnTo>
                  <a:lnTo>
                    <a:pt x="25305" y="448198"/>
                  </a:lnTo>
                  <a:lnTo>
                    <a:pt x="4989454" y="448198"/>
                  </a:lnTo>
                  <a:lnTo>
                    <a:pt x="4999304" y="446209"/>
                  </a:lnTo>
                  <a:lnTo>
                    <a:pt x="5007347" y="440786"/>
                  </a:lnTo>
                  <a:lnTo>
                    <a:pt x="5012770" y="432743"/>
                  </a:lnTo>
                  <a:lnTo>
                    <a:pt x="5014759" y="422893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4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20"/>
              <a:t>Ferguson’s</a:t>
            </a:r>
            <a:r>
              <a:rPr dirty="0" spc="-45"/>
              <a:t> </a:t>
            </a:r>
            <a:r>
              <a:rPr dirty="0" spc="-114"/>
              <a:t>Methodological</a:t>
            </a:r>
            <a:r>
              <a:rPr dirty="0" spc="-40"/>
              <a:t> </a:t>
            </a:r>
            <a:r>
              <a:rPr dirty="0" spc="-90"/>
              <a:t>Critique</a:t>
            </a:r>
            <a:r>
              <a:rPr dirty="0" spc="-45"/>
              <a:t> </a:t>
            </a:r>
            <a:r>
              <a:rPr dirty="0" spc="-254"/>
              <a:t>—</a:t>
            </a:r>
            <a:r>
              <a:rPr dirty="0" spc="-40"/>
              <a:t> </a:t>
            </a:r>
            <a:r>
              <a:rPr dirty="0" spc="-60"/>
              <a:t>ferguson_video_game_debate</a:t>
            </a:r>
          </a:p>
          <a:p>
            <a:pPr marL="175260">
              <a:lnSpc>
                <a:spcPct val="100000"/>
              </a:lnSpc>
              <a:spcBef>
                <a:spcPts val="103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Publication</a:t>
            </a:r>
            <a:r>
              <a:rPr dirty="0" sz="900" spc="-35">
                <a:solidFill>
                  <a:srgbClr val="22373A"/>
                </a:solidFill>
              </a:rPr>
              <a:t> </a:t>
            </a:r>
            <a:r>
              <a:rPr dirty="0" sz="900" spc="-60">
                <a:solidFill>
                  <a:srgbClr val="22373A"/>
                </a:solidFill>
              </a:rPr>
              <a:t>bias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studies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effects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likely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published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8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Inconsistent</a:t>
            </a:r>
            <a:r>
              <a:rPr dirty="0" sz="900" spc="-5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measures</a:t>
            </a:r>
            <a:r>
              <a:rPr dirty="0" sz="900" spc="-8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“aggression”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measured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 noise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blasts,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real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violence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09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Small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 spc="-85">
                <a:solidFill>
                  <a:srgbClr val="22373A"/>
                </a:solidFill>
              </a:rPr>
              <a:t>effect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65">
                <a:solidFill>
                  <a:srgbClr val="22373A"/>
                </a:solidFill>
              </a:rPr>
              <a:t>sizes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tiny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 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questionable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practical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significance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0">
                <a:solidFill>
                  <a:srgbClr val="22373A"/>
                </a:solidFill>
              </a:rPr>
              <a:t>Confounds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gamers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differ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 non-gamers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many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ways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pc="-135"/>
              <a:t>The</a:t>
            </a:r>
            <a:r>
              <a:rPr dirty="0" spc="-80"/>
              <a:t> </a:t>
            </a:r>
            <a:r>
              <a:rPr dirty="0" spc="-100"/>
              <a:t>Empirical</a:t>
            </a:r>
            <a:r>
              <a:rPr dirty="0" spc="-75"/>
              <a:t> </a:t>
            </a:r>
            <a:r>
              <a:rPr dirty="0" spc="-10"/>
              <a:t>Picture</a:t>
            </a:r>
          </a:p>
          <a:p>
            <a:pPr marL="12700" marR="5080">
              <a:lnSpc>
                <a:spcPts val="960"/>
              </a:lnSpc>
              <a:spcBef>
                <a:spcPts val="1150"/>
              </a:spcBef>
            </a:pP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Youth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violence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000000"/>
                </a:solidFill>
              </a:rPr>
              <a:t>declined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gaming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000000"/>
                </a:solidFill>
              </a:rPr>
              <a:t>rose </a:t>
            </a:r>
            <a:r>
              <a:rPr dirty="0" sz="900" spc="-70">
                <a:solidFill>
                  <a:srgbClr val="000000"/>
                </a:solidFill>
              </a:rPr>
              <a:t>sharply</a:t>
            </a:r>
            <a:r>
              <a:rPr dirty="0" sz="900" spc="-7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 High-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gaming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nations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(Japan,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South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Ko-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rea)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have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very low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rates of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violent crime.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Effects are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real but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likely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overstated.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2819400" cy="5080"/>
            </a:xfrm>
            <a:custGeom>
              <a:avLst/>
              <a:gdLst/>
              <a:ahLst/>
              <a:cxnLst/>
              <a:rect l="l" t="t" r="r" b="b"/>
              <a:pathLst>
                <a:path w="2819400" h="5080">
                  <a:moveTo>
                    <a:pt x="0" y="5060"/>
                  </a:moveTo>
                  <a:lnTo>
                    <a:pt x="0" y="0"/>
                  </a:lnTo>
                  <a:lnTo>
                    <a:pt x="2818776" y="0"/>
                  </a:lnTo>
                  <a:lnTo>
                    <a:pt x="28187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37572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5"/>
              <a:t>Gaming</a:t>
            </a:r>
            <a:r>
              <a:rPr dirty="0" spc="-90"/>
              <a:t> Disorder:</a:t>
            </a:r>
            <a:r>
              <a:rPr dirty="0" spc="-35"/>
              <a:t> </a:t>
            </a:r>
            <a:r>
              <a:rPr dirty="0" spc="-90"/>
              <a:t>When </a:t>
            </a:r>
            <a:r>
              <a:rPr dirty="0" spc="-125"/>
              <a:t>Gaming</a:t>
            </a:r>
            <a:r>
              <a:rPr dirty="0" spc="-85"/>
              <a:t> </a:t>
            </a:r>
            <a:r>
              <a:rPr dirty="0" spc="-150"/>
              <a:t>Becomes</a:t>
            </a:r>
            <a:r>
              <a:rPr dirty="0" spc="-90"/>
              <a:t> </a:t>
            </a:r>
            <a:r>
              <a:rPr dirty="0" spc="-120"/>
              <a:t>a</a:t>
            </a:r>
            <a:r>
              <a:rPr dirty="0" spc="-85"/>
              <a:t> </a:t>
            </a:r>
            <a:r>
              <a:rPr dirty="0" spc="-75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3"/>
            <a:ext cx="5040630" cy="817244"/>
            <a:chOff x="359994" y="602323"/>
            <a:chExt cx="5040630" cy="817244"/>
          </a:xfrm>
        </p:grpSpPr>
        <p:sp>
          <p:nvSpPr>
            <p:cNvPr id="4" name="object 4"/>
            <p:cNvSpPr/>
            <p:nvPr/>
          </p:nvSpPr>
          <p:spPr>
            <a:xfrm>
              <a:off x="359994" y="602323"/>
              <a:ext cx="5040630" cy="817244"/>
            </a:xfrm>
            <a:custGeom>
              <a:avLst/>
              <a:gdLst/>
              <a:ahLst/>
              <a:cxnLst/>
              <a:rect l="l" t="t" r="r" b="b"/>
              <a:pathLst>
                <a:path w="5040630" h="81724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779197"/>
                  </a:lnTo>
                  <a:lnTo>
                    <a:pt x="2982" y="793972"/>
                  </a:lnTo>
                  <a:lnTo>
                    <a:pt x="11117" y="806037"/>
                  </a:lnTo>
                  <a:lnTo>
                    <a:pt x="23182" y="814172"/>
                  </a:lnTo>
                  <a:lnTo>
                    <a:pt x="37958" y="817155"/>
                  </a:lnTo>
                  <a:lnTo>
                    <a:pt x="5002106" y="817155"/>
                  </a:lnTo>
                  <a:lnTo>
                    <a:pt x="5016882" y="814172"/>
                  </a:lnTo>
                  <a:lnTo>
                    <a:pt x="5028947" y="806037"/>
                  </a:lnTo>
                  <a:lnTo>
                    <a:pt x="5037082" y="793972"/>
                  </a:lnTo>
                  <a:lnTo>
                    <a:pt x="5040064" y="779197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4782"/>
              <a:ext cx="5015230" cy="572135"/>
            </a:xfrm>
            <a:custGeom>
              <a:avLst/>
              <a:gdLst/>
              <a:ahLst/>
              <a:cxnLst/>
              <a:rect l="l" t="t" r="r" b="b"/>
              <a:pathLst>
                <a:path w="5015230" h="572135">
                  <a:moveTo>
                    <a:pt x="5014759" y="0"/>
                  </a:moveTo>
                  <a:lnTo>
                    <a:pt x="0" y="0"/>
                  </a:lnTo>
                  <a:lnTo>
                    <a:pt x="0" y="546738"/>
                  </a:lnTo>
                  <a:lnTo>
                    <a:pt x="1988" y="556588"/>
                  </a:lnTo>
                  <a:lnTo>
                    <a:pt x="7411" y="564632"/>
                  </a:lnTo>
                  <a:lnTo>
                    <a:pt x="15455" y="570055"/>
                  </a:lnTo>
                  <a:lnTo>
                    <a:pt x="25305" y="572044"/>
                  </a:lnTo>
                  <a:lnTo>
                    <a:pt x="4989454" y="572044"/>
                  </a:lnTo>
                  <a:lnTo>
                    <a:pt x="4999304" y="570055"/>
                  </a:lnTo>
                  <a:lnTo>
                    <a:pt x="5007347" y="564632"/>
                  </a:lnTo>
                  <a:lnTo>
                    <a:pt x="5012770" y="556588"/>
                  </a:lnTo>
                  <a:lnTo>
                    <a:pt x="5014759" y="546738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624888"/>
            <a:ext cx="5040630" cy="815975"/>
            <a:chOff x="359994" y="1624888"/>
            <a:chExt cx="5040630" cy="815975"/>
          </a:xfrm>
        </p:grpSpPr>
        <p:sp>
          <p:nvSpPr>
            <p:cNvPr id="7" name="object 7"/>
            <p:cNvSpPr/>
            <p:nvPr/>
          </p:nvSpPr>
          <p:spPr>
            <a:xfrm>
              <a:off x="359994" y="1624888"/>
              <a:ext cx="5040630" cy="815975"/>
            </a:xfrm>
            <a:custGeom>
              <a:avLst/>
              <a:gdLst/>
              <a:ahLst/>
              <a:cxnLst/>
              <a:rect l="l" t="t" r="r" b="b"/>
              <a:pathLst>
                <a:path w="5040630" h="81597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777534"/>
                  </a:lnTo>
                  <a:lnTo>
                    <a:pt x="2982" y="792309"/>
                  </a:lnTo>
                  <a:lnTo>
                    <a:pt x="11117" y="804375"/>
                  </a:lnTo>
                  <a:lnTo>
                    <a:pt x="23182" y="812509"/>
                  </a:lnTo>
                  <a:lnTo>
                    <a:pt x="37958" y="815492"/>
                  </a:lnTo>
                  <a:lnTo>
                    <a:pt x="5002106" y="815492"/>
                  </a:lnTo>
                  <a:lnTo>
                    <a:pt x="5016882" y="812509"/>
                  </a:lnTo>
                  <a:lnTo>
                    <a:pt x="5028947" y="804375"/>
                  </a:lnTo>
                  <a:lnTo>
                    <a:pt x="5037082" y="792309"/>
                  </a:lnTo>
                  <a:lnTo>
                    <a:pt x="5040064" y="777534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1855684"/>
              <a:ext cx="5015230" cy="572135"/>
            </a:xfrm>
            <a:custGeom>
              <a:avLst/>
              <a:gdLst/>
              <a:ahLst/>
              <a:cxnLst/>
              <a:rect l="l" t="t" r="r" b="b"/>
              <a:pathLst>
                <a:path w="5015230" h="572135">
                  <a:moveTo>
                    <a:pt x="5014759" y="0"/>
                  </a:moveTo>
                  <a:lnTo>
                    <a:pt x="0" y="0"/>
                  </a:lnTo>
                  <a:lnTo>
                    <a:pt x="0" y="546738"/>
                  </a:lnTo>
                  <a:lnTo>
                    <a:pt x="1988" y="556588"/>
                  </a:lnTo>
                  <a:lnTo>
                    <a:pt x="7411" y="564632"/>
                  </a:lnTo>
                  <a:lnTo>
                    <a:pt x="15455" y="570055"/>
                  </a:lnTo>
                  <a:lnTo>
                    <a:pt x="25305" y="572044"/>
                  </a:lnTo>
                  <a:lnTo>
                    <a:pt x="4989454" y="572044"/>
                  </a:lnTo>
                  <a:lnTo>
                    <a:pt x="4999304" y="570055"/>
                  </a:lnTo>
                  <a:lnTo>
                    <a:pt x="5007347" y="564632"/>
                  </a:lnTo>
                  <a:lnTo>
                    <a:pt x="5012770" y="556588"/>
                  </a:lnTo>
                  <a:lnTo>
                    <a:pt x="5014759" y="546738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438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pc="-114"/>
              <a:t>WHO</a:t>
            </a:r>
            <a:r>
              <a:rPr dirty="0" spc="-80"/>
              <a:t> </a:t>
            </a:r>
            <a:r>
              <a:rPr dirty="0" spc="-120"/>
              <a:t>Gaming</a:t>
            </a:r>
            <a:r>
              <a:rPr dirty="0" spc="-80"/>
              <a:t> </a:t>
            </a:r>
            <a:r>
              <a:rPr dirty="0" spc="-95"/>
              <a:t>Disorder</a:t>
            </a:r>
            <a:r>
              <a:rPr dirty="0" spc="-80"/>
              <a:t> </a:t>
            </a:r>
            <a:r>
              <a:rPr dirty="0" spc="-254"/>
              <a:t>—</a:t>
            </a:r>
            <a:r>
              <a:rPr dirty="0" spc="-80"/>
              <a:t> </a:t>
            </a:r>
            <a:r>
              <a:rPr dirty="0" spc="-45"/>
              <a:t>who_gaming_disorder_2019</a:t>
            </a:r>
          </a:p>
          <a:p>
            <a:pPr algn="just" marL="12700" marR="5080">
              <a:lnSpc>
                <a:spcPts val="960"/>
              </a:lnSpc>
              <a:spcBef>
                <a:spcPts val="1160"/>
              </a:spcBef>
            </a:pP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WHO</a:t>
            </a:r>
            <a:r>
              <a:rPr dirty="0" sz="900" spc="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added</a:t>
            </a:r>
            <a:r>
              <a:rPr dirty="0" sz="900" spc="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000000"/>
                </a:solidFill>
              </a:rPr>
              <a:t>Gaming</a:t>
            </a:r>
            <a:r>
              <a:rPr dirty="0" sz="900" spc="55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Disorder</a:t>
            </a:r>
            <a:r>
              <a:rPr dirty="0" sz="900" spc="55">
                <a:solidFill>
                  <a:srgbClr val="000000"/>
                </a:solidFill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900" spc="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ICD-</a:t>
            </a:r>
            <a:r>
              <a:rPr dirty="0" sz="900" spc="50">
                <a:solidFill>
                  <a:srgbClr val="000000"/>
                </a:solidFill>
                <a:latin typeface="Arial"/>
                <a:cs typeface="Arial"/>
              </a:rPr>
              <a:t>11</a:t>
            </a:r>
            <a:r>
              <a:rPr dirty="0" sz="900" spc="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(2019).</a:t>
            </a:r>
            <a:r>
              <a:rPr dirty="0" sz="900" spc="3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Criteria:</a:t>
            </a:r>
            <a:r>
              <a:rPr dirty="0" sz="900" spc="2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impaired</a:t>
            </a:r>
            <a:r>
              <a:rPr dirty="0" sz="900" spc="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control</a:t>
            </a:r>
            <a:r>
              <a:rPr dirty="0" sz="900" spc="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over</a:t>
            </a:r>
            <a:r>
              <a:rPr dirty="0" sz="900" spc="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gaming,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increasing</a:t>
            </a:r>
            <a:r>
              <a:rPr dirty="0" sz="900" spc="1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priority</a:t>
            </a:r>
            <a:r>
              <a:rPr dirty="0" sz="900" spc="1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over</a:t>
            </a:r>
            <a:r>
              <a:rPr dirty="0" sz="900" spc="1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other</a:t>
            </a:r>
            <a:r>
              <a:rPr dirty="0" sz="900" spc="1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activities,</a:t>
            </a:r>
            <a:r>
              <a:rPr dirty="0" sz="900" spc="1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continuation</a:t>
            </a:r>
            <a:r>
              <a:rPr dirty="0" sz="900" spc="1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despite</a:t>
            </a:r>
            <a:r>
              <a:rPr dirty="0" sz="900" spc="1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negative</a:t>
            </a:r>
            <a:r>
              <a:rPr dirty="0" sz="900" spc="1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consequences,</a:t>
            </a:r>
            <a:r>
              <a:rPr dirty="0" sz="900" spc="1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and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symptoms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present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12+</a:t>
            </a:r>
            <a:r>
              <a:rPr dirty="0" sz="900" spc="-40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months</a:t>
            </a:r>
            <a:r>
              <a:rPr dirty="0" sz="900" spc="-75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90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Estimated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prevalence:</a:t>
            </a:r>
            <a:r>
              <a:rPr dirty="0" sz="90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Lucida Sans Unicode"/>
                <a:cs typeface="Lucida Sans Unicode"/>
              </a:rPr>
              <a:t>∼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3–4%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gamers.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9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pc="-65"/>
              <a:t>Self-</a:t>
            </a:r>
            <a:r>
              <a:rPr dirty="0" spc="-100"/>
              <a:t>Determination</a:t>
            </a:r>
            <a:r>
              <a:rPr dirty="0" spc="-45"/>
              <a:t> </a:t>
            </a:r>
            <a:r>
              <a:rPr dirty="0" spc="-114"/>
              <a:t>Theory</a:t>
            </a:r>
            <a:r>
              <a:rPr dirty="0" spc="-45"/>
              <a:t> </a:t>
            </a:r>
            <a:r>
              <a:rPr dirty="0" spc="-254"/>
              <a:t>—</a:t>
            </a:r>
            <a:r>
              <a:rPr dirty="0" spc="-45"/>
              <a:t> </a:t>
            </a:r>
            <a:r>
              <a:rPr dirty="0" spc="-10"/>
              <a:t>ryan_deci_sdt</a:t>
            </a:r>
          </a:p>
          <a:p>
            <a:pPr algn="just" marL="12700" marR="5080">
              <a:lnSpc>
                <a:spcPts val="960"/>
              </a:lnSpc>
              <a:spcBef>
                <a:spcPts val="1150"/>
              </a:spcBef>
            </a:pPr>
            <a:r>
              <a:rPr dirty="0" sz="900" spc="-80">
                <a:solidFill>
                  <a:srgbClr val="000000"/>
                </a:solidFill>
              </a:rPr>
              <a:t>Problematic</a:t>
            </a:r>
            <a:r>
              <a:rPr dirty="0" sz="900" spc="-90">
                <a:solidFill>
                  <a:srgbClr val="000000"/>
                </a:solidFill>
              </a:rPr>
              <a:t> gaming </a:t>
            </a:r>
            <a:r>
              <a:rPr dirty="0" sz="900" spc="-75">
                <a:solidFill>
                  <a:srgbClr val="000000"/>
                </a:solidFill>
              </a:rPr>
              <a:t>is</a:t>
            </a:r>
            <a:r>
              <a:rPr dirty="0" sz="900" spc="-90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often</a:t>
            </a:r>
            <a:r>
              <a:rPr dirty="0" sz="900" spc="-90">
                <a:solidFill>
                  <a:srgbClr val="000000"/>
                </a:solidFill>
              </a:rPr>
              <a:t> a </a:t>
            </a:r>
            <a:r>
              <a:rPr dirty="0" sz="900" spc="-80">
                <a:solidFill>
                  <a:srgbClr val="000000"/>
                </a:solidFill>
              </a:rPr>
              <a:t>symptom,</a:t>
            </a:r>
            <a:r>
              <a:rPr dirty="0" sz="900" spc="-90">
                <a:solidFill>
                  <a:srgbClr val="000000"/>
                </a:solidFill>
              </a:rPr>
              <a:t> </a:t>
            </a:r>
            <a:r>
              <a:rPr dirty="0" sz="900" spc="-80">
                <a:solidFill>
                  <a:srgbClr val="000000"/>
                </a:solidFill>
              </a:rPr>
              <a:t>not</a:t>
            </a:r>
            <a:r>
              <a:rPr dirty="0" sz="900" spc="-90">
                <a:solidFill>
                  <a:srgbClr val="000000"/>
                </a:solidFill>
              </a:rPr>
              <a:t> a </a:t>
            </a:r>
            <a:r>
              <a:rPr dirty="0" sz="900" spc="-95">
                <a:solidFill>
                  <a:srgbClr val="000000"/>
                </a:solidFill>
              </a:rPr>
              <a:t>cause.</a:t>
            </a:r>
            <a:r>
              <a:rPr dirty="0" sz="900" spc="-55">
                <a:solidFill>
                  <a:srgbClr val="000000"/>
                </a:solidFill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People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whose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needs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85">
                <a:solidFill>
                  <a:srgbClr val="000000"/>
                </a:solidFill>
              </a:rPr>
              <a:t>autonomy,</a:t>
            </a:r>
            <a:r>
              <a:rPr dirty="0" sz="900" spc="-25">
                <a:solidFill>
                  <a:srgbClr val="000000"/>
                </a:solidFill>
              </a:rPr>
              <a:t> </a:t>
            </a:r>
            <a:r>
              <a:rPr dirty="0" sz="900" spc="-95">
                <a:solidFill>
                  <a:srgbClr val="000000"/>
                </a:solidFill>
              </a:rPr>
              <a:t>competence,</a:t>
            </a:r>
            <a:r>
              <a:rPr dirty="0" sz="900" spc="-25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and</a:t>
            </a:r>
            <a:r>
              <a:rPr dirty="0" sz="900" spc="-40">
                <a:solidFill>
                  <a:srgbClr val="000000"/>
                </a:solidFill>
              </a:rPr>
              <a:t> </a:t>
            </a:r>
            <a:r>
              <a:rPr dirty="0" sz="900" spc="-80">
                <a:solidFill>
                  <a:srgbClr val="000000"/>
                </a:solidFill>
              </a:rPr>
              <a:t>relatedness</a:t>
            </a:r>
            <a:r>
              <a:rPr dirty="0" sz="900" spc="-40">
                <a:solidFill>
                  <a:srgbClr val="000000"/>
                </a:solidFill>
              </a:rPr>
              <a:t> 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unmet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in 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life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may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use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games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as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substitute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10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but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game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cannot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solve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underlying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deficit.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2941320" cy="5080"/>
            </a:xfrm>
            <a:custGeom>
              <a:avLst/>
              <a:gdLst/>
              <a:ahLst/>
              <a:cxnLst/>
              <a:rect l="l" t="t" r="r" b="b"/>
              <a:pathLst>
                <a:path w="2941320" h="5080">
                  <a:moveTo>
                    <a:pt x="0" y="5060"/>
                  </a:moveTo>
                  <a:lnTo>
                    <a:pt x="0" y="0"/>
                  </a:lnTo>
                  <a:lnTo>
                    <a:pt x="2941297" y="0"/>
                  </a:lnTo>
                  <a:lnTo>
                    <a:pt x="29412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1196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5"/>
              <a:t>Predatory</a:t>
            </a:r>
            <a:r>
              <a:rPr dirty="0" spc="-90"/>
              <a:t> </a:t>
            </a:r>
            <a:r>
              <a:rPr dirty="0" spc="-100"/>
              <a:t>Design:</a:t>
            </a:r>
            <a:r>
              <a:rPr dirty="0" spc="-35"/>
              <a:t> </a:t>
            </a:r>
            <a:r>
              <a:rPr dirty="0" spc="-140"/>
              <a:t>Loot</a:t>
            </a:r>
            <a:r>
              <a:rPr dirty="0" spc="-85"/>
              <a:t> </a:t>
            </a:r>
            <a:r>
              <a:rPr dirty="0" spc="-114"/>
              <a:t>Boxes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07"/>
            <a:ext cx="5040630" cy="1507490"/>
            <a:chOff x="359994" y="602307"/>
            <a:chExt cx="5040630" cy="1507490"/>
          </a:xfrm>
        </p:grpSpPr>
        <p:sp>
          <p:nvSpPr>
            <p:cNvPr id="4" name="object 4"/>
            <p:cNvSpPr/>
            <p:nvPr/>
          </p:nvSpPr>
          <p:spPr>
            <a:xfrm>
              <a:off x="359994" y="602307"/>
              <a:ext cx="5040630" cy="1507490"/>
            </a:xfrm>
            <a:custGeom>
              <a:avLst/>
              <a:gdLst/>
              <a:ahLst/>
              <a:cxnLst/>
              <a:rect l="l" t="t" r="r" b="b"/>
              <a:pathLst>
                <a:path w="5040630" h="1507489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468937"/>
                  </a:lnTo>
                  <a:lnTo>
                    <a:pt x="2982" y="1483712"/>
                  </a:lnTo>
                  <a:lnTo>
                    <a:pt x="11117" y="1495778"/>
                  </a:lnTo>
                  <a:lnTo>
                    <a:pt x="23182" y="1503912"/>
                  </a:lnTo>
                  <a:lnTo>
                    <a:pt x="37958" y="1506895"/>
                  </a:lnTo>
                  <a:lnTo>
                    <a:pt x="5002106" y="1506895"/>
                  </a:lnTo>
                  <a:lnTo>
                    <a:pt x="5016882" y="1503912"/>
                  </a:lnTo>
                  <a:lnTo>
                    <a:pt x="5028947" y="1495778"/>
                  </a:lnTo>
                  <a:lnTo>
                    <a:pt x="5037082" y="1483712"/>
                  </a:lnTo>
                  <a:lnTo>
                    <a:pt x="5040064" y="1468937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4766"/>
              <a:ext cx="5015230" cy="1262380"/>
            </a:xfrm>
            <a:custGeom>
              <a:avLst/>
              <a:gdLst/>
              <a:ahLst/>
              <a:cxnLst/>
              <a:rect l="l" t="t" r="r" b="b"/>
              <a:pathLst>
                <a:path w="5015230" h="1262380">
                  <a:moveTo>
                    <a:pt x="5014759" y="0"/>
                  </a:moveTo>
                  <a:lnTo>
                    <a:pt x="0" y="0"/>
                  </a:lnTo>
                  <a:lnTo>
                    <a:pt x="0" y="1236478"/>
                  </a:lnTo>
                  <a:lnTo>
                    <a:pt x="1988" y="1246329"/>
                  </a:lnTo>
                  <a:lnTo>
                    <a:pt x="7411" y="1254372"/>
                  </a:lnTo>
                  <a:lnTo>
                    <a:pt x="15455" y="1259795"/>
                  </a:lnTo>
                  <a:lnTo>
                    <a:pt x="25305" y="1261784"/>
                  </a:lnTo>
                  <a:lnTo>
                    <a:pt x="4989454" y="1261784"/>
                  </a:lnTo>
                  <a:lnTo>
                    <a:pt x="4999304" y="1259795"/>
                  </a:lnTo>
                  <a:lnTo>
                    <a:pt x="5007347" y="1254372"/>
                  </a:lnTo>
                  <a:lnTo>
                    <a:pt x="5012770" y="1246329"/>
                  </a:lnTo>
                  <a:lnTo>
                    <a:pt x="5014759" y="1236478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7F1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9953" y="605522"/>
            <a:ext cx="4680585" cy="1395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solidFill>
                  <a:srgbClr val="FFFFFF"/>
                </a:solidFill>
                <a:latin typeface="Arial Black"/>
                <a:cs typeface="Arial Black"/>
              </a:rPr>
              <a:t>Loot</a:t>
            </a:r>
            <a:r>
              <a:rPr dirty="0" sz="11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45">
                <a:solidFill>
                  <a:srgbClr val="FFFFFF"/>
                </a:solidFill>
                <a:latin typeface="Arial Black"/>
                <a:cs typeface="Arial Black"/>
              </a:rPr>
              <a:t>Boxes</a:t>
            </a:r>
            <a:r>
              <a:rPr dirty="0" sz="11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11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Gambling</a:t>
            </a:r>
            <a:r>
              <a:rPr dirty="0" sz="11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Mechanics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loot</a:t>
            </a:r>
            <a:r>
              <a:rPr dirty="0" sz="900" spc="-65">
                <a:latin typeface="Arial Black"/>
                <a:cs typeface="Arial Black"/>
              </a:rPr>
              <a:t> </a:t>
            </a:r>
            <a:r>
              <a:rPr dirty="0" sz="900" spc="-100">
                <a:latin typeface="Arial Black"/>
                <a:cs typeface="Arial Black"/>
              </a:rPr>
              <a:t>box</a:t>
            </a:r>
            <a:r>
              <a:rPr dirty="0" sz="900" spc="-65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purchasable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randomized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in-game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reward.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Key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features:</a:t>
            </a:r>
            <a:endParaRPr sz="900">
              <a:latin typeface="Arial"/>
              <a:cs typeface="Arial"/>
            </a:endParaRPr>
          </a:p>
          <a:p>
            <a:pPr marL="289560" marR="53340" indent="-114935">
              <a:lnSpc>
                <a:spcPts val="960"/>
              </a:lnSpc>
              <a:spcBef>
                <a:spcPts val="41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Variable-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ratio</a:t>
            </a:r>
            <a:r>
              <a:rPr dirty="0" sz="900" spc="-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reinforcement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powerful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compulsive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schedule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(same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slot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machines)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3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Disguised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cost</a:t>
            </a:r>
            <a:r>
              <a:rPr dirty="0" sz="900" spc="-8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“coins”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“gems”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obscure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money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spent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Child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targeting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prevalent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large young audiences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960"/>
              </a:lnSpc>
              <a:spcBef>
                <a:spcPts val="415"/>
              </a:spcBef>
            </a:pPr>
            <a:r>
              <a:rPr dirty="0" sz="900">
                <a:latin typeface="Arial"/>
                <a:cs typeface="Arial"/>
              </a:rPr>
              <a:t>Belgium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banned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loot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boxes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as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gambling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(2018);</a:t>
            </a:r>
            <a:r>
              <a:rPr dirty="0" sz="900" spc="1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similar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Dutch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ruling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was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overturned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on </a:t>
            </a:r>
            <a:r>
              <a:rPr dirty="0" sz="900">
                <a:latin typeface="Arial"/>
                <a:cs typeface="Arial"/>
              </a:rPr>
              <a:t>appeal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-10">
                <a:latin typeface="Arial"/>
                <a:cs typeface="Arial"/>
              </a:rPr>
              <a:t> 2022.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9994" y="2299792"/>
          <a:ext cx="5116195" cy="521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1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Nguyen’s</a:t>
                      </a:r>
                      <a:r>
                        <a:rPr dirty="0" sz="1100" spc="-5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9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Warning</a:t>
                      </a:r>
                      <a:r>
                        <a:rPr dirty="0" sz="1100" spc="-5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Revisited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45720" marR="636905">
                        <a:lnSpc>
                          <a:spcPts val="960"/>
                        </a:lnSpc>
                        <a:spcBef>
                          <a:spcPts val="280"/>
                        </a:spcBef>
                      </a:pP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Predatory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uses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game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mechanics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scaffold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genuine </a:t>
                      </a:r>
                      <a:r>
                        <a:rPr dirty="0" sz="9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agency,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exploit </a:t>
                      </a:r>
                      <a:r>
                        <a:rPr dirty="0" sz="900" spc="-9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psychological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7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vulnerabilities</a:t>
                      </a:r>
                      <a:r>
                        <a:rPr dirty="0" sz="900" spc="-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900" spc="4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profit.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3064510" cy="5080"/>
            </a:xfrm>
            <a:custGeom>
              <a:avLst/>
              <a:gdLst/>
              <a:ahLst/>
              <a:cxnLst/>
              <a:rect l="l" t="t" r="r" b="b"/>
              <a:pathLst>
                <a:path w="3064510" h="5080">
                  <a:moveTo>
                    <a:pt x="0" y="5060"/>
                  </a:moveTo>
                  <a:lnTo>
                    <a:pt x="0" y="0"/>
                  </a:lnTo>
                  <a:lnTo>
                    <a:pt x="3063906" y="0"/>
                  </a:lnTo>
                  <a:lnTo>
                    <a:pt x="30639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65"/>
              <a:t>You</a:t>
            </a:r>
            <a:r>
              <a:rPr dirty="0" spc="-105"/>
              <a:t> </a:t>
            </a:r>
            <a:r>
              <a:rPr dirty="0" spc="-145"/>
              <a:t>Be</a:t>
            </a:r>
            <a:r>
              <a:rPr dirty="0" spc="-105"/>
              <a:t> the Judge:</a:t>
            </a:r>
            <a:r>
              <a:rPr dirty="0" spc="-55"/>
              <a:t> Is</a:t>
            </a:r>
            <a:r>
              <a:rPr dirty="0" spc="-105"/>
              <a:t> </a:t>
            </a:r>
            <a:r>
              <a:rPr dirty="0" spc="-120"/>
              <a:t>a</a:t>
            </a:r>
            <a:r>
              <a:rPr dirty="0" spc="-105"/>
              <a:t> </a:t>
            </a:r>
            <a:r>
              <a:rPr dirty="0" spc="-140"/>
              <a:t>Loot</a:t>
            </a:r>
            <a:r>
              <a:rPr dirty="0" spc="-105"/>
              <a:t> </a:t>
            </a:r>
            <a:r>
              <a:rPr dirty="0" spc="-150"/>
              <a:t>Box</a:t>
            </a:r>
            <a:r>
              <a:rPr dirty="0" spc="-105"/>
              <a:t> </a:t>
            </a:r>
            <a:r>
              <a:rPr dirty="0" spc="-120"/>
              <a:t>a</a:t>
            </a:r>
            <a:r>
              <a:rPr dirty="0" spc="-105"/>
              <a:t> </a:t>
            </a:r>
            <a:r>
              <a:rPr dirty="0" spc="-100"/>
              <a:t>Slot </a:t>
            </a:r>
            <a:r>
              <a:rPr dirty="0" spc="-105"/>
              <a:t>Machine?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17778"/>
            <a:ext cx="5040630" cy="760095"/>
            <a:chOff x="359994" y="517778"/>
            <a:chExt cx="5040630" cy="760095"/>
          </a:xfrm>
        </p:grpSpPr>
        <p:sp>
          <p:nvSpPr>
            <p:cNvPr id="4" name="object 4"/>
            <p:cNvSpPr/>
            <p:nvPr/>
          </p:nvSpPr>
          <p:spPr>
            <a:xfrm>
              <a:off x="359994" y="517778"/>
              <a:ext cx="5040630" cy="760095"/>
            </a:xfrm>
            <a:custGeom>
              <a:avLst/>
              <a:gdLst/>
              <a:ahLst/>
              <a:cxnLst/>
              <a:rect l="l" t="t" r="r" b="b"/>
              <a:pathLst>
                <a:path w="5040630" h="760094">
                  <a:moveTo>
                    <a:pt x="5002106" y="0"/>
                  </a:moveTo>
                  <a:lnTo>
                    <a:pt x="37958" y="0"/>
                  </a:lnTo>
                  <a:lnTo>
                    <a:pt x="23182" y="2674"/>
                  </a:lnTo>
                  <a:lnTo>
                    <a:pt x="11117" y="9967"/>
                  </a:lnTo>
                  <a:lnTo>
                    <a:pt x="2982" y="20784"/>
                  </a:lnTo>
                  <a:lnTo>
                    <a:pt x="0" y="34031"/>
                  </a:lnTo>
                  <a:lnTo>
                    <a:pt x="0" y="725520"/>
                  </a:lnTo>
                  <a:lnTo>
                    <a:pt x="2982" y="738767"/>
                  </a:lnTo>
                  <a:lnTo>
                    <a:pt x="11117" y="749584"/>
                  </a:lnTo>
                  <a:lnTo>
                    <a:pt x="23182" y="756877"/>
                  </a:lnTo>
                  <a:lnTo>
                    <a:pt x="37958" y="759551"/>
                  </a:lnTo>
                  <a:lnTo>
                    <a:pt x="5002106" y="759551"/>
                  </a:lnTo>
                  <a:lnTo>
                    <a:pt x="5016882" y="756877"/>
                  </a:lnTo>
                  <a:lnTo>
                    <a:pt x="5028947" y="749584"/>
                  </a:lnTo>
                  <a:lnTo>
                    <a:pt x="5037082" y="738767"/>
                  </a:lnTo>
                  <a:lnTo>
                    <a:pt x="5040064" y="725520"/>
                  </a:lnTo>
                  <a:lnTo>
                    <a:pt x="5040064" y="34031"/>
                  </a:lnTo>
                  <a:lnTo>
                    <a:pt x="5037082" y="20784"/>
                  </a:lnTo>
                  <a:lnTo>
                    <a:pt x="5028947" y="9967"/>
                  </a:lnTo>
                  <a:lnTo>
                    <a:pt x="5016882" y="2674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724698"/>
              <a:ext cx="5015230" cy="541655"/>
            </a:xfrm>
            <a:custGeom>
              <a:avLst/>
              <a:gdLst/>
              <a:ahLst/>
              <a:cxnLst/>
              <a:rect l="l" t="t" r="r" b="b"/>
              <a:pathLst>
                <a:path w="5015230" h="541655">
                  <a:moveTo>
                    <a:pt x="5014759" y="0"/>
                  </a:moveTo>
                  <a:lnTo>
                    <a:pt x="0" y="0"/>
                  </a:lnTo>
                  <a:lnTo>
                    <a:pt x="0" y="518600"/>
                  </a:lnTo>
                  <a:lnTo>
                    <a:pt x="1988" y="527431"/>
                  </a:lnTo>
                  <a:lnTo>
                    <a:pt x="7411" y="534643"/>
                  </a:lnTo>
                  <a:lnTo>
                    <a:pt x="15455" y="539505"/>
                  </a:lnTo>
                  <a:lnTo>
                    <a:pt x="25305" y="541288"/>
                  </a:lnTo>
                  <a:lnTo>
                    <a:pt x="4989454" y="541288"/>
                  </a:lnTo>
                  <a:lnTo>
                    <a:pt x="4999304" y="539505"/>
                  </a:lnTo>
                  <a:lnTo>
                    <a:pt x="5007347" y="534643"/>
                  </a:lnTo>
                  <a:lnTo>
                    <a:pt x="5012770" y="527431"/>
                  </a:lnTo>
                  <a:lnTo>
                    <a:pt x="5014759" y="51860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7F1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261681"/>
            <a:ext cx="5040630" cy="518159"/>
            <a:chOff x="359994" y="2261681"/>
            <a:chExt cx="5040630" cy="518159"/>
          </a:xfrm>
        </p:grpSpPr>
        <p:sp>
          <p:nvSpPr>
            <p:cNvPr id="7" name="object 7"/>
            <p:cNvSpPr/>
            <p:nvPr/>
          </p:nvSpPr>
          <p:spPr>
            <a:xfrm>
              <a:off x="359994" y="2261681"/>
              <a:ext cx="5040630" cy="518159"/>
            </a:xfrm>
            <a:custGeom>
              <a:avLst/>
              <a:gdLst/>
              <a:ahLst/>
              <a:cxnLst/>
              <a:rect l="l" t="t" r="r" b="b"/>
              <a:pathLst>
                <a:path w="5040630" h="518160">
                  <a:moveTo>
                    <a:pt x="5002106" y="0"/>
                  </a:moveTo>
                  <a:lnTo>
                    <a:pt x="37958" y="0"/>
                  </a:lnTo>
                  <a:lnTo>
                    <a:pt x="23182" y="2674"/>
                  </a:lnTo>
                  <a:lnTo>
                    <a:pt x="11117" y="9967"/>
                  </a:lnTo>
                  <a:lnTo>
                    <a:pt x="2982" y="20784"/>
                  </a:lnTo>
                  <a:lnTo>
                    <a:pt x="0" y="34031"/>
                  </a:lnTo>
                  <a:lnTo>
                    <a:pt x="0" y="483717"/>
                  </a:lnTo>
                  <a:lnTo>
                    <a:pt x="2982" y="496964"/>
                  </a:lnTo>
                  <a:lnTo>
                    <a:pt x="11117" y="507781"/>
                  </a:lnTo>
                  <a:lnTo>
                    <a:pt x="23182" y="515074"/>
                  </a:lnTo>
                  <a:lnTo>
                    <a:pt x="37958" y="517748"/>
                  </a:lnTo>
                  <a:lnTo>
                    <a:pt x="5002106" y="517748"/>
                  </a:lnTo>
                  <a:lnTo>
                    <a:pt x="5016882" y="515074"/>
                  </a:lnTo>
                  <a:lnTo>
                    <a:pt x="5028947" y="507781"/>
                  </a:lnTo>
                  <a:lnTo>
                    <a:pt x="5037082" y="496964"/>
                  </a:lnTo>
                  <a:lnTo>
                    <a:pt x="5040064" y="483717"/>
                  </a:lnTo>
                  <a:lnTo>
                    <a:pt x="5040064" y="34031"/>
                  </a:lnTo>
                  <a:lnTo>
                    <a:pt x="5037082" y="20784"/>
                  </a:lnTo>
                  <a:lnTo>
                    <a:pt x="5028947" y="9967"/>
                  </a:lnTo>
                  <a:lnTo>
                    <a:pt x="5016882" y="2674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2443089"/>
              <a:ext cx="5015230" cy="325120"/>
            </a:xfrm>
            <a:custGeom>
              <a:avLst/>
              <a:gdLst/>
              <a:ahLst/>
              <a:cxnLst/>
              <a:rect l="l" t="t" r="r" b="b"/>
              <a:pathLst>
                <a:path w="5015230" h="325119">
                  <a:moveTo>
                    <a:pt x="5014759" y="0"/>
                  </a:moveTo>
                  <a:lnTo>
                    <a:pt x="0" y="0"/>
                  </a:lnTo>
                  <a:lnTo>
                    <a:pt x="0" y="302309"/>
                  </a:lnTo>
                  <a:lnTo>
                    <a:pt x="1988" y="311140"/>
                  </a:lnTo>
                  <a:lnTo>
                    <a:pt x="7411" y="318351"/>
                  </a:lnTo>
                  <a:lnTo>
                    <a:pt x="15455" y="323214"/>
                  </a:lnTo>
                  <a:lnTo>
                    <a:pt x="25305" y="324996"/>
                  </a:lnTo>
                  <a:lnTo>
                    <a:pt x="4989454" y="324996"/>
                  </a:lnTo>
                  <a:lnTo>
                    <a:pt x="4999304" y="323214"/>
                  </a:lnTo>
                  <a:lnTo>
                    <a:pt x="5007347" y="318351"/>
                  </a:lnTo>
                  <a:lnTo>
                    <a:pt x="5012770" y="311140"/>
                  </a:lnTo>
                  <a:lnTo>
                    <a:pt x="5014759" y="302309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47294" y="519335"/>
            <a:ext cx="4977130" cy="2226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205104">
              <a:lnSpc>
                <a:spcPct val="100000"/>
              </a:lnSpc>
              <a:spcBef>
                <a:spcPts val="125"/>
              </a:spcBef>
            </a:pPr>
            <a:r>
              <a:rPr dirty="0" sz="950" spc="-3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95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50">
                <a:solidFill>
                  <a:srgbClr val="FFFFFF"/>
                </a:solidFill>
                <a:latin typeface="Arial Black"/>
                <a:cs typeface="Arial Black"/>
              </a:rPr>
              <a:t>split</a:t>
            </a:r>
            <a:r>
              <a:rPr dirty="0" sz="95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Black"/>
                <a:cs typeface="Arial Black"/>
              </a:rPr>
              <a:t>decision</a:t>
            </a:r>
            <a:endParaRPr sz="950">
              <a:latin typeface="Arial Black"/>
              <a:cs typeface="Arial Black"/>
            </a:endParaRPr>
          </a:p>
          <a:p>
            <a:pPr algn="just" marL="205104" marR="108585">
              <a:lnSpc>
                <a:spcPts val="940"/>
              </a:lnSpc>
              <a:spcBef>
                <a:spcPts val="1035"/>
              </a:spcBef>
            </a:pPr>
            <a:r>
              <a:rPr dirty="0" sz="900" spc="60">
                <a:latin typeface="Arial"/>
                <a:cs typeface="Arial"/>
              </a:rPr>
              <a:t>Belgium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60">
                <a:latin typeface="Arial"/>
                <a:cs typeface="Arial"/>
              </a:rPr>
              <a:t>banned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loot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boxes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as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gambling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in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10">
                <a:latin typeface="Arial Black"/>
                <a:cs typeface="Arial Black"/>
              </a:rPr>
              <a:t>2018</a:t>
            </a:r>
            <a:r>
              <a:rPr dirty="0" sz="900" spc="10">
                <a:latin typeface="Arial"/>
                <a:cs typeface="Arial"/>
              </a:rPr>
              <a:t>.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A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Dutch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ruling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75">
                <a:latin typeface="Arial"/>
                <a:cs typeface="Arial"/>
              </a:rPr>
              <a:t>went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70">
                <a:latin typeface="Arial"/>
                <a:cs typeface="Arial"/>
              </a:rPr>
              <a:t>the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same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30">
                <a:latin typeface="Arial"/>
                <a:cs typeface="Arial"/>
              </a:rPr>
              <a:t>way </a:t>
            </a:r>
            <a:r>
              <a:rPr dirty="0" sz="900" spc="55">
                <a:latin typeface="Arial"/>
                <a:cs typeface="Arial"/>
              </a:rPr>
              <a:t>and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was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65">
                <a:latin typeface="Arial"/>
                <a:cs typeface="Arial"/>
              </a:rPr>
              <a:t>then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overturned</a:t>
            </a:r>
            <a:r>
              <a:rPr dirty="0" sz="900" spc="30">
                <a:latin typeface="Arial Black"/>
                <a:cs typeface="Arial Black"/>
              </a:rPr>
              <a:t> </a:t>
            </a:r>
            <a:r>
              <a:rPr dirty="0" sz="900">
                <a:latin typeface="Arial Black"/>
                <a:cs typeface="Arial Black"/>
              </a:rPr>
              <a:t>on</a:t>
            </a:r>
            <a:r>
              <a:rPr dirty="0" sz="900" spc="30">
                <a:latin typeface="Arial Black"/>
                <a:cs typeface="Arial Black"/>
              </a:rPr>
              <a:t> </a:t>
            </a:r>
            <a:r>
              <a:rPr dirty="0" sz="900">
                <a:latin typeface="Arial Black"/>
                <a:cs typeface="Arial Black"/>
              </a:rPr>
              <a:t>appeal</a:t>
            </a:r>
            <a:r>
              <a:rPr dirty="0" sz="900" spc="30">
                <a:latin typeface="Arial Black"/>
                <a:cs typeface="Arial Black"/>
              </a:rPr>
              <a:t> </a:t>
            </a:r>
            <a:r>
              <a:rPr dirty="0" sz="900">
                <a:latin typeface="Arial Black"/>
                <a:cs typeface="Arial Black"/>
              </a:rPr>
              <a:t>in</a:t>
            </a:r>
            <a:r>
              <a:rPr dirty="0" sz="900" spc="30">
                <a:latin typeface="Arial Black"/>
                <a:cs typeface="Arial Black"/>
              </a:rPr>
              <a:t> </a:t>
            </a:r>
            <a:r>
              <a:rPr dirty="0" sz="900">
                <a:latin typeface="Arial Black"/>
                <a:cs typeface="Arial Black"/>
              </a:rPr>
              <a:t>2022</a:t>
            </a:r>
            <a:r>
              <a:rPr dirty="0" sz="900">
                <a:latin typeface="Arial"/>
                <a:cs typeface="Arial"/>
              </a:rPr>
              <a:t>.</a:t>
            </a:r>
            <a:r>
              <a:rPr dirty="0" sz="900" spc="3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Same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 spc="50">
                <a:latin typeface="Arial"/>
                <a:cs typeface="Arial"/>
              </a:rPr>
              <a:t>mechanic,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55">
                <a:latin typeface="Arial"/>
                <a:cs typeface="Arial"/>
              </a:rPr>
              <a:t>same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45">
                <a:latin typeface="Arial"/>
                <a:cs typeface="Arial"/>
              </a:rPr>
              <a:t>continent, </a:t>
            </a:r>
            <a:r>
              <a:rPr dirty="0" sz="900" spc="55">
                <a:latin typeface="Arial"/>
                <a:cs typeface="Arial"/>
              </a:rPr>
              <a:t>opposite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35">
                <a:latin typeface="Arial"/>
                <a:cs typeface="Arial"/>
              </a:rPr>
              <a:t>answers.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900">
              <a:latin typeface="Arial"/>
              <a:cs typeface="Arial"/>
            </a:endParaRPr>
          </a:p>
          <a:p>
            <a:pPr marL="12700" marR="134620">
              <a:lnSpc>
                <a:spcPts val="1070"/>
              </a:lnSpc>
            </a:pPr>
            <a:r>
              <a:rPr dirty="0" sz="950" spc="-25">
                <a:solidFill>
                  <a:srgbClr val="22373A"/>
                </a:solidFill>
                <a:latin typeface="Arial Black"/>
                <a:cs typeface="Arial Black"/>
              </a:rPr>
              <a:t>Three</a:t>
            </a:r>
            <a:r>
              <a:rPr dirty="0" sz="95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50">
                <a:solidFill>
                  <a:srgbClr val="22373A"/>
                </a:solidFill>
                <a:latin typeface="Arial Black"/>
                <a:cs typeface="Arial Black"/>
              </a:rPr>
              <a:t>benches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5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5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studio,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parents’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22373A"/>
                </a:solidFill>
                <a:latin typeface="Arial"/>
                <a:cs typeface="Arial"/>
              </a:rPr>
              <a:t>group,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5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5">
                <a:solidFill>
                  <a:srgbClr val="22373A"/>
                </a:solidFill>
                <a:latin typeface="Arial"/>
                <a:cs typeface="Arial"/>
              </a:rPr>
              <a:t>gaming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5">
                <a:solidFill>
                  <a:srgbClr val="22373A"/>
                </a:solidFill>
                <a:latin typeface="Arial"/>
                <a:cs typeface="Arial"/>
              </a:rPr>
              <a:t>commission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dirty="0" sz="950" spc="65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5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5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5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22373A"/>
                </a:solidFill>
                <a:latin typeface="Arial"/>
                <a:cs typeface="Arial"/>
              </a:rPr>
              <a:t>rule.</a:t>
            </a:r>
            <a:endParaRPr sz="950">
              <a:latin typeface="Arial"/>
              <a:cs typeface="Arial"/>
            </a:endParaRPr>
          </a:p>
          <a:p>
            <a:pPr marL="289560" marR="589280" indent="-124460">
              <a:lnSpc>
                <a:spcPts val="1070"/>
              </a:lnSpc>
              <a:spcBef>
                <a:spcPts val="265"/>
              </a:spcBef>
            </a:pPr>
            <a:r>
              <a:rPr dirty="0" sz="950" spc="9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50" spc="2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2373A"/>
                </a:solidFill>
                <a:latin typeface="Arial Black"/>
                <a:cs typeface="Arial Black"/>
              </a:rPr>
              <a:t>Studio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5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5">
                <a:solidFill>
                  <a:srgbClr val="22373A"/>
                </a:solidFill>
                <a:latin typeface="Arial"/>
                <a:cs typeface="Arial"/>
              </a:rPr>
              <a:t>nobody</a:t>
            </a:r>
            <a:r>
              <a:rPr dirty="0" sz="95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loses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0">
                <a:solidFill>
                  <a:srgbClr val="22373A"/>
                </a:solidFill>
                <a:latin typeface="Arial"/>
                <a:cs typeface="Arial"/>
              </a:rPr>
              <a:t>money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-110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5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always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5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65" i="1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dirty="0" sz="950" spc="65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5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entertainment</a:t>
            </a:r>
            <a:endParaRPr sz="950">
              <a:latin typeface="Arial"/>
              <a:cs typeface="Arial"/>
            </a:endParaRPr>
          </a:p>
          <a:p>
            <a:pPr marL="165100">
              <a:lnSpc>
                <a:spcPts val="1010"/>
              </a:lnSpc>
            </a:pPr>
            <a:r>
              <a:rPr dirty="0" sz="950" spc="9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50" spc="2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2373A"/>
                </a:solidFill>
                <a:latin typeface="Arial Black"/>
                <a:cs typeface="Arial Black"/>
              </a:rPr>
              <a:t>Parents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5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variable-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ratio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rewards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0">
                <a:solidFill>
                  <a:srgbClr val="22373A"/>
                </a:solidFill>
                <a:latin typeface="Arial"/>
                <a:cs typeface="Arial"/>
              </a:rPr>
              <a:t>bought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105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money,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sold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95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5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22373A"/>
                </a:solidFill>
                <a:latin typeface="Arial"/>
                <a:cs typeface="Arial"/>
              </a:rPr>
              <a:t>children</a:t>
            </a:r>
            <a:endParaRPr sz="950">
              <a:latin typeface="Arial"/>
              <a:cs typeface="Arial"/>
            </a:endParaRPr>
          </a:p>
          <a:p>
            <a:pPr marL="165100">
              <a:lnSpc>
                <a:spcPts val="1105"/>
              </a:lnSpc>
            </a:pPr>
            <a:r>
              <a:rPr dirty="0" sz="950" spc="9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50" spc="2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2373A"/>
                </a:solidFill>
                <a:latin typeface="Arial Black"/>
                <a:cs typeface="Arial Black"/>
              </a:rPr>
              <a:t>Commission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5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5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10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produce</a:t>
            </a:r>
            <a:r>
              <a:rPr dirty="0" sz="9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8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75">
                <a:solidFill>
                  <a:srgbClr val="22373A"/>
                </a:solidFill>
                <a:latin typeface="Arial"/>
                <a:cs typeface="Arial"/>
              </a:rPr>
              <a:t>enforceable</a:t>
            </a:r>
            <a:r>
              <a:rPr dirty="0" sz="95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22373A"/>
                </a:solidFill>
                <a:latin typeface="Arial"/>
                <a:cs typeface="Arial"/>
              </a:rPr>
              <a:t>sentence</a:t>
            </a:r>
            <a:endParaRPr sz="95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730"/>
              </a:spcBef>
            </a:pPr>
            <a:r>
              <a:rPr dirty="0" sz="950">
                <a:solidFill>
                  <a:srgbClr val="FFFFFF"/>
                </a:solidFill>
                <a:latin typeface="Arial Black"/>
                <a:cs typeface="Arial Black"/>
              </a:rPr>
              <a:t>Write</a:t>
            </a:r>
            <a:r>
              <a:rPr dirty="0" sz="95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95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50">
                <a:solidFill>
                  <a:srgbClr val="FFFFFF"/>
                </a:solidFill>
                <a:latin typeface="Arial Black"/>
                <a:cs typeface="Arial Black"/>
              </a:rPr>
              <a:t>rule,</a:t>
            </a:r>
            <a:r>
              <a:rPr dirty="0" sz="9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Black"/>
                <a:cs typeface="Arial Black"/>
              </a:rPr>
              <a:t>then</a:t>
            </a:r>
            <a:r>
              <a:rPr dirty="0" sz="95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Black"/>
                <a:cs typeface="Arial Black"/>
              </a:rPr>
              <a:t>break</a:t>
            </a:r>
            <a:r>
              <a:rPr dirty="0" sz="9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50" spc="-25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endParaRPr sz="950">
              <a:latin typeface="Arial Black"/>
              <a:cs typeface="Arial Black"/>
            </a:endParaRPr>
          </a:p>
          <a:p>
            <a:pPr marL="100965" marR="5080">
              <a:lnSpc>
                <a:spcPts val="1070"/>
              </a:lnSpc>
              <a:spcBef>
                <a:spcPts val="380"/>
              </a:spcBef>
            </a:pPr>
            <a:r>
              <a:rPr dirty="0" sz="950" spc="75">
                <a:latin typeface="Arial"/>
                <a:cs typeface="Arial"/>
              </a:rPr>
              <a:t>Draft</a:t>
            </a:r>
            <a:r>
              <a:rPr dirty="0" sz="950" spc="15">
                <a:latin typeface="Arial"/>
                <a:cs typeface="Arial"/>
              </a:rPr>
              <a:t> </a:t>
            </a:r>
            <a:r>
              <a:rPr dirty="0" sz="950" spc="75">
                <a:latin typeface="Arial"/>
                <a:cs typeface="Arial"/>
              </a:rPr>
              <a:t>your</a:t>
            </a:r>
            <a:r>
              <a:rPr dirty="0" sz="950" spc="10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one</a:t>
            </a:r>
            <a:r>
              <a:rPr dirty="0" sz="950" spc="15">
                <a:latin typeface="Arial"/>
                <a:cs typeface="Arial"/>
              </a:rPr>
              <a:t> </a:t>
            </a:r>
            <a:r>
              <a:rPr dirty="0" sz="950" spc="70">
                <a:latin typeface="Arial"/>
                <a:cs typeface="Arial"/>
              </a:rPr>
              <a:t>sentence. </a:t>
            </a:r>
            <a:r>
              <a:rPr dirty="0" sz="950" spc="95">
                <a:latin typeface="Arial"/>
                <a:cs typeface="Arial"/>
              </a:rPr>
              <a:t>Now</a:t>
            </a:r>
            <a:r>
              <a:rPr dirty="0" sz="950" spc="10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find</a:t>
            </a:r>
            <a:r>
              <a:rPr dirty="0" sz="950" spc="15">
                <a:latin typeface="Arial"/>
                <a:cs typeface="Arial"/>
              </a:rPr>
              <a:t> </a:t>
            </a:r>
            <a:r>
              <a:rPr dirty="0" sz="950" spc="95">
                <a:latin typeface="Arial"/>
                <a:cs typeface="Arial"/>
              </a:rPr>
              <a:t>the</a:t>
            </a:r>
            <a:r>
              <a:rPr dirty="0" sz="950" spc="10">
                <a:latin typeface="Arial"/>
                <a:cs typeface="Arial"/>
              </a:rPr>
              <a:t> </a:t>
            </a:r>
            <a:r>
              <a:rPr dirty="0" sz="950" spc="65">
                <a:latin typeface="Arial"/>
                <a:cs typeface="Arial"/>
              </a:rPr>
              <a:t>ordinary,</a:t>
            </a:r>
            <a:r>
              <a:rPr dirty="0" sz="950" spc="15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harmless</a:t>
            </a:r>
            <a:r>
              <a:rPr dirty="0" sz="950" spc="15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game</a:t>
            </a:r>
            <a:r>
              <a:rPr dirty="0" sz="950" spc="10">
                <a:latin typeface="Arial"/>
                <a:cs typeface="Arial"/>
              </a:rPr>
              <a:t> </a:t>
            </a:r>
            <a:r>
              <a:rPr dirty="0" sz="950" spc="75">
                <a:latin typeface="Arial"/>
                <a:cs typeface="Arial"/>
              </a:rPr>
              <a:t>your</a:t>
            </a:r>
            <a:r>
              <a:rPr dirty="0" sz="950" spc="15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rule</a:t>
            </a:r>
            <a:r>
              <a:rPr dirty="0" sz="950" spc="10">
                <a:latin typeface="Arial"/>
                <a:cs typeface="Arial"/>
              </a:rPr>
              <a:t> </a:t>
            </a:r>
            <a:r>
              <a:rPr dirty="0" sz="950" spc="-10">
                <a:latin typeface="Arial Black"/>
                <a:cs typeface="Arial Black"/>
              </a:rPr>
              <a:t>acci-</a:t>
            </a:r>
            <a:r>
              <a:rPr dirty="0" sz="950">
                <a:latin typeface="Arial Black"/>
                <a:cs typeface="Arial Black"/>
              </a:rPr>
              <a:t>dentally</a:t>
            </a:r>
            <a:r>
              <a:rPr dirty="0" sz="950" spc="-55">
                <a:latin typeface="Arial Black"/>
                <a:cs typeface="Arial Black"/>
              </a:rPr>
              <a:t> </a:t>
            </a:r>
            <a:r>
              <a:rPr dirty="0" sz="950" spc="-10">
                <a:latin typeface="Arial Black"/>
                <a:cs typeface="Arial Black"/>
              </a:rPr>
              <a:t>bans</a:t>
            </a:r>
            <a:r>
              <a:rPr dirty="0" sz="950" spc="-55">
                <a:latin typeface="Arial Black"/>
                <a:cs typeface="Arial Black"/>
              </a:rPr>
              <a:t> </a:t>
            </a:r>
            <a:r>
              <a:rPr dirty="0" sz="950" spc="-110">
                <a:latin typeface="Arial"/>
                <a:cs typeface="Arial"/>
              </a:rPr>
              <a:t>—</a:t>
            </a:r>
            <a:r>
              <a:rPr dirty="0" sz="950">
                <a:latin typeface="Arial"/>
                <a:cs typeface="Arial"/>
              </a:rPr>
              <a:t> </a:t>
            </a:r>
            <a:r>
              <a:rPr dirty="0" sz="950" spc="85">
                <a:latin typeface="Arial"/>
                <a:cs typeface="Arial"/>
              </a:rPr>
              <a:t>there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 spc="55">
                <a:latin typeface="Arial"/>
                <a:cs typeface="Arial"/>
              </a:rPr>
              <a:t>is</a:t>
            </a:r>
            <a:r>
              <a:rPr dirty="0" sz="950">
                <a:latin typeface="Arial"/>
                <a:cs typeface="Arial"/>
              </a:rPr>
              <a:t> </a:t>
            </a:r>
            <a:r>
              <a:rPr dirty="0" sz="950" spc="70">
                <a:latin typeface="Arial"/>
                <a:cs typeface="Arial"/>
              </a:rPr>
              <a:t>always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 spc="65">
                <a:latin typeface="Arial"/>
                <a:cs typeface="Arial"/>
              </a:rPr>
              <a:t>one.</a:t>
            </a:r>
            <a:r>
              <a:rPr dirty="0" sz="950" spc="45">
                <a:latin typeface="Arial"/>
                <a:cs typeface="Arial"/>
              </a:rPr>
              <a:t> </a:t>
            </a:r>
            <a:r>
              <a:rPr dirty="0" sz="950" spc="50">
                <a:latin typeface="Arial"/>
                <a:cs typeface="Arial"/>
              </a:rPr>
              <a:t>Fix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 spc="90">
                <a:latin typeface="Arial"/>
                <a:cs typeface="Arial"/>
              </a:rPr>
              <a:t>it</a:t>
            </a:r>
            <a:r>
              <a:rPr dirty="0" sz="950">
                <a:latin typeface="Arial"/>
                <a:cs typeface="Arial"/>
              </a:rPr>
              <a:t> </a:t>
            </a:r>
            <a:r>
              <a:rPr dirty="0" sz="950" spc="100">
                <a:latin typeface="Arial"/>
                <a:cs typeface="Arial"/>
              </a:rPr>
              <a:t>without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letting</a:t>
            </a:r>
            <a:r>
              <a:rPr dirty="0" sz="950">
                <a:latin typeface="Arial"/>
                <a:cs typeface="Arial"/>
              </a:rPr>
              <a:t> </a:t>
            </a:r>
            <a:r>
              <a:rPr dirty="0" sz="950" spc="95">
                <a:latin typeface="Arial"/>
                <a:cs typeface="Arial"/>
              </a:rPr>
              <a:t>the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 spc="90">
                <a:latin typeface="Arial"/>
                <a:cs typeface="Arial"/>
              </a:rPr>
              <a:t>loot</a:t>
            </a:r>
            <a:r>
              <a:rPr dirty="0" sz="950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box</a:t>
            </a:r>
            <a:r>
              <a:rPr dirty="0" sz="950" spc="-5">
                <a:latin typeface="Arial"/>
                <a:cs typeface="Arial"/>
              </a:rPr>
              <a:t> </a:t>
            </a:r>
            <a:r>
              <a:rPr dirty="0" sz="950" spc="80">
                <a:latin typeface="Arial"/>
                <a:cs typeface="Arial"/>
              </a:rPr>
              <a:t>back</a:t>
            </a:r>
            <a:r>
              <a:rPr dirty="0" sz="950">
                <a:latin typeface="Arial"/>
                <a:cs typeface="Arial"/>
              </a:rPr>
              <a:t> </a:t>
            </a:r>
            <a:r>
              <a:rPr dirty="0" sz="950" spc="35">
                <a:latin typeface="Arial"/>
                <a:cs typeface="Arial"/>
              </a:rPr>
              <a:t>in.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3186430" cy="5080"/>
            </a:xfrm>
            <a:custGeom>
              <a:avLst/>
              <a:gdLst/>
              <a:ahLst/>
              <a:cxnLst/>
              <a:rect l="l" t="t" r="r" b="b"/>
              <a:pathLst>
                <a:path w="3186430" h="5080">
                  <a:moveTo>
                    <a:pt x="0" y="5060"/>
                  </a:moveTo>
                  <a:lnTo>
                    <a:pt x="0" y="0"/>
                  </a:lnTo>
                  <a:lnTo>
                    <a:pt x="3186427" y="0"/>
                  </a:lnTo>
                  <a:lnTo>
                    <a:pt x="31864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085339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4"/>
              <a:t>McGonigal:</a:t>
            </a:r>
            <a:r>
              <a:rPr dirty="0" spc="-35"/>
              <a:t> </a:t>
            </a:r>
            <a:r>
              <a:rPr dirty="0" spc="-110"/>
              <a:t>Reality</a:t>
            </a:r>
            <a:r>
              <a:rPr dirty="0" spc="-80"/>
              <a:t> </a:t>
            </a:r>
            <a:r>
              <a:rPr dirty="0" spc="-55"/>
              <a:t>Is</a:t>
            </a:r>
            <a:r>
              <a:rPr dirty="0" spc="-85"/>
              <a:t> </a:t>
            </a:r>
            <a:r>
              <a:rPr dirty="0" spc="-95"/>
              <a:t>Broken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0398" y="708309"/>
            <a:ext cx="1411605" cy="1299210"/>
            <a:chOff x="290398" y="708309"/>
            <a:chExt cx="1411605" cy="1299210"/>
          </a:xfrm>
        </p:grpSpPr>
        <p:sp>
          <p:nvSpPr>
            <p:cNvPr id="4" name="object 4"/>
            <p:cNvSpPr/>
            <p:nvPr/>
          </p:nvSpPr>
          <p:spPr>
            <a:xfrm>
              <a:off x="290398" y="708309"/>
              <a:ext cx="1411605" cy="1299210"/>
            </a:xfrm>
            <a:custGeom>
              <a:avLst/>
              <a:gdLst/>
              <a:ahLst/>
              <a:cxnLst/>
              <a:rect l="l" t="t" r="r" b="b"/>
              <a:pathLst>
                <a:path w="1411605" h="1299210">
                  <a:moveTo>
                    <a:pt x="1373253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260675"/>
                  </a:lnTo>
                  <a:lnTo>
                    <a:pt x="2982" y="1275450"/>
                  </a:lnTo>
                  <a:lnTo>
                    <a:pt x="11117" y="1287515"/>
                  </a:lnTo>
                  <a:lnTo>
                    <a:pt x="23182" y="1295650"/>
                  </a:lnTo>
                  <a:lnTo>
                    <a:pt x="37958" y="1298633"/>
                  </a:lnTo>
                  <a:lnTo>
                    <a:pt x="1373253" y="1298633"/>
                  </a:lnTo>
                  <a:lnTo>
                    <a:pt x="1388028" y="1295650"/>
                  </a:lnTo>
                  <a:lnTo>
                    <a:pt x="1400094" y="1287515"/>
                  </a:lnTo>
                  <a:lnTo>
                    <a:pt x="1408229" y="1275450"/>
                  </a:lnTo>
                  <a:lnTo>
                    <a:pt x="1411211" y="1260675"/>
                  </a:lnTo>
                  <a:lnTo>
                    <a:pt x="1411211" y="37958"/>
                  </a:lnTo>
                  <a:lnTo>
                    <a:pt x="1408229" y="23182"/>
                  </a:lnTo>
                  <a:lnTo>
                    <a:pt x="1400094" y="11117"/>
                  </a:lnTo>
                  <a:lnTo>
                    <a:pt x="1388028" y="2982"/>
                  </a:lnTo>
                  <a:lnTo>
                    <a:pt x="1373253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3050" y="939105"/>
              <a:ext cx="1386205" cy="1055370"/>
            </a:xfrm>
            <a:custGeom>
              <a:avLst/>
              <a:gdLst/>
              <a:ahLst/>
              <a:cxnLst/>
              <a:rect l="l" t="t" r="r" b="b"/>
              <a:pathLst>
                <a:path w="1386205" h="1055370">
                  <a:moveTo>
                    <a:pt x="1385906" y="0"/>
                  </a:moveTo>
                  <a:lnTo>
                    <a:pt x="0" y="0"/>
                  </a:lnTo>
                  <a:lnTo>
                    <a:pt x="0" y="1029879"/>
                  </a:lnTo>
                  <a:lnTo>
                    <a:pt x="1988" y="1039729"/>
                  </a:lnTo>
                  <a:lnTo>
                    <a:pt x="7411" y="1047772"/>
                  </a:lnTo>
                  <a:lnTo>
                    <a:pt x="15455" y="1053196"/>
                  </a:lnTo>
                  <a:lnTo>
                    <a:pt x="25305" y="1055184"/>
                  </a:lnTo>
                  <a:lnTo>
                    <a:pt x="1360601" y="1055184"/>
                  </a:lnTo>
                  <a:lnTo>
                    <a:pt x="1370451" y="1053196"/>
                  </a:lnTo>
                  <a:lnTo>
                    <a:pt x="1378494" y="1047772"/>
                  </a:lnTo>
                  <a:lnTo>
                    <a:pt x="1383917" y="1039729"/>
                  </a:lnTo>
                  <a:lnTo>
                    <a:pt x="1385906" y="1029879"/>
                  </a:lnTo>
                  <a:lnTo>
                    <a:pt x="1385906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70344" y="711516"/>
            <a:ext cx="1355725" cy="1186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4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Thinker</a:t>
            </a:r>
            <a:endParaRPr sz="1100">
              <a:latin typeface="Arial Black"/>
              <a:cs typeface="Arial Black"/>
            </a:endParaRPr>
          </a:p>
          <a:p>
            <a:pPr algn="just" marL="12700" marR="308610">
              <a:lnSpc>
                <a:spcPts val="830"/>
              </a:lnSpc>
              <a:spcBef>
                <a:spcPts val="1175"/>
              </a:spcBef>
            </a:pPr>
            <a:r>
              <a:rPr dirty="0" sz="800">
                <a:latin typeface="Arial Black"/>
                <a:cs typeface="Arial Black"/>
              </a:rPr>
              <a:t>Jane</a:t>
            </a:r>
            <a:r>
              <a:rPr dirty="0" sz="800" spc="385">
                <a:latin typeface="Arial Black"/>
                <a:cs typeface="Arial Black"/>
              </a:rPr>
              <a:t>   </a:t>
            </a:r>
            <a:r>
              <a:rPr dirty="0" sz="800" spc="-85">
                <a:latin typeface="Arial Black"/>
                <a:cs typeface="Arial Black"/>
              </a:rPr>
              <a:t>McGonigal</a:t>
            </a:r>
            <a:r>
              <a:rPr dirty="0" sz="800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(b. 1977), game </a:t>
            </a:r>
            <a:r>
              <a:rPr dirty="0" sz="800" spc="-25">
                <a:latin typeface="Arial"/>
                <a:cs typeface="Arial"/>
              </a:rPr>
              <a:t>de-</a:t>
            </a:r>
            <a:r>
              <a:rPr dirty="0" sz="800">
                <a:latin typeface="Arial"/>
                <a:cs typeface="Arial"/>
              </a:rPr>
              <a:t>signer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researcher. </a:t>
            </a:r>
            <a:r>
              <a:rPr dirty="0" sz="800" i="1">
                <a:latin typeface="Arial"/>
                <a:cs typeface="Arial"/>
              </a:rPr>
              <a:t>Reality</a:t>
            </a:r>
            <a:r>
              <a:rPr dirty="0" sz="800" spc="409" i="1">
                <a:latin typeface="Arial"/>
                <a:cs typeface="Arial"/>
              </a:rPr>
              <a:t>  </a:t>
            </a:r>
            <a:r>
              <a:rPr dirty="0" sz="800" i="1">
                <a:latin typeface="Arial"/>
                <a:cs typeface="Arial"/>
              </a:rPr>
              <a:t>Is</a:t>
            </a:r>
            <a:r>
              <a:rPr dirty="0" sz="800" spc="409" i="1">
                <a:latin typeface="Arial"/>
                <a:cs typeface="Arial"/>
              </a:rPr>
              <a:t>  </a:t>
            </a:r>
            <a:r>
              <a:rPr dirty="0" sz="800" spc="-30" i="1">
                <a:latin typeface="Arial"/>
                <a:cs typeface="Arial"/>
              </a:rPr>
              <a:t>Broken</a:t>
            </a:r>
            <a:r>
              <a:rPr dirty="0" sz="800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(2011):</a:t>
            </a:r>
            <a:r>
              <a:rPr dirty="0" sz="800" spc="1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games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deliver </a:t>
            </a:r>
            <a:r>
              <a:rPr dirty="0" sz="800">
                <a:latin typeface="Arial"/>
                <a:cs typeface="Arial"/>
              </a:rPr>
              <a:t>meaning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more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reli-</a:t>
            </a:r>
            <a:r>
              <a:rPr dirty="0" sz="800">
                <a:latin typeface="Arial"/>
                <a:cs typeface="Arial"/>
              </a:rPr>
              <a:t>ably</a:t>
            </a:r>
            <a:r>
              <a:rPr dirty="0" sz="800" spc="10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than</a:t>
            </a:r>
            <a:r>
              <a:rPr dirty="0" sz="800" spc="10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ordinary</a:t>
            </a:r>
            <a:r>
              <a:rPr dirty="0" sz="800" spc="10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life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44"/>
              </a:lnSpc>
            </a:pPr>
            <a:r>
              <a:rPr dirty="0" sz="800" spc="-60">
                <a:latin typeface="Arial"/>
                <a:cs typeface="Arial"/>
              </a:rPr>
              <a:t>(</a:t>
            </a:r>
            <a:r>
              <a:rPr dirty="0" sz="800" spc="-60">
                <a:latin typeface="Arial Black"/>
                <a:cs typeface="Arial Black"/>
              </a:rPr>
              <a:t>mcgonigal_reality_broken</a:t>
            </a:r>
            <a:r>
              <a:rPr dirty="0" sz="800" spc="-60">
                <a:latin typeface="Arial"/>
                <a:cs typeface="Arial"/>
              </a:rPr>
              <a:t>).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91995" y="708311"/>
            <a:ext cx="3477895" cy="1697989"/>
            <a:chOff x="1991995" y="708311"/>
            <a:chExt cx="3477895" cy="1697989"/>
          </a:xfrm>
        </p:grpSpPr>
        <p:sp>
          <p:nvSpPr>
            <p:cNvPr id="8" name="object 8"/>
            <p:cNvSpPr/>
            <p:nvPr/>
          </p:nvSpPr>
          <p:spPr>
            <a:xfrm>
              <a:off x="1991995" y="708311"/>
              <a:ext cx="3477895" cy="1697989"/>
            </a:xfrm>
            <a:custGeom>
              <a:avLst/>
              <a:gdLst/>
              <a:ahLst/>
              <a:cxnLst/>
              <a:rect l="l" t="t" r="r" b="b"/>
              <a:pathLst>
                <a:path w="3477895" h="1697989">
                  <a:moveTo>
                    <a:pt x="343969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659732"/>
                  </a:lnTo>
                  <a:lnTo>
                    <a:pt x="2982" y="1674507"/>
                  </a:lnTo>
                  <a:lnTo>
                    <a:pt x="11117" y="1686572"/>
                  </a:lnTo>
                  <a:lnTo>
                    <a:pt x="23182" y="1694707"/>
                  </a:lnTo>
                  <a:lnTo>
                    <a:pt x="37958" y="1697690"/>
                  </a:lnTo>
                  <a:lnTo>
                    <a:pt x="3439698" y="1697690"/>
                  </a:lnTo>
                  <a:lnTo>
                    <a:pt x="3454474" y="1694707"/>
                  </a:lnTo>
                  <a:lnTo>
                    <a:pt x="3466539" y="1686572"/>
                  </a:lnTo>
                  <a:lnTo>
                    <a:pt x="3474674" y="1674507"/>
                  </a:lnTo>
                  <a:lnTo>
                    <a:pt x="3477657" y="1659732"/>
                  </a:lnTo>
                  <a:lnTo>
                    <a:pt x="3477657" y="37958"/>
                  </a:lnTo>
                  <a:lnTo>
                    <a:pt x="3474674" y="23183"/>
                  </a:lnTo>
                  <a:lnTo>
                    <a:pt x="3466539" y="11117"/>
                  </a:lnTo>
                  <a:lnTo>
                    <a:pt x="3454474" y="2982"/>
                  </a:lnTo>
                  <a:lnTo>
                    <a:pt x="3439698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004647" y="939107"/>
              <a:ext cx="3452495" cy="1454785"/>
            </a:xfrm>
            <a:custGeom>
              <a:avLst/>
              <a:gdLst/>
              <a:ahLst/>
              <a:cxnLst/>
              <a:rect l="l" t="t" r="r" b="b"/>
              <a:pathLst>
                <a:path w="3452495" h="1454785">
                  <a:moveTo>
                    <a:pt x="3452351" y="0"/>
                  </a:moveTo>
                  <a:lnTo>
                    <a:pt x="0" y="0"/>
                  </a:lnTo>
                  <a:lnTo>
                    <a:pt x="0" y="1428936"/>
                  </a:lnTo>
                  <a:lnTo>
                    <a:pt x="1988" y="1438786"/>
                  </a:lnTo>
                  <a:lnTo>
                    <a:pt x="7411" y="1446830"/>
                  </a:lnTo>
                  <a:lnTo>
                    <a:pt x="15455" y="1452253"/>
                  </a:lnTo>
                  <a:lnTo>
                    <a:pt x="25305" y="1454241"/>
                  </a:lnTo>
                  <a:lnTo>
                    <a:pt x="3427046" y="1454241"/>
                  </a:lnTo>
                  <a:lnTo>
                    <a:pt x="3436896" y="1452253"/>
                  </a:lnTo>
                  <a:lnTo>
                    <a:pt x="3444939" y="1446830"/>
                  </a:lnTo>
                  <a:lnTo>
                    <a:pt x="3450363" y="1438786"/>
                  </a:lnTo>
                  <a:lnTo>
                    <a:pt x="3452351" y="1428936"/>
                  </a:lnTo>
                  <a:lnTo>
                    <a:pt x="3452351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171941" y="711516"/>
            <a:ext cx="3117850" cy="1585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FFFFFF"/>
                </a:solidFill>
                <a:latin typeface="Arial Black"/>
                <a:cs typeface="Arial Black"/>
              </a:rPr>
              <a:t>Games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FFFFFF"/>
                </a:solidFill>
                <a:latin typeface="Arial Black"/>
                <a:cs typeface="Arial Black"/>
              </a:rPr>
              <a:t>Do</a:t>
            </a:r>
            <a:r>
              <a:rPr dirty="0" sz="11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Better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FFFFFF"/>
                </a:solidFill>
                <a:latin typeface="Arial Black"/>
                <a:cs typeface="Arial Black"/>
              </a:rPr>
              <a:t>Than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Reality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900" spc="-10">
                <a:latin typeface="Arial"/>
                <a:cs typeface="Arial"/>
              </a:rPr>
              <a:t>McGonigal’s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four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features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game-</a:t>
            </a:r>
            <a:r>
              <a:rPr dirty="0" sz="900">
                <a:latin typeface="Arial"/>
                <a:cs typeface="Arial"/>
              </a:rPr>
              <a:t>based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meaning:</a:t>
            </a:r>
            <a:endParaRPr sz="900">
              <a:latin typeface="Arial"/>
              <a:cs typeface="Arial"/>
            </a:endParaRPr>
          </a:p>
          <a:p>
            <a:pPr marL="289560" marR="40005" indent="-168910">
              <a:lnSpc>
                <a:spcPts val="960"/>
              </a:lnSpc>
              <a:spcBef>
                <a:spcPts val="41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3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Urgent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optimism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clear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problem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believe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3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Social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fabric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cooperation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connection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3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Blissful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productivity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satisfying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hard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4.</a:t>
            </a:r>
            <a:r>
              <a:rPr dirty="0" sz="900" spc="4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Epic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meaning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participating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larger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19"/>
              </a:lnSpc>
              <a:spcBef>
                <a:spcPts val="425"/>
              </a:spcBef>
            </a:pPr>
            <a:r>
              <a:rPr dirty="0" sz="900" spc="-25">
                <a:latin typeface="Arial"/>
                <a:cs typeface="Arial"/>
              </a:rPr>
              <a:t>Games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are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75">
                <a:latin typeface="Arial"/>
                <a:cs typeface="Arial"/>
              </a:rPr>
              <a:t>“</a:t>
            </a:r>
            <a:r>
              <a:rPr dirty="0" sz="900" spc="-75">
                <a:latin typeface="Arial Black"/>
                <a:cs typeface="Arial Black"/>
              </a:rPr>
              <a:t>unnecessary</a:t>
            </a:r>
            <a:r>
              <a:rPr dirty="0" sz="900" spc="-80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obstacles</a:t>
            </a:r>
            <a:r>
              <a:rPr dirty="0" sz="900" spc="-80">
                <a:latin typeface="Arial Black"/>
                <a:cs typeface="Arial Black"/>
              </a:rPr>
              <a:t> </a:t>
            </a:r>
            <a:r>
              <a:rPr dirty="0" sz="900" spc="-114">
                <a:latin typeface="Arial Black"/>
                <a:cs typeface="Arial Black"/>
              </a:rPr>
              <a:t>we</a:t>
            </a:r>
            <a:r>
              <a:rPr dirty="0" sz="900" spc="-80">
                <a:latin typeface="Arial Black"/>
                <a:cs typeface="Arial Black"/>
              </a:rPr>
              <a:t> volunteer </a:t>
            </a:r>
            <a:r>
              <a:rPr dirty="0" sz="900" spc="-90">
                <a:latin typeface="Arial Black"/>
                <a:cs typeface="Arial Black"/>
              </a:rPr>
              <a:t>to</a:t>
            </a:r>
            <a:r>
              <a:rPr dirty="0" sz="900" spc="-80">
                <a:latin typeface="Arial Black"/>
                <a:cs typeface="Arial Black"/>
              </a:rPr>
              <a:t> </a:t>
            </a:r>
            <a:r>
              <a:rPr dirty="0" sz="900" spc="-30">
                <a:latin typeface="Arial Black"/>
                <a:cs typeface="Arial Black"/>
              </a:rPr>
              <a:t>tackle</a:t>
            </a:r>
            <a:r>
              <a:rPr dirty="0" sz="900" spc="-30">
                <a:latin typeface="Arial"/>
                <a:cs typeface="Arial"/>
              </a:rPr>
              <a:t>”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19"/>
              </a:lnSpc>
            </a:pPr>
            <a:r>
              <a:rPr dirty="0" sz="900" spc="-215">
                <a:latin typeface="Arial"/>
                <a:cs typeface="Arial"/>
              </a:rPr>
              <a:t>—</a:t>
            </a:r>
            <a:r>
              <a:rPr dirty="0" sz="900">
                <a:latin typeface="Arial"/>
                <a:cs typeface="Arial"/>
              </a:rPr>
              <a:t> in tackling them we become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more resilient and </a:t>
            </a:r>
            <a:r>
              <a:rPr dirty="0" sz="900" spc="-10">
                <a:latin typeface="Arial"/>
                <a:cs typeface="Arial"/>
              </a:rPr>
              <a:t>connected.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3308985" cy="5080"/>
            </a:xfrm>
            <a:custGeom>
              <a:avLst/>
              <a:gdLst/>
              <a:ahLst/>
              <a:cxnLst/>
              <a:rect l="l" t="t" r="r" b="b"/>
              <a:pathLst>
                <a:path w="3308985" h="5080">
                  <a:moveTo>
                    <a:pt x="0" y="5060"/>
                  </a:moveTo>
                  <a:lnTo>
                    <a:pt x="0" y="0"/>
                  </a:lnTo>
                  <a:lnTo>
                    <a:pt x="3308948" y="0"/>
                  </a:lnTo>
                  <a:lnTo>
                    <a:pt x="33089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4053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/>
              <a:t>Games</a:t>
            </a:r>
            <a:r>
              <a:rPr dirty="0" spc="-100"/>
              <a:t> </a:t>
            </a:r>
            <a:r>
              <a:rPr dirty="0" spc="-140"/>
              <a:t>as</a:t>
            </a:r>
            <a:r>
              <a:rPr dirty="0" spc="-95"/>
              <a:t> </a:t>
            </a:r>
            <a:r>
              <a:rPr dirty="0" spc="-100"/>
              <a:t>Persuasion:</a:t>
            </a:r>
            <a:r>
              <a:rPr dirty="0" spc="-50"/>
              <a:t> </a:t>
            </a:r>
            <a:r>
              <a:rPr dirty="0" spc="-55"/>
              <a:t>Ian</a:t>
            </a:r>
            <a:r>
              <a:rPr dirty="0" spc="-95"/>
              <a:t> </a:t>
            </a:r>
            <a:r>
              <a:rPr dirty="0" spc="-110"/>
              <a:t>Bogost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7"/>
            <a:ext cx="5040630" cy="794385"/>
            <a:chOff x="359994" y="602327"/>
            <a:chExt cx="5040630" cy="794385"/>
          </a:xfrm>
        </p:grpSpPr>
        <p:sp>
          <p:nvSpPr>
            <p:cNvPr id="4" name="object 4"/>
            <p:cNvSpPr/>
            <p:nvPr/>
          </p:nvSpPr>
          <p:spPr>
            <a:xfrm>
              <a:off x="359994" y="602327"/>
              <a:ext cx="5040630" cy="794385"/>
            </a:xfrm>
            <a:custGeom>
              <a:avLst/>
              <a:gdLst/>
              <a:ahLst/>
              <a:cxnLst/>
              <a:rect l="l" t="t" r="r" b="b"/>
              <a:pathLst>
                <a:path w="5040630" h="79438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756422"/>
                  </a:lnTo>
                  <a:lnTo>
                    <a:pt x="2982" y="771197"/>
                  </a:lnTo>
                  <a:lnTo>
                    <a:pt x="11117" y="783262"/>
                  </a:lnTo>
                  <a:lnTo>
                    <a:pt x="23182" y="791397"/>
                  </a:lnTo>
                  <a:lnTo>
                    <a:pt x="37958" y="794380"/>
                  </a:lnTo>
                  <a:lnTo>
                    <a:pt x="5002106" y="794380"/>
                  </a:lnTo>
                  <a:lnTo>
                    <a:pt x="5016882" y="791397"/>
                  </a:lnTo>
                  <a:lnTo>
                    <a:pt x="5028947" y="783262"/>
                  </a:lnTo>
                  <a:lnTo>
                    <a:pt x="5037082" y="771197"/>
                  </a:lnTo>
                  <a:lnTo>
                    <a:pt x="5040064" y="756422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4785"/>
              <a:ext cx="5015230" cy="549275"/>
            </a:xfrm>
            <a:custGeom>
              <a:avLst/>
              <a:gdLst/>
              <a:ahLst/>
              <a:cxnLst/>
              <a:rect l="l" t="t" r="r" b="b"/>
              <a:pathLst>
                <a:path w="5015230" h="549275">
                  <a:moveTo>
                    <a:pt x="5014759" y="0"/>
                  </a:moveTo>
                  <a:lnTo>
                    <a:pt x="0" y="0"/>
                  </a:lnTo>
                  <a:lnTo>
                    <a:pt x="0" y="523963"/>
                  </a:lnTo>
                  <a:lnTo>
                    <a:pt x="1988" y="533813"/>
                  </a:lnTo>
                  <a:lnTo>
                    <a:pt x="7411" y="541857"/>
                  </a:lnTo>
                  <a:lnTo>
                    <a:pt x="15455" y="547280"/>
                  </a:lnTo>
                  <a:lnTo>
                    <a:pt x="25305" y="549269"/>
                  </a:lnTo>
                  <a:lnTo>
                    <a:pt x="4989454" y="549269"/>
                  </a:lnTo>
                  <a:lnTo>
                    <a:pt x="4999304" y="547280"/>
                  </a:lnTo>
                  <a:lnTo>
                    <a:pt x="5007347" y="541857"/>
                  </a:lnTo>
                  <a:lnTo>
                    <a:pt x="5012770" y="533813"/>
                  </a:lnTo>
                  <a:lnTo>
                    <a:pt x="5014759" y="523963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566119"/>
            <a:ext cx="5040630" cy="660400"/>
            <a:chOff x="359994" y="1566119"/>
            <a:chExt cx="5040630" cy="660400"/>
          </a:xfrm>
        </p:grpSpPr>
        <p:sp>
          <p:nvSpPr>
            <p:cNvPr id="7" name="object 7"/>
            <p:cNvSpPr/>
            <p:nvPr/>
          </p:nvSpPr>
          <p:spPr>
            <a:xfrm>
              <a:off x="359994" y="1566119"/>
              <a:ext cx="5040630" cy="660400"/>
            </a:xfrm>
            <a:custGeom>
              <a:avLst/>
              <a:gdLst/>
              <a:ahLst/>
              <a:cxnLst/>
              <a:rect l="l" t="t" r="r" b="b"/>
              <a:pathLst>
                <a:path w="5040630" h="66040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22270"/>
                  </a:lnTo>
                  <a:lnTo>
                    <a:pt x="2982" y="637045"/>
                  </a:lnTo>
                  <a:lnTo>
                    <a:pt x="11117" y="649111"/>
                  </a:lnTo>
                  <a:lnTo>
                    <a:pt x="23182" y="657245"/>
                  </a:lnTo>
                  <a:lnTo>
                    <a:pt x="37958" y="660228"/>
                  </a:lnTo>
                  <a:lnTo>
                    <a:pt x="5002106" y="660228"/>
                  </a:lnTo>
                  <a:lnTo>
                    <a:pt x="5016882" y="657245"/>
                  </a:lnTo>
                  <a:lnTo>
                    <a:pt x="5028947" y="649111"/>
                  </a:lnTo>
                  <a:lnTo>
                    <a:pt x="5037082" y="637045"/>
                  </a:lnTo>
                  <a:lnTo>
                    <a:pt x="5040064" y="622270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1793174"/>
              <a:ext cx="5015230" cy="421005"/>
            </a:xfrm>
            <a:custGeom>
              <a:avLst/>
              <a:gdLst/>
              <a:ahLst/>
              <a:cxnLst/>
              <a:rect l="l" t="t" r="r" b="b"/>
              <a:pathLst>
                <a:path w="5015230" h="421005">
                  <a:moveTo>
                    <a:pt x="5014759" y="0"/>
                  </a:moveTo>
                  <a:lnTo>
                    <a:pt x="0" y="0"/>
                  </a:lnTo>
                  <a:lnTo>
                    <a:pt x="0" y="395215"/>
                  </a:lnTo>
                  <a:lnTo>
                    <a:pt x="1988" y="405065"/>
                  </a:lnTo>
                  <a:lnTo>
                    <a:pt x="7411" y="413109"/>
                  </a:lnTo>
                  <a:lnTo>
                    <a:pt x="15455" y="418532"/>
                  </a:lnTo>
                  <a:lnTo>
                    <a:pt x="25305" y="420520"/>
                  </a:lnTo>
                  <a:lnTo>
                    <a:pt x="4989454" y="420520"/>
                  </a:lnTo>
                  <a:lnTo>
                    <a:pt x="4999304" y="418532"/>
                  </a:lnTo>
                  <a:lnTo>
                    <a:pt x="5007347" y="413109"/>
                  </a:lnTo>
                  <a:lnTo>
                    <a:pt x="5012770" y="405065"/>
                  </a:lnTo>
                  <a:lnTo>
                    <a:pt x="5014759" y="395215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7F1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59994" y="2302059"/>
            <a:ext cx="5040630" cy="369570"/>
            <a:chOff x="359994" y="2302059"/>
            <a:chExt cx="5040630" cy="369570"/>
          </a:xfrm>
        </p:grpSpPr>
        <p:sp>
          <p:nvSpPr>
            <p:cNvPr id="10" name="object 10"/>
            <p:cNvSpPr/>
            <p:nvPr/>
          </p:nvSpPr>
          <p:spPr>
            <a:xfrm>
              <a:off x="359994" y="2302059"/>
              <a:ext cx="5040630" cy="369570"/>
            </a:xfrm>
            <a:custGeom>
              <a:avLst/>
              <a:gdLst/>
              <a:ahLst/>
              <a:cxnLst/>
              <a:rect l="l" t="t" r="r" b="b"/>
              <a:pathLst>
                <a:path w="5040630" h="369569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31529"/>
                  </a:lnTo>
                  <a:lnTo>
                    <a:pt x="2982" y="346304"/>
                  </a:lnTo>
                  <a:lnTo>
                    <a:pt x="11117" y="358369"/>
                  </a:lnTo>
                  <a:lnTo>
                    <a:pt x="23182" y="366504"/>
                  </a:lnTo>
                  <a:lnTo>
                    <a:pt x="37958" y="369487"/>
                  </a:lnTo>
                  <a:lnTo>
                    <a:pt x="5002106" y="369487"/>
                  </a:lnTo>
                  <a:lnTo>
                    <a:pt x="5016882" y="366504"/>
                  </a:lnTo>
                  <a:lnTo>
                    <a:pt x="5028947" y="358369"/>
                  </a:lnTo>
                  <a:lnTo>
                    <a:pt x="5037082" y="346304"/>
                  </a:lnTo>
                  <a:lnTo>
                    <a:pt x="5040064" y="331529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2646" y="2485349"/>
              <a:ext cx="5015230" cy="173990"/>
            </a:xfrm>
            <a:custGeom>
              <a:avLst/>
              <a:gdLst/>
              <a:ahLst/>
              <a:cxnLst/>
              <a:rect l="l" t="t" r="r" b="b"/>
              <a:pathLst>
                <a:path w="5015230" h="173989">
                  <a:moveTo>
                    <a:pt x="5014759" y="0"/>
                  </a:moveTo>
                  <a:lnTo>
                    <a:pt x="0" y="0"/>
                  </a:lnTo>
                  <a:lnTo>
                    <a:pt x="0" y="148239"/>
                  </a:lnTo>
                  <a:lnTo>
                    <a:pt x="1988" y="158089"/>
                  </a:lnTo>
                  <a:lnTo>
                    <a:pt x="7411" y="166132"/>
                  </a:lnTo>
                  <a:lnTo>
                    <a:pt x="15455" y="171555"/>
                  </a:lnTo>
                  <a:lnTo>
                    <a:pt x="25305" y="173544"/>
                  </a:lnTo>
                  <a:lnTo>
                    <a:pt x="4989454" y="173544"/>
                  </a:lnTo>
                  <a:lnTo>
                    <a:pt x="4999304" y="171555"/>
                  </a:lnTo>
                  <a:lnTo>
                    <a:pt x="5007347" y="166132"/>
                  </a:lnTo>
                  <a:lnTo>
                    <a:pt x="5012770" y="158089"/>
                  </a:lnTo>
                  <a:lnTo>
                    <a:pt x="5014759" y="148239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35863" y="605522"/>
            <a:ext cx="4784725" cy="20269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16205">
              <a:lnSpc>
                <a:spcPct val="100000"/>
              </a:lnSpc>
              <a:spcBef>
                <a:spcPts val="90"/>
              </a:spcBef>
            </a:pPr>
            <a:r>
              <a:rPr dirty="0" sz="1100" spc="-110">
                <a:solidFill>
                  <a:srgbClr val="FFFFFF"/>
                </a:solidFill>
                <a:latin typeface="Arial Black"/>
                <a:cs typeface="Arial Black"/>
              </a:rPr>
              <a:t>Procedural</a:t>
            </a:r>
            <a:r>
              <a:rPr dirty="0" sz="11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10">
                <a:solidFill>
                  <a:srgbClr val="FFFFFF"/>
                </a:solidFill>
                <a:latin typeface="Arial Black"/>
                <a:cs typeface="Arial Black"/>
              </a:rPr>
              <a:t>Rhetoric</a:t>
            </a:r>
            <a:r>
              <a:rPr dirty="0" sz="11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254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1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Arial Black"/>
                <a:cs typeface="Arial Black"/>
              </a:rPr>
              <a:t>bogost_persuasive_games</a:t>
            </a:r>
            <a:endParaRPr sz="1100">
              <a:latin typeface="Arial Black"/>
              <a:cs typeface="Arial Black"/>
            </a:endParaRPr>
          </a:p>
          <a:p>
            <a:pPr algn="just" marL="116205" marR="5080">
              <a:lnSpc>
                <a:spcPts val="960"/>
              </a:lnSpc>
              <a:spcBef>
                <a:spcPts val="1160"/>
              </a:spcBef>
            </a:pPr>
            <a:r>
              <a:rPr dirty="0" sz="900">
                <a:latin typeface="Arial"/>
                <a:cs typeface="Arial"/>
              </a:rPr>
              <a:t>Bogost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argues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games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make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arguments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through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procedural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60">
                <a:latin typeface="Arial Black"/>
                <a:cs typeface="Arial Black"/>
              </a:rPr>
              <a:t>rhetoric</a:t>
            </a:r>
            <a:r>
              <a:rPr dirty="0" sz="900" spc="-60">
                <a:latin typeface="Arial"/>
                <a:cs typeface="Arial"/>
              </a:rPr>
              <a:t>: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through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rules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and </a:t>
            </a:r>
            <a:r>
              <a:rPr dirty="0" sz="900">
                <a:latin typeface="Arial"/>
                <a:cs typeface="Arial"/>
              </a:rPr>
              <a:t>mechanics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player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enacts</a:t>
            </a:r>
            <a:r>
              <a:rPr dirty="0" sz="900">
                <a:latin typeface="Arial"/>
                <a:cs typeface="Arial"/>
              </a:rPr>
              <a:t>,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not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just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words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images.</a:t>
            </a:r>
            <a:r>
              <a:rPr dirty="0" sz="900" spc="16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You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experience</a:t>
            </a:r>
            <a:r>
              <a:rPr dirty="0" sz="900" spc="30" i="1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argument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from </a:t>
            </a:r>
            <a:r>
              <a:rPr dirty="0" sz="900" spc="-10">
                <a:latin typeface="Arial"/>
                <a:cs typeface="Arial"/>
              </a:rPr>
              <a:t>inside.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900">
              <a:latin typeface="Arial"/>
              <a:cs typeface="Arial"/>
            </a:endParaRPr>
          </a:p>
          <a:p>
            <a:pPr algn="just" marL="116205">
              <a:lnSpc>
                <a:spcPct val="100000"/>
              </a:lnSpc>
            </a:pPr>
            <a:r>
              <a:rPr dirty="0" sz="1100" spc="-130">
                <a:solidFill>
                  <a:srgbClr val="FFFFFF"/>
                </a:solidFill>
                <a:latin typeface="Arial Black"/>
                <a:cs typeface="Arial Black"/>
              </a:rPr>
              <a:t>Games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35">
                <a:solidFill>
                  <a:srgbClr val="FFFFFF"/>
                </a:solidFill>
                <a:latin typeface="Arial Black"/>
                <a:cs typeface="Arial Black"/>
              </a:rPr>
              <a:t>as</a:t>
            </a: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Arguments</a:t>
            </a:r>
            <a:endParaRPr sz="1100">
              <a:latin typeface="Arial Black"/>
              <a:cs typeface="Arial Black"/>
            </a:endParaRPr>
          </a:p>
          <a:p>
            <a:pPr algn="just" marL="116205">
              <a:lnSpc>
                <a:spcPts val="894"/>
              </a:lnSpc>
              <a:spcBef>
                <a:spcPts val="1055"/>
              </a:spcBef>
            </a:pPr>
            <a:r>
              <a:rPr dirty="0" sz="800" spc="-25" b="1" i="1">
                <a:latin typeface="Arial"/>
                <a:cs typeface="Arial"/>
              </a:rPr>
              <a:t>Spent</a:t>
            </a:r>
            <a:r>
              <a:rPr dirty="0" sz="800" spc="30" b="1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(2011):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make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impossible choices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(rent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medicine) and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85">
                <a:latin typeface="Arial Black"/>
                <a:cs typeface="Arial Black"/>
              </a:rPr>
              <a:t>experience</a:t>
            </a:r>
            <a:r>
              <a:rPr dirty="0" sz="800" spc="-45">
                <a:latin typeface="Arial Black"/>
                <a:cs typeface="Arial Black"/>
              </a:rPr>
              <a:t> </a:t>
            </a:r>
            <a:r>
              <a:rPr dirty="0" sz="800" spc="-75">
                <a:latin typeface="Arial Black"/>
                <a:cs typeface="Arial Black"/>
              </a:rPr>
              <a:t>the</a:t>
            </a:r>
            <a:r>
              <a:rPr dirty="0" sz="800" spc="-40">
                <a:latin typeface="Arial Black"/>
                <a:cs typeface="Arial Black"/>
              </a:rPr>
              <a:t> </a:t>
            </a:r>
            <a:r>
              <a:rPr dirty="0" sz="800" spc="-75">
                <a:latin typeface="Arial Black"/>
                <a:cs typeface="Arial Black"/>
              </a:rPr>
              <a:t>structure</a:t>
            </a:r>
            <a:r>
              <a:rPr dirty="0" sz="800" spc="-45">
                <a:latin typeface="Arial Black"/>
                <a:cs typeface="Arial Black"/>
              </a:rPr>
              <a:t> </a:t>
            </a:r>
            <a:r>
              <a:rPr dirty="0" sz="800" spc="-70">
                <a:latin typeface="Arial Black"/>
                <a:cs typeface="Arial Black"/>
              </a:rPr>
              <a:t>of</a:t>
            </a:r>
            <a:r>
              <a:rPr dirty="0" sz="800" spc="-45">
                <a:latin typeface="Arial Black"/>
                <a:cs typeface="Arial Black"/>
              </a:rPr>
              <a:t> </a:t>
            </a:r>
            <a:r>
              <a:rPr dirty="0" sz="800" spc="-10">
                <a:latin typeface="Arial Black"/>
                <a:cs typeface="Arial Black"/>
              </a:rPr>
              <a:t>poverty</a:t>
            </a:r>
            <a:r>
              <a:rPr dirty="0" sz="800" spc="-10"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  <a:p>
            <a:pPr algn="just" marL="116205">
              <a:lnSpc>
                <a:spcPts val="894"/>
              </a:lnSpc>
            </a:pPr>
            <a:r>
              <a:rPr dirty="0" sz="800" spc="-25" b="1" i="1">
                <a:latin typeface="Arial"/>
                <a:cs typeface="Arial"/>
              </a:rPr>
              <a:t>Papers,</a:t>
            </a:r>
            <a:r>
              <a:rPr dirty="0" sz="800" spc="-10" b="1" i="1">
                <a:latin typeface="Arial"/>
                <a:cs typeface="Arial"/>
              </a:rPr>
              <a:t> </a:t>
            </a:r>
            <a:r>
              <a:rPr dirty="0" sz="800" spc="-35" b="1" i="1">
                <a:latin typeface="Arial"/>
                <a:cs typeface="Arial"/>
              </a:rPr>
              <a:t>Please</a:t>
            </a:r>
            <a:r>
              <a:rPr dirty="0" sz="800" spc="-10" b="1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(2013):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bureaucratic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rules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implicate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you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75">
                <a:latin typeface="Arial Black"/>
                <a:cs typeface="Arial Black"/>
              </a:rPr>
              <a:t>injustice</a:t>
            </a:r>
            <a:r>
              <a:rPr dirty="0" sz="800" spc="-60">
                <a:latin typeface="Arial Black"/>
                <a:cs typeface="Arial Black"/>
              </a:rPr>
              <a:t> </a:t>
            </a:r>
            <a:r>
              <a:rPr dirty="0" sz="800" spc="-190">
                <a:latin typeface="Arial"/>
                <a:cs typeface="Arial"/>
              </a:rPr>
              <a:t>—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mechanics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are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argument.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800" spc="-35">
                <a:latin typeface="Arial"/>
                <a:cs typeface="Arial"/>
              </a:rPr>
              <a:t>Can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a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game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change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your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mind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about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ethical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issue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ways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essay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cannot?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3234937"/>
              <a:ext cx="3432175" cy="5080"/>
            </a:xfrm>
            <a:custGeom>
              <a:avLst/>
              <a:gdLst/>
              <a:ahLst/>
              <a:cxnLst/>
              <a:rect l="l" t="t" r="r" b="b"/>
              <a:pathLst>
                <a:path w="3432175" h="5080">
                  <a:moveTo>
                    <a:pt x="0" y="5060"/>
                  </a:moveTo>
                  <a:lnTo>
                    <a:pt x="0" y="0"/>
                  </a:lnTo>
                  <a:lnTo>
                    <a:pt x="3431557" y="0"/>
                  </a:lnTo>
                  <a:lnTo>
                    <a:pt x="34315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L</a:t>
            </a:r>
            <a:r>
              <a:rPr dirty="0" spc="-135"/>
              <a:t>ectu</a:t>
            </a:r>
            <a:r>
              <a:rPr dirty="0" spc="-135"/>
              <a:t>re</a:t>
            </a:r>
            <a:r>
              <a:rPr dirty="0" spc="-60"/>
              <a:t> </a:t>
            </a:r>
            <a:r>
              <a:rPr dirty="0" spc="-85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23235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Part</a:t>
            </a:r>
            <a:r>
              <a:rPr dirty="0" sz="1100" spc="-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I: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What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Is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Play?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Part</a:t>
            </a:r>
            <a:r>
              <a:rPr dirty="0" sz="1100" spc="-4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9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II: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Defining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10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III: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Games,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Moral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Panic,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Work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Ethic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IV: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Games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—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Harm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or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Benefit?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Part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V: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Virtue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Ethics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Video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7112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VI: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Life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as 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Game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—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Suits’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Grasshopper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Part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5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VII: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AI,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Post-Work,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the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Meaning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of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Life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3554095" cy="5080"/>
            </a:xfrm>
            <a:custGeom>
              <a:avLst/>
              <a:gdLst/>
              <a:ahLst/>
              <a:cxnLst/>
              <a:rect l="l" t="t" r="r" b="b"/>
              <a:pathLst>
                <a:path w="3554095" h="5080">
                  <a:moveTo>
                    <a:pt x="0" y="5060"/>
                  </a:moveTo>
                  <a:lnTo>
                    <a:pt x="0" y="0"/>
                  </a:lnTo>
                  <a:lnTo>
                    <a:pt x="3554078" y="0"/>
                  </a:lnTo>
                  <a:lnTo>
                    <a:pt x="3554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Aristotle’s</a:t>
            </a:r>
            <a:r>
              <a:rPr dirty="0" spc="-80"/>
              <a:t> </a:t>
            </a:r>
            <a:r>
              <a:rPr dirty="0" spc="-105"/>
              <a:t>Habituation</a:t>
            </a:r>
            <a:r>
              <a:rPr dirty="0" spc="-75"/>
              <a:t> </a:t>
            </a:r>
            <a:r>
              <a:rPr dirty="0" spc="-105"/>
              <a:t>and</a:t>
            </a:r>
            <a:r>
              <a:rPr dirty="0" spc="-75"/>
              <a:t> </a:t>
            </a:r>
            <a:r>
              <a:rPr dirty="0" spc="-105"/>
              <a:t>the</a:t>
            </a:r>
            <a:r>
              <a:rPr dirty="0" spc="-80"/>
              <a:t> </a:t>
            </a:r>
            <a:r>
              <a:rPr dirty="0" spc="-140"/>
              <a:t>Magic</a:t>
            </a:r>
            <a:r>
              <a:rPr dirty="0" spc="-75"/>
              <a:t> </a:t>
            </a:r>
            <a:r>
              <a:rPr dirty="0" spc="-80"/>
              <a:t>Circle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7095"/>
            <a:ext cx="33305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practice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inside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magic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circle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shape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character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outside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7213" y="830561"/>
            <a:ext cx="2419350" cy="1356360"/>
            <a:chOff x="307213" y="830561"/>
            <a:chExt cx="2419350" cy="1356360"/>
          </a:xfrm>
        </p:grpSpPr>
        <p:sp>
          <p:nvSpPr>
            <p:cNvPr id="5" name="object 5"/>
            <p:cNvSpPr/>
            <p:nvPr/>
          </p:nvSpPr>
          <p:spPr>
            <a:xfrm>
              <a:off x="307213" y="830561"/>
              <a:ext cx="2419350" cy="1356360"/>
            </a:xfrm>
            <a:custGeom>
              <a:avLst/>
              <a:gdLst/>
              <a:ahLst/>
              <a:cxnLst/>
              <a:rect l="l" t="t" r="r" b="b"/>
              <a:pathLst>
                <a:path w="2419350" h="1356360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317798"/>
                  </a:lnTo>
                  <a:lnTo>
                    <a:pt x="2982" y="1332573"/>
                  </a:lnTo>
                  <a:lnTo>
                    <a:pt x="11117" y="1344638"/>
                  </a:lnTo>
                  <a:lnTo>
                    <a:pt x="23182" y="1352773"/>
                  </a:lnTo>
                  <a:lnTo>
                    <a:pt x="37958" y="1355756"/>
                  </a:lnTo>
                  <a:lnTo>
                    <a:pt x="2381251" y="1355756"/>
                  </a:lnTo>
                  <a:lnTo>
                    <a:pt x="2396026" y="1352773"/>
                  </a:lnTo>
                  <a:lnTo>
                    <a:pt x="2408091" y="1344638"/>
                  </a:lnTo>
                  <a:lnTo>
                    <a:pt x="2416226" y="1332573"/>
                  </a:lnTo>
                  <a:lnTo>
                    <a:pt x="2419209" y="1317798"/>
                  </a:lnTo>
                  <a:lnTo>
                    <a:pt x="2419209" y="37958"/>
                  </a:lnTo>
                  <a:lnTo>
                    <a:pt x="2416226" y="23183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9865" y="1034510"/>
              <a:ext cx="2393950" cy="1139190"/>
            </a:xfrm>
            <a:custGeom>
              <a:avLst/>
              <a:gdLst/>
              <a:ahLst/>
              <a:cxnLst/>
              <a:rect l="l" t="t" r="r" b="b"/>
              <a:pathLst>
                <a:path w="2393950" h="1139189">
                  <a:moveTo>
                    <a:pt x="2393904" y="0"/>
                  </a:moveTo>
                  <a:lnTo>
                    <a:pt x="0" y="0"/>
                  </a:lnTo>
                  <a:lnTo>
                    <a:pt x="0" y="1113848"/>
                  </a:lnTo>
                  <a:lnTo>
                    <a:pt x="1988" y="1123699"/>
                  </a:lnTo>
                  <a:lnTo>
                    <a:pt x="7411" y="1131742"/>
                  </a:lnTo>
                  <a:lnTo>
                    <a:pt x="15455" y="1137165"/>
                  </a:lnTo>
                  <a:lnTo>
                    <a:pt x="25305" y="1139154"/>
                  </a:lnTo>
                  <a:lnTo>
                    <a:pt x="2368598" y="1139154"/>
                  </a:lnTo>
                  <a:lnTo>
                    <a:pt x="2378448" y="1137165"/>
                  </a:lnTo>
                  <a:lnTo>
                    <a:pt x="2386492" y="1131742"/>
                  </a:lnTo>
                  <a:lnTo>
                    <a:pt x="2391915" y="1123699"/>
                  </a:lnTo>
                  <a:lnTo>
                    <a:pt x="2393904" y="1113848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87172" y="835159"/>
            <a:ext cx="2052320" cy="1264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5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FFFFFF"/>
                </a:solidFill>
                <a:latin typeface="Arial Black"/>
                <a:cs typeface="Arial Black"/>
              </a:rPr>
              <a:t>Transfer</a:t>
            </a: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Argument</a:t>
            </a:r>
            <a:endParaRPr sz="900">
              <a:latin typeface="Arial Black"/>
              <a:cs typeface="Arial Black"/>
            </a:endParaRPr>
          </a:p>
          <a:p>
            <a:pPr marL="289560" marR="87630" indent="-168910">
              <a:lnSpc>
                <a:spcPts val="960"/>
              </a:lnSpc>
              <a:spcBef>
                <a:spcPts val="115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3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Character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formed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repeated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action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and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emotion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aristotle_nicomachean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289560" marR="5080" indent="-168910">
              <a:lnSpc>
                <a:spcPts val="960"/>
              </a:lnSpc>
              <a:spcBef>
                <a:spcPts val="409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3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involve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thousands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hours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repeated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action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and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 Black"/>
                <a:cs typeface="Arial Black"/>
              </a:rPr>
              <a:t>emotion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9560" marR="132715" indent="-168910">
              <a:lnSpc>
                <a:spcPts val="960"/>
              </a:lnSpc>
              <a:spcBef>
                <a:spcPts val="409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3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Therefore,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gaming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habits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shape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real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character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33610" y="830569"/>
            <a:ext cx="2419350" cy="1038225"/>
            <a:chOff x="3033610" y="830569"/>
            <a:chExt cx="2419350" cy="1038225"/>
          </a:xfrm>
        </p:grpSpPr>
        <p:sp>
          <p:nvSpPr>
            <p:cNvPr id="9" name="object 9"/>
            <p:cNvSpPr/>
            <p:nvPr/>
          </p:nvSpPr>
          <p:spPr>
            <a:xfrm>
              <a:off x="3033610" y="830569"/>
              <a:ext cx="2419350" cy="1038225"/>
            </a:xfrm>
            <a:custGeom>
              <a:avLst/>
              <a:gdLst/>
              <a:ahLst/>
              <a:cxnLst/>
              <a:rect l="l" t="t" r="r" b="b"/>
              <a:pathLst>
                <a:path w="2419350" h="1038225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000086"/>
                  </a:lnTo>
                  <a:lnTo>
                    <a:pt x="2982" y="1014861"/>
                  </a:lnTo>
                  <a:lnTo>
                    <a:pt x="11117" y="1026927"/>
                  </a:lnTo>
                  <a:lnTo>
                    <a:pt x="23182" y="1035062"/>
                  </a:lnTo>
                  <a:lnTo>
                    <a:pt x="37958" y="1038044"/>
                  </a:lnTo>
                  <a:lnTo>
                    <a:pt x="2381251" y="1038044"/>
                  </a:lnTo>
                  <a:lnTo>
                    <a:pt x="2396026" y="1035062"/>
                  </a:lnTo>
                  <a:lnTo>
                    <a:pt x="2408091" y="1026927"/>
                  </a:lnTo>
                  <a:lnTo>
                    <a:pt x="2416226" y="1014861"/>
                  </a:lnTo>
                  <a:lnTo>
                    <a:pt x="2419209" y="1000086"/>
                  </a:lnTo>
                  <a:lnTo>
                    <a:pt x="2419209" y="37958"/>
                  </a:lnTo>
                  <a:lnTo>
                    <a:pt x="2416226" y="23182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46263" y="1038959"/>
              <a:ext cx="2393950" cy="817244"/>
            </a:xfrm>
            <a:custGeom>
              <a:avLst/>
              <a:gdLst/>
              <a:ahLst/>
              <a:cxnLst/>
              <a:rect l="l" t="t" r="r" b="b"/>
              <a:pathLst>
                <a:path w="2393950" h="817244">
                  <a:moveTo>
                    <a:pt x="2393904" y="0"/>
                  </a:moveTo>
                  <a:lnTo>
                    <a:pt x="0" y="0"/>
                  </a:lnTo>
                  <a:lnTo>
                    <a:pt x="0" y="791696"/>
                  </a:lnTo>
                  <a:lnTo>
                    <a:pt x="1988" y="801546"/>
                  </a:lnTo>
                  <a:lnTo>
                    <a:pt x="7411" y="809590"/>
                  </a:lnTo>
                  <a:lnTo>
                    <a:pt x="15455" y="815013"/>
                  </a:lnTo>
                  <a:lnTo>
                    <a:pt x="25305" y="817002"/>
                  </a:lnTo>
                  <a:lnTo>
                    <a:pt x="2368598" y="817002"/>
                  </a:lnTo>
                  <a:lnTo>
                    <a:pt x="2378448" y="815013"/>
                  </a:lnTo>
                  <a:lnTo>
                    <a:pt x="2386492" y="809590"/>
                  </a:lnTo>
                  <a:lnTo>
                    <a:pt x="2391915" y="801546"/>
                  </a:lnTo>
                  <a:lnTo>
                    <a:pt x="2393904" y="791696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BF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213557" y="839604"/>
            <a:ext cx="2059305" cy="920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5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FFFFFF"/>
                </a:solidFill>
                <a:latin typeface="Arial Black"/>
                <a:cs typeface="Arial Black"/>
              </a:rPr>
              <a:t>Magic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FFFFFF"/>
                </a:solidFill>
                <a:latin typeface="Arial Black"/>
                <a:cs typeface="Arial Black"/>
              </a:rPr>
              <a:t>Circle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Reply</a:t>
            </a:r>
            <a:endParaRPr sz="900">
              <a:latin typeface="Arial Black"/>
              <a:cs typeface="Arial Black"/>
            </a:endParaRPr>
          </a:p>
          <a:p>
            <a:pPr algn="just" marL="12700" marR="5080">
              <a:lnSpc>
                <a:spcPts val="960"/>
              </a:lnSpc>
              <a:spcBef>
                <a:spcPts val="1160"/>
              </a:spcBef>
            </a:pP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5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game frame is </a:t>
            </a:r>
            <a:r>
              <a:rPr dirty="0" sz="900" spc="-95">
                <a:latin typeface="Arial Black"/>
                <a:cs typeface="Arial Black"/>
              </a:rPr>
              <a:t>known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to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be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30">
                <a:latin typeface="Arial Black"/>
                <a:cs typeface="Arial Black"/>
              </a:rPr>
              <a:t>artifi-</a:t>
            </a:r>
            <a:r>
              <a:rPr dirty="0" sz="900">
                <a:latin typeface="Arial Black"/>
                <a:cs typeface="Arial Black"/>
              </a:rPr>
              <a:t>cial</a:t>
            </a:r>
            <a:r>
              <a:rPr dirty="0" sz="900">
                <a:latin typeface="Arial"/>
                <a:cs typeface="Arial"/>
              </a:rPr>
              <a:t>.</a:t>
            </a:r>
            <a:r>
              <a:rPr dirty="0" sz="900" spc="39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In-game violence is not real </a:t>
            </a:r>
            <a:r>
              <a:rPr dirty="0" sz="900" spc="-20">
                <a:latin typeface="Arial"/>
                <a:cs typeface="Arial"/>
              </a:rPr>
              <a:t>vio-</a:t>
            </a:r>
            <a:r>
              <a:rPr dirty="0" sz="900">
                <a:latin typeface="Arial"/>
                <a:cs typeface="Arial"/>
              </a:rPr>
              <a:t>lence.</a:t>
            </a:r>
            <a:r>
              <a:rPr dirty="0" sz="900" spc="3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 lusory attitude </a:t>
            </a:r>
            <a:r>
              <a:rPr dirty="0" sz="900" spc="-100">
                <a:latin typeface="Arial Black"/>
                <a:cs typeface="Arial Black"/>
              </a:rPr>
              <a:t>brackets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25">
                <a:latin typeface="Arial"/>
                <a:cs typeface="Arial"/>
              </a:rPr>
              <a:t>in-game </a:t>
            </a:r>
            <a:r>
              <a:rPr dirty="0" sz="900">
                <a:latin typeface="Arial"/>
                <a:cs typeface="Arial"/>
              </a:rPr>
              <a:t>actions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from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ordinary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moral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evalu-</a:t>
            </a:r>
            <a:r>
              <a:rPr dirty="0" sz="900">
                <a:latin typeface="Arial"/>
                <a:cs typeface="Arial"/>
              </a:rPr>
              <a:t>ation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(</a:t>
            </a:r>
            <a:r>
              <a:rPr dirty="0" sz="900" spc="-60">
                <a:latin typeface="Arial Black"/>
                <a:cs typeface="Arial Black"/>
              </a:rPr>
              <a:t>ferguson_video_game_debate</a:t>
            </a:r>
            <a:r>
              <a:rPr dirty="0" sz="900" spc="-6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9994" y="2310891"/>
          <a:ext cx="5116195" cy="49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13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dirty="0" sz="1100" spc="-9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Balance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45720" marR="179070">
                        <a:lnSpc>
                          <a:spcPts val="830"/>
                        </a:lnSpc>
                        <a:spcBef>
                          <a:spcPts val="305"/>
                        </a:spcBef>
                      </a:pPr>
                      <a:r>
                        <a:rPr dirty="0" sz="8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Games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likely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shape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8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emotional</a:t>
                      </a:r>
                      <a:r>
                        <a:rPr dirty="0" sz="800" spc="-4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800" spc="-7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dispositions</a:t>
                      </a:r>
                      <a:r>
                        <a:rPr dirty="0" sz="800" spc="-4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800" spc="-7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dirty="0" sz="800" spc="-4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800" spc="-6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attention</a:t>
                      </a:r>
                      <a:r>
                        <a:rPr dirty="0" sz="800" spc="-6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transfer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depends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heavily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game,</a:t>
                      </a:r>
                      <a:r>
                        <a:rPr dirty="0" sz="800" spc="-3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hours</a:t>
                      </a:r>
                      <a:r>
                        <a:rPr dirty="0" sz="8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played,</a:t>
                      </a:r>
                      <a:r>
                        <a:rPr dirty="0" sz="8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8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social</a:t>
                      </a:r>
                      <a:r>
                        <a:rPr dirty="0" sz="8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context.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3234937"/>
              <a:ext cx="3676650" cy="5080"/>
            </a:xfrm>
            <a:custGeom>
              <a:avLst/>
              <a:gdLst/>
              <a:ahLst/>
              <a:cxnLst/>
              <a:rect l="l" t="t" r="r" b="b"/>
              <a:pathLst>
                <a:path w="3676650" h="5080">
                  <a:moveTo>
                    <a:pt x="0" y="5060"/>
                  </a:moveTo>
                  <a:lnTo>
                    <a:pt x="0" y="0"/>
                  </a:lnTo>
                  <a:lnTo>
                    <a:pt x="3676599" y="0"/>
                  </a:lnTo>
                  <a:lnTo>
                    <a:pt x="36765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Vallor’s</a:t>
            </a:r>
            <a:r>
              <a:rPr dirty="0" spc="-70"/>
              <a:t> </a:t>
            </a:r>
            <a:r>
              <a:rPr dirty="0" spc="-135"/>
              <a:t>Technomoral</a:t>
            </a:r>
            <a:r>
              <a:rPr dirty="0" spc="-70"/>
              <a:t> </a:t>
            </a:r>
            <a:r>
              <a:rPr dirty="0" spc="-110"/>
              <a:t>Virtues</a:t>
            </a:r>
            <a:r>
              <a:rPr dirty="0" spc="-70"/>
              <a:t> </a:t>
            </a:r>
            <a:r>
              <a:rPr dirty="0" spc="-90"/>
              <a:t>Applied</a:t>
            </a:r>
            <a:r>
              <a:rPr dirty="0" spc="-70"/>
              <a:t> </a:t>
            </a:r>
            <a:r>
              <a:rPr dirty="0" spc="-114"/>
              <a:t>to</a:t>
            </a:r>
            <a:r>
              <a:rPr dirty="0" spc="-70"/>
              <a:t> </a:t>
            </a:r>
            <a:r>
              <a:rPr dirty="0" spc="-80"/>
              <a:t>Gaming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7095"/>
            <a:ext cx="47434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gaming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cultivate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or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erode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virtues 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need to flourish?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vallor_technology_virtues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8258" y="795883"/>
            <a:ext cx="4163695" cy="0"/>
          </a:xfrm>
          <a:custGeom>
            <a:avLst/>
            <a:gdLst/>
            <a:ahLst/>
            <a:cxnLst/>
            <a:rect l="l" t="t" r="r" b="b"/>
            <a:pathLst>
              <a:path w="4163695" h="0">
                <a:moveTo>
                  <a:pt x="0" y="0"/>
                </a:moveTo>
                <a:lnTo>
                  <a:pt x="4163491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8258" y="978547"/>
            <a:ext cx="4163695" cy="0"/>
          </a:xfrm>
          <a:custGeom>
            <a:avLst/>
            <a:gdLst/>
            <a:ahLst/>
            <a:cxnLst/>
            <a:rect l="l" t="t" r="r" b="b"/>
            <a:pathLst>
              <a:path w="4163695" h="0">
                <a:moveTo>
                  <a:pt x="0" y="0"/>
                </a:moveTo>
                <a:lnTo>
                  <a:pt x="4163491" y="0"/>
                </a:lnTo>
              </a:path>
            </a:pathLst>
          </a:custGeom>
          <a:ln w="6921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61466" y="746798"/>
            <a:ext cx="3435350" cy="384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7200"/>
              </a:lnSpc>
              <a:spcBef>
                <a:spcPts val="100"/>
              </a:spcBef>
              <a:tabLst>
                <a:tab pos="1064260" algn="l"/>
                <a:tab pos="2583815" algn="l"/>
              </a:tabLst>
            </a:pPr>
            <a:r>
              <a:rPr dirty="0" sz="800" spc="-10">
                <a:solidFill>
                  <a:srgbClr val="22373A"/>
                </a:solidFill>
                <a:latin typeface="Arial Black"/>
                <a:cs typeface="Arial Black"/>
              </a:rPr>
              <a:t>Virtue</a:t>
            </a:r>
            <a:r>
              <a:rPr dirty="0" sz="800">
                <a:solidFill>
                  <a:srgbClr val="22373A"/>
                </a:solidFill>
                <a:latin typeface="Arial Black"/>
                <a:cs typeface="Arial Black"/>
              </a:rPr>
              <a:t>	</a:t>
            </a:r>
            <a:r>
              <a:rPr dirty="0" sz="800" spc="-100">
                <a:solidFill>
                  <a:srgbClr val="22373A"/>
                </a:solidFill>
                <a:latin typeface="Arial Black"/>
                <a:cs typeface="Arial Black"/>
              </a:rPr>
              <a:t>Games</a:t>
            </a:r>
            <a:r>
              <a:rPr dirty="0" sz="8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85">
                <a:solidFill>
                  <a:srgbClr val="22373A"/>
                </a:solidFill>
                <a:latin typeface="Arial Black"/>
                <a:cs typeface="Arial Black"/>
              </a:rPr>
              <a:t>Can</a:t>
            </a:r>
            <a:r>
              <a:rPr dirty="0" sz="8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 Black"/>
                <a:cs typeface="Arial Black"/>
              </a:rPr>
              <a:t>Cultivate</a:t>
            </a:r>
            <a:r>
              <a:rPr dirty="0" sz="800">
                <a:solidFill>
                  <a:srgbClr val="22373A"/>
                </a:solidFill>
                <a:latin typeface="Arial Black"/>
                <a:cs typeface="Arial Black"/>
              </a:rPr>
              <a:t>	</a:t>
            </a:r>
            <a:r>
              <a:rPr dirty="0" sz="800" spc="-100">
                <a:solidFill>
                  <a:srgbClr val="22373A"/>
                </a:solidFill>
                <a:latin typeface="Arial Black"/>
                <a:cs typeface="Arial Black"/>
              </a:rPr>
              <a:t>Games</a:t>
            </a:r>
            <a:r>
              <a:rPr dirty="0" sz="8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85">
                <a:solidFill>
                  <a:srgbClr val="22373A"/>
                </a:solidFill>
                <a:latin typeface="Arial Black"/>
                <a:cs typeface="Arial Black"/>
              </a:rPr>
              <a:t>Can</a:t>
            </a:r>
            <a:r>
              <a:rPr dirty="0" sz="8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800" spc="-80">
                <a:solidFill>
                  <a:srgbClr val="22373A"/>
                </a:solidFill>
                <a:latin typeface="Arial Black"/>
                <a:cs typeface="Arial Black"/>
              </a:rPr>
              <a:t>Erode</a:t>
            </a:r>
            <a:r>
              <a:rPr dirty="0" sz="800" spc="-10">
                <a:solidFill>
                  <a:srgbClr val="22373A"/>
                </a:solidFill>
                <a:latin typeface="Arial Black"/>
                <a:cs typeface="Arial Black"/>
              </a:rPr>
              <a:t> Courage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1466" y="1197964"/>
            <a:ext cx="739775" cy="791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22373A"/>
                </a:solidFill>
                <a:latin typeface="Arial Black"/>
                <a:cs typeface="Arial Black"/>
              </a:rPr>
              <a:t>Empathy</a:t>
            </a:r>
            <a:endParaRPr sz="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800" spc="-10">
                <a:solidFill>
                  <a:srgbClr val="22373A"/>
                </a:solidFill>
                <a:latin typeface="Arial Black"/>
                <a:cs typeface="Arial Black"/>
              </a:rPr>
              <a:t>Justice</a:t>
            </a:r>
            <a:endParaRPr sz="800">
              <a:latin typeface="Arial Black"/>
              <a:cs typeface="Arial Black"/>
            </a:endParaRPr>
          </a:p>
          <a:p>
            <a:pPr marL="12700" marR="5080">
              <a:lnSpc>
                <a:spcPct val="176200"/>
              </a:lnSpc>
            </a:pPr>
            <a:r>
              <a:rPr dirty="0" sz="800" spc="-40">
                <a:solidFill>
                  <a:srgbClr val="22373A"/>
                </a:solidFill>
                <a:latin typeface="Arial Black"/>
                <a:cs typeface="Arial Black"/>
              </a:rPr>
              <a:t>Self-</a:t>
            </a:r>
            <a:r>
              <a:rPr dirty="0" sz="800" spc="-75">
                <a:solidFill>
                  <a:srgbClr val="22373A"/>
                </a:solidFill>
                <a:latin typeface="Arial Black"/>
                <a:cs typeface="Arial Black"/>
              </a:rPr>
              <a:t>regulation</a:t>
            </a:r>
            <a:r>
              <a:rPr dirty="0" sz="800" spc="-10">
                <a:solidFill>
                  <a:srgbClr val="22373A"/>
                </a:solidFill>
                <a:latin typeface="Arial Black"/>
                <a:cs typeface="Arial Black"/>
              </a:rPr>
              <a:t> Humility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3293" y="984286"/>
            <a:ext cx="1393825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Persistence</a:t>
            </a:r>
            <a:r>
              <a:rPr dirty="0" sz="8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dirty="0" sz="8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difficulty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860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Perspective-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taking</a:t>
            </a:r>
            <a:r>
              <a:rPr dirty="0" sz="800" spc="4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800" spc="4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narra-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tive</a:t>
            </a:r>
            <a:r>
              <a:rPr dirty="0" sz="8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30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dirty="0" sz="800" spc="2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goals</a:t>
            </a:r>
            <a:r>
              <a:rPr dirty="0" sz="800" spc="2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800" spc="2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cooperative games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30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Managing</a:t>
            </a:r>
            <a:r>
              <a:rPr dirty="0" sz="8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resources,</a:t>
            </a:r>
            <a:r>
              <a:rPr dirty="0" sz="8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deferred rewards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3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Accepting</a:t>
            </a:r>
            <a:r>
              <a:rPr dirty="0" sz="8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loss,</a:t>
            </a:r>
            <a:r>
              <a:rPr dirty="0" sz="800" spc="1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learning</a:t>
            </a:r>
            <a:r>
              <a:rPr dirty="0" sz="8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failure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3115" y="984286"/>
            <a:ext cx="1465580" cy="10052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-635">
              <a:lnSpc>
                <a:spcPts val="830"/>
              </a:lnSpc>
              <a:spcBef>
                <a:spcPts val="229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Risk-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dirty="0" sz="800" spc="43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“death”</a:t>
            </a:r>
            <a:r>
              <a:rPr dirty="0" sz="800" spc="43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undermines stakes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2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Dehumanization</a:t>
            </a:r>
            <a:r>
              <a:rPr dirty="0" sz="8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800" spc="1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competitive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Toxic</a:t>
            </a:r>
            <a:r>
              <a:rPr dirty="0" sz="8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competition;</a:t>
            </a:r>
            <a:r>
              <a:rPr dirty="0" sz="800" spc="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harassment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830"/>
              </a:lnSpc>
              <a:spcBef>
                <a:spcPts val="865"/>
              </a:spcBef>
            </a:pP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Addictive loops undermine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con-trol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Rage-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quitting;</a:t>
            </a:r>
            <a:r>
              <a:rPr dirty="0" sz="800" spc="1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“gamer”</a:t>
            </a:r>
            <a:r>
              <a:rPr dirty="0" sz="800" spc="1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toxicity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8258" y="2123935"/>
            <a:ext cx="4163695" cy="0"/>
          </a:xfrm>
          <a:custGeom>
            <a:avLst/>
            <a:gdLst/>
            <a:ahLst/>
            <a:cxnLst/>
            <a:rect l="l" t="t" r="r" b="b"/>
            <a:pathLst>
              <a:path w="4163695" h="0">
                <a:moveTo>
                  <a:pt x="0" y="0"/>
                </a:moveTo>
                <a:lnTo>
                  <a:pt x="4163491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3799204" cy="5080"/>
            </a:xfrm>
            <a:custGeom>
              <a:avLst/>
              <a:gdLst/>
              <a:ahLst/>
              <a:cxnLst/>
              <a:rect l="l" t="t" r="r" b="b"/>
              <a:pathLst>
                <a:path w="3799204" h="5080">
                  <a:moveTo>
                    <a:pt x="0" y="5060"/>
                  </a:moveTo>
                  <a:lnTo>
                    <a:pt x="0" y="0"/>
                  </a:lnTo>
                  <a:lnTo>
                    <a:pt x="3799208" y="0"/>
                  </a:lnTo>
                  <a:lnTo>
                    <a:pt x="37992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0"/>
              <a:t>Cooperative</a:t>
            </a:r>
            <a:r>
              <a:rPr dirty="0" spc="-70"/>
              <a:t> </a:t>
            </a:r>
            <a:r>
              <a:rPr dirty="0" spc="-145"/>
              <a:t>Games</a:t>
            </a:r>
            <a:r>
              <a:rPr dirty="0" spc="-70"/>
              <a:t> </a:t>
            </a:r>
            <a:r>
              <a:rPr dirty="0" spc="-140"/>
              <a:t>as</a:t>
            </a:r>
            <a:r>
              <a:rPr dirty="0" spc="-70"/>
              <a:t> </a:t>
            </a:r>
            <a:r>
              <a:rPr dirty="0" spc="-105"/>
              <a:t>Virtue</a:t>
            </a:r>
            <a:r>
              <a:rPr dirty="0" spc="-70"/>
              <a:t> </a:t>
            </a:r>
            <a:r>
              <a:rPr dirty="0" spc="-100"/>
              <a:t>Laboratories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1"/>
            <a:ext cx="5040630" cy="1236980"/>
            <a:chOff x="359994" y="602321"/>
            <a:chExt cx="5040630" cy="1236980"/>
          </a:xfrm>
        </p:grpSpPr>
        <p:sp>
          <p:nvSpPr>
            <p:cNvPr id="4" name="object 4"/>
            <p:cNvSpPr/>
            <p:nvPr/>
          </p:nvSpPr>
          <p:spPr>
            <a:xfrm>
              <a:off x="359994" y="602321"/>
              <a:ext cx="5040630" cy="1236980"/>
            </a:xfrm>
            <a:custGeom>
              <a:avLst/>
              <a:gdLst/>
              <a:ahLst/>
              <a:cxnLst/>
              <a:rect l="l" t="t" r="r" b="b"/>
              <a:pathLst>
                <a:path w="5040630" h="123698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98819"/>
                  </a:lnTo>
                  <a:lnTo>
                    <a:pt x="2982" y="1213595"/>
                  </a:lnTo>
                  <a:lnTo>
                    <a:pt x="11117" y="1225660"/>
                  </a:lnTo>
                  <a:lnTo>
                    <a:pt x="23182" y="1233795"/>
                  </a:lnTo>
                  <a:lnTo>
                    <a:pt x="37958" y="1236778"/>
                  </a:lnTo>
                  <a:lnTo>
                    <a:pt x="5002106" y="1236778"/>
                  </a:lnTo>
                  <a:lnTo>
                    <a:pt x="5016882" y="1233795"/>
                  </a:lnTo>
                  <a:lnTo>
                    <a:pt x="5028947" y="1225660"/>
                  </a:lnTo>
                  <a:lnTo>
                    <a:pt x="5037082" y="1213595"/>
                  </a:lnTo>
                  <a:lnTo>
                    <a:pt x="5040064" y="1198819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07001"/>
              <a:ext cx="5015230" cy="1019810"/>
            </a:xfrm>
            <a:custGeom>
              <a:avLst/>
              <a:gdLst/>
              <a:ahLst/>
              <a:cxnLst/>
              <a:rect l="l" t="t" r="r" b="b"/>
              <a:pathLst>
                <a:path w="5015230" h="1019810">
                  <a:moveTo>
                    <a:pt x="5014759" y="0"/>
                  </a:moveTo>
                  <a:lnTo>
                    <a:pt x="0" y="0"/>
                  </a:lnTo>
                  <a:lnTo>
                    <a:pt x="0" y="994140"/>
                  </a:lnTo>
                  <a:lnTo>
                    <a:pt x="1988" y="1003990"/>
                  </a:lnTo>
                  <a:lnTo>
                    <a:pt x="7411" y="1012033"/>
                  </a:lnTo>
                  <a:lnTo>
                    <a:pt x="15455" y="1017456"/>
                  </a:lnTo>
                  <a:lnTo>
                    <a:pt x="25305" y="1019445"/>
                  </a:lnTo>
                  <a:lnTo>
                    <a:pt x="4989454" y="1019445"/>
                  </a:lnTo>
                  <a:lnTo>
                    <a:pt x="4999304" y="1017456"/>
                  </a:lnTo>
                  <a:lnTo>
                    <a:pt x="5007347" y="1012033"/>
                  </a:lnTo>
                  <a:lnTo>
                    <a:pt x="5012770" y="1003990"/>
                  </a:lnTo>
                  <a:lnTo>
                    <a:pt x="5014759" y="99414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008517"/>
            <a:ext cx="5040630" cy="693420"/>
            <a:chOff x="359994" y="2008517"/>
            <a:chExt cx="5040630" cy="693420"/>
          </a:xfrm>
        </p:grpSpPr>
        <p:sp>
          <p:nvSpPr>
            <p:cNvPr id="7" name="object 7"/>
            <p:cNvSpPr/>
            <p:nvPr/>
          </p:nvSpPr>
          <p:spPr>
            <a:xfrm>
              <a:off x="359994" y="2008517"/>
              <a:ext cx="5040630" cy="693420"/>
            </a:xfrm>
            <a:custGeom>
              <a:avLst/>
              <a:gdLst/>
              <a:ahLst/>
              <a:cxnLst/>
              <a:rect l="l" t="t" r="r" b="b"/>
              <a:pathLst>
                <a:path w="5040630" h="693419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55169"/>
                  </a:lnTo>
                  <a:lnTo>
                    <a:pt x="2982" y="669944"/>
                  </a:lnTo>
                  <a:lnTo>
                    <a:pt x="11117" y="682010"/>
                  </a:lnTo>
                  <a:lnTo>
                    <a:pt x="23182" y="690144"/>
                  </a:lnTo>
                  <a:lnTo>
                    <a:pt x="37958" y="693127"/>
                  </a:lnTo>
                  <a:lnTo>
                    <a:pt x="5002106" y="693127"/>
                  </a:lnTo>
                  <a:lnTo>
                    <a:pt x="5016882" y="690144"/>
                  </a:lnTo>
                  <a:lnTo>
                    <a:pt x="5028947" y="682010"/>
                  </a:lnTo>
                  <a:lnTo>
                    <a:pt x="5037082" y="669944"/>
                  </a:lnTo>
                  <a:lnTo>
                    <a:pt x="5040064" y="655169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2239313"/>
              <a:ext cx="5015230" cy="450215"/>
            </a:xfrm>
            <a:custGeom>
              <a:avLst/>
              <a:gdLst/>
              <a:ahLst/>
              <a:cxnLst/>
              <a:rect l="l" t="t" r="r" b="b"/>
              <a:pathLst>
                <a:path w="5015230" h="450214">
                  <a:moveTo>
                    <a:pt x="5014759" y="0"/>
                  </a:moveTo>
                  <a:lnTo>
                    <a:pt x="0" y="0"/>
                  </a:lnTo>
                  <a:lnTo>
                    <a:pt x="0" y="424373"/>
                  </a:lnTo>
                  <a:lnTo>
                    <a:pt x="1988" y="434223"/>
                  </a:lnTo>
                  <a:lnTo>
                    <a:pt x="7411" y="442267"/>
                  </a:lnTo>
                  <a:lnTo>
                    <a:pt x="15455" y="447690"/>
                  </a:lnTo>
                  <a:lnTo>
                    <a:pt x="25305" y="449679"/>
                  </a:lnTo>
                  <a:lnTo>
                    <a:pt x="4989454" y="449679"/>
                  </a:lnTo>
                  <a:lnTo>
                    <a:pt x="4999304" y="447690"/>
                  </a:lnTo>
                  <a:lnTo>
                    <a:pt x="5007347" y="442267"/>
                  </a:lnTo>
                  <a:lnTo>
                    <a:pt x="5012770" y="434223"/>
                  </a:lnTo>
                  <a:lnTo>
                    <a:pt x="5014759" y="424373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7F1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4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35"/>
              <a:t>The</a:t>
            </a:r>
            <a:r>
              <a:rPr dirty="0" spc="-70"/>
              <a:t> </a:t>
            </a:r>
            <a:r>
              <a:rPr dirty="0" spc="-105"/>
              <a:t>Positive</a:t>
            </a:r>
            <a:r>
              <a:rPr dirty="0" spc="-70"/>
              <a:t> </a:t>
            </a:r>
            <a:r>
              <a:rPr dirty="0" spc="-20"/>
              <a:t>Case</a:t>
            </a: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00" spc="-90">
                <a:solidFill>
                  <a:srgbClr val="000000"/>
                </a:solidFill>
              </a:rPr>
              <a:t>Cooperative</a:t>
            </a:r>
            <a:r>
              <a:rPr dirty="0" sz="900" spc="-30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multiplayer</a:t>
            </a:r>
            <a:r>
              <a:rPr dirty="0" sz="900" spc="-25">
                <a:solidFill>
                  <a:srgbClr val="000000"/>
                </a:solidFill>
              </a:rPr>
              <a:t> </a:t>
            </a:r>
            <a:r>
              <a:rPr dirty="0" sz="900" spc="-110">
                <a:solidFill>
                  <a:srgbClr val="000000"/>
                </a:solidFill>
              </a:rPr>
              <a:t>games</a:t>
            </a:r>
            <a:r>
              <a:rPr dirty="0" sz="900" spc="-25">
                <a:solidFill>
                  <a:srgbClr val="000000"/>
                </a:solidFill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may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cultivate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virtue: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Overcooked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real-time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coordination,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communication,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patience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under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pressure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Portal</a:t>
            </a:r>
            <a:r>
              <a:rPr dirty="0" sz="900" spc="3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2</a:t>
            </a:r>
            <a:r>
              <a:rPr dirty="0" sz="900" spc="3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(co-op):</a:t>
            </a:r>
            <a:r>
              <a:rPr dirty="0" sz="900" spc="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trust,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joint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problem-solving,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perspective-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taking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Us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social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deduction,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reading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others,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managing trust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These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games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70">
                <a:solidFill>
                  <a:srgbClr val="000000"/>
                </a:solidFill>
              </a:rPr>
              <a:t>require</a:t>
            </a:r>
            <a:r>
              <a:rPr dirty="0" sz="900" spc="-55">
                <a:solidFill>
                  <a:srgbClr val="000000"/>
                </a:solidFill>
              </a:rPr>
              <a:t> </a:t>
            </a:r>
            <a:r>
              <a:rPr dirty="0" sz="900" spc="-85">
                <a:solidFill>
                  <a:srgbClr val="000000"/>
                </a:solidFill>
              </a:rPr>
              <a:t>others</a:t>
            </a:r>
            <a:r>
              <a:rPr dirty="0" sz="900" spc="-50">
                <a:solidFill>
                  <a:srgbClr val="000000"/>
                </a:solidFill>
              </a:rPr>
              <a:t> </a:t>
            </a:r>
            <a:r>
              <a:rPr dirty="0" sz="900" spc="-90">
                <a:solidFill>
                  <a:srgbClr val="000000"/>
                </a:solidFill>
              </a:rPr>
              <a:t>to</a:t>
            </a:r>
            <a:r>
              <a:rPr dirty="0" sz="900" spc="-55">
                <a:solidFill>
                  <a:srgbClr val="000000"/>
                </a:solidFill>
              </a:rPr>
              <a:t> </a:t>
            </a:r>
            <a:r>
              <a:rPr dirty="0" sz="900" spc="-110">
                <a:solidFill>
                  <a:srgbClr val="000000"/>
                </a:solidFill>
              </a:rPr>
              <a:t>succeed</a:t>
            </a:r>
            <a:r>
              <a:rPr dirty="0" sz="900" spc="-55">
                <a:solidFill>
                  <a:srgbClr val="000000"/>
                </a:solidFill>
              </a:rPr>
              <a:t> </a:t>
            </a:r>
            <a:r>
              <a:rPr dirty="0" sz="900" spc="-215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they are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practice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solipsism.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pc="-95"/>
              <a:t>Esports:</a:t>
            </a:r>
            <a:r>
              <a:rPr dirty="0" spc="-25"/>
              <a:t> </a:t>
            </a:r>
            <a:r>
              <a:rPr dirty="0" spc="-114"/>
              <a:t>Achievement</a:t>
            </a:r>
            <a:r>
              <a:rPr dirty="0" spc="-70"/>
              <a:t> </a:t>
            </a:r>
            <a:r>
              <a:rPr dirty="0" spc="-95"/>
              <a:t>or</a:t>
            </a:r>
            <a:r>
              <a:rPr dirty="0" spc="-65"/>
              <a:t> </a:t>
            </a:r>
            <a:r>
              <a:rPr dirty="0" spc="-25"/>
              <a:t>Exploitation?</a:t>
            </a:r>
          </a:p>
          <a:p>
            <a:pPr marL="12700">
              <a:lnSpc>
                <a:spcPts val="1019"/>
              </a:lnSpc>
              <a:spcBef>
                <a:spcPts val="1030"/>
              </a:spcBef>
            </a:pP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Professional</a:t>
            </a:r>
            <a:r>
              <a:rPr dirty="0" sz="9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gaming</a:t>
            </a:r>
            <a:r>
              <a:rPr dirty="0" sz="9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9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9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$1.8B</a:t>
            </a:r>
            <a:r>
              <a:rPr dirty="0" sz="9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industry.</a:t>
            </a:r>
            <a:r>
              <a:rPr dirty="0" sz="900" spc="3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Esports</a:t>
            </a:r>
            <a:r>
              <a:rPr dirty="0" sz="9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athletes</a:t>
            </a:r>
            <a:r>
              <a:rPr dirty="0" sz="9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train</a:t>
            </a:r>
            <a:r>
              <a:rPr dirty="0" sz="9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10–14</a:t>
            </a:r>
            <a:r>
              <a:rPr dirty="0" sz="9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hours/day</a:t>
            </a:r>
            <a:r>
              <a:rPr dirty="0" sz="9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but</a:t>
            </a:r>
            <a:r>
              <a:rPr dirty="0" sz="9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face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19"/>
              </a:lnSpc>
            </a:pPr>
            <a:r>
              <a:rPr dirty="0" sz="900" spc="-70">
                <a:solidFill>
                  <a:srgbClr val="000000"/>
                </a:solidFill>
              </a:rPr>
              <a:t>burnout,</a:t>
            </a:r>
            <a:r>
              <a:rPr dirty="0" sz="900" spc="-55">
                <a:solidFill>
                  <a:srgbClr val="000000"/>
                </a:solidFill>
              </a:rPr>
              <a:t> </a:t>
            </a:r>
            <a:r>
              <a:rPr dirty="0" sz="900" spc="-65">
                <a:solidFill>
                  <a:srgbClr val="000000"/>
                </a:solidFill>
              </a:rPr>
              <a:t>injury,</a:t>
            </a:r>
            <a:r>
              <a:rPr dirty="0" sz="900" spc="-50">
                <a:solidFill>
                  <a:srgbClr val="000000"/>
                </a:solidFill>
              </a:rPr>
              <a:t> </a:t>
            </a:r>
            <a:r>
              <a:rPr dirty="0" sz="900" spc="-80">
                <a:solidFill>
                  <a:srgbClr val="000000"/>
                </a:solidFill>
              </a:rPr>
              <a:t>and</a:t>
            </a:r>
            <a:r>
              <a:rPr dirty="0" sz="900" spc="-55">
                <a:solidFill>
                  <a:srgbClr val="000000"/>
                </a:solidFill>
              </a:rPr>
              <a:t> </a:t>
            </a:r>
            <a:r>
              <a:rPr dirty="0" sz="900" spc="-80">
                <a:solidFill>
                  <a:srgbClr val="000000"/>
                </a:solidFill>
              </a:rPr>
              <a:t>short</a:t>
            </a:r>
            <a:r>
              <a:rPr dirty="0" sz="900" spc="-50">
                <a:solidFill>
                  <a:srgbClr val="000000"/>
                </a:solidFill>
              </a:rPr>
              <a:t> </a:t>
            </a:r>
            <a:r>
              <a:rPr dirty="0" sz="900" spc="-80">
                <a:solidFill>
                  <a:srgbClr val="000000"/>
                </a:solidFill>
              </a:rPr>
              <a:t>careers</a:t>
            </a:r>
            <a:r>
              <a:rPr dirty="0" sz="900" spc="-8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Genuine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sport, or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exploitation?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3921760" cy="5080"/>
            </a:xfrm>
            <a:custGeom>
              <a:avLst/>
              <a:gdLst/>
              <a:ahLst/>
              <a:cxnLst/>
              <a:rect l="l" t="t" r="r" b="b"/>
              <a:pathLst>
                <a:path w="3921760" h="5080">
                  <a:moveTo>
                    <a:pt x="0" y="5060"/>
                  </a:moveTo>
                  <a:lnTo>
                    <a:pt x="0" y="0"/>
                  </a:lnTo>
                  <a:lnTo>
                    <a:pt x="3921729" y="0"/>
                  </a:lnTo>
                  <a:lnTo>
                    <a:pt x="39217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Discussion:</a:t>
            </a:r>
            <a:r>
              <a:rPr dirty="0" spc="-35"/>
              <a:t> </a:t>
            </a:r>
            <a:r>
              <a:rPr dirty="0" spc="-120"/>
              <a:t>Character</a:t>
            </a:r>
            <a:r>
              <a:rPr dirty="0" spc="-85"/>
              <a:t> </a:t>
            </a:r>
            <a:r>
              <a:rPr dirty="0" spc="-105"/>
              <a:t>and</a:t>
            </a:r>
            <a:r>
              <a:rPr dirty="0" spc="-85"/>
              <a:t> </a:t>
            </a:r>
            <a:r>
              <a:rPr dirty="0" spc="-105"/>
              <a:t>the</a:t>
            </a:r>
            <a:r>
              <a:rPr dirty="0" spc="-80"/>
              <a:t> </a:t>
            </a:r>
            <a:r>
              <a:rPr dirty="0" spc="-105"/>
              <a:t>Screen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072090"/>
            <a:ext cx="5040630" cy="1147445"/>
            <a:chOff x="359994" y="1072090"/>
            <a:chExt cx="5040630" cy="1147445"/>
          </a:xfrm>
        </p:grpSpPr>
        <p:sp>
          <p:nvSpPr>
            <p:cNvPr id="4" name="object 4"/>
            <p:cNvSpPr/>
            <p:nvPr/>
          </p:nvSpPr>
          <p:spPr>
            <a:xfrm>
              <a:off x="359994" y="1072090"/>
              <a:ext cx="5040630" cy="1147445"/>
            </a:xfrm>
            <a:custGeom>
              <a:avLst/>
              <a:gdLst/>
              <a:ahLst/>
              <a:cxnLst/>
              <a:rect l="l" t="t" r="r" b="b"/>
              <a:pathLst>
                <a:path w="5040630" h="114744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9212"/>
                  </a:lnTo>
                  <a:lnTo>
                    <a:pt x="2982" y="1123987"/>
                  </a:lnTo>
                  <a:lnTo>
                    <a:pt x="11117" y="1136053"/>
                  </a:lnTo>
                  <a:lnTo>
                    <a:pt x="23182" y="1144187"/>
                  </a:lnTo>
                  <a:lnTo>
                    <a:pt x="37958" y="1147170"/>
                  </a:lnTo>
                  <a:lnTo>
                    <a:pt x="5002106" y="1147170"/>
                  </a:lnTo>
                  <a:lnTo>
                    <a:pt x="5016882" y="1144187"/>
                  </a:lnTo>
                  <a:lnTo>
                    <a:pt x="5028947" y="1136053"/>
                  </a:lnTo>
                  <a:lnTo>
                    <a:pt x="5037082" y="1123987"/>
                  </a:lnTo>
                  <a:lnTo>
                    <a:pt x="5040064" y="1109212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1255380"/>
              <a:ext cx="5015230" cy="951230"/>
            </a:xfrm>
            <a:custGeom>
              <a:avLst/>
              <a:gdLst/>
              <a:ahLst/>
              <a:cxnLst/>
              <a:rect l="l" t="t" r="r" b="b"/>
              <a:pathLst>
                <a:path w="5015230" h="951230">
                  <a:moveTo>
                    <a:pt x="5014759" y="0"/>
                  </a:moveTo>
                  <a:lnTo>
                    <a:pt x="0" y="0"/>
                  </a:lnTo>
                  <a:lnTo>
                    <a:pt x="0" y="925922"/>
                  </a:lnTo>
                  <a:lnTo>
                    <a:pt x="1988" y="935772"/>
                  </a:lnTo>
                  <a:lnTo>
                    <a:pt x="7411" y="943816"/>
                  </a:lnTo>
                  <a:lnTo>
                    <a:pt x="15455" y="949239"/>
                  </a:lnTo>
                  <a:lnTo>
                    <a:pt x="25305" y="951227"/>
                  </a:lnTo>
                  <a:lnTo>
                    <a:pt x="4989454" y="951227"/>
                  </a:lnTo>
                  <a:lnTo>
                    <a:pt x="4999304" y="949239"/>
                  </a:lnTo>
                  <a:lnTo>
                    <a:pt x="5007347" y="943816"/>
                  </a:lnTo>
                  <a:lnTo>
                    <a:pt x="5012770" y="935772"/>
                  </a:lnTo>
                  <a:lnTo>
                    <a:pt x="5014759" y="925922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35863" y="1036764"/>
            <a:ext cx="4838700" cy="114363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289560" marR="5080" indent="-168910">
              <a:lnSpc>
                <a:spcPts val="960"/>
              </a:lnSpc>
              <a:spcBef>
                <a:spcPts val="30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3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you’ve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many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hours.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change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anything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think,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feel,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behave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outside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game?</a:t>
            </a:r>
            <a:endParaRPr sz="900">
              <a:latin typeface="Arial"/>
              <a:cs typeface="Arial"/>
            </a:endParaRPr>
          </a:p>
          <a:p>
            <a:pPr marL="289560" marR="26034" indent="-168910">
              <a:lnSpc>
                <a:spcPts val="960"/>
              </a:lnSpc>
              <a:spcBef>
                <a:spcPts val="409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3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parent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bans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Grand</a:t>
            </a:r>
            <a:r>
              <a:rPr dirty="0" sz="900" spc="-1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Theft Auto</a:t>
            </a:r>
            <a:r>
              <a:rPr dirty="0" sz="900" spc="-1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Fortnite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ethical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framework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using?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right?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3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Could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morally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obligatory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because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teaches?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900" spc="-70">
                <a:latin typeface="Arial Black"/>
                <a:cs typeface="Arial Black"/>
              </a:rPr>
              <a:t>What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role,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45">
                <a:latin typeface="Arial Black"/>
                <a:cs typeface="Arial Black"/>
              </a:rPr>
              <a:t>if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any,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should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ethics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play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in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our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gaming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choices?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4044950" cy="5080"/>
            </a:xfrm>
            <a:custGeom>
              <a:avLst/>
              <a:gdLst/>
              <a:ahLst/>
              <a:cxnLst/>
              <a:rect l="l" t="t" r="r" b="b"/>
              <a:pathLst>
                <a:path w="4044950" h="5080">
                  <a:moveTo>
                    <a:pt x="0" y="5060"/>
                  </a:moveTo>
                  <a:lnTo>
                    <a:pt x="0" y="0"/>
                  </a:lnTo>
                  <a:lnTo>
                    <a:pt x="4044339" y="0"/>
                  </a:lnTo>
                  <a:lnTo>
                    <a:pt x="40443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L</a:t>
            </a:r>
            <a:r>
              <a:rPr dirty="0" spc="-135"/>
              <a:t>ectu</a:t>
            </a:r>
            <a:r>
              <a:rPr dirty="0" spc="-135"/>
              <a:t>re</a:t>
            </a:r>
            <a:r>
              <a:rPr dirty="0" spc="-60"/>
              <a:t> </a:t>
            </a:r>
            <a:r>
              <a:rPr dirty="0" spc="-85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23235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Part</a:t>
            </a:r>
            <a:r>
              <a:rPr dirty="0" sz="1100" spc="-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I: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What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Is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Play?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Part</a:t>
            </a:r>
            <a:r>
              <a:rPr dirty="0" sz="1100" spc="-4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9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II: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Defining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10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III: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Games,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Moral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Panic,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Work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Ethic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IV: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Games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—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Harm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or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Benefit?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Virtue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Ethics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71120">
              <a:lnSpc>
                <a:spcPct val="214299"/>
              </a:lnSpc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Part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VI: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Life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as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a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Game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254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—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Suits’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Grasshopper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Part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5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VII: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AI,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Post-Work,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the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Meaning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of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Life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4166870" cy="5080"/>
            </a:xfrm>
            <a:custGeom>
              <a:avLst/>
              <a:gdLst/>
              <a:ahLst/>
              <a:cxnLst/>
              <a:rect l="l" t="t" r="r" b="b"/>
              <a:pathLst>
                <a:path w="4166870" h="5080">
                  <a:moveTo>
                    <a:pt x="0" y="5060"/>
                  </a:moveTo>
                  <a:lnTo>
                    <a:pt x="0" y="0"/>
                  </a:lnTo>
                  <a:lnTo>
                    <a:pt x="4166859" y="0"/>
                  </a:lnTo>
                  <a:lnTo>
                    <a:pt x="4166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77165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75"/>
              <a:t> </a:t>
            </a:r>
            <a:r>
              <a:rPr dirty="0" spc="-110"/>
              <a:t>Grasshopper’s</a:t>
            </a:r>
            <a:r>
              <a:rPr dirty="0" spc="-70"/>
              <a:t> </a:t>
            </a:r>
            <a:r>
              <a:rPr dirty="0" spc="-80"/>
              <a:t>Story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09"/>
            <a:ext cx="5040630" cy="1255395"/>
            <a:chOff x="359994" y="602309"/>
            <a:chExt cx="5040630" cy="1255395"/>
          </a:xfrm>
        </p:grpSpPr>
        <p:sp>
          <p:nvSpPr>
            <p:cNvPr id="4" name="object 4"/>
            <p:cNvSpPr/>
            <p:nvPr/>
          </p:nvSpPr>
          <p:spPr>
            <a:xfrm>
              <a:off x="359994" y="602309"/>
              <a:ext cx="5040630" cy="1255395"/>
            </a:xfrm>
            <a:custGeom>
              <a:avLst/>
              <a:gdLst/>
              <a:ahLst/>
              <a:cxnLst/>
              <a:rect l="l" t="t" r="r" b="b"/>
              <a:pathLst>
                <a:path w="5040630" h="125539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217386"/>
                  </a:lnTo>
                  <a:lnTo>
                    <a:pt x="2982" y="1232161"/>
                  </a:lnTo>
                  <a:lnTo>
                    <a:pt x="11117" y="1244227"/>
                  </a:lnTo>
                  <a:lnTo>
                    <a:pt x="23182" y="1252361"/>
                  </a:lnTo>
                  <a:lnTo>
                    <a:pt x="37958" y="1255344"/>
                  </a:lnTo>
                  <a:lnTo>
                    <a:pt x="5002106" y="1255344"/>
                  </a:lnTo>
                  <a:lnTo>
                    <a:pt x="5016882" y="1252361"/>
                  </a:lnTo>
                  <a:lnTo>
                    <a:pt x="5028947" y="1244227"/>
                  </a:lnTo>
                  <a:lnTo>
                    <a:pt x="5037082" y="1232161"/>
                  </a:lnTo>
                  <a:lnTo>
                    <a:pt x="5040064" y="1217386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4767"/>
              <a:ext cx="5015230" cy="1010285"/>
            </a:xfrm>
            <a:custGeom>
              <a:avLst/>
              <a:gdLst/>
              <a:ahLst/>
              <a:cxnLst/>
              <a:rect l="l" t="t" r="r" b="b"/>
              <a:pathLst>
                <a:path w="5015230" h="1010285">
                  <a:moveTo>
                    <a:pt x="5014759" y="0"/>
                  </a:moveTo>
                  <a:lnTo>
                    <a:pt x="0" y="0"/>
                  </a:lnTo>
                  <a:lnTo>
                    <a:pt x="0" y="984928"/>
                  </a:lnTo>
                  <a:lnTo>
                    <a:pt x="1988" y="994778"/>
                  </a:lnTo>
                  <a:lnTo>
                    <a:pt x="7411" y="1002822"/>
                  </a:lnTo>
                  <a:lnTo>
                    <a:pt x="15455" y="1008245"/>
                  </a:lnTo>
                  <a:lnTo>
                    <a:pt x="25305" y="1010233"/>
                  </a:lnTo>
                  <a:lnTo>
                    <a:pt x="4989454" y="1010233"/>
                  </a:lnTo>
                  <a:lnTo>
                    <a:pt x="4999304" y="1008245"/>
                  </a:lnTo>
                  <a:lnTo>
                    <a:pt x="5007347" y="1002822"/>
                  </a:lnTo>
                  <a:lnTo>
                    <a:pt x="5012770" y="994778"/>
                  </a:lnTo>
                  <a:lnTo>
                    <a:pt x="5014759" y="984928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7F1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063071"/>
            <a:ext cx="5040630" cy="521970"/>
            <a:chOff x="359994" y="2063071"/>
            <a:chExt cx="5040630" cy="521970"/>
          </a:xfrm>
        </p:grpSpPr>
        <p:sp>
          <p:nvSpPr>
            <p:cNvPr id="7" name="object 7"/>
            <p:cNvSpPr/>
            <p:nvPr/>
          </p:nvSpPr>
          <p:spPr>
            <a:xfrm>
              <a:off x="359994" y="2063071"/>
              <a:ext cx="5040630" cy="521970"/>
            </a:xfrm>
            <a:custGeom>
              <a:avLst/>
              <a:gdLst/>
              <a:ahLst/>
              <a:cxnLst/>
              <a:rect l="l" t="t" r="r" b="b"/>
              <a:pathLst>
                <a:path w="5040630" h="521969">
                  <a:moveTo>
                    <a:pt x="5008433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489733"/>
                  </a:lnTo>
                  <a:lnTo>
                    <a:pt x="2485" y="502046"/>
                  </a:lnTo>
                  <a:lnTo>
                    <a:pt x="9264" y="512100"/>
                  </a:lnTo>
                  <a:lnTo>
                    <a:pt x="19319" y="518879"/>
                  </a:lnTo>
                  <a:lnTo>
                    <a:pt x="31631" y="521365"/>
                  </a:lnTo>
                  <a:lnTo>
                    <a:pt x="5008433" y="521365"/>
                  </a:lnTo>
                  <a:lnTo>
                    <a:pt x="5020745" y="518879"/>
                  </a:lnTo>
                  <a:lnTo>
                    <a:pt x="5030800" y="512100"/>
                  </a:lnTo>
                  <a:lnTo>
                    <a:pt x="5037579" y="502046"/>
                  </a:lnTo>
                  <a:lnTo>
                    <a:pt x="5040064" y="489733"/>
                  </a:lnTo>
                  <a:lnTo>
                    <a:pt x="5040064" y="31631"/>
                  </a:lnTo>
                  <a:lnTo>
                    <a:pt x="5037579" y="19319"/>
                  </a:lnTo>
                  <a:lnTo>
                    <a:pt x="5030800" y="9264"/>
                  </a:lnTo>
                  <a:lnTo>
                    <a:pt x="5020745" y="2485"/>
                  </a:lnTo>
                  <a:lnTo>
                    <a:pt x="5008433" y="0"/>
                  </a:lnTo>
                  <a:close/>
                </a:path>
              </a:pathLst>
            </a:custGeom>
            <a:solidFill>
              <a:srgbClr val="545F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7952" y="2253643"/>
              <a:ext cx="4996180" cy="324485"/>
            </a:xfrm>
            <a:custGeom>
              <a:avLst/>
              <a:gdLst/>
              <a:ahLst/>
              <a:cxnLst/>
              <a:rect l="l" t="t" r="r" b="b"/>
              <a:pathLst>
                <a:path w="4996180" h="324485">
                  <a:moveTo>
                    <a:pt x="4995780" y="0"/>
                  </a:moveTo>
                  <a:lnTo>
                    <a:pt x="0" y="0"/>
                  </a:lnTo>
                  <a:lnTo>
                    <a:pt x="0" y="299161"/>
                  </a:lnTo>
                  <a:lnTo>
                    <a:pt x="1988" y="309011"/>
                  </a:lnTo>
                  <a:lnTo>
                    <a:pt x="7411" y="317055"/>
                  </a:lnTo>
                  <a:lnTo>
                    <a:pt x="15455" y="322478"/>
                  </a:lnTo>
                  <a:lnTo>
                    <a:pt x="25305" y="324466"/>
                  </a:lnTo>
                  <a:lnTo>
                    <a:pt x="4970475" y="324466"/>
                  </a:lnTo>
                  <a:lnTo>
                    <a:pt x="4980325" y="322478"/>
                  </a:lnTo>
                  <a:lnTo>
                    <a:pt x="4988368" y="317055"/>
                  </a:lnTo>
                  <a:lnTo>
                    <a:pt x="4993791" y="309011"/>
                  </a:lnTo>
                  <a:lnTo>
                    <a:pt x="4995780" y="299161"/>
                  </a:lnTo>
                  <a:lnTo>
                    <a:pt x="499578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4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35"/>
              <a:t>The</a:t>
            </a:r>
            <a:r>
              <a:rPr dirty="0" spc="-85"/>
              <a:t> </a:t>
            </a:r>
            <a:r>
              <a:rPr dirty="0" spc="-110"/>
              <a:t>Grasshopper</a:t>
            </a:r>
            <a:r>
              <a:rPr dirty="0" spc="-80"/>
              <a:t> </a:t>
            </a:r>
            <a:r>
              <a:rPr dirty="0" spc="-105"/>
              <a:t>and</a:t>
            </a:r>
            <a:r>
              <a:rPr dirty="0" spc="-85"/>
              <a:t> </a:t>
            </a:r>
            <a:r>
              <a:rPr dirty="0" spc="-105"/>
              <a:t>the</a:t>
            </a:r>
            <a:r>
              <a:rPr dirty="0" spc="-80"/>
              <a:t> </a:t>
            </a:r>
            <a:r>
              <a:rPr dirty="0" spc="-105"/>
              <a:t>Ants</a:t>
            </a:r>
            <a:r>
              <a:rPr dirty="0" spc="-80"/>
              <a:t> </a:t>
            </a:r>
            <a:r>
              <a:rPr dirty="0" spc="-254"/>
              <a:t>—</a:t>
            </a:r>
            <a:r>
              <a:rPr dirty="0" spc="-85"/>
              <a:t> </a:t>
            </a:r>
            <a:r>
              <a:rPr dirty="0" spc="-35"/>
              <a:t>suits_grasshopper</a:t>
            </a:r>
          </a:p>
          <a:p>
            <a:pPr marL="12700" marR="5080">
              <a:lnSpc>
                <a:spcPts val="960"/>
              </a:lnSpc>
              <a:spcBef>
                <a:spcPts val="1150"/>
              </a:spcBef>
            </a:pP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Suits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reimagines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Aesop’s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fable.</a:t>
            </a:r>
            <a:r>
              <a:rPr dirty="0" sz="900" spc="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Grasshopper,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dying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winter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industrious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Ants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warm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fed,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70">
                <a:solidFill>
                  <a:srgbClr val="000000"/>
                </a:solidFill>
              </a:rPr>
              <a:t>unrepentant</a:t>
            </a:r>
            <a:r>
              <a:rPr dirty="0" sz="900" spc="-7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He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spent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summer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000000"/>
                </a:solidFill>
                <a:latin typeface="Arial"/>
                <a:cs typeface="Arial"/>
              </a:rPr>
              <a:t>playing</a:t>
            </a:r>
            <a:r>
              <a:rPr dirty="0" sz="900" spc="-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this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was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failure.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960"/>
              </a:lnSpc>
              <a:spcBef>
                <a:spcPts val="295"/>
              </a:spcBef>
            </a:pP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His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challenge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Ants: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000000"/>
                </a:solidFill>
              </a:rPr>
              <a:t>“What</a:t>
            </a:r>
            <a:r>
              <a:rPr dirty="0" sz="900" spc="-95">
                <a:solidFill>
                  <a:srgbClr val="000000"/>
                </a:solidFill>
              </a:rPr>
              <a:t> </a:t>
            </a:r>
            <a:r>
              <a:rPr dirty="0" sz="900" spc="-85">
                <a:solidFill>
                  <a:srgbClr val="000000"/>
                </a:solidFill>
              </a:rPr>
              <a:t>are</a:t>
            </a:r>
            <a:r>
              <a:rPr dirty="0" sz="900" spc="-90">
                <a:solidFill>
                  <a:srgbClr val="000000"/>
                </a:solidFill>
              </a:rPr>
              <a:t> you</a:t>
            </a:r>
            <a:r>
              <a:rPr dirty="0" sz="900" spc="-95">
                <a:solidFill>
                  <a:srgbClr val="000000"/>
                </a:solidFill>
              </a:rPr>
              <a:t> </a:t>
            </a:r>
            <a:r>
              <a:rPr dirty="0" sz="900" spc="-85">
                <a:solidFill>
                  <a:srgbClr val="000000"/>
                </a:solidFill>
              </a:rPr>
              <a:t>working</a:t>
            </a:r>
            <a:r>
              <a:rPr dirty="0" sz="900" spc="-95">
                <a:solidFill>
                  <a:srgbClr val="000000"/>
                </a:solidFill>
              </a:rPr>
              <a:t> </a:t>
            </a:r>
            <a:r>
              <a:rPr dirty="0" sz="900" spc="-30" b="1" i="1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dirty="0" sz="900" spc="-30">
                <a:solidFill>
                  <a:srgbClr val="000000"/>
                </a:solidFill>
              </a:rPr>
              <a:t>?”</a:t>
            </a:r>
            <a:r>
              <a:rPr dirty="0" sz="900" spc="-25">
                <a:solidFill>
                  <a:srgbClr val="000000"/>
                </a:solidFill>
              </a:rPr>
              <a:t> 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Ants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work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survive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but</a:t>
            </a:r>
            <a:r>
              <a:rPr dirty="0" sz="9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what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point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surviving?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be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comfortable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enough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900" spc="-1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900" spc="-1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900" spc="1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what?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960"/>
              </a:lnSpc>
              <a:spcBef>
                <a:spcPts val="290"/>
              </a:spcBef>
            </a:pP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His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answer:</a:t>
            </a:r>
            <a:r>
              <a:rPr dirty="0" sz="900" spc="1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end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work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70">
                <a:solidFill>
                  <a:srgbClr val="000000"/>
                </a:solidFill>
              </a:rPr>
              <a:t>leisure</a:t>
            </a:r>
            <a:r>
              <a:rPr dirty="0" sz="900" spc="-7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90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highest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form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leisure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play</a:t>
            </a:r>
            <a:r>
              <a:rPr dirty="0" sz="900" spc="-15">
                <a:solidFill>
                  <a:srgbClr val="000000"/>
                </a:solidFill>
              </a:rPr>
              <a:t> </a:t>
            </a:r>
            <a:r>
              <a:rPr dirty="0" sz="900" spc="-215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voluntary,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rule-governed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striving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its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own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sake.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pc="-10" i="1">
                <a:latin typeface="Arial"/>
                <a:cs typeface="Arial"/>
              </a:rPr>
              <a:t>Suits</a:t>
            </a:r>
          </a:p>
          <a:p>
            <a:pPr marL="20320">
              <a:lnSpc>
                <a:spcPct val="100000"/>
              </a:lnSpc>
              <a:spcBef>
                <a:spcPts val="750"/>
              </a:spcBef>
            </a:pPr>
            <a:r>
              <a:rPr dirty="0" sz="900" i="1">
                <a:solidFill>
                  <a:srgbClr val="000000"/>
                </a:solidFill>
                <a:latin typeface="Arial"/>
                <a:cs typeface="Arial"/>
              </a:rPr>
              <a:t>“The</a:t>
            </a:r>
            <a:r>
              <a:rPr dirty="0" sz="900" spc="-1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000000"/>
                </a:solidFill>
                <a:latin typeface="Arial"/>
                <a:cs typeface="Arial"/>
              </a:rPr>
              <a:t>Grasshopper</a:t>
            </a:r>
            <a:r>
              <a:rPr dirty="0" sz="900" spc="-1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000000"/>
                </a:solidFill>
                <a:latin typeface="Arial"/>
                <a:cs typeface="Arial"/>
              </a:rPr>
              <a:t>lives </a:t>
            </a:r>
            <a:r>
              <a:rPr dirty="0" sz="900" i="1">
                <a:solidFill>
                  <a:srgbClr val="000000"/>
                </a:solidFill>
                <a:latin typeface="Arial"/>
                <a:cs typeface="Arial"/>
              </a:rPr>
              <a:t>as</a:t>
            </a:r>
            <a:r>
              <a:rPr dirty="0" sz="900" spc="-1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dirty="0" sz="900" spc="-1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1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000000"/>
                </a:solidFill>
                <a:latin typeface="Arial"/>
                <a:cs typeface="Arial"/>
              </a:rPr>
              <a:t>Utopia</a:t>
            </a:r>
            <a:r>
              <a:rPr dirty="0" sz="900" spc="-1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000000"/>
                </a:solidFill>
                <a:latin typeface="Arial"/>
                <a:cs typeface="Arial"/>
              </a:rPr>
              <a:t>were</a:t>
            </a:r>
            <a:r>
              <a:rPr dirty="0" sz="900" spc="-1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000000"/>
                </a:solidFill>
                <a:latin typeface="Arial"/>
                <a:cs typeface="Arial"/>
              </a:rPr>
              <a:t>already</a:t>
            </a:r>
            <a:r>
              <a:rPr dirty="0" sz="900" spc="-10" i="1">
                <a:solidFill>
                  <a:srgbClr val="000000"/>
                </a:solidFill>
                <a:latin typeface="Arial"/>
                <a:cs typeface="Arial"/>
              </a:rPr>
              <a:t> here.”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4289425" cy="5080"/>
            </a:xfrm>
            <a:custGeom>
              <a:avLst/>
              <a:gdLst/>
              <a:ahLst/>
              <a:cxnLst/>
              <a:rect l="l" t="t" r="r" b="b"/>
              <a:pathLst>
                <a:path w="4289425" h="5080">
                  <a:moveTo>
                    <a:pt x="0" y="5060"/>
                  </a:moveTo>
                  <a:lnTo>
                    <a:pt x="0" y="0"/>
                  </a:lnTo>
                  <a:lnTo>
                    <a:pt x="4289381" y="0"/>
                  </a:lnTo>
                  <a:lnTo>
                    <a:pt x="42893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90"/>
              <a:t> </a:t>
            </a:r>
            <a:r>
              <a:rPr dirty="0" spc="-110"/>
              <a:t>Utopian</a:t>
            </a:r>
            <a:r>
              <a:rPr dirty="0" spc="-90"/>
              <a:t> </a:t>
            </a:r>
            <a:r>
              <a:rPr dirty="0" spc="-105"/>
              <a:t>Paradox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5"/>
            <a:ext cx="5040630" cy="832485"/>
            <a:chOff x="359994" y="602325"/>
            <a:chExt cx="5040630" cy="832485"/>
          </a:xfrm>
        </p:grpSpPr>
        <p:sp>
          <p:nvSpPr>
            <p:cNvPr id="4" name="object 4"/>
            <p:cNvSpPr/>
            <p:nvPr/>
          </p:nvSpPr>
          <p:spPr>
            <a:xfrm>
              <a:off x="359994" y="602325"/>
              <a:ext cx="5040630" cy="832485"/>
            </a:xfrm>
            <a:custGeom>
              <a:avLst/>
              <a:gdLst/>
              <a:ahLst/>
              <a:cxnLst/>
              <a:rect l="l" t="t" r="r" b="b"/>
              <a:pathLst>
                <a:path w="5040630" h="83248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794283"/>
                  </a:lnTo>
                  <a:lnTo>
                    <a:pt x="2982" y="809058"/>
                  </a:lnTo>
                  <a:lnTo>
                    <a:pt x="11117" y="821123"/>
                  </a:lnTo>
                  <a:lnTo>
                    <a:pt x="23182" y="829258"/>
                  </a:lnTo>
                  <a:lnTo>
                    <a:pt x="37958" y="832241"/>
                  </a:lnTo>
                  <a:lnTo>
                    <a:pt x="5002106" y="832241"/>
                  </a:lnTo>
                  <a:lnTo>
                    <a:pt x="5016882" y="829258"/>
                  </a:lnTo>
                  <a:lnTo>
                    <a:pt x="5028947" y="821123"/>
                  </a:lnTo>
                  <a:lnTo>
                    <a:pt x="5037082" y="809058"/>
                  </a:lnTo>
                  <a:lnTo>
                    <a:pt x="5040064" y="794283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3121"/>
              <a:ext cx="5015230" cy="589280"/>
            </a:xfrm>
            <a:custGeom>
              <a:avLst/>
              <a:gdLst/>
              <a:ahLst/>
              <a:cxnLst/>
              <a:rect l="l" t="t" r="r" b="b"/>
              <a:pathLst>
                <a:path w="5015230" h="589280">
                  <a:moveTo>
                    <a:pt x="5014759" y="0"/>
                  </a:moveTo>
                  <a:lnTo>
                    <a:pt x="0" y="0"/>
                  </a:lnTo>
                  <a:lnTo>
                    <a:pt x="0" y="563487"/>
                  </a:lnTo>
                  <a:lnTo>
                    <a:pt x="1988" y="573337"/>
                  </a:lnTo>
                  <a:lnTo>
                    <a:pt x="7411" y="581381"/>
                  </a:lnTo>
                  <a:lnTo>
                    <a:pt x="15455" y="586804"/>
                  </a:lnTo>
                  <a:lnTo>
                    <a:pt x="25305" y="588792"/>
                  </a:lnTo>
                  <a:lnTo>
                    <a:pt x="4989454" y="588792"/>
                  </a:lnTo>
                  <a:lnTo>
                    <a:pt x="4999304" y="586804"/>
                  </a:lnTo>
                  <a:lnTo>
                    <a:pt x="5007347" y="581381"/>
                  </a:lnTo>
                  <a:lnTo>
                    <a:pt x="5012770" y="573337"/>
                  </a:lnTo>
                  <a:lnTo>
                    <a:pt x="5014759" y="563487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629177"/>
            <a:ext cx="5040630" cy="1091565"/>
            <a:chOff x="359994" y="1629177"/>
            <a:chExt cx="5040630" cy="1091565"/>
          </a:xfrm>
        </p:grpSpPr>
        <p:sp>
          <p:nvSpPr>
            <p:cNvPr id="7" name="object 7"/>
            <p:cNvSpPr/>
            <p:nvPr/>
          </p:nvSpPr>
          <p:spPr>
            <a:xfrm>
              <a:off x="359994" y="1629177"/>
              <a:ext cx="5040630" cy="1091565"/>
            </a:xfrm>
            <a:custGeom>
              <a:avLst/>
              <a:gdLst/>
              <a:ahLst/>
              <a:cxnLst/>
              <a:rect l="l" t="t" r="r" b="b"/>
              <a:pathLst>
                <a:path w="5040630" h="109156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053508"/>
                  </a:lnTo>
                  <a:lnTo>
                    <a:pt x="2982" y="1068283"/>
                  </a:lnTo>
                  <a:lnTo>
                    <a:pt x="11117" y="1080349"/>
                  </a:lnTo>
                  <a:lnTo>
                    <a:pt x="23182" y="1088484"/>
                  </a:lnTo>
                  <a:lnTo>
                    <a:pt x="37958" y="1091466"/>
                  </a:lnTo>
                  <a:lnTo>
                    <a:pt x="5002106" y="1091466"/>
                  </a:lnTo>
                  <a:lnTo>
                    <a:pt x="5016882" y="1088484"/>
                  </a:lnTo>
                  <a:lnTo>
                    <a:pt x="5028947" y="1080349"/>
                  </a:lnTo>
                  <a:lnTo>
                    <a:pt x="5037082" y="1068283"/>
                  </a:lnTo>
                  <a:lnTo>
                    <a:pt x="5040064" y="1053508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1861636"/>
              <a:ext cx="5015230" cy="846455"/>
            </a:xfrm>
            <a:custGeom>
              <a:avLst/>
              <a:gdLst/>
              <a:ahLst/>
              <a:cxnLst/>
              <a:rect l="l" t="t" r="r" b="b"/>
              <a:pathLst>
                <a:path w="5015230" h="846455">
                  <a:moveTo>
                    <a:pt x="5014759" y="0"/>
                  </a:moveTo>
                  <a:lnTo>
                    <a:pt x="0" y="0"/>
                  </a:lnTo>
                  <a:lnTo>
                    <a:pt x="0" y="821050"/>
                  </a:lnTo>
                  <a:lnTo>
                    <a:pt x="1988" y="830900"/>
                  </a:lnTo>
                  <a:lnTo>
                    <a:pt x="7411" y="838944"/>
                  </a:lnTo>
                  <a:lnTo>
                    <a:pt x="15455" y="844367"/>
                  </a:lnTo>
                  <a:lnTo>
                    <a:pt x="25305" y="846355"/>
                  </a:lnTo>
                  <a:lnTo>
                    <a:pt x="4989454" y="846355"/>
                  </a:lnTo>
                  <a:lnTo>
                    <a:pt x="4999304" y="844367"/>
                  </a:lnTo>
                  <a:lnTo>
                    <a:pt x="5007347" y="838944"/>
                  </a:lnTo>
                  <a:lnTo>
                    <a:pt x="5012770" y="830900"/>
                  </a:lnTo>
                  <a:lnTo>
                    <a:pt x="5014759" y="82105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4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85"/>
              <a:t>Suits’</a:t>
            </a:r>
            <a:r>
              <a:rPr dirty="0" spc="-55"/>
              <a:t> </a:t>
            </a:r>
            <a:r>
              <a:rPr dirty="0" spc="-10"/>
              <a:t>Utopia</a:t>
            </a:r>
          </a:p>
          <a:p>
            <a:pPr marL="12700" marR="5080">
              <a:lnSpc>
                <a:spcPts val="960"/>
              </a:lnSpc>
              <a:spcBef>
                <a:spcPts val="1140"/>
              </a:spcBef>
            </a:pP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Imagine a world where every material need is automatically satisfied </a:t>
            </a:r>
            <a:r>
              <a:rPr dirty="0" sz="900" spc="-215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 by perfect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technol-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ogy,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AI.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No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one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000000"/>
                </a:solidFill>
                <a:latin typeface="Arial"/>
                <a:cs typeface="Arial"/>
              </a:rPr>
              <a:t>needs</a:t>
            </a:r>
            <a:r>
              <a:rPr dirty="0" sz="900" spc="-1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work.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What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people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do?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Suits: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they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play</a:t>
            </a:r>
            <a:r>
              <a:rPr dirty="0" sz="900" spc="-65">
                <a:solidFill>
                  <a:srgbClr val="000000"/>
                </a:solidFill>
              </a:rPr>
              <a:t> </a:t>
            </a:r>
            <a:r>
              <a:rPr dirty="0" sz="900" spc="-90">
                <a:solidFill>
                  <a:srgbClr val="000000"/>
                </a:solidFill>
              </a:rPr>
              <a:t>games</a:t>
            </a:r>
            <a:r>
              <a:rPr dirty="0" sz="900" spc="-9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because games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only</a:t>
            </a:r>
            <a:r>
              <a:rPr dirty="0" sz="900" spc="-65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rational</a:t>
            </a:r>
            <a:r>
              <a:rPr dirty="0" sz="900" spc="-60">
                <a:solidFill>
                  <a:srgbClr val="000000"/>
                </a:solidFill>
              </a:rPr>
              <a:t> </a:t>
            </a:r>
            <a:r>
              <a:rPr dirty="0" sz="900" spc="-80">
                <a:solidFill>
                  <a:srgbClr val="000000"/>
                </a:solidFill>
              </a:rPr>
              <a:t>activity</a:t>
            </a:r>
            <a:r>
              <a:rPr dirty="0" sz="900" spc="-65">
                <a:solidFill>
                  <a:srgbClr val="000000"/>
                </a:solidFill>
              </a:rPr>
              <a:t> </a:t>
            </a:r>
            <a:r>
              <a:rPr dirty="0" sz="900" spc="-10">
                <a:solidFill>
                  <a:srgbClr val="000000"/>
                </a:solidFill>
              </a:rPr>
              <a:t>remaining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pc="-135"/>
              <a:t>The</a:t>
            </a:r>
            <a:r>
              <a:rPr dirty="0" spc="-65"/>
              <a:t> </a:t>
            </a:r>
            <a:r>
              <a:rPr dirty="0" spc="-110"/>
              <a:t>Utopian</a:t>
            </a:r>
            <a:r>
              <a:rPr dirty="0" spc="-65"/>
              <a:t> </a:t>
            </a:r>
            <a:r>
              <a:rPr dirty="0" spc="-120"/>
              <a:t>Paradox</a:t>
            </a:r>
            <a:r>
              <a:rPr dirty="0" spc="-65"/>
              <a:t> </a:t>
            </a:r>
            <a:r>
              <a:rPr dirty="0" spc="-10"/>
              <a:t>Argument</a:t>
            </a:r>
          </a:p>
          <a:p>
            <a:pPr marL="120650">
              <a:lnSpc>
                <a:spcPct val="100000"/>
              </a:lnSpc>
              <a:spcBef>
                <a:spcPts val="103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3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55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utopia, </a:t>
            </a:r>
            <a:r>
              <a:rPr dirty="0" sz="900" spc="-65">
                <a:solidFill>
                  <a:srgbClr val="22373A"/>
                </a:solidFill>
              </a:rPr>
              <a:t>all</a:t>
            </a:r>
            <a:r>
              <a:rPr dirty="0" sz="900" spc="-5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instrumental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activities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handled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automatically.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3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remaining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activities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</a:rPr>
              <a:t>pursued</a:t>
            </a:r>
            <a:r>
              <a:rPr dirty="0" sz="900" spc="-55">
                <a:solidFill>
                  <a:srgbClr val="22373A"/>
                </a:solidFill>
              </a:rPr>
              <a:t> </a:t>
            </a:r>
            <a:r>
              <a:rPr dirty="0" sz="900" spc="-65">
                <a:solidFill>
                  <a:srgbClr val="22373A"/>
                </a:solidFill>
              </a:rPr>
              <a:t>for</a:t>
            </a:r>
            <a:r>
              <a:rPr dirty="0" sz="900" spc="-55">
                <a:solidFill>
                  <a:srgbClr val="22373A"/>
                </a:solidFill>
              </a:rPr>
              <a:t> </a:t>
            </a:r>
            <a:r>
              <a:rPr dirty="0" sz="900" spc="-70">
                <a:solidFill>
                  <a:srgbClr val="22373A"/>
                </a:solidFill>
              </a:rPr>
              <a:t>their</a:t>
            </a:r>
            <a:r>
              <a:rPr dirty="0" sz="900" spc="-60">
                <a:solidFill>
                  <a:srgbClr val="22373A"/>
                </a:solidFill>
              </a:rPr>
              <a:t> </a:t>
            </a:r>
            <a:r>
              <a:rPr dirty="0" sz="900" spc="-100">
                <a:solidFill>
                  <a:srgbClr val="22373A"/>
                </a:solidFill>
              </a:rPr>
              <a:t>own</a:t>
            </a:r>
            <a:r>
              <a:rPr dirty="0" sz="900" spc="-55">
                <a:solidFill>
                  <a:srgbClr val="22373A"/>
                </a:solidFill>
              </a:rPr>
              <a:t> </a:t>
            </a:r>
            <a:r>
              <a:rPr dirty="0" sz="900" spc="-10">
                <a:solidFill>
                  <a:srgbClr val="22373A"/>
                </a:solidFill>
              </a:rPr>
              <a:t>sake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3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 activities pursued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via </a:t>
            </a:r>
            <a:r>
              <a:rPr dirty="0" sz="900" spc="-70">
                <a:solidFill>
                  <a:srgbClr val="22373A"/>
                </a:solidFill>
              </a:rPr>
              <a:t>voluntarily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 spc="-105">
                <a:solidFill>
                  <a:srgbClr val="22373A"/>
                </a:solidFill>
              </a:rPr>
              <a:t>accepted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 spc="-10">
                <a:solidFill>
                  <a:srgbClr val="22373A"/>
                </a:solidFill>
              </a:rPr>
              <a:t>obstacles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4.</a:t>
            </a:r>
            <a:r>
              <a:rPr dirty="0" sz="900" spc="3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Therefore,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utopia,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22373A"/>
                </a:solidFill>
              </a:rPr>
              <a:t>all </a:t>
            </a:r>
            <a:r>
              <a:rPr dirty="0" sz="900" spc="-75">
                <a:solidFill>
                  <a:srgbClr val="22373A"/>
                </a:solidFill>
              </a:rPr>
              <a:t>rational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activity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100">
                <a:solidFill>
                  <a:srgbClr val="22373A"/>
                </a:solidFill>
              </a:rPr>
              <a:t>takes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the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70">
                <a:solidFill>
                  <a:srgbClr val="22373A"/>
                </a:solidFill>
              </a:rPr>
              <a:t>form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75">
                <a:solidFill>
                  <a:srgbClr val="22373A"/>
                </a:solidFill>
              </a:rPr>
              <a:t>of</a:t>
            </a:r>
            <a:r>
              <a:rPr dirty="0" sz="900" spc="-65">
                <a:solidFill>
                  <a:srgbClr val="22373A"/>
                </a:solidFill>
              </a:rPr>
              <a:t> </a:t>
            </a:r>
            <a:r>
              <a:rPr dirty="0" sz="900" spc="-10">
                <a:solidFill>
                  <a:srgbClr val="22373A"/>
                </a:solidFill>
              </a:rPr>
              <a:t>games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4412615" cy="5080"/>
            </a:xfrm>
            <a:custGeom>
              <a:avLst/>
              <a:gdLst/>
              <a:ahLst/>
              <a:cxnLst/>
              <a:rect l="l" t="t" r="r" b="b"/>
              <a:pathLst>
                <a:path w="4412615" h="5080">
                  <a:moveTo>
                    <a:pt x="0" y="5060"/>
                  </a:moveTo>
                  <a:lnTo>
                    <a:pt x="0" y="0"/>
                  </a:lnTo>
                  <a:lnTo>
                    <a:pt x="4411990" y="0"/>
                  </a:lnTo>
                  <a:lnTo>
                    <a:pt x="44119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03505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Life</a:t>
            </a:r>
            <a:r>
              <a:rPr dirty="0" spc="-90"/>
              <a:t> </a:t>
            </a:r>
            <a:r>
              <a:rPr dirty="0" b="1" i="1">
                <a:latin typeface="Arial"/>
                <a:cs typeface="Arial"/>
              </a:rPr>
              <a:t>Is</a:t>
            </a:r>
            <a:r>
              <a:rPr dirty="0" spc="-25" b="1" i="1">
                <a:latin typeface="Arial"/>
                <a:cs typeface="Arial"/>
              </a:rPr>
              <a:t> </a:t>
            </a:r>
            <a:r>
              <a:rPr dirty="0" spc="-120"/>
              <a:t>a</a:t>
            </a:r>
            <a:r>
              <a:rPr dirty="0" spc="-90"/>
              <a:t> </a:t>
            </a:r>
            <a:r>
              <a:rPr dirty="0" spc="-114"/>
              <a:t>Game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0319"/>
            <a:ext cx="5040630" cy="652145"/>
            <a:chOff x="359994" y="530319"/>
            <a:chExt cx="5040630" cy="652145"/>
          </a:xfrm>
        </p:grpSpPr>
        <p:sp>
          <p:nvSpPr>
            <p:cNvPr id="4" name="object 4"/>
            <p:cNvSpPr/>
            <p:nvPr/>
          </p:nvSpPr>
          <p:spPr>
            <a:xfrm>
              <a:off x="359994" y="530319"/>
              <a:ext cx="5040630" cy="652145"/>
            </a:xfrm>
            <a:custGeom>
              <a:avLst/>
              <a:gdLst/>
              <a:ahLst/>
              <a:cxnLst/>
              <a:rect l="l" t="t" r="r" b="b"/>
              <a:pathLst>
                <a:path w="5040630" h="652144">
                  <a:moveTo>
                    <a:pt x="5008433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620038"/>
                  </a:lnTo>
                  <a:lnTo>
                    <a:pt x="2485" y="632350"/>
                  </a:lnTo>
                  <a:lnTo>
                    <a:pt x="9264" y="642405"/>
                  </a:lnTo>
                  <a:lnTo>
                    <a:pt x="19319" y="649184"/>
                  </a:lnTo>
                  <a:lnTo>
                    <a:pt x="31631" y="651669"/>
                  </a:lnTo>
                  <a:lnTo>
                    <a:pt x="5008433" y="651669"/>
                  </a:lnTo>
                  <a:lnTo>
                    <a:pt x="5020745" y="649184"/>
                  </a:lnTo>
                  <a:lnTo>
                    <a:pt x="5030800" y="642405"/>
                  </a:lnTo>
                  <a:lnTo>
                    <a:pt x="5037579" y="632350"/>
                  </a:lnTo>
                  <a:lnTo>
                    <a:pt x="5040064" y="620038"/>
                  </a:lnTo>
                  <a:lnTo>
                    <a:pt x="5040064" y="31631"/>
                  </a:lnTo>
                  <a:lnTo>
                    <a:pt x="5037579" y="19319"/>
                  </a:lnTo>
                  <a:lnTo>
                    <a:pt x="5030800" y="9264"/>
                  </a:lnTo>
                  <a:lnTo>
                    <a:pt x="5020745" y="2485"/>
                  </a:lnTo>
                  <a:lnTo>
                    <a:pt x="5008433" y="0"/>
                  </a:lnTo>
                  <a:close/>
                </a:path>
              </a:pathLst>
            </a:custGeom>
            <a:solidFill>
              <a:srgbClr val="545F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7952" y="750124"/>
              <a:ext cx="4996180" cy="426084"/>
            </a:xfrm>
            <a:custGeom>
              <a:avLst/>
              <a:gdLst/>
              <a:ahLst/>
              <a:cxnLst/>
              <a:rect l="l" t="t" r="r" b="b"/>
              <a:pathLst>
                <a:path w="4996180" h="426084">
                  <a:moveTo>
                    <a:pt x="4995780" y="0"/>
                  </a:moveTo>
                  <a:lnTo>
                    <a:pt x="0" y="0"/>
                  </a:lnTo>
                  <a:lnTo>
                    <a:pt x="0" y="400232"/>
                  </a:lnTo>
                  <a:lnTo>
                    <a:pt x="1988" y="410082"/>
                  </a:lnTo>
                  <a:lnTo>
                    <a:pt x="7411" y="418125"/>
                  </a:lnTo>
                  <a:lnTo>
                    <a:pt x="15455" y="423549"/>
                  </a:lnTo>
                  <a:lnTo>
                    <a:pt x="25305" y="425537"/>
                  </a:lnTo>
                  <a:lnTo>
                    <a:pt x="4970475" y="425537"/>
                  </a:lnTo>
                  <a:lnTo>
                    <a:pt x="4980325" y="423549"/>
                  </a:lnTo>
                  <a:lnTo>
                    <a:pt x="4988368" y="418125"/>
                  </a:lnTo>
                  <a:lnTo>
                    <a:pt x="4993791" y="410082"/>
                  </a:lnTo>
                  <a:lnTo>
                    <a:pt x="4995780" y="400232"/>
                  </a:lnTo>
                  <a:lnTo>
                    <a:pt x="499578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47789" y="527188"/>
            <a:ext cx="4696460" cy="5746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i="1">
                <a:solidFill>
                  <a:srgbClr val="FFFFFF"/>
                </a:solidFill>
                <a:latin typeface="Arial"/>
                <a:cs typeface="Arial"/>
              </a:rPr>
              <a:t>Suits</a:t>
            </a:r>
            <a:r>
              <a:rPr dirty="0" sz="1100" spc="-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100" spc="-40">
                <a:solidFill>
                  <a:srgbClr val="FFFFFF"/>
                </a:solidFill>
                <a:latin typeface="Arial Black"/>
                <a:cs typeface="Arial Black"/>
              </a:rPr>
              <a:t>suits_grasshopper</a:t>
            </a:r>
            <a:r>
              <a:rPr dirty="0" sz="1100" spc="-40" i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960"/>
              </a:lnSpc>
              <a:spcBef>
                <a:spcPts val="1100"/>
              </a:spcBef>
            </a:pPr>
            <a:r>
              <a:rPr dirty="0" sz="900">
                <a:latin typeface="Arial"/>
                <a:cs typeface="Arial"/>
              </a:rPr>
              <a:t>“Utopia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world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where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games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are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played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.</a:t>
            </a:r>
            <a:r>
              <a:rPr dirty="0" sz="900" spc="-1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.</a:t>
            </a:r>
            <a:r>
              <a:rPr dirty="0" sz="900" spc="-1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.</a:t>
            </a:r>
            <a:r>
              <a:rPr dirty="0" sz="900" spc="-1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very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problems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life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become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game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of </a:t>
            </a:r>
            <a:r>
              <a:rPr dirty="0" sz="900" spc="-10">
                <a:latin typeface="Arial"/>
                <a:cs typeface="Arial"/>
              </a:rPr>
              <a:t>life.”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7213" y="1464602"/>
            <a:ext cx="2419350" cy="1384300"/>
            <a:chOff x="307213" y="1464602"/>
            <a:chExt cx="2419350" cy="1384300"/>
          </a:xfrm>
        </p:grpSpPr>
        <p:sp>
          <p:nvSpPr>
            <p:cNvPr id="8" name="object 8"/>
            <p:cNvSpPr/>
            <p:nvPr/>
          </p:nvSpPr>
          <p:spPr>
            <a:xfrm>
              <a:off x="307213" y="1464602"/>
              <a:ext cx="2419350" cy="1384300"/>
            </a:xfrm>
            <a:custGeom>
              <a:avLst/>
              <a:gdLst/>
              <a:ahLst/>
              <a:cxnLst/>
              <a:rect l="l" t="t" r="r" b="b"/>
              <a:pathLst>
                <a:path w="2419350" h="1384300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345897"/>
                  </a:lnTo>
                  <a:lnTo>
                    <a:pt x="2982" y="1360672"/>
                  </a:lnTo>
                  <a:lnTo>
                    <a:pt x="11117" y="1372737"/>
                  </a:lnTo>
                  <a:lnTo>
                    <a:pt x="23182" y="1380872"/>
                  </a:lnTo>
                  <a:lnTo>
                    <a:pt x="37958" y="1383855"/>
                  </a:lnTo>
                  <a:lnTo>
                    <a:pt x="2381251" y="1383855"/>
                  </a:lnTo>
                  <a:lnTo>
                    <a:pt x="2396026" y="1380872"/>
                  </a:lnTo>
                  <a:lnTo>
                    <a:pt x="2408091" y="1372737"/>
                  </a:lnTo>
                  <a:lnTo>
                    <a:pt x="2416226" y="1360672"/>
                  </a:lnTo>
                  <a:lnTo>
                    <a:pt x="2419209" y="1345897"/>
                  </a:lnTo>
                  <a:lnTo>
                    <a:pt x="2419209" y="37958"/>
                  </a:lnTo>
                  <a:lnTo>
                    <a:pt x="2416226" y="23183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9865" y="1695398"/>
              <a:ext cx="2393950" cy="1140460"/>
            </a:xfrm>
            <a:custGeom>
              <a:avLst/>
              <a:gdLst/>
              <a:ahLst/>
              <a:cxnLst/>
              <a:rect l="l" t="t" r="r" b="b"/>
              <a:pathLst>
                <a:path w="2393950" h="1140460">
                  <a:moveTo>
                    <a:pt x="2393904" y="0"/>
                  </a:moveTo>
                  <a:lnTo>
                    <a:pt x="0" y="0"/>
                  </a:lnTo>
                  <a:lnTo>
                    <a:pt x="0" y="1115101"/>
                  </a:lnTo>
                  <a:lnTo>
                    <a:pt x="1988" y="1124951"/>
                  </a:lnTo>
                  <a:lnTo>
                    <a:pt x="7411" y="1132995"/>
                  </a:lnTo>
                  <a:lnTo>
                    <a:pt x="15455" y="1138418"/>
                  </a:lnTo>
                  <a:lnTo>
                    <a:pt x="25305" y="1140406"/>
                  </a:lnTo>
                  <a:lnTo>
                    <a:pt x="2368598" y="1140406"/>
                  </a:lnTo>
                  <a:lnTo>
                    <a:pt x="2378448" y="1138418"/>
                  </a:lnTo>
                  <a:lnTo>
                    <a:pt x="2386492" y="1132995"/>
                  </a:lnTo>
                  <a:lnTo>
                    <a:pt x="2391915" y="1124951"/>
                  </a:lnTo>
                  <a:lnTo>
                    <a:pt x="2393904" y="1115101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87172" y="1467801"/>
            <a:ext cx="2019935" cy="1294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Implies</a:t>
            </a:r>
            <a:endParaRPr sz="1100">
              <a:latin typeface="Arial Black"/>
              <a:cs typeface="Arial Black"/>
            </a:endParaRPr>
          </a:p>
          <a:p>
            <a:pPr marL="289560" marR="132080" indent="-114935">
              <a:lnSpc>
                <a:spcPts val="960"/>
              </a:lnSpc>
              <a:spcBef>
                <a:spcPts val="115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7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Obstacles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life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conditions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for</a:t>
            </a:r>
            <a:r>
              <a:rPr dirty="0" sz="900" spc="-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meaning</a:t>
            </a:r>
            <a:r>
              <a:rPr dirty="0" sz="900" spc="-8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problems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eliminate</a:t>
            </a:r>
            <a:endParaRPr sz="900">
              <a:latin typeface="Arial"/>
              <a:cs typeface="Arial"/>
            </a:endParaRPr>
          </a:p>
          <a:p>
            <a:pPr marL="289560" marR="118110" indent="-114935">
              <a:lnSpc>
                <a:spcPts val="960"/>
              </a:lnSpc>
              <a:spcBef>
                <a:spcPts val="409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life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difficulty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removed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meaningless</a:t>
            </a:r>
            <a:endParaRPr sz="900">
              <a:latin typeface="Arial Black"/>
              <a:cs typeface="Arial Black"/>
            </a:endParaRPr>
          </a:p>
          <a:p>
            <a:pPr marL="289560" marR="5080" indent="-114935">
              <a:lnSpc>
                <a:spcPts val="960"/>
              </a:lnSpc>
              <a:spcBef>
                <a:spcPts val="40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Striving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end;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end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33610" y="1464607"/>
            <a:ext cx="2419350" cy="905510"/>
            <a:chOff x="3033610" y="1464607"/>
            <a:chExt cx="2419350" cy="905510"/>
          </a:xfrm>
        </p:grpSpPr>
        <p:sp>
          <p:nvSpPr>
            <p:cNvPr id="12" name="object 12"/>
            <p:cNvSpPr/>
            <p:nvPr/>
          </p:nvSpPr>
          <p:spPr>
            <a:xfrm>
              <a:off x="3033610" y="1464607"/>
              <a:ext cx="2419350" cy="905510"/>
            </a:xfrm>
            <a:custGeom>
              <a:avLst/>
              <a:gdLst/>
              <a:ahLst/>
              <a:cxnLst/>
              <a:rect l="l" t="t" r="r" b="b"/>
              <a:pathLst>
                <a:path w="2419350" h="905510">
                  <a:moveTo>
                    <a:pt x="238125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867127"/>
                  </a:lnTo>
                  <a:lnTo>
                    <a:pt x="2982" y="881902"/>
                  </a:lnTo>
                  <a:lnTo>
                    <a:pt x="11117" y="893968"/>
                  </a:lnTo>
                  <a:lnTo>
                    <a:pt x="23182" y="902102"/>
                  </a:lnTo>
                  <a:lnTo>
                    <a:pt x="37958" y="905085"/>
                  </a:lnTo>
                  <a:lnTo>
                    <a:pt x="2381251" y="905085"/>
                  </a:lnTo>
                  <a:lnTo>
                    <a:pt x="2396026" y="902102"/>
                  </a:lnTo>
                  <a:lnTo>
                    <a:pt x="2408091" y="893968"/>
                  </a:lnTo>
                  <a:lnTo>
                    <a:pt x="2416226" y="881902"/>
                  </a:lnTo>
                  <a:lnTo>
                    <a:pt x="2419209" y="867127"/>
                  </a:lnTo>
                  <a:lnTo>
                    <a:pt x="2419209" y="37958"/>
                  </a:lnTo>
                  <a:lnTo>
                    <a:pt x="2416226" y="23182"/>
                  </a:lnTo>
                  <a:lnTo>
                    <a:pt x="2408091" y="11117"/>
                  </a:lnTo>
                  <a:lnTo>
                    <a:pt x="2396026" y="2982"/>
                  </a:lnTo>
                  <a:lnTo>
                    <a:pt x="2381251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46263" y="1663883"/>
              <a:ext cx="2393950" cy="693420"/>
            </a:xfrm>
            <a:custGeom>
              <a:avLst/>
              <a:gdLst/>
              <a:ahLst/>
              <a:cxnLst/>
              <a:rect l="l" t="t" r="r" b="b"/>
              <a:pathLst>
                <a:path w="2393950" h="693419">
                  <a:moveTo>
                    <a:pt x="2393904" y="0"/>
                  </a:moveTo>
                  <a:lnTo>
                    <a:pt x="0" y="0"/>
                  </a:lnTo>
                  <a:lnTo>
                    <a:pt x="0" y="667851"/>
                  </a:lnTo>
                  <a:lnTo>
                    <a:pt x="1988" y="677701"/>
                  </a:lnTo>
                  <a:lnTo>
                    <a:pt x="7411" y="685744"/>
                  </a:lnTo>
                  <a:lnTo>
                    <a:pt x="15455" y="691167"/>
                  </a:lnTo>
                  <a:lnTo>
                    <a:pt x="25305" y="693156"/>
                  </a:lnTo>
                  <a:lnTo>
                    <a:pt x="2368598" y="693156"/>
                  </a:lnTo>
                  <a:lnTo>
                    <a:pt x="2378448" y="691167"/>
                  </a:lnTo>
                  <a:lnTo>
                    <a:pt x="2386492" y="685744"/>
                  </a:lnTo>
                  <a:lnTo>
                    <a:pt x="2391915" y="677701"/>
                  </a:lnTo>
                  <a:lnTo>
                    <a:pt x="2393904" y="667851"/>
                  </a:lnTo>
                  <a:lnTo>
                    <a:pt x="2393904" y="0"/>
                  </a:lnTo>
                  <a:close/>
                </a:path>
              </a:pathLst>
            </a:custGeom>
            <a:solidFill>
              <a:srgbClr val="FBF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213557" y="1462403"/>
            <a:ext cx="2059305" cy="799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Hollow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FFFFFF"/>
                </a:solidFill>
                <a:latin typeface="Arial Black"/>
                <a:cs typeface="Arial Black"/>
              </a:rPr>
              <a:t>Obstacle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Problem</a:t>
            </a:r>
            <a:endParaRPr sz="1100">
              <a:latin typeface="Arial Black"/>
              <a:cs typeface="Arial Black"/>
            </a:endParaRPr>
          </a:p>
          <a:p>
            <a:pPr algn="just" marL="12700" marR="5080">
              <a:lnSpc>
                <a:spcPts val="960"/>
              </a:lnSpc>
              <a:spcBef>
                <a:spcPts val="940"/>
              </a:spcBef>
            </a:pPr>
            <a:r>
              <a:rPr dirty="0" sz="900">
                <a:latin typeface="Arial"/>
                <a:cs typeface="Arial"/>
              </a:rPr>
              <a:t>Can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you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sustain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80">
                <a:latin typeface="Arial"/>
                <a:cs typeface="Arial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lusory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60">
                <a:latin typeface="Arial Black"/>
                <a:cs typeface="Arial Black"/>
              </a:rPr>
              <a:t>attitude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165">
                <a:latin typeface="Arial"/>
                <a:cs typeface="Arial"/>
              </a:rPr>
              <a:t>—</a:t>
            </a:r>
            <a:r>
              <a:rPr dirty="0" sz="900">
                <a:latin typeface="Arial"/>
                <a:cs typeface="Arial"/>
              </a:rPr>
              <a:t> genuinely</a:t>
            </a:r>
            <a:r>
              <a:rPr dirty="0" sz="900" spc="14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caring</a:t>
            </a:r>
            <a:r>
              <a:rPr dirty="0" sz="900" spc="14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about</a:t>
            </a:r>
            <a:r>
              <a:rPr dirty="0" sz="900" spc="15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4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outcome</a:t>
            </a:r>
            <a:r>
              <a:rPr dirty="0" sz="900" spc="150">
                <a:latin typeface="Arial"/>
                <a:cs typeface="Arial"/>
              </a:rPr>
              <a:t> </a:t>
            </a:r>
            <a:r>
              <a:rPr dirty="0" sz="900" spc="-170">
                <a:latin typeface="Arial"/>
                <a:cs typeface="Arial"/>
              </a:rPr>
              <a:t>—</a:t>
            </a:r>
            <a:r>
              <a:rPr dirty="0" sz="900">
                <a:latin typeface="Arial"/>
                <a:cs typeface="Arial"/>
              </a:rPr>
              <a:t> when you know the obstacle was </a:t>
            </a:r>
            <a:r>
              <a:rPr dirty="0" sz="900" spc="-25">
                <a:latin typeface="Arial"/>
                <a:cs typeface="Arial"/>
              </a:rPr>
              <a:t>in-</a:t>
            </a:r>
            <a:r>
              <a:rPr dirty="0" sz="900">
                <a:latin typeface="Arial"/>
                <a:cs typeface="Arial"/>
              </a:rPr>
              <a:t>vented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purely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so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you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could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overcome </a:t>
            </a:r>
            <a:r>
              <a:rPr dirty="0" sz="900" spc="-25">
                <a:latin typeface="Arial"/>
                <a:cs typeface="Arial"/>
              </a:rPr>
              <a:t>it?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4534535" cy="5080"/>
            </a:xfrm>
            <a:custGeom>
              <a:avLst/>
              <a:gdLst/>
              <a:ahLst/>
              <a:cxnLst/>
              <a:rect l="l" t="t" r="r" b="b"/>
              <a:pathLst>
                <a:path w="4534535" h="5080">
                  <a:moveTo>
                    <a:pt x="0" y="5060"/>
                  </a:moveTo>
                  <a:lnTo>
                    <a:pt x="0" y="0"/>
                  </a:lnTo>
                  <a:lnTo>
                    <a:pt x="4534511" y="0"/>
                  </a:lnTo>
                  <a:lnTo>
                    <a:pt x="45345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/>
              <a:t>Games</a:t>
            </a:r>
            <a:r>
              <a:rPr dirty="0" spc="-95"/>
              <a:t> </a:t>
            </a:r>
            <a:r>
              <a:rPr dirty="0" spc="-140"/>
              <a:t>as</a:t>
            </a:r>
            <a:r>
              <a:rPr dirty="0" spc="-95"/>
              <a:t> </a:t>
            </a:r>
            <a:r>
              <a:rPr dirty="0" spc="-105"/>
              <a:t>the</a:t>
            </a:r>
            <a:r>
              <a:rPr dirty="0" spc="-95"/>
              <a:t> </a:t>
            </a:r>
            <a:r>
              <a:rPr dirty="0" spc="-125"/>
              <a:t>Human</a:t>
            </a:r>
            <a:r>
              <a:rPr dirty="0" spc="-90"/>
              <a:t> </a:t>
            </a:r>
            <a:r>
              <a:rPr dirty="0" spc="-100"/>
              <a:t>Constant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766" y="567042"/>
            <a:ext cx="1245210" cy="15601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698" y="2207639"/>
            <a:ext cx="1966595" cy="25272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Ludwig</a:t>
            </a:r>
            <a:r>
              <a:rPr dirty="0" sz="8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Deutsch,</a:t>
            </a:r>
            <a:r>
              <a:rPr dirty="0" sz="8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80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45" i="1">
                <a:solidFill>
                  <a:srgbClr val="22373A"/>
                </a:solidFill>
                <a:latin typeface="Arial"/>
                <a:cs typeface="Arial"/>
              </a:rPr>
              <a:t>Chess</a:t>
            </a:r>
            <a:r>
              <a:rPr dirty="0" sz="800" spc="-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22373A"/>
                </a:solidFill>
                <a:latin typeface="Arial"/>
                <a:cs typeface="Arial"/>
              </a:rPr>
              <a:t>Players</a:t>
            </a:r>
            <a:r>
              <a:rPr dirty="0" sz="800" spc="-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(1904).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domain,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Wikimedia</a:t>
            </a:r>
            <a:r>
              <a:rPr dirty="0" sz="8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Commons.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4069" y="412236"/>
            <a:ext cx="2802890" cy="9258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960"/>
              </a:lnSpc>
              <a:spcBef>
                <a:spcPts val="225"/>
              </a:spcBef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Chess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played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1,500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years.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85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produces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no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food, builds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 shelter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obstacles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entirely 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artificial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Yet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it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been called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form of art,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meditation,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battle.</a:t>
            </a:r>
            <a:endParaRPr sz="900">
              <a:latin typeface="Arial"/>
              <a:cs typeface="Arial"/>
            </a:endParaRPr>
          </a:p>
          <a:p>
            <a:pPr marL="12700" marR="8255">
              <a:lnSpc>
                <a:spcPts val="960"/>
              </a:lnSpc>
              <a:spcBef>
                <a:spcPts val="245"/>
              </a:spcBef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persistence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across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history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suggests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they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distract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life’s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meaning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express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it.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Suits’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central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point.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4657725" cy="5080"/>
            </a:xfrm>
            <a:custGeom>
              <a:avLst/>
              <a:gdLst/>
              <a:ahLst/>
              <a:cxnLst/>
              <a:rect l="l" t="t" r="r" b="b"/>
              <a:pathLst>
                <a:path w="4657725" h="5080">
                  <a:moveTo>
                    <a:pt x="0" y="5060"/>
                  </a:moveTo>
                  <a:lnTo>
                    <a:pt x="0" y="0"/>
                  </a:lnTo>
                  <a:lnTo>
                    <a:pt x="4657120" y="0"/>
                  </a:lnTo>
                  <a:lnTo>
                    <a:pt x="46571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5"/>
              <a:t>Keynes’</a:t>
            </a:r>
            <a:r>
              <a:rPr dirty="0" spc="-70"/>
              <a:t> </a:t>
            </a:r>
            <a:r>
              <a:rPr dirty="0" spc="-95"/>
              <a:t>Prediction:</a:t>
            </a:r>
            <a:r>
              <a:rPr dirty="0" spc="-15"/>
              <a:t> </a:t>
            </a:r>
            <a:r>
              <a:rPr dirty="0" spc="-140"/>
              <a:t>The</a:t>
            </a:r>
            <a:r>
              <a:rPr dirty="0" spc="-65"/>
              <a:t> </a:t>
            </a:r>
            <a:r>
              <a:rPr dirty="0" spc="-125"/>
              <a:t>Leisure</a:t>
            </a:r>
            <a:r>
              <a:rPr dirty="0" spc="-65"/>
              <a:t> </a:t>
            </a:r>
            <a:r>
              <a:rPr dirty="0" spc="-75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24"/>
            <a:ext cx="5040630" cy="965835"/>
            <a:chOff x="359994" y="602324"/>
            <a:chExt cx="5040630" cy="965835"/>
          </a:xfrm>
        </p:grpSpPr>
        <p:sp>
          <p:nvSpPr>
            <p:cNvPr id="4" name="object 4"/>
            <p:cNvSpPr/>
            <p:nvPr/>
          </p:nvSpPr>
          <p:spPr>
            <a:xfrm>
              <a:off x="359994" y="602324"/>
              <a:ext cx="5040630" cy="965835"/>
            </a:xfrm>
            <a:custGeom>
              <a:avLst/>
              <a:gdLst/>
              <a:ahLst/>
              <a:cxnLst/>
              <a:rect l="l" t="t" r="r" b="b"/>
              <a:pathLst>
                <a:path w="5040630" h="96583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927710"/>
                  </a:lnTo>
                  <a:lnTo>
                    <a:pt x="2982" y="942485"/>
                  </a:lnTo>
                  <a:lnTo>
                    <a:pt x="11117" y="954551"/>
                  </a:lnTo>
                  <a:lnTo>
                    <a:pt x="23182" y="962685"/>
                  </a:lnTo>
                  <a:lnTo>
                    <a:pt x="37958" y="965668"/>
                  </a:lnTo>
                  <a:lnTo>
                    <a:pt x="5002106" y="965668"/>
                  </a:lnTo>
                  <a:lnTo>
                    <a:pt x="5016882" y="962685"/>
                  </a:lnTo>
                  <a:lnTo>
                    <a:pt x="5028947" y="954551"/>
                  </a:lnTo>
                  <a:lnTo>
                    <a:pt x="5037082" y="942485"/>
                  </a:lnTo>
                  <a:lnTo>
                    <a:pt x="5040064" y="927710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984548"/>
              <a:ext cx="5015230" cy="570865"/>
            </a:xfrm>
            <a:custGeom>
              <a:avLst/>
              <a:gdLst/>
              <a:ahLst/>
              <a:cxnLst/>
              <a:rect l="l" t="t" r="r" b="b"/>
              <a:pathLst>
                <a:path w="5015230" h="570865">
                  <a:moveTo>
                    <a:pt x="5014759" y="0"/>
                  </a:moveTo>
                  <a:lnTo>
                    <a:pt x="0" y="0"/>
                  </a:lnTo>
                  <a:lnTo>
                    <a:pt x="0" y="545486"/>
                  </a:lnTo>
                  <a:lnTo>
                    <a:pt x="1988" y="555336"/>
                  </a:lnTo>
                  <a:lnTo>
                    <a:pt x="7411" y="563379"/>
                  </a:lnTo>
                  <a:lnTo>
                    <a:pt x="15455" y="568802"/>
                  </a:lnTo>
                  <a:lnTo>
                    <a:pt x="25305" y="570791"/>
                  </a:lnTo>
                  <a:lnTo>
                    <a:pt x="4989454" y="570791"/>
                  </a:lnTo>
                  <a:lnTo>
                    <a:pt x="4999304" y="568802"/>
                  </a:lnTo>
                  <a:lnTo>
                    <a:pt x="5007347" y="563379"/>
                  </a:lnTo>
                  <a:lnTo>
                    <a:pt x="5012770" y="555336"/>
                  </a:lnTo>
                  <a:lnTo>
                    <a:pt x="5014759" y="545486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205015" y="605522"/>
            <a:ext cx="262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Our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7020" y="605522"/>
            <a:ext cx="960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solidFill>
                  <a:srgbClr val="FFFFFF"/>
                </a:solidFill>
                <a:latin typeface="Arial Black"/>
                <a:cs typeface="Arial Black"/>
              </a:rPr>
              <a:t>Grandchildren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6603" y="605522"/>
            <a:ext cx="1339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4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953" y="605522"/>
            <a:ext cx="2336165" cy="34353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35"/>
              </a:spcBef>
              <a:tabLst>
                <a:tab pos="994410" algn="l"/>
                <a:tab pos="2139315" algn="l"/>
              </a:tabLst>
            </a:pP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Economic</a:t>
            </a:r>
            <a:r>
              <a:rPr dirty="0" sz="11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Possibilities</a:t>
            </a:r>
            <a:r>
              <a:rPr dirty="0" sz="11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1100" spc="-80">
                <a:solidFill>
                  <a:srgbClr val="FFFFFF"/>
                </a:solidFill>
                <a:latin typeface="Arial Black"/>
                <a:cs typeface="Arial Black"/>
              </a:rPr>
              <a:t>for </a:t>
            </a:r>
            <a:r>
              <a:rPr dirty="0" sz="1100" spc="-70">
                <a:solidFill>
                  <a:srgbClr val="FFFFFF"/>
                </a:solidFill>
                <a:latin typeface="Arial Black"/>
                <a:cs typeface="Arial Black"/>
              </a:rPr>
              <a:t>keynes_economic_possibilities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94" y="1051669"/>
            <a:ext cx="4872990" cy="129921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just" marL="205104" marR="5080">
              <a:lnSpc>
                <a:spcPts val="960"/>
              </a:lnSpc>
              <a:spcBef>
                <a:spcPts val="225"/>
              </a:spcBef>
            </a:pPr>
            <a:r>
              <a:rPr dirty="0" sz="900" spc="55">
                <a:latin typeface="Arial"/>
                <a:cs typeface="Arial"/>
              </a:rPr>
              <a:t>In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1930,</a:t>
            </a:r>
            <a:r>
              <a:rPr dirty="0" sz="900" spc="9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Keynes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predicted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Lucida Sans Unicode"/>
                <a:cs typeface="Lucida Sans Unicode"/>
              </a:rPr>
              <a:t>∼</a:t>
            </a:r>
            <a:r>
              <a:rPr dirty="0" sz="900">
                <a:latin typeface="Arial"/>
                <a:cs typeface="Arial"/>
              </a:rPr>
              <a:t>2030,</a:t>
            </a:r>
            <a:r>
              <a:rPr dirty="0" sz="900" spc="10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productivity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would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allow</a:t>
            </a:r>
            <a:r>
              <a:rPr dirty="0" sz="900" spc="85">
                <a:latin typeface="Arial"/>
                <a:cs typeface="Arial"/>
              </a:rPr>
              <a:t> </a:t>
            </a:r>
            <a:r>
              <a:rPr dirty="0" sz="900" spc="-45">
                <a:latin typeface="Arial Black"/>
                <a:cs typeface="Arial Black"/>
              </a:rPr>
              <a:t>15-</a:t>
            </a:r>
            <a:r>
              <a:rPr dirty="0" sz="900" spc="-60">
                <a:latin typeface="Arial Black"/>
                <a:cs typeface="Arial Black"/>
              </a:rPr>
              <a:t>hour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105">
                <a:latin typeface="Arial Black"/>
                <a:cs typeface="Arial Black"/>
              </a:rPr>
              <a:t>work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weeks</a:t>
            </a:r>
            <a:r>
              <a:rPr dirty="0" sz="900" spc="-65">
                <a:latin typeface="Arial"/>
                <a:cs typeface="Arial"/>
              </a:rPr>
              <a:t>.</a:t>
            </a:r>
            <a:r>
              <a:rPr dirty="0" sz="900">
                <a:latin typeface="Arial"/>
                <a:cs typeface="Arial"/>
              </a:rPr>
              <a:t> The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real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challenge,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he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thought,</a:t>
            </a:r>
            <a:r>
              <a:rPr dirty="0" sz="900" spc="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would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problem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of</a:t>
            </a:r>
            <a:r>
              <a:rPr dirty="0" sz="900" spc="15">
                <a:latin typeface="Arial Black"/>
                <a:cs typeface="Arial Black"/>
              </a:rPr>
              <a:t> </a:t>
            </a:r>
            <a:r>
              <a:rPr dirty="0" sz="900" spc="-40">
                <a:latin typeface="Arial Black"/>
                <a:cs typeface="Arial Black"/>
              </a:rPr>
              <a:t>leisure</a:t>
            </a:r>
            <a:r>
              <a:rPr dirty="0" sz="900" spc="-40">
                <a:latin typeface="Arial"/>
                <a:cs typeface="Arial"/>
              </a:rPr>
              <a:t>:</a:t>
            </a:r>
            <a:r>
              <a:rPr dirty="0" sz="900" spc="19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how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“live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wisely</a:t>
            </a:r>
            <a:r>
              <a:rPr dirty="0" sz="900" spc="6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and </a:t>
            </a:r>
            <a:r>
              <a:rPr dirty="0" sz="900" spc="-10">
                <a:latin typeface="Arial"/>
                <a:cs typeface="Arial"/>
              </a:rPr>
              <a:t>agreeably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well.”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more productive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than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Keynes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imagined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yet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most people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work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more,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not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less</a:t>
            </a:r>
            <a:r>
              <a:rPr dirty="0" sz="900" spc="-8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Why?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Inequality:</a:t>
            </a:r>
            <a:r>
              <a:rPr dirty="0" sz="900" spc="8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gains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went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capital,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leisure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ethic:</a:t>
            </a:r>
            <a:r>
              <a:rPr dirty="0" sz="9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identity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remains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productive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labor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Suits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problem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 not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sure what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 would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 with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leisure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4779645" cy="5080"/>
            </a:xfrm>
            <a:custGeom>
              <a:avLst/>
              <a:gdLst/>
              <a:ahLst/>
              <a:cxnLst/>
              <a:rect l="l" t="t" r="r" b="b"/>
              <a:pathLst>
                <a:path w="4779645" h="5080">
                  <a:moveTo>
                    <a:pt x="0" y="5060"/>
                  </a:moveTo>
                  <a:lnTo>
                    <a:pt x="0" y="0"/>
                  </a:lnTo>
                  <a:lnTo>
                    <a:pt x="4779641" y="0"/>
                  </a:lnTo>
                  <a:lnTo>
                    <a:pt x="47796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L</a:t>
            </a:r>
            <a:r>
              <a:rPr dirty="0" spc="-135"/>
              <a:t>ectu</a:t>
            </a:r>
            <a:r>
              <a:rPr dirty="0" spc="-135"/>
              <a:t>re</a:t>
            </a:r>
            <a:r>
              <a:rPr dirty="0" spc="-60"/>
              <a:t> </a:t>
            </a:r>
            <a:r>
              <a:rPr dirty="0" spc="-85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23235" cy="2347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Part</a:t>
            </a:r>
            <a:r>
              <a:rPr dirty="0" sz="1100" spc="-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I: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What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55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Is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Play?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Part</a:t>
            </a:r>
            <a:r>
              <a:rPr dirty="0" sz="1100" spc="-4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95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II: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Defining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10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III: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Games,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Moral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2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Panic,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Work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Ethic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IV: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Games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—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Harm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or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Benefit?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Virtue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Ethics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Video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Games</a:t>
            </a:r>
            <a:endParaRPr sz="1100">
              <a:latin typeface="Arial"/>
              <a:cs typeface="Arial"/>
            </a:endParaRPr>
          </a:p>
          <a:p>
            <a:pPr marL="12700" marR="71120">
              <a:lnSpc>
                <a:spcPct val="214299"/>
              </a:lnSpc>
            </a:pP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Part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VI: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Life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as 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a </a:t>
            </a:r>
            <a:r>
              <a:rPr dirty="0" sz="1100" spc="-3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Game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254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—</a:t>
            </a:r>
            <a:r>
              <a:rPr dirty="0" sz="1100" spc="-35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Suits’</a:t>
            </a:r>
            <a:r>
              <a:rPr dirty="0" sz="1100" spc="-4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Grasshopper</a:t>
            </a:r>
            <a:r>
              <a:rPr dirty="0" sz="1100" spc="-1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Part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VII: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AI,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Post-Work,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the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Meaning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of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Life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4902200" cy="5080"/>
            </a:xfrm>
            <a:custGeom>
              <a:avLst/>
              <a:gdLst/>
              <a:ahLst/>
              <a:cxnLst/>
              <a:rect l="l" t="t" r="r" b="b"/>
              <a:pathLst>
                <a:path w="4902200" h="5080">
                  <a:moveTo>
                    <a:pt x="0" y="5060"/>
                  </a:moveTo>
                  <a:lnTo>
                    <a:pt x="0" y="0"/>
                  </a:lnTo>
                  <a:lnTo>
                    <a:pt x="4902162" y="0"/>
                  </a:lnTo>
                  <a:lnTo>
                    <a:pt x="49021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The</a:t>
            </a:r>
            <a:r>
              <a:rPr dirty="0" spc="-95"/>
              <a:t> </a:t>
            </a:r>
            <a:r>
              <a:rPr dirty="0" spc="-35"/>
              <a:t>AI</a:t>
            </a:r>
            <a:r>
              <a:rPr dirty="0" spc="-95"/>
              <a:t> </a:t>
            </a:r>
            <a:r>
              <a:rPr dirty="0" spc="-125"/>
              <a:t>Leisure</a:t>
            </a:r>
            <a:r>
              <a:rPr dirty="0" spc="-90"/>
              <a:t> </a:t>
            </a:r>
            <a:r>
              <a:rPr dirty="0" spc="-100"/>
              <a:t>Question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701646"/>
            <a:ext cx="5040630" cy="668020"/>
            <a:chOff x="359994" y="701646"/>
            <a:chExt cx="5040630" cy="668020"/>
          </a:xfrm>
        </p:grpSpPr>
        <p:sp>
          <p:nvSpPr>
            <p:cNvPr id="4" name="object 4"/>
            <p:cNvSpPr/>
            <p:nvPr/>
          </p:nvSpPr>
          <p:spPr>
            <a:xfrm>
              <a:off x="359994" y="701646"/>
              <a:ext cx="5040630" cy="668020"/>
            </a:xfrm>
            <a:custGeom>
              <a:avLst/>
              <a:gdLst/>
              <a:ahLst/>
              <a:cxnLst/>
              <a:rect l="l" t="t" r="r" b="b"/>
              <a:pathLst>
                <a:path w="5040630" h="668019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629518"/>
                  </a:lnTo>
                  <a:lnTo>
                    <a:pt x="2982" y="644293"/>
                  </a:lnTo>
                  <a:lnTo>
                    <a:pt x="11117" y="656359"/>
                  </a:lnTo>
                  <a:lnTo>
                    <a:pt x="23182" y="664493"/>
                  </a:lnTo>
                  <a:lnTo>
                    <a:pt x="37958" y="667476"/>
                  </a:lnTo>
                  <a:lnTo>
                    <a:pt x="5002106" y="667476"/>
                  </a:lnTo>
                  <a:lnTo>
                    <a:pt x="5016882" y="664493"/>
                  </a:lnTo>
                  <a:lnTo>
                    <a:pt x="5028947" y="656359"/>
                  </a:lnTo>
                  <a:lnTo>
                    <a:pt x="5037082" y="644293"/>
                  </a:lnTo>
                  <a:lnTo>
                    <a:pt x="5040064" y="629518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906905"/>
              <a:ext cx="5015230" cy="449580"/>
            </a:xfrm>
            <a:custGeom>
              <a:avLst/>
              <a:gdLst/>
              <a:ahLst/>
              <a:cxnLst/>
              <a:rect l="l" t="t" r="r" b="b"/>
              <a:pathLst>
                <a:path w="5015230" h="449580">
                  <a:moveTo>
                    <a:pt x="5014759" y="0"/>
                  </a:moveTo>
                  <a:lnTo>
                    <a:pt x="0" y="0"/>
                  </a:lnTo>
                  <a:lnTo>
                    <a:pt x="0" y="424259"/>
                  </a:lnTo>
                  <a:lnTo>
                    <a:pt x="1988" y="434109"/>
                  </a:lnTo>
                  <a:lnTo>
                    <a:pt x="7411" y="442153"/>
                  </a:lnTo>
                  <a:lnTo>
                    <a:pt x="15455" y="447576"/>
                  </a:lnTo>
                  <a:lnTo>
                    <a:pt x="25305" y="449565"/>
                  </a:lnTo>
                  <a:lnTo>
                    <a:pt x="4989454" y="449565"/>
                  </a:lnTo>
                  <a:lnTo>
                    <a:pt x="4999304" y="447576"/>
                  </a:lnTo>
                  <a:lnTo>
                    <a:pt x="5007347" y="442153"/>
                  </a:lnTo>
                  <a:lnTo>
                    <a:pt x="5012770" y="434109"/>
                  </a:lnTo>
                  <a:lnTo>
                    <a:pt x="5014759" y="424259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47294" y="477095"/>
            <a:ext cx="4879340" cy="1637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Chapter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examined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transforms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labor.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question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here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philosophical:</a:t>
            </a:r>
            <a:endParaRPr sz="9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spcBef>
                <a:spcPts val="760"/>
              </a:spcBef>
            </a:pPr>
            <a:r>
              <a:rPr dirty="0" sz="900" spc="-105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FFFFFF"/>
                </a:solidFill>
                <a:latin typeface="Arial Black"/>
                <a:cs typeface="Arial Black"/>
              </a:rPr>
              <a:t>Central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Question</a:t>
            </a:r>
            <a:endParaRPr sz="900">
              <a:latin typeface="Arial Black"/>
              <a:cs typeface="Arial Black"/>
            </a:endParaRPr>
          </a:p>
          <a:p>
            <a:pPr marL="205104" marR="11430">
              <a:lnSpc>
                <a:spcPts val="960"/>
              </a:lnSpc>
              <a:spcBef>
                <a:spcPts val="1135"/>
              </a:spcBef>
            </a:pPr>
            <a:r>
              <a:rPr dirty="0" sz="900" spc="70">
                <a:latin typeface="Arial"/>
                <a:cs typeface="Arial"/>
              </a:rPr>
              <a:t>If</a:t>
            </a:r>
            <a:r>
              <a:rPr dirty="0" sz="900">
                <a:latin typeface="Arial"/>
                <a:cs typeface="Arial"/>
              </a:rPr>
              <a:t> AI handles most productive work, </a:t>
            </a:r>
            <a:r>
              <a:rPr dirty="0" sz="900" spc="-90">
                <a:latin typeface="Arial Black"/>
                <a:cs typeface="Arial Black"/>
              </a:rPr>
              <a:t>what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gives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human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60">
                <a:latin typeface="Arial Black"/>
                <a:cs typeface="Arial Black"/>
              </a:rPr>
              <a:t>life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meaning</a:t>
            </a:r>
            <a:r>
              <a:rPr dirty="0" sz="900" spc="-85">
                <a:latin typeface="Arial"/>
                <a:cs typeface="Arial"/>
              </a:rPr>
              <a:t>?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 not just </a:t>
            </a:r>
            <a:r>
              <a:rPr dirty="0" sz="900" spc="-10">
                <a:latin typeface="Arial"/>
                <a:cs typeface="Arial"/>
              </a:rPr>
              <a:t>about </a:t>
            </a:r>
            <a:r>
              <a:rPr dirty="0" sz="900">
                <a:latin typeface="Arial"/>
                <a:cs typeface="Arial"/>
              </a:rPr>
              <a:t>income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(addressed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UBI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proposals) </a:t>
            </a:r>
            <a:r>
              <a:rPr dirty="0" sz="900" spc="-215">
                <a:latin typeface="Arial"/>
                <a:cs typeface="Arial"/>
              </a:rPr>
              <a:t>—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about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purpose,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identity,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and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flourishing</a:t>
            </a:r>
            <a:r>
              <a:rPr dirty="0" sz="900" spc="-1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Three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responses: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4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3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The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Suits/McGonigal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view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games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genuinely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wonderful.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43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The</a:t>
            </a:r>
            <a:r>
              <a:rPr dirty="0" sz="900" spc="-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skeptical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view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Manufactured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obstacles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feel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hollow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genuine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stakes.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28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4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The</a:t>
            </a:r>
            <a:r>
              <a:rPr dirty="0" sz="900" spc="-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augmentation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view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Human-AI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itself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kind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meaningful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025390" cy="5080"/>
            </a:xfrm>
            <a:custGeom>
              <a:avLst/>
              <a:gdLst/>
              <a:ahLst/>
              <a:cxnLst/>
              <a:rect l="l" t="t" r="r" b="b"/>
              <a:pathLst>
                <a:path w="5025390" h="5080">
                  <a:moveTo>
                    <a:pt x="0" y="5060"/>
                  </a:moveTo>
                  <a:lnTo>
                    <a:pt x="0" y="0"/>
                  </a:lnTo>
                  <a:lnTo>
                    <a:pt x="5024771" y="0"/>
                  </a:lnTo>
                  <a:lnTo>
                    <a:pt x="502477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7946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5"/>
              <a:t>Position</a:t>
            </a:r>
            <a:r>
              <a:rPr dirty="0" spc="-80"/>
              <a:t> </a:t>
            </a:r>
            <a:r>
              <a:rPr dirty="0" spc="-55"/>
              <a:t>1:</a:t>
            </a:r>
            <a:r>
              <a:rPr dirty="0" spc="-30"/>
              <a:t> </a:t>
            </a:r>
            <a:r>
              <a:rPr dirty="0" spc="-140"/>
              <a:t>The</a:t>
            </a:r>
            <a:r>
              <a:rPr dirty="0" spc="-80"/>
              <a:t> </a:t>
            </a:r>
            <a:r>
              <a:rPr dirty="0" spc="-114"/>
              <a:t>Grasshopper</a:t>
            </a:r>
            <a:r>
              <a:rPr dirty="0" spc="-75"/>
              <a:t> </a:t>
            </a:r>
            <a:r>
              <a:rPr dirty="0" spc="-125"/>
              <a:t>Was</a:t>
            </a:r>
            <a:r>
              <a:rPr dirty="0" spc="-80"/>
              <a:t> Right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08"/>
            <a:ext cx="5040630" cy="1353185"/>
            <a:chOff x="359994" y="602308"/>
            <a:chExt cx="5040630" cy="1353185"/>
          </a:xfrm>
        </p:grpSpPr>
        <p:sp>
          <p:nvSpPr>
            <p:cNvPr id="4" name="object 4"/>
            <p:cNvSpPr/>
            <p:nvPr/>
          </p:nvSpPr>
          <p:spPr>
            <a:xfrm>
              <a:off x="359994" y="602308"/>
              <a:ext cx="5040630" cy="1353185"/>
            </a:xfrm>
            <a:custGeom>
              <a:avLst/>
              <a:gdLst/>
              <a:ahLst/>
              <a:cxnLst/>
              <a:rect l="l" t="t" r="r" b="b"/>
              <a:pathLst>
                <a:path w="5040630" h="135318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315101"/>
                  </a:lnTo>
                  <a:lnTo>
                    <a:pt x="2982" y="1329876"/>
                  </a:lnTo>
                  <a:lnTo>
                    <a:pt x="11117" y="1341942"/>
                  </a:lnTo>
                  <a:lnTo>
                    <a:pt x="23182" y="1350076"/>
                  </a:lnTo>
                  <a:lnTo>
                    <a:pt x="37958" y="1353059"/>
                  </a:lnTo>
                  <a:lnTo>
                    <a:pt x="5002106" y="1353059"/>
                  </a:lnTo>
                  <a:lnTo>
                    <a:pt x="5016882" y="1350076"/>
                  </a:lnTo>
                  <a:lnTo>
                    <a:pt x="5028947" y="1341942"/>
                  </a:lnTo>
                  <a:lnTo>
                    <a:pt x="5037082" y="1329876"/>
                  </a:lnTo>
                  <a:lnTo>
                    <a:pt x="5040064" y="1315101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4767"/>
              <a:ext cx="5015230" cy="1108075"/>
            </a:xfrm>
            <a:custGeom>
              <a:avLst/>
              <a:gdLst/>
              <a:ahLst/>
              <a:cxnLst/>
              <a:rect l="l" t="t" r="r" b="b"/>
              <a:pathLst>
                <a:path w="5015230" h="1108075">
                  <a:moveTo>
                    <a:pt x="5014759" y="0"/>
                  </a:moveTo>
                  <a:lnTo>
                    <a:pt x="0" y="0"/>
                  </a:lnTo>
                  <a:lnTo>
                    <a:pt x="0" y="1082642"/>
                  </a:lnTo>
                  <a:lnTo>
                    <a:pt x="1988" y="1092493"/>
                  </a:lnTo>
                  <a:lnTo>
                    <a:pt x="7411" y="1100536"/>
                  </a:lnTo>
                  <a:lnTo>
                    <a:pt x="15455" y="1105959"/>
                  </a:lnTo>
                  <a:lnTo>
                    <a:pt x="25305" y="1107948"/>
                  </a:lnTo>
                  <a:lnTo>
                    <a:pt x="4989454" y="1107948"/>
                  </a:lnTo>
                  <a:lnTo>
                    <a:pt x="4999304" y="1105959"/>
                  </a:lnTo>
                  <a:lnTo>
                    <a:pt x="5007347" y="1100536"/>
                  </a:lnTo>
                  <a:lnTo>
                    <a:pt x="5012770" y="1092493"/>
                  </a:lnTo>
                  <a:lnTo>
                    <a:pt x="5014759" y="1082642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9953" y="605522"/>
            <a:ext cx="4680585" cy="12420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FFFFFF"/>
                </a:solidFill>
                <a:latin typeface="Arial Black"/>
                <a:cs typeface="Arial Black"/>
              </a:rPr>
              <a:t>McGonigal’s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 Optimism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960"/>
              </a:lnSpc>
              <a:spcBef>
                <a:spcPts val="1160"/>
              </a:spcBef>
            </a:pPr>
            <a:r>
              <a:rPr dirty="0" sz="900" spc="70">
                <a:latin typeface="Arial"/>
                <a:cs typeface="Arial"/>
              </a:rPr>
              <a:t>If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games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already </a:t>
            </a:r>
            <a:r>
              <a:rPr dirty="0" sz="900" spc="-75">
                <a:latin typeface="Arial Black"/>
                <a:cs typeface="Arial Black"/>
              </a:rPr>
              <a:t>deliver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meaning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more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reliably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than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work</a:t>
            </a:r>
            <a:r>
              <a:rPr dirty="0" sz="900" spc="-70">
                <a:latin typeface="Arial"/>
                <a:cs typeface="Arial"/>
              </a:rPr>
              <a:t>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>
                <a:latin typeface="Arial"/>
                <a:cs typeface="Arial"/>
              </a:rPr>
              <a:t> post-work world need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not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be </a:t>
            </a: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crisis: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09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Lives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spent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creative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games</a:t>
            </a:r>
            <a:r>
              <a:rPr dirty="0" sz="900" spc="-9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art,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athletics,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philosophy,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music</a:t>
            </a:r>
            <a:endParaRPr sz="900">
              <a:latin typeface="Arial"/>
              <a:cs typeface="Arial"/>
            </a:endParaRPr>
          </a:p>
          <a:p>
            <a:pPr marL="289560" marR="645795" indent="-114935">
              <a:lnSpc>
                <a:spcPts val="960"/>
              </a:lnSpc>
              <a:spcBef>
                <a:spcPts val="41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3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as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real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problem-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solving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McGonigal’s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Foldit</a:t>
            </a:r>
            <a:r>
              <a:rPr dirty="0" sz="900" spc="-2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gamers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solve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protein-folding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problems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stumped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algorithms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00" spc="-20">
                <a:latin typeface="Arial"/>
                <a:cs typeface="Arial"/>
              </a:rPr>
              <a:t>The</a:t>
            </a:r>
            <a:r>
              <a:rPr dirty="0" sz="900">
                <a:latin typeface="Arial"/>
                <a:cs typeface="Arial"/>
              </a:rPr>
              <a:t> equation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work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 spc="-75">
                <a:latin typeface="Arial Black"/>
                <a:cs typeface="Arial Black"/>
              </a:rPr>
              <a:t>=</a:t>
            </a:r>
            <a:r>
              <a:rPr dirty="0" sz="900" spc="-50">
                <a:latin typeface="Arial Black"/>
                <a:cs typeface="Arial Black"/>
              </a:rPr>
              <a:t> </a:t>
            </a:r>
            <a:r>
              <a:rPr dirty="0" sz="900" spc="-70">
                <a:latin typeface="Arial Black"/>
                <a:cs typeface="Arial Black"/>
              </a:rPr>
              <a:t>virtue</a:t>
            </a:r>
            <a:r>
              <a:rPr dirty="0" sz="900" spc="-45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historical accident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(Weber),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not </a:t>
            </a:r>
            <a:r>
              <a:rPr dirty="0" sz="900" spc="-30">
                <a:latin typeface="Arial"/>
                <a:cs typeface="Arial"/>
              </a:rPr>
              <a:t>a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metaphysical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necessity.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9994" y="2162860"/>
          <a:ext cx="5116195" cy="491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10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Historical</a:t>
                      </a:r>
                      <a:r>
                        <a:rPr dirty="0" sz="1100" spc="-6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Note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45720" marR="289560">
                        <a:lnSpc>
                          <a:spcPts val="830"/>
                        </a:lnSpc>
                        <a:spcBef>
                          <a:spcPts val="300"/>
                        </a:spcBef>
                      </a:pP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Athenian ideal:</a:t>
                      </a:r>
                      <a:r>
                        <a:rPr dirty="0" sz="800" spc="3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free citizen liberated from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labor to </a:t>
                      </a:r>
                      <a:r>
                        <a:rPr dirty="0" sz="800" spc="-2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engage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 politics, philosophy, and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art.</a:t>
                      </a:r>
                      <a:r>
                        <a:rPr dirty="0" sz="800" spc="3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Aristotle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endorsed</a:t>
                      </a:r>
                      <a:r>
                        <a:rPr dirty="0" sz="800" spc="-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this </a:t>
                      </a:r>
                      <a:r>
                        <a:rPr dirty="0" sz="800" spc="-19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the question is whether it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be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generalized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democratically.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5147310" cy="5080"/>
            </a:xfrm>
            <a:custGeom>
              <a:avLst/>
              <a:gdLst/>
              <a:ahLst/>
              <a:cxnLst/>
              <a:rect l="l" t="t" r="r" b="b"/>
              <a:pathLst>
                <a:path w="5147310" h="5080">
                  <a:moveTo>
                    <a:pt x="0" y="5060"/>
                  </a:moveTo>
                  <a:lnTo>
                    <a:pt x="0" y="0"/>
                  </a:lnTo>
                  <a:lnTo>
                    <a:pt x="5147292" y="0"/>
                  </a:lnTo>
                  <a:lnTo>
                    <a:pt x="51472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1824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5"/>
              <a:t>Position</a:t>
            </a:r>
            <a:r>
              <a:rPr dirty="0" spc="-85"/>
              <a:t> </a:t>
            </a:r>
            <a:r>
              <a:rPr dirty="0" spc="-55"/>
              <a:t>2:</a:t>
            </a:r>
            <a:r>
              <a:rPr dirty="0" spc="-35"/>
              <a:t> </a:t>
            </a:r>
            <a:r>
              <a:rPr dirty="0" spc="-140"/>
              <a:t>The</a:t>
            </a:r>
            <a:r>
              <a:rPr dirty="0" spc="-85"/>
              <a:t> </a:t>
            </a:r>
            <a:r>
              <a:rPr dirty="0" spc="-114"/>
              <a:t>Skeptical</a:t>
            </a:r>
            <a:r>
              <a:rPr dirty="0" spc="-85"/>
              <a:t> </a:t>
            </a:r>
            <a:r>
              <a:rPr dirty="0" spc="-95"/>
              <a:t>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2316"/>
            <a:ext cx="5040630" cy="1434465"/>
            <a:chOff x="359994" y="602316"/>
            <a:chExt cx="5040630" cy="1434465"/>
          </a:xfrm>
        </p:grpSpPr>
        <p:sp>
          <p:nvSpPr>
            <p:cNvPr id="4" name="object 4"/>
            <p:cNvSpPr/>
            <p:nvPr/>
          </p:nvSpPr>
          <p:spPr>
            <a:xfrm>
              <a:off x="359994" y="602316"/>
              <a:ext cx="5040630" cy="1434465"/>
            </a:xfrm>
            <a:custGeom>
              <a:avLst/>
              <a:gdLst/>
              <a:ahLst/>
              <a:cxnLst/>
              <a:rect l="l" t="t" r="r" b="b"/>
              <a:pathLst>
                <a:path w="5040630" h="143446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396106"/>
                  </a:lnTo>
                  <a:lnTo>
                    <a:pt x="2982" y="1410881"/>
                  </a:lnTo>
                  <a:lnTo>
                    <a:pt x="11117" y="1422947"/>
                  </a:lnTo>
                  <a:lnTo>
                    <a:pt x="23182" y="1431081"/>
                  </a:lnTo>
                  <a:lnTo>
                    <a:pt x="37958" y="1434064"/>
                  </a:lnTo>
                  <a:lnTo>
                    <a:pt x="5002106" y="1434064"/>
                  </a:lnTo>
                  <a:lnTo>
                    <a:pt x="5016882" y="1431081"/>
                  </a:lnTo>
                  <a:lnTo>
                    <a:pt x="5028947" y="1422947"/>
                  </a:lnTo>
                  <a:lnTo>
                    <a:pt x="5037082" y="1410881"/>
                  </a:lnTo>
                  <a:lnTo>
                    <a:pt x="5040064" y="1396106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833112"/>
              <a:ext cx="5015230" cy="1190625"/>
            </a:xfrm>
            <a:custGeom>
              <a:avLst/>
              <a:gdLst/>
              <a:ahLst/>
              <a:cxnLst/>
              <a:rect l="l" t="t" r="r" b="b"/>
              <a:pathLst>
                <a:path w="5015230" h="1190625">
                  <a:moveTo>
                    <a:pt x="5014759" y="0"/>
                  </a:moveTo>
                  <a:lnTo>
                    <a:pt x="0" y="0"/>
                  </a:lnTo>
                  <a:lnTo>
                    <a:pt x="0" y="1165310"/>
                  </a:lnTo>
                  <a:lnTo>
                    <a:pt x="1988" y="1175160"/>
                  </a:lnTo>
                  <a:lnTo>
                    <a:pt x="7411" y="1183204"/>
                  </a:lnTo>
                  <a:lnTo>
                    <a:pt x="15455" y="1188627"/>
                  </a:lnTo>
                  <a:lnTo>
                    <a:pt x="25305" y="1190615"/>
                  </a:lnTo>
                  <a:lnTo>
                    <a:pt x="4989454" y="1190615"/>
                  </a:lnTo>
                  <a:lnTo>
                    <a:pt x="4999304" y="1188627"/>
                  </a:lnTo>
                  <a:lnTo>
                    <a:pt x="5007347" y="1183204"/>
                  </a:lnTo>
                  <a:lnTo>
                    <a:pt x="5012770" y="1175160"/>
                  </a:lnTo>
                  <a:lnTo>
                    <a:pt x="5014759" y="116531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39953" y="605522"/>
            <a:ext cx="4680585" cy="1323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5">
                <a:solidFill>
                  <a:srgbClr val="FFFFFF"/>
                </a:solidFill>
                <a:latin typeface="Arial Black"/>
                <a:cs typeface="Arial Black"/>
              </a:rPr>
              <a:t>Can</a:t>
            </a:r>
            <a:r>
              <a:rPr dirty="0" sz="11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FFFFFF"/>
                </a:solidFill>
                <a:latin typeface="Arial Black"/>
                <a:cs typeface="Arial Black"/>
              </a:rPr>
              <a:t>Manufactured</a:t>
            </a:r>
            <a:r>
              <a:rPr dirty="0" sz="11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FFFFFF"/>
                </a:solidFill>
                <a:latin typeface="Arial Black"/>
                <a:cs typeface="Arial Black"/>
              </a:rPr>
              <a:t>Obstacles</a:t>
            </a:r>
            <a:r>
              <a:rPr dirty="0" sz="11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Satisfy?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960"/>
              </a:lnSpc>
              <a:spcBef>
                <a:spcPts val="1150"/>
              </a:spcBef>
            </a:pPr>
            <a:r>
              <a:rPr dirty="0" sz="900">
                <a:latin typeface="Arial"/>
                <a:cs typeface="Arial"/>
              </a:rPr>
              <a:t>Suits’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utopia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may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require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sustained</a:t>
            </a:r>
            <a:r>
              <a:rPr dirty="0" sz="900" spc="55">
                <a:latin typeface="Arial Black"/>
                <a:cs typeface="Arial Black"/>
              </a:rPr>
              <a:t> </a:t>
            </a:r>
            <a:r>
              <a:rPr dirty="0" sz="900" spc="-45">
                <a:latin typeface="Arial Black"/>
                <a:cs typeface="Arial Black"/>
              </a:rPr>
              <a:t>self-</a:t>
            </a:r>
            <a:r>
              <a:rPr dirty="0" sz="900" spc="-65">
                <a:latin typeface="Arial Black"/>
                <a:cs typeface="Arial Black"/>
              </a:rPr>
              <a:t>deception</a:t>
            </a:r>
            <a:r>
              <a:rPr dirty="0" sz="900" spc="-65">
                <a:latin typeface="Arial"/>
                <a:cs typeface="Arial"/>
              </a:rPr>
              <a:t>:</a:t>
            </a:r>
            <a:r>
              <a:rPr dirty="0" sz="900" spc="26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caring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about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winning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while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knowing </a:t>
            </a:r>
            <a:r>
              <a:rPr dirty="0" sz="900" spc="10">
                <a:latin typeface="Arial"/>
                <a:cs typeface="Arial"/>
              </a:rPr>
              <a:t>winning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is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10">
                <a:latin typeface="Arial"/>
                <a:cs typeface="Arial"/>
              </a:rPr>
              <a:t>ultimately</a:t>
            </a:r>
            <a:r>
              <a:rPr dirty="0" sz="900" spc="-10">
                <a:latin typeface="Arial"/>
                <a:cs typeface="Arial"/>
              </a:rPr>
              <a:t> unimportant.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Arial"/>
                <a:cs typeface="Arial"/>
              </a:rPr>
              <a:t>Two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concerns:</a:t>
            </a:r>
            <a:endParaRPr sz="900">
              <a:latin typeface="Arial"/>
              <a:cs typeface="Arial"/>
            </a:endParaRPr>
          </a:p>
          <a:p>
            <a:pPr marL="289560" marR="198755" indent="-168910">
              <a:lnSpc>
                <a:spcPts val="960"/>
              </a:lnSpc>
              <a:spcBef>
                <a:spcPts val="41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4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Stakes</a:t>
            </a:r>
            <a:r>
              <a:rPr dirty="0" sz="900" spc="-85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Meaningful striving may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need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genuine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consequences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farmer’s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crop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actually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feeds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people;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surgeon’s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skill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actually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saves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lives.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ts val="1019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38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Inequality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Post-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utopia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only;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many,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end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ts val="1019"/>
              </a:lnSpc>
            </a:pP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poverty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and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precarity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9994" y="2243861"/>
          <a:ext cx="5116195" cy="491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100" spc="-10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Graeber’s</a:t>
                      </a:r>
                      <a:r>
                        <a:rPr dirty="0" sz="1100" spc="-4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Counterpoint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solidFill>
                      <a:srgbClr val="BF392B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45720" marR="339725">
                        <a:lnSpc>
                          <a:spcPts val="830"/>
                        </a:lnSpc>
                        <a:spcBef>
                          <a:spcPts val="300"/>
                        </a:spcBef>
                      </a:pP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Graeber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argued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many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existing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jobs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already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“bullshit”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9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socially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useless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workers’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own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admission </a:t>
                      </a:r>
                      <a:r>
                        <a:rPr dirty="0" sz="800" spc="-5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dirty="0" sz="800" spc="-5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graeber_bullshit_jobs</a:t>
                      </a:r>
                      <a:r>
                        <a:rPr dirty="0" sz="800" spc="-5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).</a:t>
                      </a:r>
                      <a:r>
                        <a:rPr dirty="0" sz="800" spc="4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transition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games-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life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may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less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radical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800" spc="5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800" spc="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sounds.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solidFill>
                      <a:srgbClr val="F9EFEE"/>
                    </a:solidFill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5269865" cy="5080"/>
            </a:xfrm>
            <a:custGeom>
              <a:avLst/>
              <a:gdLst/>
              <a:ahLst/>
              <a:cxnLst/>
              <a:rect l="l" t="t" r="r" b="b"/>
              <a:pathLst>
                <a:path w="5269865" h="5080">
                  <a:moveTo>
                    <a:pt x="0" y="5060"/>
                  </a:moveTo>
                  <a:lnTo>
                    <a:pt x="0" y="0"/>
                  </a:lnTo>
                  <a:lnTo>
                    <a:pt x="5269813" y="0"/>
                  </a:lnTo>
                  <a:lnTo>
                    <a:pt x="52698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369506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5"/>
              <a:t>Position</a:t>
            </a:r>
            <a:r>
              <a:rPr dirty="0" spc="-90"/>
              <a:t> </a:t>
            </a:r>
            <a:r>
              <a:rPr dirty="0" spc="-55"/>
              <a:t>3:</a:t>
            </a:r>
            <a:r>
              <a:rPr dirty="0" spc="-35"/>
              <a:t> </a:t>
            </a:r>
            <a:r>
              <a:rPr dirty="0" spc="-95"/>
              <a:t>Human-</a:t>
            </a:r>
            <a:r>
              <a:rPr dirty="0" spc="-35"/>
              <a:t>AI</a:t>
            </a:r>
            <a:r>
              <a:rPr dirty="0" spc="-90"/>
              <a:t> </a:t>
            </a:r>
            <a:r>
              <a:rPr dirty="0" spc="-105"/>
              <a:t>Collaboration</a:t>
            </a:r>
            <a:r>
              <a:rPr dirty="0" spc="-85"/>
              <a:t> </a:t>
            </a:r>
            <a:r>
              <a:rPr dirty="0" spc="-140"/>
              <a:t>as</a:t>
            </a:r>
            <a:r>
              <a:rPr dirty="0" spc="-90"/>
              <a:t> </a:t>
            </a:r>
            <a:r>
              <a:rPr dirty="0" spc="-120"/>
              <a:t>a</a:t>
            </a:r>
            <a:r>
              <a:rPr dirty="0" spc="-85"/>
              <a:t> </a:t>
            </a:r>
            <a:r>
              <a:rPr dirty="0" spc="-145"/>
              <a:t>New</a:t>
            </a:r>
            <a:r>
              <a:rPr dirty="0" spc="-90"/>
              <a:t> Game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0312"/>
            <a:ext cx="5040630" cy="1334135"/>
            <a:chOff x="359994" y="530312"/>
            <a:chExt cx="5040630" cy="1334135"/>
          </a:xfrm>
        </p:grpSpPr>
        <p:sp>
          <p:nvSpPr>
            <p:cNvPr id="4" name="object 4"/>
            <p:cNvSpPr/>
            <p:nvPr/>
          </p:nvSpPr>
          <p:spPr>
            <a:xfrm>
              <a:off x="359994" y="530312"/>
              <a:ext cx="5040630" cy="1334135"/>
            </a:xfrm>
            <a:custGeom>
              <a:avLst/>
              <a:gdLst/>
              <a:ahLst/>
              <a:cxnLst/>
              <a:rect l="l" t="t" r="r" b="b"/>
              <a:pathLst>
                <a:path w="5040630" h="133413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295847"/>
                  </a:lnTo>
                  <a:lnTo>
                    <a:pt x="2982" y="1310622"/>
                  </a:lnTo>
                  <a:lnTo>
                    <a:pt x="11117" y="1322688"/>
                  </a:lnTo>
                  <a:lnTo>
                    <a:pt x="23182" y="1330822"/>
                  </a:lnTo>
                  <a:lnTo>
                    <a:pt x="37958" y="1333805"/>
                  </a:lnTo>
                  <a:lnTo>
                    <a:pt x="5002106" y="1333805"/>
                  </a:lnTo>
                  <a:lnTo>
                    <a:pt x="5016882" y="1330822"/>
                  </a:lnTo>
                  <a:lnTo>
                    <a:pt x="5028947" y="1322688"/>
                  </a:lnTo>
                  <a:lnTo>
                    <a:pt x="5037082" y="1310622"/>
                  </a:lnTo>
                  <a:lnTo>
                    <a:pt x="5040064" y="1295847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762771"/>
              <a:ext cx="5015230" cy="1089025"/>
            </a:xfrm>
            <a:custGeom>
              <a:avLst/>
              <a:gdLst/>
              <a:ahLst/>
              <a:cxnLst/>
              <a:rect l="l" t="t" r="r" b="b"/>
              <a:pathLst>
                <a:path w="5015230" h="1089025">
                  <a:moveTo>
                    <a:pt x="5014759" y="0"/>
                  </a:moveTo>
                  <a:lnTo>
                    <a:pt x="0" y="0"/>
                  </a:lnTo>
                  <a:lnTo>
                    <a:pt x="0" y="1063389"/>
                  </a:lnTo>
                  <a:lnTo>
                    <a:pt x="1988" y="1073239"/>
                  </a:lnTo>
                  <a:lnTo>
                    <a:pt x="7411" y="1081282"/>
                  </a:lnTo>
                  <a:lnTo>
                    <a:pt x="15455" y="1086705"/>
                  </a:lnTo>
                  <a:lnTo>
                    <a:pt x="25305" y="1088694"/>
                  </a:lnTo>
                  <a:lnTo>
                    <a:pt x="4989454" y="1088694"/>
                  </a:lnTo>
                  <a:lnTo>
                    <a:pt x="4999304" y="1086705"/>
                  </a:lnTo>
                  <a:lnTo>
                    <a:pt x="5007347" y="1081282"/>
                  </a:lnTo>
                  <a:lnTo>
                    <a:pt x="5012770" y="1073239"/>
                  </a:lnTo>
                  <a:lnTo>
                    <a:pt x="5014759" y="1063389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4F8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033541"/>
            <a:ext cx="5040630" cy="794385"/>
            <a:chOff x="359994" y="2033541"/>
            <a:chExt cx="5040630" cy="794385"/>
          </a:xfrm>
        </p:grpSpPr>
        <p:sp>
          <p:nvSpPr>
            <p:cNvPr id="7" name="object 7"/>
            <p:cNvSpPr/>
            <p:nvPr/>
          </p:nvSpPr>
          <p:spPr>
            <a:xfrm>
              <a:off x="359994" y="2033541"/>
              <a:ext cx="5040630" cy="794385"/>
            </a:xfrm>
            <a:custGeom>
              <a:avLst/>
              <a:gdLst/>
              <a:ahLst/>
              <a:cxnLst/>
              <a:rect l="l" t="t" r="r" b="b"/>
              <a:pathLst>
                <a:path w="5040630" h="79438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756422"/>
                  </a:lnTo>
                  <a:lnTo>
                    <a:pt x="2982" y="771197"/>
                  </a:lnTo>
                  <a:lnTo>
                    <a:pt x="11117" y="783262"/>
                  </a:lnTo>
                  <a:lnTo>
                    <a:pt x="23182" y="791397"/>
                  </a:lnTo>
                  <a:lnTo>
                    <a:pt x="37958" y="794380"/>
                  </a:lnTo>
                  <a:lnTo>
                    <a:pt x="5002106" y="794380"/>
                  </a:lnTo>
                  <a:lnTo>
                    <a:pt x="5016882" y="791397"/>
                  </a:lnTo>
                  <a:lnTo>
                    <a:pt x="5028947" y="783262"/>
                  </a:lnTo>
                  <a:lnTo>
                    <a:pt x="5037082" y="771197"/>
                  </a:lnTo>
                  <a:lnTo>
                    <a:pt x="5040064" y="756422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2646" y="2265999"/>
              <a:ext cx="5015230" cy="549275"/>
            </a:xfrm>
            <a:custGeom>
              <a:avLst/>
              <a:gdLst/>
              <a:ahLst/>
              <a:cxnLst/>
              <a:rect l="l" t="t" r="r" b="b"/>
              <a:pathLst>
                <a:path w="5015230" h="549275">
                  <a:moveTo>
                    <a:pt x="5014759" y="0"/>
                  </a:moveTo>
                  <a:lnTo>
                    <a:pt x="0" y="0"/>
                  </a:lnTo>
                  <a:lnTo>
                    <a:pt x="0" y="523963"/>
                  </a:lnTo>
                  <a:lnTo>
                    <a:pt x="1988" y="533813"/>
                  </a:lnTo>
                  <a:lnTo>
                    <a:pt x="7411" y="541857"/>
                  </a:lnTo>
                  <a:lnTo>
                    <a:pt x="15455" y="547280"/>
                  </a:lnTo>
                  <a:lnTo>
                    <a:pt x="25305" y="549269"/>
                  </a:lnTo>
                  <a:lnTo>
                    <a:pt x="4989454" y="549269"/>
                  </a:lnTo>
                  <a:lnTo>
                    <a:pt x="4999304" y="547280"/>
                  </a:lnTo>
                  <a:lnTo>
                    <a:pt x="5007347" y="541857"/>
                  </a:lnTo>
                  <a:lnTo>
                    <a:pt x="5012770" y="533813"/>
                  </a:lnTo>
                  <a:lnTo>
                    <a:pt x="5014759" y="523963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35"/>
              <a:t>The</a:t>
            </a:r>
            <a:r>
              <a:rPr dirty="0" spc="-50"/>
              <a:t> </a:t>
            </a:r>
            <a:r>
              <a:rPr dirty="0" spc="-110"/>
              <a:t>Augmentation</a:t>
            </a:r>
            <a:r>
              <a:rPr dirty="0" spc="-50"/>
              <a:t> </a:t>
            </a:r>
            <a:r>
              <a:rPr dirty="0" spc="-20"/>
              <a:t>View</a:t>
            </a: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work/play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dichotomy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may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dissolve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world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human-AI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collaboration:</a:t>
            </a:r>
            <a:endParaRPr sz="9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scientist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uses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AI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 hypotheses,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then </a:t>
            </a:r>
            <a:r>
              <a:rPr dirty="0" sz="900" spc="-90">
                <a:solidFill>
                  <a:srgbClr val="22373A"/>
                </a:solidFill>
              </a:rPr>
              <a:t>designs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and</a:t>
            </a:r>
            <a:r>
              <a:rPr dirty="0" sz="900" spc="-50">
                <a:solidFill>
                  <a:srgbClr val="22373A"/>
                </a:solidFill>
              </a:rPr>
              <a:t> </a:t>
            </a:r>
            <a:r>
              <a:rPr dirty="0" sz="900" spc="-75">
                <a:solidFill>
                  <a:srgbClr val="22373A"/>
                </a:solidFill>
              </a:rPr>
              <a:t>interprets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10">
                <a:solidFill>
                  <a:srgbClr val="22373A"/>
                </a:solidFill>
              </a:rPr>
              <a:t>experiments</a:t>
            </a:r>
            <a:endParaRPr sz="900">
              <a:latin typeface="Arial"/>
              <a:cs typeface="Arial"/>
            </a:endParaRPr>
          </a:p>
          <a:p>
            <a:pPr marL="289560" marR="607695" indent="-114935">
              <a:lnSpc>
                <a:spcPts val="960"/>
              </a:lnSpc>
              <a:spcBef>
                <a:spcPts val="41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•</a:t>
            </a:r>
            <a:r>
              <a:rPr dirty="0" sz="900" spc="409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teacher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whose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handles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assessment,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freeing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22373A"/>
                </a:solidFill>
              </a:rPr>
              <a:t>mentorship</a:t>
            </a:r>
            <a:r>
              <a:rPr dirty="0" sz="900" spc="-45">
                <a:solidFill>
                  <a:srgbClr val="22373A"/>
                </a:solidFill>
              </a:rPr>
              <a:t> </a:t>
            </a:r>
            <a:r>
              <a:rPr dirty="0" sz="900" spc="-40">
                <a:solidFill>
                  <a:srgbClr val="22373A"/>
                </a:solidFill>
              </a:rPr>
              <a:t>and </a:t>
            </a:r>
            <a:r>
              <a:rPr dirty="0" sz="900" spc="-10">
                <a:solidFill>
                  <a:srgbClr val="22373A"/>
                </a:solidFill>
              </a:rPr>
              <a:t>relationship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960"/>
              </a:lnSpc>
              <a:spcBef>
                <a:spcPts val="409"/>
              </a:spcBef>
            </a:pP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human</a:t>
            </a:r>
            <a:r>
              <a:rPr dirty="0" sz="9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contribution</a:t>
            </a:r>
            <a:r>
              <a:rPr dirty="0" sz="900" spc="1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90">
                <a:solidFill>
                  <a:srgbClr val="000000"/>
                </a:solidFill>
              </a:rPr>
              <a:t>resembles</a:t>
            </a:r>
            <a:r>
              <a:rPr dirty="0" sz="900" spc="60">
                <a:solidFill>
                  <a:srgbClr val="000000"/>
                </a:solidFill>
              </a:rPr>
              <a:t> </a:t>
            </a:r>
            <a:r>
              <a:rPr dirty="0" sz="900" spc="-25">
                <a:solidFill>
                  <a:srgbClr val="000000"/>
                </a:solidFill>
              </a:rPr>
              <a:t>play</a:t>
            </a:r>
            <a:r>
              <a:rPr dirty="0" sz="900" spc="-25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900" spc="2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voluntary,</a:t>
            </a:r>
            <a:r>
              <a:rPr dirty="0" sz="900" spc="1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creative,</a:t>
            </a:r>
            <a:r>
              <a:rPr dirty="0" sz="900" spc="1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rule-governed</a:t>
            </a:r>
            <a:r>
              <a:rPr dirty="0" sz="9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engagement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pursued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partly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its</a:t>
            </a:r>
            <a:r>
              <a:rPr dirty="0" sz="9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own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000000"/>
                </a:solidFill>
                <a:latin typeface="Arial"/>
                <a:cs typeface="Arial"/>
              </a:rPr>
              <a:t>sake.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pc="-95"/>
              <a:t>Vallor’s</a:t>
            </a:r>
            <a:r>
              <a:rPr dirty="0" spc="-65"/>
              <a:t> </a:t>
            </a:r>
            <a:r>
              <a:rPr dirty="0" spc="-114"/>
              <a:t>Framing</a:t>
            </a:r>
            <a:r>
              <a:rPr dirty="0" spc="-65"/>
              <a:t> </a:t>
            </a:r>
            <a:r>
              <a:rPr dirty="0" spc="-60"/>
              <a:t>(vallor_technology_virtues)</a:t>
            </a:r>
          </a:p>
          <a:p>
            <a:pPr algn="just" marL="12700" marR="5080">
              <a:lnSpc>
                <a:spcPts val="960"/>
              </a:lnSpc>
              <a:spcBef>
                <a:spcPts val="1160"/>
              </a:spcBef>
            </a:pP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dirty="0" sz="900" spc="-6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just</a:t>
            </a:r>
            <a:r>
              <a:rPr dirty="0" sz="900" spc="-6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000000"/>
                </a:solidFill>
              </a:rPr>
              <a:t>“what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55">
                <a:solidFill>
                  <a:srgbClr val="000000"/>
                </a:solidFill>
              </a:rPr>
              <a:t>will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110">
                <a:solidFill>
                  <a:srgbClr val="000000"/>
                </a:solidFill>
              </a:rPr>
              <a:t>we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60">
                <a:solidFill>
                  <a:srgbClr val="000000"/>
                </a:solidFill>
              </a:rPr>
              <a:t>do?”</a:t>
            </a:r>
            <a:r>
              <a:rPr dirty="0" sz="900" spc="-65">
                <a:solidFill>
                  <a:srgbClr val="000000"/>
                </a:solidFill>
              </a:rPr>
              <a:t> </a:t>
            </a:r>
            <a:r>
              <a:rPr dirty="0" sz="900" spc="25">
                <a:solidFill>
                  <a:srgbClr val="000000"/>
                </a:solidFill>
                <a:latin typeface="Arial"/>
                <a:cs typeface="Arial"/>
              </a:rPr>
              <a:t>but</a:t>
            </a:r>
            <a:r>
              <a:rPr dirty="0" sz="900" spc="-6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000000"/>
                </a:solidFill>
              </a:rPr>
              <a:t>“what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65">
                <a:solidFill>
                  <a:srgbClr val="000000"/>
                </a:solidFill>
              </a:rPr>
              <a:t>kind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70">
                <a:solidFill>
                  <a:srgbClr val="000000"/>
                </a:solidFill>
              </a:rPr>
              <a:t>of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75">
                <a:solidFill>
                  <a:srgbClr val="000000"/>
                </a:solidFill>
              </a:rPr>
              <a:t>people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55">
                <a:solidFill>
                  <a:srgbClr val="000000"/>
                </a:solidFill>
              </a:rPr>
              <a:t>will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110">
                <a:solidFill>
                  <a:srgbClr val="000000"/>
                </a:solidFill>
              </a:rPr>
              <a:t>we</a:t>
            </a:r>
            <a:r>
              <a:rPr dirty="0" sz="900" spc="-114">
                <a:solidFill>
                  <a:srgbClr val="000000"/>
                </a:solidFill>
              </a:rPr>
              <a:t> </a:t>
            </a:r>
            <a:r>
              <a:rPr dirty="0" sz="900" spc="-85">
                <a:solidFill>
                  <a:srgbClr val="000000"/>
                </a:solidFill>
              </a:rPr>
              <a:t>become?”</a:t>
            </a:r>
            <a:r>
              <a:rPr dirty="0" sz="900" spc="-65">
                <a:solidFill>
                  <a:srgbClr val="000000"/>
                </a:solidFill>
              </a:rPr>
              <a:t> 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Virtues</a:t>
            </a:r>
            <a:r>
              <a:rPr dirty="0" sz="900" spc="-6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cultivated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games </a:t>
            </a:r>
            <a:r>
              <a:rPr dirty="0" sz="900" spc="-210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persistence,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creativity,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humility,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 care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210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5">
                <a:solidFill>
                  <a:srgbClr val="000000"/>
                </a:solidFill>
                <a:latin typeface="Arial"/>
                <a:cs typeface="Arial"/>
              </a:rPr>
              <a:t>exactly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virtues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0000"/>
                </a:solidFill>
                <a:latin typeface="Arial"/>
                <a:cs typeface="Arial"/>
              </a:rPr>
              <a:t>needed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dirty="0" sz="9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30">
                <a:solidFill>
                  <a:srgbClr val="000000"/>
                </a:solidFill>
                <a:latin typeface="Arial"/>
                <a:cs typeface="Arial"/>
              </a:rPr>
              <a:t>AI-</a:t>
            </a:r>
            <a:r>
              <a:rPr dirty="0" sz="900" spc="10">
                <a:solidFill>
                  <a:srgbClr val="000000"/>
                </a:solidFill>
                <a:latin typeface="Arial"/>
                <a:cs typeface="Arial"/>
              </a:rPr>
              <a:t>transformed</a:t>
            </a:r>
            <a:r>
              <a:rPr dirty="0" sz="9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900" spc="15">
                <a:solidFill>
                  <a:srgbClr val="000000"/>
                </a:solidFill>
                <a:latin typeface="Arial"/>
                <a:cs typeface="Arial"/>
              </a:rPr>
              <a:t>world.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5392420" cy="5080"/>
            </a:xfrm>
            <a:custGeom>
              <a:avLst/>
              <a:gdLst/>
              <a:ahLst/>
              <a:cxnLst/>
              <a:rect l="l" t="t" r="r" b="b"/>
              <a:pathLst>
                <a:path w="5392420" h="5080">
                  <a:moveTo>
                    <a:pt x="0" y="5060"/>
                  </a:moveTo>
                  <a:lnTo>
                    <a:pt x="0" y="0"/>
                  </a:lnTo>
                  <a:lnTo>
                    <a:pt x="5392422" y="0"/>
                  </a:lnTo>
                  <a:lnTo>
                    <a:pt x="53924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4580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0"/>
              <a:t>Final</a:t>
            </a:r>
            <a:r>
              <a:rPr dirty="0" spc="-95"/>
              <a:t> </a:t>
            </a:r>
            <a:r>
              <a:rPr dirty="0" spc="-110"/>
              <a:t>Discussion:</a:t>
            </a:r>
            <a:r>
              <a:rPr dirty="0" spc="-40"/>
              <a:t> </a:t>
            </a:r>
            <a:r>
              <a:rPr dirty="0" spc="-130"/>
              <a:t>A</a:t>
            </a:r>
            <a:r>
              <a:rPr dirty="0" spc="-90"/>
              <a:t> </a:t>
            </a:r>
            <a:r>
              <a:rPr dirty="0" spc="-110"/>
              <a:t>Life</a:t>
            </a:r>
            <a:r>
              <a:rPr dirty="0" spc="-90"/>
              <a:t> </a:t>
            </a:r>
            <a:r>
              <a:rPr dirty="0" spc="-95"/>
              <a:t>of </a:t>
            </a:r>
            <a:r>
              <a:rPr dirty="0" spc="-114"/>
              <a:t>Games?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010851"/>
            <a:ext cx="5040630" cy="1270000"/>
            <a:chOff x="359994" y="1010851"/>
            <a:chExt cx="5040630" cy="1270000"/>
          </a:xfrm>
        </p:grpSpPr>
        <p:sp>
          <p:nvSpPr>
            <p:cNvPr id="4" name="object 4"/>
            <p:cNvSpPr/>
            <p:nvPr/>
          </p:nvSpPr>
          <p:spPr>
            <a:xfrm>
              <a:off x="359994" y="1010851"/>
              <a:ext cx="5040630" cy="1270000"/>
            </a:xfrm>
            <a:custGeom>
              <a:avLst/>
              <a:gdLst/>
              <a:ahLst/>
              <a:cxnLst/>
              <a:rect l="l" t="t" r="r" b="b"/>
              <a:pathLst>
                <a:path w="5040630" h="127000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231691"/>
                  </a:lnTo>
                  <a:lnTo>
                    <a:pt x="2982" y="1246466"/>
                  </a:lnTo>
                  <a:lnTo>
                    <a:pt x="11117" y="1258532"/>
                  </a:lnTo>
                  <a:lnTo>
                    <a:pt x="23182" y="1266666"/>
                  </a:lnTo>
                  <a:lnTo>
                    <a:pt x="37958" y="1269649"/>
                  </a:lnTo>
                  <a:lnTo>
                    <a:pt x="5002106" y="1269649"/>
                  </a:lnTo>
                  <a:lnTo>
                    <a:pt x="5016882" y="1266666"/>
                  </a:lnTo>
                  <a:lnTo>
                    <a:pt x="5028947" y="1258532"/>
                  </a:lnTo>
                  <a:lnTo>
                    <a:pt x="5037082" y="1246466"/>
                  </a:lnTo>
                  <a:lnTo>
                    <a:pt x="5040064" y="1231691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2646" y="1194141"/>
              <a:ext cx="5015230" cy="1073785"/>
            </a:xfrm>
            <a:custGeom>
              <a:avLst/>
              <a:gdLst/>
              <a:ahLst/>
              <a:cxnLst/>
              <a:rect l="l" t="t" r="r" b="b"/>
              <a:pathLst>
                <a:path w="5015230" h="1073785">
                  <a:moveTo>
                    <a:pt x="5014759" y="0"/>
                  </a:moveTo>
                  <a:lnTo>
                    <a:pt x="0" y="0"/>
                  </a:lnTo>
                  <a:lnTo>
                    <a:pt x="0" y="1048401"/>
                  </a:lnTo>
                  <a:lnTo>
                    <a:pt x="1988" y="1058251"/>
                  </a:lnTo>
                  <a:lnTo>
                    <a:pt x="7411" y="1066295"/>
                  </a:lnTo>
                  <a:lnTo>
                    <a:pt x="15455" y="1071718"/>
                  </a:lnTo>
                  <a:lnTo>
                    <a:pt x="25305" y="1073706"/>
                  </a:lnTo>
                  <a:lnTo>
                    <a:pt x="4989454" y="1073706"/>
                  </a:lnTo>
                  <a:lnTo>
                    <a:pt x="4999304" y="1071718"/>
                  </a:lnTo>
                  <a:lnTo>
                    <a:pt x="5007347" y="1066295"/>
                  </a:lnTo>
                  <a:lnTo>
                    <a:pt x="5012770" y="1058251"/>
                  </a:lnTo>
                  <a:lnTo>
                    <a:pt x="5014759" y="1048401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35863" y="975524"/>
            <a:ext cx="4885055" cy="126619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100" spc="-1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289560" marR="5080" indent="-168910">
              <a:lnSpc>
                <a:spcPts val="960"/>
              </a:lnSpc>
              <a:spcBef>
                <a:spcPts val="30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3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Suits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says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Grasshopper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right: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playing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22373A"/>
                </a:solidFill>
                <a:latin typeface="Arial Black"/>
                <a:cs typeface="Arial Black"/>
              </a:rPr>
              <a:t>games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is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the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ideal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human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life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agree?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counts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“game”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sense?</a:t>
            </a:r>
            <a:endParaRPr sz="900">
              <a:latin typeface="Arial"/>
              <a:cs typeface="Arial"/>
            </a:endParaRPr>
          </a:p>
          <a:p>
            <a:pPr marL="289560" marR="125095" indent="-168910">
              <a:lnSpc>
                <a:spcPts val="960"/>
              </a:lnSpc>
              <a:spcBef>
                <a:spcPts val="409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dirty="0" sz="900" spc="4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difference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playing</a:t>
            </a:r>
            <a:r>
              <a:rPr dirty="0" sz="900" spc="-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0" b="1" i="1">
                <a:solidFill>
                  <a:srgbClr val="22373A"/>
                </a:solidFill>
                <a:latin typeface="Arial"/>
                <a:cs typeface="Arial"/>
              </a:rPr>
              <a:t>Stardew</a:t>
            </a:r>
            <a:r>
              <a:rPr dirty="0" sz="900" spc="15" b="1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b="1" i="1">
                <a:solidFill>
                  <a:srgbClr val="22373A"/>
                </a:solidFill>
                <a:latin typeface="Arial"/>
                <a:cs typeface="Arial"/>
              </a:rPr>
              <a:t>Valley</a:t>
            </a:r>
            <a:r>
              <a:rPr dirty="0" sz="900" spc="60" b="1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(farming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simulation)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actually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farming</a:t>
            </a:r>
            <a:r>
              <a:rPr dirty="0" sz="900" spc="-80">
                <a:solidFill>
                  <a:srgbClr val="22373A"/>
                </a:solidFill>
                <a:latin typeface="Arial"/>
                <a:cs typeface="Arial"/>
              </a:rPr>
              <a:t>?</a:t>
            </a:r>
            <a:r>
              <a:rPr dirty="0" sz="900" spc="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matter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morally?</a:t>
            </a:r>
            <a:endParaRPr sz="900">
              <a:latin typeface="Arial"/>
              <a:cs typeface="Arial"/>
            </a:endParaRPr>
          </a:p>
          <a:p>
            <a:pPr marL="120650">
              <a:lnSpc>
                <a:spcPts val="1019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dirty="0" sz="900" spc="4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makes most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unnecessary,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should 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welcome</a:t>
            </a: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Grasshopper’s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world,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resist</a:t>
            </a:r>
            <a:endParaRPr sz="900">
              <a:latin typeface="Arial Black"/>
              <a:cs typeface="Arial Black"/>
            </a:endParaRPr>
          </a:p>
          <a:p>
            <a:pPr marL="289560">
              <a:lnSpc>
                <a:spcPts val="1019"/>
              </a:lnSpc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redesign</a:t>
            </a:r>
            <a:r>
              <a:rPr dirty="0" sz="900" spc="-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retains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meaning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unnecessary?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900" spc="-70">
                <a:latin typeface="Arial Black"/>
                <a:cs typeface="Arial Black"/>
              </a:rPr>
              <a:t>What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would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a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80">
                <a:latin typeface="Arial Black"/>
                <a:cs typeface="Arial Black"/>
              </a:rPr>
              <a:t>genuinely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60" b="1" i="1">
                <a:latin typeface="Arial"/>
                <a:cs typeface="Arial"/>
              </a:rPr>
              <a:t>good</a:t>
            </a:r>
            <a:r>
              <a:rPr dirty="0" sz="900" spc="-5" b="1" i="1">
                <a:latin typeface="Arial"/>
                <a:cs typeface="Arial"/>
              </a:rPr>
              <a:t> </a:t>
            </a:r>
            <a:r>
              <a:rPr dirty="0" sz="900" spc="-65">
                <a:latin typeface="Arial Black"/>
                <a:cs typeface="Arial Black"/>
              </a:rPr>
              <a:t>post-</a:t>
            </a:r>
            <a:r>
              <a:rPr dirty="0" sz="900" spc="-90">
                <a:latin typeface="Arial Black"/>
                <a:cs typeface="Arial Black"/>
              </a:rPr>
              <a:t>work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society</a:t>
            </a:r>
            <a:r>
              <a:rPr dirty="0" sz="900" spc="-55">
                <a:latin typeface="Arial Black"/>
                <a:cs typeface="Arial Black"/>
              </a:rPr>
              <a:t> </a:t>
            </a:r>
            <a:r>
              <a:rPr dirty="0" sz="900" spc="-85">
                <a:latin typeface="Arial Black"/>
                <a:cs typeface="Arial Black"/>
              </a:rPr>
              <a:t>look</a:t>
            </a:r>
            <a:r>
              <a:rPr dirty="0" sz="900" spc="-60">
                <a:latin typeface="Arial Black"/>
                <a:cs typeface="Arial Black"/>
              </a:rPr>
              <a:t> </a:t>
            </a:r>
            <a:r>
              <a:rPr dirty="0" sz="900" spc="-20">
                <a:latin typeface="Arial Black"/>
                <a:cs typeface="Arial Black"/>
              </a:rPr>
              <a:t>like?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514975" cy="5080"/>
            </a:xfrm>
            <a:custGeom>
              <a:avLst/>
              <a:gdLst/>
              <a:ahLst/>
              <a:cxnLst/>
              <a:rect l="l" t="t" r="r" b="b"/>
              <a:pathLst>
                <a:path w="5514975" h="5080">
                  <a:moveTo>
                    <a:pt x="0" y="5060"/>
                  </a:moveTo>
                  <a:lnTo>
                    <a:pt x="0" y="0"/>
                  </a:lnTo>
                  <a:lnTo>
                    <a:pt x="5514943" y="0"/>
                  </a:lnTo>
                  <a:lnTo>
                    <a:pt x="55149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5"/>
              <a:t>Key</a:t>
            </a:r>
            <a:r>
              <a:rPr dirty="0" spc="-120"/>
              <a:t> </a:t>
            </a:r>
            <a:r>
              <a:rPr dirty="0" spc="-110"/>
              <a:t>Concepts</a:t>
            </a:r>
            <a:r>
              <a:rPr dirty="0" spc="40"/>
              <a:t> </a:t>
            </a:r>
            <a:r>
              <a:rPr dirty="0" spc="-5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306" y="599917"/>
            <a:ext cx="5013960" cy="2005964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801370" marR="280670" indent="-539115">
              <a:lnSpc>
                <a:spcPts val="960"/>
              </a:lnSpc>
              <a:spcBef>
                <a:spcPts val="225"/>
              </a:spcBef>
            </a:pP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Huizinga</a:t>
            </a:r>
            <a:r>
              <a:rPr dirty="0" sz="900" spc="3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play is culture’s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foundation; the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magic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circle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voluntary, rule-bound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space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separate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ordinary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life.</a:t>
            </a:r>
            <a:endParaRPr sz="900">
              <a:latin typeface="Arial"/>
              <a:cs typeface="Arial"/>
            </a:endParaRPr>
          </a:p>
          <a:p>
            <a:pPr marL="801370" marR="528955" indent="-342265">
              <a:lnSpc>
                <a:spcPts val="960"/>
              </a:lnSpc>
              <a:spcBef>
                <a:spcPts val="430"/>
              </a:spcBef>
            </a:pPr>
            <a:r>
              <a:rPr dirty="0" sz="900" spc="-45">
                <a:solidFill>
                  <a:srgbClr val="22373A"/>
                </a:solidFill>
                <a:latin typeface="Arial Black"/>
                <a:cs typeface="Arial Black"/>
              </a:rPr>
              <a:t>Suits</a:t>
            </a:r>
            <a:r>
              <a:rPr dirty="0" sz="900" spc="30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prelusory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goal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constitutive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lusory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attitude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(voluntary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acceptance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unnecessary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obstacles).</a:t>
            </a:r>
            <a:endParaRPr sz="900">
              <a:latin typeface="Arial"/>
              <a:cs typeface="Arial"/>
            </a:endParaRPr>
          </a:p>
          <a:p>
            <a:pPr marL="338455">
              <a:lnSpc>
                <a:spcPct val="100000"/>
              </a:lnSpc>
              <a:spcBef>
                <a:spcPts val="300"/>
              </a:spcBef>
            </a:pP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Caillois</a:t>
            </a:r>
            <a:r>
              <a:rPr dirty="0" sz="900" spc="30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four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22373A"/>
                </a:solidFill>
                <a:latin typeface="Arial"/>
                <a:cs typeface="Arial"/>
              </a:rPr>
              <a:t>agôn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alea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mimicry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22373A"/>
                </a:solidFill>
                <a:latin typeface="Arial"/>
                <a:cs typeface="Arial"/>
              </a:rPr>
              <a:t>ilinx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;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combine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four.</a:t>
            </a:r>
            <a:endParaRPr sz="900">
              <a:latin typeface="Arial"/>
              <a:cs typeface="Arial"/>
            </a:endParaRPr>
          </a:p>
          <a:p>
            <a:pPr marL="327660">
              <a:lnSpc>
                <a:spcPct val="100000"/>
              </a:lnSpc>
              <a:spcBef>
                <a:spcPts val="305"/>
              </a:spcBef>
            </a:pP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Nguyen</a:t>
            </a:r>
            <a:r>
              <a:rPr dirty="0" sz="900" spc="2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games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sculpt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agency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itself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hijack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values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gamification.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Moral</a:t>
            </a:r>
            <a:r>
              <a:rPr dirty="0" sz="900" spc="-8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panic</a:t>
            </a:r>
            <a:r>
              <a:rPr dirty="0" sz="900" spc="-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pattern</a:t>
            </a:r>
            <a:r>
              <a:rPr dirty="0" sz="900" spc="28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medium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triggers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fears;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effects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usually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overstated.</a:t>
            </a:r>
            <a:endParaRPr sz="900">
              <a:latin typeface="Arial"/>
              <a:cs typeface="Arial"/>
            </a:endParaRPr>
          </a:p>
          <a:p>
            <a:pPr marL="801370" marR="268605" indent="-789305">
              <a:lnSpc>
                <a:spcPts val="960"/>
              </a:lnSpc>
              <a:spcBef>
                <a:spcPts val="440"/>
              </a:spcBef>
            </a:pPr>
            <a:r>
              <a:rPr dirty="0" sz="900" spc="-90">
                <a:solidFill>
                  <a:srgbClr val="22373A"/>
                </a:solidFill>
                <a:latin typeface="Arial Black"/>
                <a:cs typeface="Arial Black"/>
              </a:rPr>
              <a:t>Video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22373A"/>
                </a:solidFill>
                <a:latin typeface="Arial Black"/>
                <a:cs typeface="Arial Black"/>
              </a:rPr>
              <a:t>game</a:t>
            </a:r>
            <a:r>
              <a:rPr dirty="0" sz="900" spc="-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effects</a:t>
            </a:r>
            <a:r>
              <a:rPr dirty="0" sz="900" spc="30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violence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research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contested;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gaming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disorder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rare;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cooperative games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cultivate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virtue.</a:t>
            </a:r>
            <a:endParaRPr sz="900">
              <a:latin typeface="Arial"/>
              <a:cs typeface="Arial"/>
            </a:endParaRPr>
          </a:p>
          <a:p>
            <a:pPr marL="801370" marR="5080" indent="-789305">
              <a:lnSpc>
                <a:spcPts val="960"/>
              </a:lnSpc>
              <a:spcBef>
                <a:spcPts val="430"/>
              </a:spcBef>
            </a:pP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Suits’</a:t>
            </a: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22373A"/>
                </a:solidFill>
                <a:latin typeface="Arial Black"/>
                <a:cs typeface="Arial Black"/>
              </a:rPr>
              <a:t>Grasshopper</a:t>
            </a:r>
            <a:r>
              <a:rPr dirty="0" sz="900" spc="3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 utopia (or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post-AI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world), only </a:t>
            </a:r>
            <a:r>
              <a:rPr dirty="0" sz="900" spc="-110">
                <a:solidFill>
                  <a:srgbClr val="22373A"/>
                </a:solidFill>
                <a:latin typeface="Arial Black"/>
                <a:cs typeface="Arial Black"/>
              </a:rPr>
              <a:t>games</a:t>
            </a:r>
            <a:r>
              <a:rPr dirty="0" sz="9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remain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rational </a:t>
            </a:r>
            <a:r>
              <a:rPr dirty="0" sz="900" spc="-215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they exist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purely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sake.</a:t>
            </a:r>
            <a:endParaRPr sz="900">
              <a:latin typeface="Arial"/>
              <a:cs typeface="Arial"/>
            </a:endParaRPr>
          </a:p>
          <a:p>
            <a:pPr marL="801370" marR="215900" indent="-382270">
              <a:lnSpc>
                <a:spcPts val="960"/>
              </a:lnSpc>
              <a:spcBef>
                <a:spcPts val="425"/>
              </a:spcBef>
            </a:pPr>
            <a:r>
              <a:rPr dirty="0" sz="900" spc="-55">
                <a:solidFill>
                  <a:srgbClr val="22373A"/>
                </a:solidFill>
                <a:latin typeface="Arial Black"/>
                <a:cs typeface="Arial Black"/>
              </a:rPr>
              <a:t>Vallor</a:t>
            </a:r>
            <a:r>
              <a:rPr dirty="0" sz="900" spc="3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virtues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cultivated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games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shape </a:t>
            </a: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who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22373A"/>
                </a:solidFill>
                <a:latin typeface="Arial Black"/>
                <a:cs typeface="Arial Black"/>
              </a:rPr>
              <a:t>we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become</a:t>
            </a:r>
            <a:r>
              <a:rPr dirty="0" sz="900" spc="-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AI-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transformed world.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638165" cy="5080"/>
            </a:xfrm>
            <a:custGeom>
              <a:avLst/>
              <a:gdLst/>
              <a:ahLst/>
              <a:cxnLst/>
              <a:rect l="l" t="t" r="r" b="b"/>
              <a:pathLst>
                <a:path w="5638165" h="5080">
                  <a:moveTo>
                    <a:pt x="0" y="5060"/>
                  </a:moveTo>
                  <a:lnTo>
                    <a:pt x="0" y="0"/>
                  </a:lnTo>
                  <a:lnTo>
                    <a:pt x="5637552" y="0"/>
                  </a:lnTo>
                  <a:lnTo>
                    <a:pt x="5637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9417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1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r>
              <a:rPr dirty="0" sz="120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Brendan Shea, PhD</dc:creator>
  <dc:title>Games and the Meaning of Life - Play, Virtue, and Human Flourishing in the Age of AI</dc:title>
  <dcterms:created xsi:type="dcterms:W3CDTF">2026-08-27T23:09:00Z</dcterms:created>
  <dcterms:modified xsi:type="dcterms:W3CDTF">2026-08-27T23:09:00Z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2026-08-27T00:00:00Z</vt:filetime>
  </property>
  <property fmtid="{D5CDD505-2E9C-101B-9397-08002B2CF9AE}" pid="6" name="PTEX.Fullbanner">
    <vt:lpwstr>This is pdfTeX, Version 3.141592653-2.6-1.40.25 (TeX Live 2023/Debian) kpathsea version 6.3.5</vt:lpwstr>
  </property>
  <property fmtid="{D5CDD505-2E9C-101B-9397-08002B2CF9AE}" pid="7" name="Producer">
    <vt:lpwstr>pdfTeX-1.40.25</vt:lpwstr>
  </property>
</Properties>
</file>