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06" d="100"/>
          <a:sy n="206" d="100"/>
        </p:scale>
        <p:origin x="990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2770" y="74559"/>
            <a:ext cx="1151255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pPr marL="7302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pPr marL="7302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pPr marL="7302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pPr marL="7302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pPr marL="7302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74561"/>
            <a:ext cx="5760085" cy="2865755"/>
          </a:xfrm>
          <a:custGeom>
            <a:avLst/>
            <a:gdLst/>
            <a:ahLst/>
            <a:cxnLst/>
            <a:rect l="l" t="t" r="r" b="b"/>
            <a:pathLst>
              <a:path w="5760085" h="2865755">
                <a:moveTo>
                  <a:pt x="0" y="2865437"/>
                </a:moveTo>
                <a:lnTo>
                  <a:pt x="5759996" y="2865437"/>
                </a:lnTo>
                <a:lnTo>
                  <a:pt x="5759996" y="0"/>
                </a:lnTo>
                <a:lnTo>
                  <a:pt x="0" y="0"/>
                </a:lnTo>
                <a:lnTo>
                  <a:pt x="0" y="2865437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5760085" cy="374650"/>
          </a:xfrm>
          <a:custGeom>
            <a:avLst/>
            <a:gdLst/>
            <a:ahLst/>
            <a:cxnLst/>
            <a:rect l="l" t="t" r="r" b="b"/>
            <a:pathLst>
              <a:path w="5760085" h="374650">
                <a:moveTo>
                  <a:pt x="5759996" y="0"/>
                </a:moveTo>
                <a:lnTo>
                  <a:pt x="0" y="0"/>
                </a:lnTo>
                <a:lnTo>
                  <a:pt x="0" y="374561"/>
                </a:lnTo>
                <a:lnTo>
                  <a:pt x="5759996" y="374561"/>
                </a:lnTo>
                <a:lnTo>
                  <a:pt x="5759996" y="0"/>
                </a:lnTo>
                <a:close/>
              </a:path>
            </a:pathLst>
          </a:custGeom>
          <a:solidFill>
            <a:srgbClr val="1E3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770" y="74559"/>
            <a:ext cx="4041775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2298" y="510412"/>
            <a:ext cx="2596515" cy="1795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08320" y="2952285"/>
            <a:ext cx="185420" cy="1638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pPr marL="7302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52.xml"/><Relationship Id="rId3" Type="http://schemas.openxmlformats.org/officeDocument/2006/relationships/slide" Target="slide10.xml"/><Relationship Id="rId7" Type="http://schemas.openxmlformats.org/officeDocument/2006/relationships/slide" Target="slide47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9.xml"/><Relationship Id="rId5" Type="http://schemas.openxmlformats.org/officeDocument/2006/relationships/slide" Target="slide29.xml"/><Relationship Id="rId4" Type="http://schemas.openxmlformats.org/officeDocument/2006/relationships/slide" Target="slide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52.xml"/><Relationship Id="rId3" Type="http://schemas.openxmlformats.org/officeDocument/2006/relationships/slide" Target="slide10.xml"/><Relationship Id="rId7" Type="http://schemas.openxmlformats.org/officeDocument/2006/relationships/slide" Target="slide47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9.xml"/><Relationship Id="rId5" Type="http://schemas.openxmlformats.org/officeDocument/2006/relationships/slide" Target="slide29.xml"/><Relationship Id="rId4" Type="http://schemas.openxmlformats.org/officeDocument/2006/relationships/slide" Target="slide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52.xml"/><Relationship Id="rId3" Type="http://schemas.openxmlformats.org/officeDocument/2006/relationships/slide" Target="slide10.xml"/><Relationship Id="rId7" Type="http://schemas.openxmlformats.org/officeDocument/2006/relationships/slide" Target="slide47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9.xml"/><Relationship Id="rId5" Type="http://schemas.openxmlformats.org/officeDocument/2006/relationships/slide" Target="slide29.xml"/><Relationship Id="rId4" Type="http://schemas.openxmlformats.org/officeDocument/2006/relationships/slide" Target="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52.xml"/><Relationship Id="rId3" Type="http://schemas.openxmlformats.org/officeDocument/2006/relationships/slide" Target="slide10.xml"/><Relationship Id="rId7" Type="http://schemas.openxmlformats.org/officeDocument/2006/relationships/slide" Target="slide47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9.xml"/><Relationship Id="rId5" Type="http://schemas.openxmlformats.org/officeDocument/2006/relationships/slide" Target="slide29.xml"/><Relationship Id="rId4" Type="http://schemas.openxmlformats.org/officeDocument/2006/relationships/slide" Target="slide1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" Target="slide52.xml"/><Relationship Id="rId3" Type="http://schemas.openxmlformats.org/officeDocument/2006/relationships/slide" Target="slide10.xml"/><Relationship Id="rId7" Type="http://schemas.openxmlformats.org/officeDocument/2006/relationships/slide" Target="slide47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9.xml"/><Relationship Id="rId5" Type="http://schemas.openxmlformats.org/officeDocument/2006/relationships/slide" Target="slide29.xml"/><Relationship Id="rId4" Type="http://schemas.openxmlformats.org/officeDocument/2006/relationships/slide" Target="slide1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slide" Target="slide52.xml"/><Relationship Id="rId3" Type="http://schemas.openxmlformats.org/officeDocument/2006/relationships/slide" Target="slide10.xml"/><Relationship Id="rId7" Type="http://schemas.openxmlformats.org/officeDocument/2006/relationships/slide" Target="slide47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9.xml"/><Relationship Id="rId5" Type="http://schemas.openxmlformats.org/officeDocument/2006/relationships/slide" Target="slide29.xml"/><Relationship Id="rId4" Type="http://schemas.openxmlformats.org/officeDocument/2006/relationships/slide" Target="slide1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slide" Target="slide52.xml"/><Relationship Id="rId3" Type="http://schemas.openxmlformats.org/officeDocument/2006/relationships/slide" Target="slide10.xml"/><Relationship Id="rId7" Type="http://schemas.openxmlformats.org/officeDocument/2006/relationships/slide" Target="slide47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9.xml"/><Relationship Id="rId5" Type="http://schemas.openxmlformats.org/officeDocument/2006/relationships/slide" Target="slide29.xml"/><Relationship Id="rId4" Type="http://schemas.openxmlformats.org/officeDocument/2006/relationships/slide" Target="slide1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"/>
            <a:ext cx="5760085" cy="3240405"/>
            <a:chOff x="0" y="5"/>
            <a:chExt cx="5760085" cy="32404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"/>
              <a:ext cx="5759988" cy="323999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3206" y="741792"/>
              <a:ext cx="4234180" cy="1362075"/>
            </a:xfrm>
            <a:custGeom>
              <a:avLst/>
              <a:gdLst/>
              <a:ahLst/>
              <a:cxnLst/>
              <a:rect l="l" t="t" r="r" b="b"/>
              <a:pathLst>
                <a:path w="4234180" h="1362075">
                  <a:moveTo>
                    <a:pt x="4188086" y="0"/>
                  </a:moveTo>
                  <a:lnTo>
                    <a:pt x="45549" y="0"/>
                  </a:lnTo>
                  <a:lnTo>
                    <a:pt x="27819" y="3579"/>
                  </a:lnTo>
                  <a:lnTo>
                    <a:pt x="13341" y="13341"/>
                  </a:lnTo>
                  <a:lnTo>
                    <a:pt x="3579" y="27819"/>
                  </a:lnTo>
                  <a:lnTo>
                    <a:pt x="0" y="45549"/>
                  </a:lnTo>
                  <a:lnTo>
                    <a:pt x="0" y="1316056"/>
                  </a:lnTo>
                  <a:lnTo>
                    <a:pt x="3579" y="1333787"/>
                  </a:lnTo>
                  <a:lnTo>
                    <a:pt x="13341" y="1348265"/>
                  </a:lnTo>
                  <a:lnTo>
                    <a:pt x="27819" y="1358027"/>
                  </a:lnTo>
                  <a:lnTo>
                    <a:pt x="45549" y="1361606"/>
                  </a:lnTo>
                  <a:lnTo>
                    <a:pt x="4188086" y="1361606"/>
                  </a:lnTo>
                  <a:lnTo>
                    <a:pt x="4205816" y="1358027"/>
                  </a:lnTo>
                  <a:lnTo>
                    <a:pt x="4220294" y="1348265"/>
                  </a:lnTo>
                  <a:lnTo>
                    <a:pt x="4230056" y="1333787"/>
                  </a:lnTo>
                  <a:lnTo>
                    <a:pt x="4233635" y="1316056"/>
                  </a:lnTo>
                  <a:lnTo>
                    <a:pt x="4233635" y="45549"/>
                  </a:lnTo>
                  <a:lnTo>
                    <a:pt x="4230056" y="27819"/>
                  </a:lnTo>
                  <a:lnTo>
                    <a:pt x="4220294" y="13341"/>
                  </a:lnTo>
                  <a:lnTo>
                    <a:pt x="4205816" y="3579"/>
                  </a:lnTo>
                  <a:lnTo>
                    <a:pt x="41880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0798" y="749384"/>
              <a:ext cx="4218940" cy="1346835"/>
            </a:xfrm>
            <a:custGeom>
              <a:avLst/>
              <a:gdLst/>
              <a:ahLst/>
              <a:cxnLst/>
              <a:rect l="l" t="t" r="r" b="b"/>
              <a:pathLst>
                <a:path w="4218940" h="1346835">
                  <a:moveTo>
                    <a:pt x="4180494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1308465"/>
                  </a:lnTo>
                  <a:lnTo>
                    <a:pt x="2982" y="1323240"/>
                  </a:lnTo>
                  <a:lnTo>
                    <a:pt x="11117" y="1335305"/>
                  </a:lnTo>
                  <a:lnTo>
                    <a:pt x="23183" y="1343440"/>
                  </a:lnTo>
                  <a:lnTo>
                    <a:pt x="37958" y="1346423"/>
                  </a:lnTo>
                  <a:lnTo>
                    <a:pt x="4180494" y="1346423"/>
                  </a:lnTo>
                  <a:lnTo>
                    <a:pt x="4195269" y="1343440"/>
                  </a:lnTo>
                  <a:lnTo>
                    <a:pt x="4207335" y="1335305"/>
                  </a:lnTo>
                  <a:lnTo>
                    <a:pt x="4215469" y="1323240"/>
                  </a:lnTo>
                  <a:lnTo>
                    <a:pt x="4218452" y="1308465"/>
                  </a:lnTo>
                  <a:lnTo>
                    <a:pt x="4218452" y="37958"/>
                  </a:lnTo>
                  <a:lnTo>
                    <a:pt x="4215469" y="23182"/>
                  </a:lnTo>
                  <a:lnTo>
                    <a:pt x="4207335" y="11117"/>
                  </a:lnTo>
                  <a:lnTo>
                    <a:pt x="4195269" y="2982"/>
                  </a:lnTo>
                  <a:lnTo>
                    <a:pt x="4180494" y="0"/>
                  </a:lnTo>
                  <a:close/>
                </a:path>
              </a:pathLst>
            </a:custGeom>
            <a:solidFill>
              <a:srgbClr val="2D2D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049070" y="856142"/>
            <a:ext cx="3662045" cy="44450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567180" marR="5080" indent="-1555115">
              <a:lnSpc>
                <a:spcPts val="1580"/>
              </a:lnSpc>
              <a:spcBef>
                <a:spcPts val="270"/>
              </a:spcBef>
            </a:pPr>
            <a:r>
              <a:rPr sz="1400" spc="-140" dirty="0"/>
              <a:t>The</a:t>
            </a:r>
            <a:r>
              <a:rPr sz="1400" spc="-90" dirty="0"/>
              <a:t> </a:t>
            </a:r>
            <a:r>
              <a:rPr sz="1400" spc="-105" dirty="0"/>
              <a:t>History</a:t>
            </a:r>
            <a:r>
              <a:rPr sz="1400" spc="-90" dirty="0"/>
              <a:t> </a:t>
            </a:r>
            <a:r>
              <a:rPr sz="1400" spc="-95" dirty="0"/>
              <a:t>of</a:t>
            </a:r>
            <a:r>
              <a:rPr sz="1400" spc="-90" dirty="0"/>
              <a:t> </a:t>
            </a:r>
            <a:r>
              <a:rPr sz="1400" spc="-85" dirty="0"/>
              <a:t>Information</a:t>
            </a:r>
            <a:r>
              <a:rPr sz="1400" spc="-90" dirty="0"/>
              <a:t> </a:t>
            </a:r>
            <a:r>
              <a:rPr sz="1400" spc="-140" dirty="0"/>
              <a:t>Technology</a:t>
            </a:r>
            <a:r>
              <a:rPr sz="1400" spc="-90" dirty="0"/>
              <a:t> </a:t>
            </a:r>
            <a:r>
              <a:rPr sz="1400" spc="-30" dirty="0"/>
              <a:t>and </a:t>
            </a:r>
            <a:r>
              <a:rPr sz="1400" spc="-10" dirty="0"/>
              <a:t>Ethics</a:t>
            </a:r>
            <a:endParaRPr sz="1400"/>
          </a:p>
        </p:txBody>
      </p:sp>
      <p:sp>
        <p:nvSpPr>
          <p:cNvPr id="7" name="object 7"/>
          <p:cNvSpPr txBox="1"/>
          <p:nvPr/>
        </p:nvSpPr>
        <p:spPr>
          <a:xfrm>
            <a:off x="1484274" y="1186224"/>
            <a:ext cx="2791460" cy="75882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19"/>
              </a:spcBef>
            </a:pPr>
            <a:r>
              <a:rPr sz="1200" spc="-20" dirty="0">
                <a:solidFill>
                  <a:srgbClr val="D4870A"/>
                </a:solidFill>
                <a:latin typeface="Arial"/>
                <a:cs typeface="Arial"/>
              </a:rPr>
              <a:t>Five</a:t>
            </a:r>
            <a:r>
              <a:rPr sz="1200" spc="10" dirty="0">
                <a:solidFill>
                  <a:srgbClr val="D4870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4870A"/>
                </a:solidFill>
                <a:latin typeface="Arial"/>
                <a:cs typeface="Arial"/>
              </a:rPr>
              <a:t>Revolutions</a:t>
            </a:r>
            <a:r>
              <a:rPr sz="1200" spc="15" dirty="0">
                <a:solidFill>
                  <a:srgbClr val="D4870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4870A"/>
                </a:solidFill>
                <a:latin typeface="Arial"/>
                <a:cs typeface="Arial"/>
              </a:rPr>
              <a:t>from</a:t>
            </a:r>
            <a:r>
              <a:rPr sz="1200" spc="15" dirty="0">
                <a:solidFill>
                  <a:srgbClr val="D4870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4870A"/>
                </a:solidFill>
                <a:latin typeface="Arial"/>
                <a:cs typeface="Arial"/>
              </a:rPr>
              <a:t>Writing</a:t>
            </a:r>
            <a:r>
              <a:rPr sz="1200" spc="15" dirty="0">
                <a:solidFill>
                  <a:srgbClr val="D4870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4870A"/>
                </a:solidFill>
                <a:latin typeface="Arial"/>
                <a:cs typeface="Arial"/>
              </a:rPr>
              <a:t>to</a:t>
            </a:r>
            <a:r>
              <a:rPr sz="1200" spc="10" dirty="0">
                <a:solidFill>
                  <a:srgbClr val="D4870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D4870A"/>
                </a:solidFill>
                <a:latin typeface="Arial"/>
                <a:cs typeface="Arial"/>
              </a:rPr>
              <a:t>the</a:t>
            </a:r>
            <a:r>
              <a:rPr sz="1200" spc="15" dirty="0">
                <a:solidFill>
                  <a:srgbClr val="D4870A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D4870A"/>
                </a:solidFill>
                <a:latin typeface="Arial"/>
                <a:cs typeface="Arial"/>
              </a:rPr>
              <a:t>Web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ts val="1115"/>
              </a:lnSpc>
              <a:spcBef>
                <a:spcPts val="685"/>
              </a:spcBef>
            </a:pP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Brendan</a:t>
            </a:r>
            <a:r>
              <a:rPr sz="1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Arial"/>
                <a:cs typeface="Arial"/>
              </a:rPr>
              <a:t>Shea,</a:t>
            </a:r>
            <a:r>
              <a:rPr sz="1000" spc="-25" dirty="0">
                <a:solidFill>
                  <a:srgbClr val="FFFFFF"/>
                </a:solidFill>
                <a:latin typeface="Arial"/>
                <a:cs typeface="Arial"/>
              </a:rPr>
              <a:t> PhD</a:t>
            </a:r>
            <a:endParaRPr sz="1000">
              <a:latin typeface="Arial"/>
              <a:cs typeface="Arial"/>
            </a:endParaRPr>
          </a:p>
          <a:p>
            <a:pPr marL="386715" marR="379095" algn="ctr">
              <a:lnSpc>
                <a:spcPts val="830"/>
              </a:lnSpc>
              <a:spcBef>
                <a:spcPts val="55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Rochester</a:t>
            </a:r>
            <a:r>
              <a:rPr sz="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Arial"/>
                <a:cs typeface="Arial"/>
              </a:rPr>
              <a:t>Community</a:t>
            </a:r>
            <a:r>
              <a:rPr sz="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Technical</a:t>
            </a:r>
            <a:r>
              <a:rPr sz="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College PHIL </a:t>
            </a:r>
            <a:r>
              <a:rPr sz="800" dirty="0">
                <a:solidFill>
                  <a:srgbClr val="FFFFFF"/>
                </a:solidFill>
                <a:latin typeface="Arial"/>
                <a:cs typeface="Arial"/>
              </a:rPr>
              <a:t>1150:</a:t>
            </a:r>
            <a:r>
              <a:rPr sz="8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Arial"/>
                <a:cs typeface="Arial"/>
              </a:rPr>
              <a:t>Computing</a:t>
            </a:r>
            <a:r>
              <a:rPr sz="8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8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sz="8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Ethics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9" name="object 9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37"/>
              <a:ext cx="101600" cy="5080"/>
            </a:xfrm>
            <a:custGeom>
              <a:avLst/>
              <a:gdLst/>
              <a:ahLst/>
              <a:cxnLst/>
              <a:rect l="l" t="t" r="r" b="b"/>
              <a:pathLst>
                <a:path w="101600" h="5080">
                  <a:moveTo>
                    <a:pt x="0" y="5060"/>
                  </a:moveTo>
                  <a:lnTo>
                    <a:pt x="0" y="0"/>
                  </a:lnTo>
                  <a:lnTo>
                    <a:pt x="101075" y="0"/>
                  </a:lnTo>
                  <a:lnTo>
                    <a:pt x="10107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14" dirty="0"/>
              <a:t>Before</a:t>
            </a:r>
            <a:r>
              <a:rPr spc="-90" dirty="0"/>
              <a:t> </a:t>
            </a:r>
            <a:r>
              <a:rPr spc="-114" dirty="0"/>
              <a:t>We</a:t>
            </a:r>
            <a:r>
              <a:rPr spc="-85" dirty="0"/>
              <a:t> </a:t>
            </a:r>
            <a:r>
              <a:rPr spc="-100" dirty="0"/>
              <a:t>Begin:</a:t>
            </a:r>
            <a:r>
              <a:rPr spc="-35" dirty="0"/>
              <a:t> </a:t>
            </a:r>
            <a:r>
              <a:rPr spc="-90" dirty="0"/>
              <a:t>Who</a:t>
            </a:r>
            <a:r>
              <a:rPr spc="-85" dirty="0"/>
              <a:t> </a:t>
            </a:r>
            <a:r>
              <a:rPr spc="-55" dirty="0"/>
              <a:t>Is</a:t>
            </a:r>
            <a:r>
              <a:rPr spc="-90" dirty="0"/>
              <a:t> </a:t>
            </a:r>
            <a:r>
              <a:rPr spc="-105" dirty="0"/>
              <a:t>Complaining,</a:t>
            </a:r>
            <a:r>
              <a:rPr spc="-85" dirty="0"/>
              <a:t> </a:t>
            </a:r>
            <a:r>
              <a:rPr spc="-105" dirty="0"/>
              <a:t>and</a:t>
            </a:r>
            <a:r>
              <a:rPr spc="-85" dirty="0"/>
              <a:t> </a:t>
            </a:r>
            <a:r>
              <a:rPr spc="-110" dirty="0"/>
              <a:t>About</a:t>
            </a:r>
            <a:r>
              <a:rPr spc="-85" dirty="0"/>
              <a:t> </a:t>
            </a:r>
            <a:r>
              <a:rPr spc="-50" dirty="0"/>
              <a:t>What?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767527"/>
            <a:ext cx="5040630" cy="1097280"/>
            <a:chOff x="359994" y="767527"/>
            <a:chExt cx="5040630" cy="1097280"/>
          </a:xfrm>
        </p:grpSpPr>
        <p:sp>
          <p:nvSpPr>
            <p:cNvPr id="4" name="object 4"/>
            <p:cNvSpPr/>
            <p:nvPr/>
          </p:nvSpPr>
          <p:spPr>
            <a:xfrm>
              <a:off x="359994" y="767527"/>
              <a:ext cx="5040630" cy="1097280"/>
            </a:xfrm>
            <a:custGeom>
              <a:avLst/>
              <a:gdLst/>
              <a:ahLst/>
              <a:cxnLst/>
              <a:rect l="l" t="t" r="r" b="b"/>
              <a:pathLst>
                <a:path w="5040630" h="1097280">
                  <a:moveTo>
                    <a:pt x="5008433" y="0"/>
                  </a:moveTo>
                  <a:lnTo>
                    <a:pt x="31631" y="0"/>
                  </a:lnTo>
                  <a:lnTo>
                    <a:pt x="19319" y="2485"/>
                  </a:lnTo>
                  <a:lnTo>
                    <a:pt x="9264" y="9264"/>
                  </a:lnTo>
                  <a:lnTo>
                    <a:pt x="2485" y="19319"/>
                  </a:lnTo>
                  <a:lnTo>
                    <a:pt x="0" y="31631"/>
                  </a:lnTo>
                  <a:lnTo>
                    <a:pt x="0" y="1065467"/>
                  </a:lnTo>
                  <a:lnTo>
                    <a:pt x="2485" y="1077780"/>
                  </a:lnTo>
                  <a:lnTo>
                    <a:pt x="9264" y="1087834"/>
                  </a:lnTo>
                  <a:lnTo>
                    <a:pt x="19319" y="1094613"/>
                  </a:lnTo>
                  <a:lnTo>
                    <a:pt x="31631" y="1097099"/>
                  </a:lnTo>
                  <a:lnTo>
                    <a:pt x="5008433" y="1097099"/>
                  </a:lnTo>
                  <a:lnTo>
                    <a:pt x="5020745" y="1094613"/>
                  </a:lnTo>
                  <a:lnTo>
                    <a:pt x="5030800" y="1087834"/>
                  </a:lnTo>
                  <a:lnTo>
                    <a:pt x="5037579" y="1077780"/>
                  </a:lnTo>
                  <a:lnTo>
                    <a:pt x="5040064" y="1065467"/>
                  </a:lnTo>
                  <a:lnTo>
                    <a:pt x="5040064" y="31631"/>
                  </a:lnTo>
                  <a:lnTo>
                    <a:pt x="5037579" y="19319"/>
                  </a:lnTo>
                  <a:lnTo>
                    <a:pt x="5030800" y="9264"/>
                  </a:lnTo>
                  <a:lnTo>
                    <a:pt x="5020745" y="2485"/>
                  </a:lnTo>
                  <a:lnTo>
                    <a:pt x="5008433" y="0"/>
                  </a:lnTo>
                  <a:close/>
                </a:path>
              </a:pathLst>
            </a:custGeom>
            <a:solidFill>
              <a:srgbClr val="545F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7952" y="985809"/>
              <a:ext cx="4996180" cy="872490"/>
            </a:xfrm>
            <a:custGeom>
              <a:avLst/>
              <a:gdLst/>
              <a:ahLst/>
              <a:cxnLst/>
              <a:rect l="l" t="t" r="r" b="b"/>
              <a:pathLst>
                <a:path w="4996180" h="872489">
                  <a:moveTo>
                    <a:pt x="4995780" y="0"/>
                  </a:moveTo>
                  <a:lnTo>
                    <a:pt x="0" y="0"/>
                  </a:lnTo>
                  <a:lnTo>
                    <a:pt x="0" y="847185"/>
                  </a:lnTo>
                  <a:lnTo>
                    <a:pt x="1988" y="857035"/>
                  </a:lnTo>
                  <a:lnTo>
                    <a:pt x="7411" y="865079"/>
                  </a:lnTo>
                  <a:lnTo>
                    <a:pt x="15455" y="870502"/>
                  </a:lnTo>
                  <a:lnTo>
                    <a:pt x="25305" y="872490"/>
                  </a:lnTo>
                  <a:lnTo>
                    <a:pt x="4970475" y="872490"/>
                  </a:lnTo>
                  <a:lnTo>
                    <a:pt x="4980325" y="870502"/>
                  </a:lnTo>
                  <a:lnTo>
                    <a:pt x="4988368" y="865079"/>
                  </a:lnTo>
                  <a:lnTo>
                    <a:pt x="4993791" y="857035"/>
                  </a:lnTo>
                  <a:lnTo>
                    <a:pt x="4995780" y="847185"/>
                  </a:lnTo>
                  <a:lnTo>
                    <a:pt x="499578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59994" y="1940331"/>
            <a:ext cx="5040630" cy="584835"/>
            <a:chOff x="359994" y="1940331"/>
            <a:chExt cx="5040630" cy="584835"/>
          </a:xfrm>
        </p:grpSpPr>
        <p:sp>
          <p:nvSpPr>
            <p:cNvPr id="7" name="object 7"/>
            <p:cNvSpPr/>
            <p:nvPr/>
          </p:nvSpPr>
          <p:spPr>
            <a:xfrm>
              <a:off x="359994" y="1940331"/>
              <a:ext cx="5040630" cy="584835"/>
            </a:xfrm>
            <a:custGeom>
              <a:avLst/>
              <a:gdLst/>
              <a:ahLst/>
              <a:cxnLst/>
              <a:rect l="l" t="t" r="r" b="b"/>
              <a:pathLst>
                <a:path w="5040630" h="584835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546736"/>
                  </a:lnTo>
                  <a:lnTo>
                    <a:pt x="2982" y="561511"/>
                  </a:lnTo>
                  <a:lnTo>
                    <a:pt x="11117" y="573577"/>
                  </a:lnTo>
                  <a:lnTo>
                    <a:pt x="23182" y="581711"/>
                  </a:lnTo>
                  <a:lnTo>
                    <a:pt x="37958" y="584694"/>
                  </a:lnTo>
                  <a:lnTo>
                    <a:pt x="5002106" y="584694"/>
                  </a:lnTo>
                  <a:lnTo>
                    <a:pt x="5016882" y="581711"/>
                  </a:lnTo>
                  <a:lnTo>
                    <a:pt x="5028947" y="573577"/>
                  </a:lnTo>
                  <a:lnTo>
                    <a:pt x="5037082" y="561511"/>
                  </a:lnTo>
                  <a:lnTo>
                    <a:pt x="5040064" y="546736"/>
                  </a:lnTo>
                  <a:lnTo>
                    <a:pt x="5040064" y="37958"/>
                  </a:lnTo>
                  <a:lnTo>
                    <a:pt x="5037082" y="23182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B777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2646" y="2151400"/>
              <a:ext cx="5015230" cy="361315"/>
            </a:xfrm>
            <a:custGeom>
              <a:avLst/>
              <a:gdLst/>
              <a:ahLst/>
              <a:cxnLst/>
              <a:rect l="l" t="t" r="r" b="b"/>
              <a:pathLst>
                <a:path w="5015230" h="361314">
                  <a:moveTo>
                    <a:pt x="5014759" y="0"/>
                  </a:moveTo>
                  <a:lnTo>
                    <a:pt x="0" y="0"/>
                  </a:lnTo>
                  <a:lnTo>
                    <a:pt x="0" y="335667"/>
                  </a:lnTo>
                  <a:lnTo>
                    <a:pt x="1988" y="345517"/>
                  </a:lnTo>
                  <a:lnTo>
                    <a:pt x="7411" y="353561"/>
                  </a:lnTo>
                  <a:lnTo>
                    <a:pt x="15455" y="358984"/>
                  </a:lnTo>
                  <a:lnTo>
                    <a:pt x="25305" y="360973"/>
                  </a:lnTo>
                  <a:lnTo>
                    <a:pt x="4989454" y="360973"/>
                  </a:lnTo>
                  <a:lnTo>
                    <a:pt x="4999304" y="358984"/>
                  </a:lnTo>
                  <a:lnTo>
                    <a:pt x="5007347" y="353561"/>
                  </a:lnTo>
                  <a:lnTo>
                    <a:pt x="5012770" y="345517"/>
                  </a:lnTo>
                  <a:lnTo>
                    <a:pt x="5014759" y="335667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B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35863" y="762874"/>
            <a:ext cx="4888865" cy="17227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4460" algn="just">
              <a:lnSpc>
                <a:spcPct val="100000"/>
              </a:lnSpc>
              <a:spcBef>
                <a:spcPts val="90"/>
              </a:spcBef>
            </a:pPr>
            <a:r>
              <a:rPr sz="1100" i="1" spc="-35" dirty="0">
                <a:solidFill>
                  <a:srgbClr val="FFFFFF"/>
                </a:solidFill>
                <a:latin typeface="Arial"/>
                <a:cs typeface="Arial"/>
              </a:rPr>
              <a:t>Someone,</a:t>
            </a:r>
            <a:r>
              <a:rPr sz="1100" i="1" spc="-25" dirty="0">
                <a:solidFill>
                  <a:srgbClr val="FFFFFF"/>
                </a:solidFill>
                <a:latin typeface="Arial"/>
                <a:cs typeface="Arial"/>
              </a:rPr>
              <a:t> somewhere,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about</a:t>
            </a:r>
            <a:r>
              <a:rPr sz="11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30" dirty="0">
                <a:solidFill>
                  <a:srgbClr val="FFFFFF"/>
                </a:solidFill>
                <a:latin typeface="Arial"/>
                <a:cs typeface="Arial"/>
              </a:rPr>
              <a:t>some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 new</a:t>
            </a:r>
            <a:r>
              <a:rPr sz="11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FFFFFF"/>
                </a:solidFill>
                <a:latin typeface="Arial"/>
                <a:cs typeface="Arial"/>
              </a:rPr>
              <a:t>technology</a:t>
            </a:r>
            <a:endParaRPr sz="1100">
              <a:latin typeface="Arial"/>
              <a:cs typeface="Arial"/>
            </a:endParaRPr>
          </a:p>
          <a:p>
            <a:pPr marL="124460" marR="85090" algn="just">
              <a:lnSpc>
                <a:spcPts val="1050"/>
              </a:lnSpc>
              <a:spcBef>
                <a:spcPts val="1105"/>
              </a:spcBef>
            </a:pPr>
            <a:r>
              <a:rPr sz="1000" dirty="0">
                <a:latin typeface="Arial"/>
                <a:cs typeface="Arial"/>
              </a:rPr>
              <a:t>“This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invention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will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produce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spc="-95" dirty="0">
                <a:latin typeface="Arial Black"/>
                <a:cs typeface="Arial Black"/>
              </a:rPr>
              <a:t>forgetfulness</a:t>
            </a:r>
            <a:r>
              <a:rPr sz="1000" spc="10" dirty="0">
                <a:latin typeface="Arial Black"/>
                <a:cs typeface="Arial Black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minds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those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who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learn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use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it, </a:t>
            </a:r>
            <a:r>
              <a:rPr sz="1000" dirty="0">
                <a:latin typeface="Arial"/>
                <a:cs typeface="Arial"/>
              </a:rPr>
              <a:t>because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they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will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not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practice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their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memory.</a:t>
            </a:r>
            <a:endParaRPr sz="1000">
              <a:latin typeface="Arial"/>
              <a:cs typeface="Arial"/>
            </a:endParaRPr>
          </a:p>
          <a:p>
            <a:pPr marL="124460" marR="85090" algn="just">
              <a:lnSpc>
                <a:spcPts val="1050"/>
              </a:lnSpc>
              <a:spcBef>
                <a:spcPts val="5"/>
              </a:spcBef>
            </a:pPr>
            <a:r>
              <a:rPr sz="1000" spc="-65" dirty="0">
                <a:latin typeface="Arial"/>
                <a:cs typeface="Arial"/>
              </a:rPr>
              <a:t>You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offer</a:t>
            </a:r>
            <a:r>
              <a:rPr sz="1000" spc="-7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your</a:t>
            </a:r>
            <a:r>
              <a:rPr sz="1000" spc="-7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pupils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spc="-114" dirty="0">
                <a:latin typeface="Arial Black"/>
                <a:cs typeface="Arial Black"/>
              </a:rPr>
              <a:t>appearance</a:t>
            </a:r>
            <a:r>
              <a:rPr sz="1000" spc="30" dirty="0">
                <a:latin typeface="Arial Black"/>
                <a:cs typeface="Arial Black"/>
              </a:rPr>
              <a:t> </a:t>
            </a:r>
            <a:r>
              <a:rPr sz="1000" spc="-215" dirty="0">
                <a:latin typeface="Arial Black"/>
                <a:cs typeface="Arial Black"/>
              </a:rPr>
              <a:t>of</a:t>
            </a:r>
            <a:r>
              <a:rPr sz="1000" spc="130" dirty="0">
                <a:latin typeface="Arial Black"/>
                <a:cs typeface="Arial Black"/>
              </a:rPr>
              <a:t> </a:t>
            </a:r>
            <a:r>
              <a:rPr sz="1000" spc="-100" dirty="0">
                <a:latin typeface="Arial Black"/>
                <a:cs typeface="Arial Black"/>
              </a:rPr>
              <a:t>wisdom</a:t>
            </a:r>
            <a:r>
              <a:rPr sz="1000" spc="-100" dirty="0">
                <a:latin typeface="Arial"/>
                <a:cs typeface="Arial"/>
              </a:rPr>
              <a:t>,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not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true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wisdom,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for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they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will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read </a:t>
            </a:r>
            <a:r>
              <a:rPr sz="1000" spc="-10" dirty="0">
                <a:latin typeface="Arial"/>
                <a:cs typeface="Arial"/>
              </a:rPr>
              <a:t>many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things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without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instruction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will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therefore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i="1" spc="-50" dirty="0">
                <a:latin typeface="Arial"/>
                <a:cs typeface="Arial"/>
              </a:rPr>
              <a:t>seem</a:t>
            </a:r>
            <a:r>
              <a:rPr sz="1000" i="1" spc="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know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many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things,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when </a:t>
            </a:r>
            <a:r>
              <a:rPr sz="1000" dirty="0">
                <a:latin typeface="Arial"/>
                <a:cs typeface="Arial"/>
              </a:rPr>
              <a:t>they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for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most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part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ignorant.”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-114" dirty="0">
                <a:solidFill>
                  <a:srgbClr val="FFFFFF"/>
                </a:solidFill>
                <a:latin typeface="Arial Black"/>
                <a:cs typeface="Arial Black"/>
              </a:rPr>
              <a:t>Commit</a:t>
            </a:r>
            <a:r>
              <a:rPr sz="1100" spc="-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100" dirty="0">
                <a:solidFill>
                  <a:srgbClr val="FFFFFF"/>
                </a:solidFill>
                <a:latin typeface="Arial Black"/>
                <a:cs typeface="Arial Black"/>
              </a:rPr>
              <a:t>before</a:t>
            </a:r>
            <a:r>
              <a:rPr sz="11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140" dirty="0">
                <a:solidFill>
                  <a:srgbClr val="FFFFFF"/>
                </a:solidFill>
                <a:latin typeface="Arial Black"/>
                <a:cs typeface="Arial Black"/>
              </a:rPr>
              <a:t>we</a:t>
            </a:r>
            <a:r>
              <a:rPr sz="1100" spc="-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145" dirty="0">
                <a:solidFill>
                  <a:srgbClr val="FFFFFF"/>
                </a:solidFill>
                <a:latin typeface="Arial Black"/>
                <a:cs typeface="Arial Black"/>
              </a:rPr>
              <a:t>go</a:t>
            </a:r>
            <a:r>
              <a:rPr sz="11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 Black"/>
                <a:cs typeface="Arial Black"/>
              </a:rPr>
              <a:t>on</a:t>
            </a:r>
            <a:endParaRPr sz="1100">
              <a:latin typeface="Arial Black"/>
              <a:cs typeface="Arial Black"/>
            </a:endParaRPr>
          </a:p>
          <a:p>
            <a:pPr marL="12700" marR="5080">
              <a:lnSpc>
                <a:spcPts val="1190"/>
              </a:lnSpc>
              <a:spcBef>
                <a:spcPts val="480"/>
              </a:spcBef>
            </a:pPr>
            <a:r>
              <a:rPr sz="1100" spc="-10" dirty="0">
                <a:latin typeface="Arial"/>
                <a:cs typeface="Arial"/>
              </a:rPr>
              <a:t>What</a:t>
            </a:r>
            <a:r>
              <a:rPr sz="1100" spc="-114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technology</a:t>
            </a:r>
            <a:r>
              <a:rPr sz="1100" spc="-114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14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being</a:t>
            </a:r>
            <a:r>
              <a:rPr sz="1100" spc="-114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attacked</a:t>
            </a:r>
            <a:r>
              <a:rPr sz="1100" spc="-114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here?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Who</a:t>
            </a:r>
            <a:r>
              <a:rPr sz="1100" spc="-114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14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speaking,</a:t>
            </a:r>
            <a:r>
              <a:rPr sz="1100" spc="-9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and</a:t>
            </a:r>
            <a:r>
              <a:rPr sz="1100" spc="-114" dirty="0">
                <a:latin typeface="Arial"/>
                <a:cs typeface="Arial"/>
              </a:rPr>
              <a:t> </a:t>
            </a:r>
            <a:r>
              <a:rPr sz="1100" spc="-110" dirty="0">
                <a:latin typeface="Arial Black"/>
                <a:cs typeface="Arial Black"/>
              </a:rPr>
              <a:t>what</a:t>
            </a:r>
            <a:r>
              <a:rPr sz="1100" spc="-170" dirty="0">
                <a:latin typeface="Arial Black"/>
                <a:cs typeface="Arial Black"/>
              </a:rPr>
              <a:t> </a:t>
            </a:r>
            <a:r>
              <a:rPr sz="1100" spc="-100" dirty="0">
                <a:latin typeface="Arial Black"/>
                <a:cs typeface="Arial Black"/>
              </a:rPr>
              <a:t>year</a:t>
            </a:r>
            <a:r>
              <a:rPr sz="1100" spc="-100" dirty="0">
                <a:latin typeface="Arial"/>
                <a:cs typeface="Arial"/>
              </a:rPr>
              <a:t>?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Write </a:t>
            </a:r>
            <a:r>
              <a:rPr sz="1100" dirty="0">
                <a:latin typeface="Arial"/>
                <a:cs typeface="Arial"/>
              </a:rPr>
              <a:t>down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your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guess </a:t>
            </a:r>
            <a:r>
              <a:rPr sz="1100" spc="-254" dirty="0">
                <a:latin typeface="Arial"/>
                <a:cs typeface="Arial"/>
              </a:rPr>
              <a:t>—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consulting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your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phone.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37"/>
              <a:ext cx="202565" cy="5080"/>
            </a:xfrm>
            <a:custGeom>
              <a:avLst/>
              <a:gdLst/>
              <a:ahLst/>
              <a:cxnLst/>
              <a:rect l="l" t="t" r="r" b="b"/>
              <a:pathLst>
                <a:path w="202565" h="5080">
                  <a:moveTo>
                    <a:pt x="0" y="5060"/>
                  </a:moveTo>
                  <a:lnTo>
                    <a:pt x="0" y="0"/>
                  </a:lnTo>
                  <a:lnTo>
                    <a:pt x="202063" y="0"/>
                  </a:lnTo>
                  <a:lnTo>
                    <a:pt x="20206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74559"/>
            <a:ext cx="35045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40" dirty="0"/>
              <a:t>The</a:t>
            </a:r>
            <a:r>
              <a:rPr spc="-90" dirty="0"/>
              <a:t> </a:t>
            </a:r>
            <a:r>
              <a:rPr spc="-105" dirty="0"/>
              <a:t>Answer:</a:t>
            </a:r>
            <a:r>
              <a:rPr spc="-35" dirty="0"/>
              <a:t> </a:t>
            </a:r>
            <a:r>
              <a:rPr spc="-120" dirty="0"/>
              <a:t>Socrates,</a:t>
            </a:r>
            <a:r>
              <a:rPr spc="-85" dirty="0"/>
              <a:t> </a:t>
            </a:r>
            <a:r>
              <a:rPr spc="-110" dirty="0"/>
              <a:t>About</a:t>
            </a:r>
            <a:r>
              <a:rPr spc="-85" dirty="0"/>
              <a:t> </a:t>
            </a:r>
            <a:r>
              <a:rPr spc="-80" dirty="0"/>
              <a:t>Writing,</a:t>
            </a:r>
            <a:r>
              <a:rPr spc="-85" dirty="0"/>
              <a:t> </a:t>
            </a:r>
            <a:r>
              <a:rPr spc="-114" dirty="0"/>
              <a:t>c.</a:t>
            </a:r>
            <a:r>
              <a:rPr spc="-85" dirty="0"/>
              <a:t> </a:t>
            </a:r>
            <a:r>
              <a:rPr spc="-95" dirty="0"/>
              <a:t>370</a:t>
            </a:r>
            <a:r>
              <a:rPr spc="-85" dirty="0"/>
              <a:t> </a:t>
            </a:r>
            <a:r>
              <a:rPr spc="-90" dirty="0"/>
              <a:t>BCE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739126"/>
            <a:ext cx="4647565" cy="34353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>
              <a:lnSpc>
                <a:spcPts val="1190"/>
              </a:lnSpc>
              <a:spcBef>
                <a:spcPts val="235"/>
              </a:spcBef>
            </a:pPr>
            <a:r>
              <a:rPr sz="1100" spc="-80" dirty="0">
                <a:solidFill>
                  <a:srgbClr val="22373A"/>
                </a:solidFill>
                <a:latin typeface="Arial Black"/>
                <a:cs typeface="Arial Black"/>
              </a:rPr>
              <a:t>Plato</a:t>
            </a:r>
            <a:r>
              <a:rPr sz="1100" spc="-8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22373A"/>
                </a:solidFill>
                <a:latin typeface="Arial"/>
                <a:cs typeface="Arial"/>
              </a:rPr>
              <a:t>Phaedrus</a:t>
            </a:r>
            <a:r>
              <a:rPr sz="1100" i="1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275a–b.</a:t>
            </a:r>
            <a:r>
              <a:rPr sz="11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Socrates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relays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 King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Thamus’s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verdict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 god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Theuth,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who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 has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invented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90" dirty="0">
                <a:solidFill>
                  <a:srgbClr val="22373A"/>
                </a:solidFill>
                <a:latin typeface="Arial Black"/>
                <a:cs typeface="Arial Black"/>
              </a:rPr>
              <a:t>writing</a:t>
            </a:r>
            <a:r>
              <a:rPr sz="1100" spc="-8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proud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9994" y="1159751"/>
          <a:ext cx="5039995" cy="876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8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Why</a:t>
                      </a:r>
                      <a:r>
                        <a:rPr sz="1100" spc="-8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start</a:t>
                      </a:r>
                      <a:r>
                        <a:rPr sz="1100" spc="-8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2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a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2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course</a:t>
                      </a:r>
                      <a:r>
                        <a:rPr sz="1100" spc="-8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on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4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AI</a:t>
                      </a:r>
                      <a:r>
                        <a:rPr sz="1100" spc="-8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14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ethics</a:t>
                      </a:r>
                      <a:r>
                        <a:rPr sz="1100" spc="-8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here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BF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085">
                <a:tc>
                  <a:txBody>
                    <a:bodyPr/>
                    <a:lstStyle/>
                    <a:p>
                      <a:pPr marL="45720" marR="38100">
                        <a:lnSpc>
                          <a:spcPts val="1190"/>
                        </a:lnSpc>
                        <a:spcBef>
                          <a:spcPts val="229"/>
                        </a:spcBef>
                      </a:pP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Every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charge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we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now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level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at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phones,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social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media,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chatbots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4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that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they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rot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memory,</a:t>
                      </a:r>
                      <a:r>
                        <a:rPr sz="1100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counterfeit</a:t>
                      </a:r>
                      <a:r>
                        <a:rPr sz="1100" spc="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understanding,</a:t>
                      </a:r>
                      <a:r>
                        <a:rPr sz="1100" spc="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substitute</a:t>
                      </a:r>
                      <a:r>
                        <a:rPr sz="1100" spc="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2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appearance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100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knowing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real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thing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4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was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leveled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first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at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alphabet,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then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at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printing,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telegraph,</a:t>
                      </a:r>
                      <a:r>
                        <a:rPr sz="1100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radio,</a:t>
                      </a:r>
                      <a:r>
                        <a:rPr sz="1100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television.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solidFill>
                      <a:srgbClr val="F9E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47294" y="2051213"/>
            <a:ext cx="4982210" cy="49466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>
              <a:lnSpc>
                <a:spcPts val="1190"/>
              </a:lnSpc>
              <a:spcBef>
                <a:spcPts val="235"/>
              </a:spcBef>
            </a:pP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reason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dismiss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charge.</a:t>
            </a:r>
            <a:r>
              <a:rPr sz="11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Sometimes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critics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were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right.</a:t>
            </a:r>
            <a:r>
              <a:rPr sz="11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point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11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11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11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have </a:t>
            </a:r>
            <a:r>
              <a:rPr sz="1100" spc="-80" dirty="0">
                <a:solidFill>
                  <a:srgbClr val="22373A"/>
                </a:solidFill>
                <a:latin typeface="Arial Black"/>
                <a:cs typeface="Arial Black"/>
              </a:rPr>
              <a:t>2,400</a:t>
            </a:r>
            <a:r>
              <a:rPr sz="1100" spc="-7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114" dirty="0">
                <a:solidFill>
                  <a:srgbClr val="22373A"/>
                </a:solidFill>
                <a:latin typeface="Arial Black"/>
                <a:cs typeface="Arial Black"/>
              </a:rPr>
              <a:t>years</a:t>
            </a:r>
            <a:r>
              <a:rPr sz="1100" spc="-7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90" dirty="0">
                <a:solidFill>
                  <a:srgbClr val="22373A"/>
                </a:solidFill>
                <a:latin typeface="Arial Black"/>
                <a:cs typeface="Arial Black"/>
              </a:rPr>
              <a:t>of</a:t>
            </a:r>
            <a:r>
              <a:rPr sz="1100" spc="-7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105" dirty="0">
                <a:solidFill>
                  <a:srgbClr val="22373A"/>
                </a:solidFill>
                <a:latin typeface="Arial Black"/>
                <a:cs typeface="Arial Black"/>
              </a:rPr>
              <a:t>data</a:t>
            </a:r>
            <a:r>
              <a:rPr sz="1100" spc="-7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11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11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argument</a:t>
            </a:r>
            <a:r>
              <a:rPr sz="11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goes,</a:t>
            </a:r>
            <a:r>
              <a:rPr sz="11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we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would</a:t>
            </a:r>
            <a:r>
              <a:rPr sz="11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foolish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11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look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37"/>
              <a:ext cx="303530" cy="5080"/>
            </a:xfrm>
            <a:custGeom>
              <a:avLst/>
              <a:gdLst/>
              <a:ahLst/>
              <a:cxnLst/>
              <a:rect l="l" t="t" r="r" b="b"/>
              <a:pathLst>
                <a:path w="303530" h="5080">
                  <a:moveTo>
                    <a:pt x="0" y="5060"/>
                  </a:moveTo>
                  <a:lnTo>
                    <a:pt x="0" y="0"/>
                  </a:lnTo>
                  <a:lnTo>
                    <a:pt x="303138" y="0"/>
                  </a:lnTo>
                  <a:lnTo>
                    <a:pt x="30313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10" dirty="0"/>
              <a:t>Central</a:t>
            </a:r>
            <a:r>
              <a:rPr spc="-80" dirty="0"/>
              <a:t> </a:t>
            </a:r>
            <a:r>
              <a:rPr spc="-105" dirty="0"/>
              <a:t>Questions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2230973"/>
            <a:ext cx="5040630" cy="529590"/>
            <a:chOff x="359994" y="2230973"/>
            <a:chExt cx="5040630" cy="529590"/>
          </a:xfrm>
        </p:grpSpPr>
        <p:sp>
          <p:nvSpPr>
            <p:cNvPr id="4" name="object 4"/>
            <p:cNvSpPr/>
            <p:nvPr/>
          </p:nvSpPr>
          <p:spPr>
            <a:xfrm>
              <a:off x="359994" y="2230973"/>
              <a:ext cx="5040630" cy="529590"/>
            </a:xfrm>
            <a:custGeom>
              <a:avLst/>
              <a:gdLst/>
              <a:ahLst/>
              <a:cxnLst/>
              <a:rect l="l" t="t" r="r" b="b"/>
              <a:pathLst>
                <a:path w="5040630" h="529589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491248"/>
                  </a:lnTo>
                  <a:lnTo>
                    <a:pt x="2982" y="506023"/>
                  </a:lnTo>
                  <a:lnTo>
                    <a:pt x="11117" y="518088"/>
                  </a:lnTo>
                  <a:lnTo>
                    <a:pt x="23182" y="526223"/>
                  </a:lnTo>
                  <a:lnTo>
                    <a:pt x="37958" y="529206"/>
                  </a:lnTo>
                  <a:lnTo>
                    <a:pt x="5002106" y="529206"/>
                  </a:lnTo>
                  <a:lnTo>
                    <a:pt x="5016882" y="526223"/>
                  </a:lnTo>
                  <a:lnTo>
                    <a:pt x="5028947" y="518088"/>
                  </a:lnTo>
                  <a:lnTo>
                    <a:pt x="5037082" y="506023"/>
                  </a:lnTo>
                  <a:lnTo>
                    <a:pt x="5040064" y="491248"/>
                  </a:lnTo>
                  <a:lnTo>
                    <a:pt x="5040064" y="37958"/>
                  </a:lnTo>
                  <a:lnTo>
                    <a:pt x="5037082" y="23182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B777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2646" y="2414263"/>
              <a:ext cx="5015230" cy="333375"/>
            </a:xfrm>
            <a:custGeom>
              <a:avLst/>
              <a:gdLst/>
              <a:ahLst/>
              <a:cxnLst/>
              <a:rect l="l" t="t" r="r" b="b"/>
              <a:pathLst>
                <a:path w="5015230" h="333375">
                  <a:moveTo>
                    <a:pt x="5014759" y="0"/>
                  </a:moveTo>
                  <a:lnTo>
                    <a:pt x="0" y="0"/>
                  </a:lnTo>
                  <a:lnTo>
                    <a:pt x="0" y="307958"/>
                  </a:lnTo>
                  <a:lnTo>
                    <a:pt x="1988" y="317808"/>
                  </a:lnTo>
                  <a:lnTo>
                    <a:pt x="7411" y="325852"/>
                  </a:lnTo>
                  <a:lnTo>
                    <a:pt x="15455" y="331275"/>
                  </a:lnTo>
                  <a:lnTo>
                    <a:pt x="25305" y="333263"/>
                  </a:lnTo>
                  <a:lnTo>
                    <a:pt x="4989454" y="333263"/>
                  </a:lnTo>
                  <a:lnTo>
                    <a:pt x="4999304" y="331275"/>
                  </a:lnTo>
                  <a:lnTo>
                    <a:pt x="5007347" y="325852"/>
                  </a:lnTo>
                  <a:lnTo>
                    <a:pt x="5012770" y="317808"/>
                  </a:lnTo>
                  <a:lnTo>
                    <a:pt x="5014759" y="307958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B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35863" y="449388"/>
            <a:ext cx="4904105" cy="229933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98120" marR="217170" indent="-121920">
              <a:lnSpc>
                <a:spcPts val="1190"/>
              </a:lnSpc>
              <a:spcBef>
                <a:spcPts val="235"/>
              </a:spcBef>
              <a:buChar char="•"/>
              <a:tabLst>
                <a:tab pos="200660" algn="l"/>
              </a:tabLst>
            </a:pP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 the</a:t>
            </a:r>
            <a:r>
              <a:rPr sz="11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five major IT</a:t>
            </a:r>
            <a:r>
              <a:rPr sz="11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revolutions, and</a:t>
            </a:r>
            <a:r>
              <a:rPr sz="11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what ethical patterns</a:t>
            </a:r>
            <a:r>
              <a:rPr sz="11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do 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they 	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share?</a:t>
            </a:r>
            <a:endParaRPr sz="1100">
              <a:latin typeface="Arial"/>
              <a:cs typeface="Arial"/>
            </a:endParaRPr>
          </a:p>
          <a:p>
            <a:pPr marL="198120" marR="5080" indent="-121920">
              <a:lnSpc>
                <a:spcPts val="1190"/>
              </a:lnSpc>
              <a:spcBef>
                <a:spcPts val="305"/>
              </a:spcBef>
              <a:buChar char="•"/>
              <a:tabLst>
                <a:tab pos="200660" algn="l"/>
              </a:tabLst>
            </a:pPr>
            <a:r>
              <a:rPr sz="1100" spc="-30" dirty="0">
                <a:solidFill>
                  <a:srgbClr val="22373A"/>
                </a:solidFill>
                <a:latin typeface="Arial"/>
                <a:cs typeface="Arial"/>
              </a:rPr>
              <a:t>Why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 does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every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 revolutionary technology promise liberation yet enable 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new 	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forms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11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control?</a:t>
            </a:r>
            <a:endParaRPr sz="1100">
              <a:latin typeface="Arial"/>
              <a:cs typeface="Arial"/>
            </a:endParaRPr>
          </a:p>
          <a:p>
            <a:pPr marL="198120" marR="28575" indent="-121920">
              <a:lnSpc>
                <a:spcPts val="1190"/>
              </a:lnSpc>
              <a:spcBef>
                <a:spcPts val="305"/>
              </a:spcBef>
              <a:buChar char="•"/>
              <a:tabLst>
                <a:tab pos="200660" algn="l"/>
              </a:tabLst>
            </a:pP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optimists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pessimists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responded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each 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revolution—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who 	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was</a:t>
            </a:r>
            <a:r>
              <a:rPr sz="1100" spc="-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right?</a:t>
            </a:r>
            <a:endParaRPr sz="1100">
              <a:latin typeface="Arial"/>
              <a:cs typeface="Arial"/>
            </a:endParaRPr>
          </a:p>
          <a:p>
            <a:pPr marL="198755" indent="-121920">
              <a:lnSpc>
                <a:spcPct val="100000"/>
              </a:lnSpc>
              <a:spcBef>
                <a:spcPts val="155"/>
              </a:spcBef>
              <a:buChar char="•"/>
              <a:tabLst>
                <a:tab pos="198755" algn="l"/>
              </a:tabLst>
            </a:pP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How do economic and</a:t>
            </a:r>
            <a:r>
              <a:rPr sz="11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political interests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shape</a:t>
            </a:r>
            <a:r>
              <a:rPr sz="11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the impact of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technology?</a:t>
            </a:r>
            <a:endParaRPr sz="1100">
              <a:latin typeface="Arial"/>
              <a:cs typeface="Arial"/>
            </a:endParaRPr>
          </a:p>
          <a:p>
            <a:pPr marL="198120" marR="368300" indent="-121920">
              <a:lnSpc>
                <a:spcPts val="1190"/>
              </a:lnSpc>
              <a:spcBef>
                <a:spcPts val="320"/>
              </a:spcBef>
              <a:buChar char="•"/>
              <a:tabLst>
                <a:tab pos="200660" algn="l"/>
              </a:tabLst>
            </a:pP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What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historical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 lessons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carry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 analysis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AI,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IP,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and 	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surveillance?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Arial Black"/>
                <a:cs typeface="Arial Black"/>
              </a:rPr>
              <a:t>Discussion</a:t>
            </a:r>
            <a:endParaRPr sz="1100">
              <a:latin typeface="Arial Black"/>
              <a:cs typeface="Arial Black"/>
            </a:endParaRPr>
          </a:p>
          <a:p>
            <a:pPr marL="12700" marR="20320">
              <a:lnSpc>
                <a:spcPts val="1190"/>
              </a:lnSpc>
              <a:spcBef>
                <a:spcPts val="259"/>
              </a:spcBef>
            </a:pPr>
            <a:r>
              <a:rPr sz="1100" spc="-60" dirty="0">
                <a:latin typeface="Arial"/>
                <a:cs typeface="Arial"/>
              </a:rPr>
              <a:t>Can</a:t>
            </a:r>
            <a:r>
              <a:rPr sz="1100" spc="-10" dirty="0">
                <a:latin typeface="Arial"/>
                <a:cs typeface="Arial"/>
              </a:rPr>
              <a:t> you </a:t>
            </a:r>
            <a:r>
              <a:rPr sz="1100" dirty="0">
                <a:latin typeface="Arial"/>
                <a:cs typeface="Arial"/>
              </a:rPr>
              <a:t>think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recent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technology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promised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freedom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but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has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been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used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control?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37"/>
              <a:ext cx="404495" cy="5080"/>
            </a:xfrm>
            <a:custGeom>
              <a:avLst/>
              <a:gdLst/>
              <a:ahLst/>
              <a:cxnLst/>
              <a:rect l="l" t="t" r="r" b="b"/>
              <a:pathLst>
                <a:path w="404495" h="5080">
                  <a:moveTo>
                    <a:pt x="0" y="5060"/>
                  </a:moveTo>
                  <a:lnTo>
                    <a:pt x="0" y="0"/>
                  </a:lnTo>
                  <a:lnTo>
                    <a:pt x="404213" y="0"/>
                  </a:lnTo>
                  <a:lnTo>
                    <a:pt x="40421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5" dirty="0"/>
              <a:t>Lecture</a:t>
            </a:r>
            <a:r>
              <a:rPr spc="-60" dirty="0"/>
              <a:t> </a:t>
            </a:r>
            <a:r>
              <a:rPr spc="-85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47914"/>
            <a:ext cx="3044825" cy="23475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Introduction:</a:t>
            </a:r>
            <a:r>
              <a:rPr sz="1100" spc="19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Information</a:t>
            </a:r>
            <a:r>
              <a:rPr sz="1100" spc="12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Technology</a:t>
            </a:r>
            <a:r>
              <a:rPr sz="1100" spc="1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and</a:t>
            </a:r>
            <a:r>
              <a:rPr sz="1100" spc="12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Ethics</a:t>
            </a:r>
            <a:endParaRPr sz="1100">
              <a:latin typeface="Arial"/>
              <a:cs typeface="Arial"/>
            </a:endParaRPr>
          </a:p>
          <a:p>
            <a:pPr marL="12700" marR="1043305">
              <a:lnSpc>
                <a:spcPct val="214299"/>
              </a:lnSpc>
            </a:pP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Revolution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1:</a:t>
            </a:r>
            <a:r>
              <a:rPr sz="1100" spc="10" dirty="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Writing</a:t>
            </a:r>
            <a:r>
              <a:rPr sz="1100" spc="500" dirty="0">
                <a:solidFill>
                  <a:srgbClr val="CED2D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Revolution</a:t>
            </a:r>
            <a:r>
              <a:rPr sz="1100" spc="-3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2:</a:t>
            </a:r>
            <a:r>
              <a:rPr sz="1100" spc="15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The</a:t>
            </a:r>
            <a:r>
              <a:rPr sz="1100" spc="-3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Printing</a:t>
            </a:r>
            <a:r>
              <a:rPr sz="1100" spc="-25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Press</a:t>
            </a:r>
            <a:endParaRPr sz="1100">
              <a:latin typeface="Arial"/>
              <a:cs typeface="Arial"/>
            </a:endParaRPr>
          </a:p>
          <a:p>
            <a:pPr marL="12700" marR="613410">
              <a:lnSpc>
                <a:spcPct val="214299"/>
              </a:lnSpc>
            </a:pP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Revolution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3:</a:t>
            </a:r>
            <a:r>
              <a:rPr sz="1100" spc="1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Distance</a:t>
            </a:r>
            <a:r>
              <a:rPr sz="1100" spc="-3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Communication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Revolution</a:t>
            </a:r>
            <a:r>
              <a:rPr sz="1100" spc="-40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4:</a:t>
            </a:r>
            <a:r>
              <a:rPr sz="1100" spc="5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1100" spc="-30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Mass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Media</a:t>
            </a:r>
            <a:endParaRPr sz="1100">
              <a:latin typeface="Arial"/>
              <a:cs typeface="Arial"/>
            </a:endParaRPr>
          </a:p>
          <a:p>
            <a:pPr marL="12700" marR="875030">
              <a:lnSpc>
                <a:spcPct val="214299"/>
              </a:lnSpc>
            </a:pP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Revolution</a:t>
            </a:r>
            <a:r>
              <a:rPr sz="1100" spc="-4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5: 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The</a:t>
            </a:r>
            <a:r>
              <a:rPr sz="1100" spc="-4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World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Wide</a:t>
            </a:r>
            <a:r>
              <a:rPr sz="1100" spc="-4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1100" spc="-25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Web</a:t>
            </a:r>
            <a:r>
              <a:rPr sz="1100" spc="-25" dirty="0">
                <a:solidFill>
                  <a:srgbClr val="CED2D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Conclusion: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Patterns</a:t>
            </a:r>
            <a:r>
              <a:rPr sz="1100" spc="-7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and</a:t>
            </a:r>
            <a:r>
              <a:rPr sz="1100" spc="-7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Lessons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37"/>
              <a:ext cx="505459" cy="5080"/>
            </a:xfrm>
            <a:custGeom>
              <a:avLst/>
              <a:gdLst/>
              <a:ahLst/>
              <a:cxnLst/>
              <a:rect l="l" t="t" r="r" b="b"/>
              <a:pathLst>
                <a:path w="505459" h="5080">
                  <a:moveTo>
                    <a:pt x="0" y="5060"/>
                  </a:moveTo>
                  <a:lnTo>
                    <a:pt x="0" y="0"/>
                  </a:lnTo>
                  <a:lnTo>
                    <a:pt x="505289" y="0"/>
                  </a:lnTo>
                  <a:lnTo>
                    <a:pt x="50528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0" dirty="0"/>
              <a:t>Why</a:t>
            </a:r>
            <a:r>
              <a:rPr spc="-100" dirty="0"/>
              <a:t> Start</a:t>
            </a:r>
            <a:r>
              <a:rPr spc="-95" dirty="0"/>
              <a:t> </a:t>
            </a:r>
            <a:r>
              <a:rPr spc="-100" dirty="0"/>
              <a:t>with </a:t>
            </a:r>
            <a:r>
              <a:rPr spc="-95" dirty="0"/>
              <a:t>History?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09370"/>
            <a:ext cx="5048885" cy="125857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>
              <a:lnSpc>
                <a:spcPts val="1190"/>
              </a:lnSpc>
              <a:spcBef>
                <a:spcPts val="235"/>
              </a:spcBef>
            </a:pP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course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moves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 from </a:t>
            </a:r>
            <a:r>
              <a:rPr sz="1100" spc="-95" dirty="0">
                <a:solidFill>
                  <a:srgbClr val="22373A"/>
                </a:solidFill>
                <a:latin typeface="Arial Black"/>
                <a:cs typeface="Arial Black"/>
              </a:rPr>
              <a:t>history</a:t>
            </a:r>
            <a:r>
              <a:rPr sz="1100" spc="-6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→</a:t>
            </a:r>
            <a:r>
              <a:rPr sz="11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105" dirty="0">
                <a:solidFill>
                  <a:srgbClr val="22373A"/>
                </a:solidFill>
                <a:latin typeface="Arial Black"/>
                <a:cs typeface="Arial Black"/>
              </a:rPr>
              <a:t>ethical</a:t>
            </a:r>
            <a:r>
              <a:rPr sz="1100" spc="-6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114" dirty="0">
                <a:solidFill>
                  <a:srgbClr val="22373A"/>
                </a:solidFill>
                <a:latin typeface="Arial Black"/>
                <a:cs typeface="Arial Black"/>
              </a:rPr>
              <a:t>frameworks</a:t>
            </a:r>
            <a:r>
              <a:rPr sz="1100" spc="-6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→</a:t>
            </a:r>
            <a:r>
              <a:rPr sz="11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114" dirty="0">
                <a:solidFill>
                  <a:srgbClr val="22373A"/>
                </a:solidFill>
                <a:latin typeface="Arial Black"/>
                <a:cs typeface="Arial Black"/>
              </a:rPr>
              <a:t>contemporary</a:t>
            </a:r>
            <a:r>
              <a:rPr sz="1100" spc="-6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70" dirty="0">
                <a:solidFill>
                  <a:srgbClr val="22373A"/>
                </a:solidFill>
                <a:latin typeface="Arial Black"/>
                <a:cs typeface="Arial Black"/>
              </a:rPr>
              <a:t>issues</a:t>
            </a:r>
            <a:r>
              <a:rPr sz="1100" spc="-70" dirty="0">
                <a:solidFill>
                  <a:srgbClr val="22373A"/>
                </a:solidFill>
                <a:latin typeface="Arial"/>
                <a:cs typeface="Arial"/>
              </a:rPr>
              <a:t>.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Understanding</a:t>
            </a:r>
            <a:r>
              <a:rPr sz="11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11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history</a:t>
            </a:r>
            <a:r>
              <a:rPr sz="11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matters</a:t>
            </a:r>
            <a:r>
              <a:rPr sz="11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because:</a:t>
            </a:r>
            <a:endParaRPr sz="1100" dirty="0">
              <a:latin typeface="Arial"/>
              <a:cs typeface="Arial"/>
            </a:endParaRPr>
          </a:p>
          <a:p>
            <a:pPr marL="287020" marR="368935" indent="-121920">
              <a:lnSpc>
                <a:spcPts val="1190"/>
              </a:lnSpc>
              <a:spcBef>
                <a:spcPts val="55"/>
              </a:spcBef>
              <a:buFont typeface="Arial"/>
              <a:buChar char="•"/>
              <a:tabLst>
                <a:tab pos="289560" algn="l"/>
              </a:tabLst>
            </a:pPr>
            <a:r>
              <a:rPr sz="1100" spc="-105" dirty="0">
                <a:solidFill>
                  <a:srgbClr val="22373A"/>
                </a:solidFill>
                <a:latin typeface="Arial Black"/>
                <a:cs typeface="Arial Black"/>
              </a:rPr>
              <a:t>Patterns</a:t>
            </a:r>
            <a:r>
              <a:rPr sz="1100" spc="-8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90" dirty="0">
                <a:solidFill>
                  <a:srgbClr val="22373A"/>
                </a:solidFill>
                <a:latin typeface="Arial Black"/>
                <a:cs typeface="Arial Black"/>
              </a:rPr>
              <a:t>repeat</a:t>
            </a:r>
            <a:r>
              <a:rPr sz="1100" spc="-9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1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"concerns"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social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media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echo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Orwell’s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and 	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Arendt’s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warnings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11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TV</a:t>
            </a:r>
            <a:endParaRPr sz="1100" dirty="0">
              <a:latin typeface="Arial"/>
              <a:cs typeface="Arial"/>
            </a:endParaRPr>
          </a:p>
          <a:p>
            <a:pPr marL="287020" marR="267335" indent="-121920">
              <a:lnSpc>
                <a:spcPts val="1190"/>
              </a:lnSpc>
              <a:spcBef>
                <a:spcPts val="5"/>
              </a:spcBef>
              <a:buFont typeface="Arial"/>
              <a:buChar char="•"/>
              <a:tabLst>
                <a:tab pos="289560" algn="l"/>
              </a:tabLst>
            </a:pPr>
            <a:r>
              <a:rPr sz="1100" spc="-120" dirty="0">
                <a:solidFill>
                  <a:srgbClr val="22373A"/>
                </a:solidFill>
                <a:latin typeface="Arial Black"/>
                <a:cs typeface="Arial Black"/>
              </a:rPr>
              <a:t>Power</a:t>
            </a:r>
            <a:r>
              <a:rPr sz="1100" spc="-8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90" dirty="0">
                <a:solidFill>
                  <a:srgbClr val="22373A"/>
                </a:solidFill>
                <a:latin typeface="Arial Black"/>
                <a:cs typeface="Arial Black"/>
              </a:rPr>
              <a:t>matters</a:t>
            </a:r>
            <a:r>
              <a:rPr sz="1100" spc="-9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1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Technology</a:t>
            </a:r>
            <a:r>
              <a:rPr sz="11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serves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whoever</a:t>
            </a:r>
            <a:r>
              <a:rPr sz="11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controls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it—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11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lesson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 runs 	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through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every</a:t>
            </a:r>
            <a:r>
              <a:rPr sz="11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revolution</a:t>
            </a:r>
            <a:endParaRPr sz="1100" dirty="0">
              <a:latin typeface="Arial"/>
              <a:cs typeface="Arial"/>
            </a:endParaRPr>
          </a:p>
          <a:p>
            <a:pPr marL="287020" marR="184785" indent="-121920">
              <a:lnSpc>
                <a:spcPts val="1190"/>
              </a:lnSpc>
              <a:spcBef>
                <a:spcPts val="5"/>
              </a:spcBef>
              <a:buFont typeface="Arial"/>
              <a:buChar char="•"/>
              <a:tabLst>
                <a:tab pos="289560" algn="l"/>
              </a:tabLst>
            </a:pPr>
            <a:r>
              <a:rPr sz="1100" spc="-105" dirty="0">
                <a:solidFill>
                  <a:srgbClr val="22373A"/>
                </a:solidFill>
                <a:latin typeface="Arial Black"/>
                <a:cs typeface="Arial Black"/>
              </a:rPr>
              <a:t>Speed</a:t>
            </a:r>
            <a:r>
              <a:rPr sz="1100" spc="-7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90" dirty="0">
                <a:solidFill>
                  <a:srgbClr val="22373A"/>
                </a:solidFill>
                <a:latin typeface="Arial Black"/>
                <a:cs typeface="Arial Black"/>
              </a:rPr>
              <a:t>of</a:t>
            </a:r>
            <a:r>
              <a:rPr sz="1100" spc="-7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114" dirty="0">
                <a:solidFill>
                  <a:srgbClr val="22373A"/>
                </a:solidFill>
                <a:latin typeface="Arial Black"/>
                <a:cs typeface="Arial Black"/>
              </a:rPr>
              <a:t>change</a:t>
            </a:r>
            <a:r>
              <a:rPr sz="1100" spc="-114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1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Digital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tech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disrupted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law,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surveillance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 systems, 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and 	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labor—understanding</a:t>
            </a:r>
            <a:r>
              <a:rPr sz="11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11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helps</a:t>
            </a:r>
            <a:r>
              <a:rPr sz="11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us</a:t>
            </a:r>
            <a:r>
              <a:rPr sz="11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think</a:t>
            </a:r>
            <a:r>
              <a:rPr sz="11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critically</a:t>
            </a:r>
            <a:r>
              <a:rPr sz="11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11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AI</a:t>
            </a:r>
            <a:endParaRPr sz="11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9994" y="1797888"/>
          <a:ext cx="5039995" cy="545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4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Key</a:t>
                      </a:r>
                      <a:r>
                        <a:rPr sz="1100" spc="-9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Insight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2D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45720" marR="175895">
                        <a:lnSpc>
                          <a:spcPts val="1190"/>
                        </a:lnSpc>
                        <a:spcBef>
                          <a:spcPts val="229"/>
                        </a:spcBef>
                      </a:pP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When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debates about technology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seem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new,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they’re often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ancient questions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modern</a:t>
                      </a:r>
                      <a:r>
                        <a:rPr sz="11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dress.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solidFill>
                      <a:srgbClr val="F4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359994" y="2551751"/>
            <a:ext cx="5040630" cy="557530"/>
            <a:chOff x="359994" y="2551751"/>
            <a:chExt cx="5040630" cy="557530"/>
          </a:xfrm>
        </p:grpSpPr>
        <p:sp>
          <p:nvSpPr>
            <p:cNvPr id="6" name="object 6"/>
            <p:cNvSpPr/>
            <p:nvPr/>
          </p:nvSpPr>
          <p:spPr>
            <a:xfrm>
              <a:off x="359994" y="2551751"/>
              <a:ext cx="5040630" cy="557530"/>
            </a:xfrm>
            <a:custGeom>
              <a:avLst/>
              <a:gdLst/>
              <a:ahLst/>
              <a:cxnLst/>
              <a:rect l="l" t="t" r="r" b="b"/>
              <a:pathLst>
                <a:path w="5040630" h="557530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518957"/>
                  </a:lnTo>
                  <a:lnTo>
                    <a:pt x="2982" y="533732"/>
                  </a:lnTo>
                  <a:lnTo>
                    <a:pt x="11117" y="545798"/>
                  </a:lnTo>
                  <a:lnTo>
                    <a:pt x="23182" y="553933"/>
                  </a:lnTo>
                  <a:lnTo>
                    <a:pt x="37958" y="556915"/>
                  </a:lnTo>
                  <a:lnTo>
                    <a:pt x="5002106" y="556915"/>
                  </a:lnTo>
                  <a:lnTo>
                    <a:pt x="5016882" y="553933"/>
                  </a:lnTo>
                  <a:lnTo>
                    <a:pt x="5028947" y="545798"/>
                  </a:lnTo>
                  <a:lnTo>
                    <a:pt x="5037082" y="533732"/>
                  </a:lnTo>
                  <a:lnTo>
                    <a:pt x="5040064" y="518957"/>
                  </a:lnTo>
                  <a:lnTo>
                    <a:pt x="5040064" y="37958"/>
                  </a:lnTo>
                  <a:lnTo>
                    <a:pt x="5037082" y="23183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B777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2646" y="2735041"/>
              <a:ext cx="5015230" cy="361315"/>
            </a:xfrm>
            <a:custGeom>
              <a:avLst/>
              <a:gdLst/>
              <a:ahLst/>
              <a:cxnLst/>
              <a:rect l="l" t="t" r="r" b="b"/>
              <a:pathLst>
                <a:path w="5015230" h="361314">
                  <a:moveTo>
                    <a:pt x="5014759" y="0"/>
                  </a:moveTo>
                  <a:lnTo>
                    <a:pt x="0" y="0"/>
                  </a:lnTo>
                  <a:lnTo>
                    <a:pt x="0" y="335667"/>
                  </a:lnTo>
                  <a:lnTo>
                    <a:pt x="1988" y="345517"/>
                  </a:lnTo>
                  <a:lnTo>
                    <a:pt x="7411" y="353561"/>
                  </a:lnTo>
                  <a:lnTo>
                    <a:pt x="15455" y="358984"/>
                  </a:lnTo>
                  <a:lnTo>
                    <a:pt x="25305" y="360973"/>
                  </a:lnTo>
                  <a:lnTo>
                    <a:pt x="4989454" y="360973"/>
                  </a:lnTo>
                  <a:lnTo>
                    <a:pt x="4999304" y="358984"/>
                  </a:lnTo>
                  <a:lnTo>
                    <a:pt x="5007347" y="353561"/>
                  </a:lnTo>
                  <a:lnTo>
                    <a:pt x="5012770" y="345517"/>
                  </a:lnTo>
                  <a:lnTo>
                    <a:pt x="5014759" y="335667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B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35863" y="2528745"/>
            <a:ext cx="4888865" cy="54038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1100" spc="-10" dirty="0">
                <a:solidFill>
                  <a:srgbClr val="FFFFFF"/>
                </a:solidFill>
                <a:latin typeface="Arial Black"/>
                <a:cs typeface="Arial Black"/>
              </a:rPr>
              <a:t>Discussion</a:t>
            </a:r>
            <a:endParaRPr sz="1100">
              <a:latin typeface="Arial Black"/>
              <a:cs typeface="Arial Black"/>
            </a:endParaRPr>
          </a:p>
          <a:p>
            <a:pPr marL="12700" marR="5080">
              <a:lnSpc>
                <a:spcPts val="1190"/>
              </a:lnSpc>
              <a:spcBef>
                <a:spcPts val="260"/>
              </a:spcBef>
            </a:pPr>
            <a:r>
              <a:rPr sz="1100" spc="-10" dirty="0">
                <a:latin typeface="Arial"/>
                <a:cs typeface="Arial"/>
              </a:rPr>
              <a:t>Looking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ahead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our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study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virtues,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free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speech,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IP,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75" dirty="0">
                <a:latin typeface="Arial"/>
                <a:cs typeface="Arial"/>
              </a:rPr>
              <a:t>AI—</a:t>
            </a:r>
            <a:r>
              <a:rPr sz="1100" dirty="0">
                <a:latin typeface="Arial"/>
                <a:cs typeface="Arial"/>
              </a:rPr>
              <a:t>what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historical lessons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might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apply?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69051" y="2963111"/>
            <a:ext cx="863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22373A"/>
                </a:solidFill>
                <a:latin typeface="Arial"/>
                <a:cs typeface="Arial"/>
              </a:rPr>
              <a:t>6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37"/>
              <a:ext cx="606425" cy="5080"/>
            </a:xfrm>
            <a:custGeom>
              <a:avLst/>
              <a:gdLst/>
              <a:ahLst/>
              <a:cxnLst/>
              <a:rect l="l" t="t" r="r" b="b"/>
              <a:pathLst>
                <a:path w="606425" h="5080">
                  <a:moveTo>
                    <a:pt x="0" y="5060"/>
                  </a:moveTo>
                  <a:lnTo>
                    <a:pt x="0" y="0"/>
                  </a:lnTo>
                  <a:lnTo>
                    <a:pt x="606364" y="0"/>
                  </a:lnTo>
                  <a:lnTo>
                    <a:pt x="60636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What</a:t>
            </a:r>
            <a:r>
              <a:rPr spc="-85" dirty="0"/>
              <a:t> </a:t>
            </a:r>
            <a:r>
              <a:rPr spc="-105" dirty="0"/>
              <a:t>is</a:t>
            </a:r>
            <a:r>
              <a:rPr spc="-80" dirty="0"/>
              <a:t> </a:t>
            </a:r>
            <a:r>
              <a:rPr spc="-85" dirty="0"/>
              <a:t>Information</a:t>
            </a:r>
            <a:r>
              <a:rPr spc="-80" dirty="0"/>
              <a:t> </a:t>
            </a:r>
            <a:r>
              <a:rPr spc="-125" dirty="0"/>
              <a:t>Technology?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938985"/>
            <a:ext cx="4780280" cy="3435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255"/>
              </a:lnSpc>
              <a:spcBef>
                <a:spcPts val="90"/>
              </a:spcBef>
            </a:pPr>
            <a:r>
              <a:rPr sz="1100" spc="-80" dirty="0">
                <a:solidFill>
                  <a:srgbClr val="22373A"/>
                </a:solidFill>
                <a:latin typeface="Arial Black"/>
                <a:cs typeface="Arial Black"/>
              </a:rPr>
              <a:t>Definition:</a:t>
            </a:r>
            <a:r>
              <a:rPr sz="1100" spc="-2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Technologies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 for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0" dirty="0">
                <a:solidFill>
                  <a:srgbClr val="22373A"/>
                </a:solidFill>
                <a:latin typeface="Arial Black"/>
                <a:cs typeface="Arial Black"/>
              </a:rPr>
              <a:t>creating</a:t>
            </a:r>
            <a:r>
              <a:rPr sz="1100" spc="-10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90" dirty="0">
                <a:solidFill>
                  <a:srgbClr val="22373A"/>
                </a:solidFill>
                <a:latin typeface="Arial Black"/>
                <a:cs typeface="Arial Black"/>
              </a:rPr>
              <a:t>storing</a:t>
            </a:r>
            <a:r>
              <a:rPr sz="1100" spc="-9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90" dirty="0">
                <a:solidFill>
                  <a:srgbClr val="22373A"/>
                </a:solidFill>
                <a:latin typeface="Arial Black"/>
                <a:cs typeface="Arial Black"/>
              </a:rPr>
              <a:t>transmitting</a:t>
            </a:r>
            <a:r>
              <a:rPr sz="1100" spc="-9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80" dirty="0">
                <a:solidFill>
                  <a:srgbClr val="22373A"/>
                </a:solidFill>
                <a:latin typeface="Arial Black"/>
                <a:cs typeface="Arial Black"/>
              </a:rPr>
              <a:t>processing</a:t>
            </a:r>
            <a:endParaRPr sz="1100">
              <a:latin typeface="Arial Black"/>
              <a:cs typeface="Arial Black"/>
            </a:endParaRPr>
          </a:p>
          <a:p>
            <a:pPr marL="12700">
              <a:lnSpc>
                <a:spcPts val="1255"/>
              </a:lnSpc>
            </a:pP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information.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9994" y="1401165"/>
          <a:ext cx="5039995" cy="4235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4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Key</a:t>
                      </a:r>
                      <a:r>
                        <a:rPr sz="1100" spc="-9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Insight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19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329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Information</a:t>
                      </a:r>
                      <a:r>
                        <a:rPr sz="1100" spc="6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technology</a:t>
                      </a:r>
                      <a:r>
                        <a:rPr sz="1100" spc="6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1100" spc="6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ancient</a:t>
                      </a:r>
                      <a:r>
                        <a:rPr sz="1100" spc="-1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sz="1100" spc="-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not</a:t>
                      </a:r>
                      <a:r>
                        <a:rPr sz="1100" spc="6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just</a:t>
                      </a:r>
                      <a:r>
                        <a:rPr sz="1100" spc="6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computers!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5061" y="1899922"/>
          <a:ext cx="4275452" cy="383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5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6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5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710"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65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Writing</a:t>
                      </a:r>
                      <a:endParaRPr sz="650">
                        <a:latin typeface="Arial Black"/>
                        <a:cs typeface="Arial Black"/>
                      </a:endParaRPr>
                    </a:p>
                  </a:txBody>
                  <a:tcPr marL="0" marR="0" marT="16510" marB="0">
                    <a:lnB w="12700">
                      <a:solidFill>
                        <a:srgbClr val="194A79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65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Printing</a:t>
                      </a:r>
                      <a:endParaRPr sz="650">
                        <a:latin typeface="Arial Black"/>
                        <a:cs typeface="Arial Black"/>
                      </a:endParaRPr>
                    </a:p>
                  </a:txBody>
                  <a:tcPr marL="0" marR="0" marT="16510" marB="0">
                    <a:lnB w="12700">
                      <a:solidFill>
                        <a:srgbClr val="194A79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65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Telegraph</a:t>
                      </a:r>
                      <a:endParaRPr sz="650">
                        <a:latin typeface="Arial Black"/>
                        <a:cs typeface="Arial Black"/>
                      </a:endParaRPr>
                    </a:p>
                  </a:txBody>
                  <a:tcPr marL="0" marR="0" marT="16510" marB="0">
                    <a:lnB w="12700">
                      <a:solidFill>
                        <a:srgbClr val="194A79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4572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650" spc="-3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Radio-</a:t>
                      </a:r>
                      <a:r>
                        <a:rPr sz="650" spc="-2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TV</a:t>
                      </a:r>
                      <a:endParaRPr sz="650">
                        <a:latin typeface="Arial Black"/>
                        <a:cs typeface="Arial Black"/>
                      </a:endParaRPr>
                    </a:p>
                  </a:txBody>
                  <a:tcPr marL="0" marR="0" marT="33655" marB="0">
                    <a:lnB w="12700">
                      <a:solidFill>
                        <a:srgbClr val="194A79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1981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650" spc="-2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Web</a:t>
                      </a:r>
                      <a:endParaRPr sz="650">
                        <a:latin typeface="Arial Black"/>
                        <a:cs typeface="Arial Black"/>
                      </a:endParaRPr>
                    </a:p>
                  </a:txBody>
                  <a:tcPr marL="0" marR="0" marT="33655" marB="0">
                    <a:lnB w="12700">
                      <a:solidFill>
                        <a:srgbClr val="194A79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marL="160655">
                        <a:lnSpc>
                          <a:spcPts val="525"/>
                        </a:lnSpc>
                      </a:pPr>
                      <a:r>
                        <a:rPr sz="5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3200</a:t>
                      </a:r>
                      <a:r>
                        <a:rPr sz="500" spc="9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BCE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T w="12700">
                      <a:solidFill>
                        <a:srgbClr val="194A79"/>
                      </a:solidFill>
                      <a:prstDash val="solid"/>
                    </a:lnT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marL="25400" algn="ctr">
                        <a:lnSpc>
                          <a:spcPts val="525"/>
                        </a:lnSpc>
                      </a:pPr>
                      <a:r>
                        <a:rPr sz="5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1440</a:t>
                      </a:r>
                      <a:r>
                        <a:rPr sz="500" spc="9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CE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T w="12700">
                      <a:solidFill>
                        <a:srgbClr val="194A79"/>
                      </a:solidFill>
                      <a:prstDash val="solid"/>
                    </a:lnT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marL="11430" algn="ctr">
                        <a:lnSpc>
                          <a:spcPts val="525"/>
                        </a:lnSpc>
                      </a:pPr>
                      <a:r>
                        <a:rPr sz="5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1840s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T w="12700">
                      <a:solidFill>
                        <a:srgbClr val="194A79"/>
                      </a:solidFill>
                      <a:prstDash val="solid"/>
                    </a:lnT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marR="45720" algn="ctr">
                        <a:lnSpc>
                          <a:spcPts val="525"/>
                        </a:lnSpc>
                      </a:pPr>
                      <a:r>
                        <a:rPr sz="5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1920s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T w="12700">
                      <a:solidFill>
                        <a:srgbClr val="194A79"/>
                      </a:solidFill>
                      <a:prstDash val="solid"/>
                    </a:lnT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marR="196215" algn="r">
                        <a:lnSpc>
                          <a:spcPts val="525"/>
                        </a:lnSpc>
                      </a:pPr>
                      <a:r>
                        <a:rPr sz="5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1990s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T w="12700">
                      <a:solidFill>
                        <a:srgbClr val="194A79"/>
                      </a:solidFill>
                      <a:prstDash val="solid"/>
                    </a:lnT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4620424" y="2093389"/>
            <a:ext cx="24765" cy="52705"/>
          </a:xfrm>
          <a:custGeom>
            <a:avLst/>
            <a:gdLst/>
            <a:ahLst/>
            <a:cxnLst/>
            <a:rect l="l" t="t" r="r" b="b"/>
            <a:pathLst>
              <a:path w="24764" h="52705">
                <a:moveTo>
                  <a:pt x="0" y="0"/>
                </a:moveTo>
                <a:lnTo>
                  <a:pt x="3855" y="8044"/>
                </a:lnTo>
                <a:lnTo>
                  <a:pt x="11102" y="16242"/>
                </a:lnTo>
                <a:lnTo>
                  <a:pt x="18966" y="22898"/>
                </a:lnTo>
                <a:lnTo>
                  <a:pt x="24671" y="26316"/>
                </a:lnTo>
                <a:lnTo>
                  <a:pt x="18966" y="29734"/>
                </a:lnTo>
                <a:lnTo>
                  <a:pt x="11102" y="36391"/>
                </a:lnTo>
                <a:lnTo>
                  <a:pt x="3855" y="44589"/>
                </a:lnTo>
                <a:lnTo>
                  <a:pt x="0" y="52633"/>
                </a:lnTo>
              </a:path>
            </a:pathLst>
          </a:custGeom>
          <a:ln w="8097">
            <a:solidFill>
              <a:srgbClr val="194A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1067" y="2073807"/>
            <a:ext cx="0" cy="92075"/>
          </a:xfrm>
          <a:custGeom>
            <a:avLst/>
            <a:gdLst/>
            <a:ahLst/>
            <a:cxnLst/>
            <a:rect l="l" t="t" r="r" b="b"/>
            <a:pathLst>
              <a:path h="92075">
                <a:moveTo>
                  <a:pt x="0" y="0"/>
                </a:moveTo>
                <a:lnTo>
                  <a:pt x="0" y="91797"/>
                </a:lnTo>
              </a:path>
            </a:pathLst>
          </a:custGeom>
          <a:ln w="10122">
            <a:solidFill>
              <a:srgbClr val="194A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89085" y="2073807"/>
            <a:ext cx="0" cy="92075"/>
          </a:xfrm>
          <a:custGeom>
            <a:avLst/>
            <a:gdLst/>
            <a:ahLst/>
            <a:cxnLst/>
            <a:rect l="l" t="t" r="r" b="b"/>
            <a:pathLst>
              <a:path h="92075">
                <a:moveTo>
                  <a:pt x="0" y="0"/>
                </a:moveTo>
                <a:lnTo>
                  <a:pt x="0" y="91797"/>
                </a:lnTo>
              </a:path>
            </a:pathLst>
          </a:custGeom>
          <a:ln w="10122">
            <a:solidFill>
              <a:srgbClr val="194A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07103" y="2073807"/>
            <a:ext cx="0" cy="92075"/>
          </a:xfrm>
          <a:custGeom>
            <a:avLst/>
            <a:gdLst/>
            <a:ahLst/>
            <a:cxnLst/>
            <a:rect l="l" t="t" r="r" b="b"/>
            <a:pathLst>
              <a:path h="92075">
                <a:moveTo>
                  <a:pt x="0" y="0"/>
                </a:moveTo>
                <a:lnTo>
                  <a:pt x="0" y="91797"/>
                </a:lnTo>
              </a:path>
            </a:pathLst>
          </a:custGeom>
          <a:ln w="10122">
            <a:solidFill>
              <a:srgbClr val="194A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25121" y="2073807"/>
            <a:ext cx="0" cy="92075"/>
          </a:xfrm>
          <a:custGeom>
            <a:avLst/>
            <a:gdLst/>
            <a:ahLst/>
            <a:cxnLst/>
            <a:rect l="l" t="t" r="r" b="b"/>
            <a:pathLst>
              <a:path h="92075">
                <a:moveTo>
                  <a:pt x="0" y="0"/>
                </a:moveTo>
                <a:lnTo>
                  <a:pt x="0" y="91797"/>
                </a:lnTo>
              </a:path>
            </a:pathLst>
          </a:custGeom>
          <a:ln w="10122">
            <a:solidFill>
              <a:srgbClr val="194A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343139" y="2073807"/>
            <a:ext cx="0" cy="92075"/>
          </a:xfrm>
          <a:custGeom>
            <a:avLst/>
            <a:gdLst/>
            <a:ahLst/>
            <a:cxnLst/>
            <a:rect l="l" t="t" r="r" b="b"/>
            <a:pathLst>
              <a:path h="92075">
                <a:moveTo>
                  <a:pt x="0" y="0"/>
                </a:moveTo>
                <a:lnTo>
                  <a:pt x="0" y="91797"/>
                </a:lnTo>
              </a:path>
            </a:pathLst>
          </a:custGeom>
          <a:ln w="10122">
            <a:solidFill>
              <a:srgbClr val="194A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3" name="object 13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3234937"/>
              <a:ext cx="707390" cy="5080"/>
            </a:xfrm>
            <a:custGeom>
              <a:avLst/>
              <a:gdLst/>
              <a:ahLst/>
              <a:cxnLst/>
              <a:rect l="l" t="t" r="r" b="b"/>
              <a:pathLst>
                <a:path w="707390" h="5080">
                  <a:moveTo>
                    <a:pt x="0" y="5060"/>
                  </a:moveTo>
                  <a:lnTo>
                    <a:pt x="0" y="0"/>
                  </a:lnTo>
                  <a:lnTo>
                    <a:pt x="707352" y="0"/>
                  </a:lnTo>
                  <a:lnTo>
                    <a:pt x="70735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74559"/>
            <a:ext cx="189547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What</a:t>
            </a:r>
            <a:r>
              <a:rPr spc="-75" dirty="0"/>
              <a:t> </a:t>
            </a:r>
            <a:r>
              <a:rPr spc="-105" dirty="0"/>
              <a:t>is</a:t>
            </a:r>
            <a:r>
              <a:rPr spc="-75" dirty="0"/>
              <a:t> </a:t>
            </a:r>
            <a:r>
              <a:rPr spc="-120" dirty="0"/>
              <a:t>Normative</a:t>
            </a:r>
            <a:r>
              <a:rPr spc="-75" dirty="0"/>
              <a:t> </a:t>
            </a:r>
            <a:r>
              <a:rPr spc="-105" dirty="0"/>
              <a:t>Ethics?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723708"/>
            <a:ext cx="46412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80" dirty="0">
                <a:solidFill>
                  <a:srgbClr val="22373A"/>
                </a:solidFill>
                <a:latin typeface="Arial Black"/>
                <a:cs typeface="Arial" panose="020B0604020202020204" pitchFamily="34" charset="0"/>
              </a:rPr>
              <a:t>Definition:</a:t>
            </a:r>
            <a:r>
              <a:rPr sz="1100" spc="-20" dirty="0">
                <a:solidFill>
                  <a:srgbClr val="22373A"/>
                </a:solidFill>
                <a:latin typeface="Arial Black"/>
                <a:cs typeface="Arial" panose="020B0604020202020204" pitchFamily="34" charset="0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branch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philosophy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concerned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we </a:t>
            </a:r>
            <a:r>
              <a:rPr sz="1100" spc="-110" dirty="0">
                <a:solidFill>
                  <a:srgbClr val="22373A"/>
                </a:solidFill>
                <a:latin typeface="Arial Black"/>
                <a:cs typeface="Arial" panose="020B0604020202020204" pitchFamily="34" charset="0"/>
              </a:rPr>
              <a:t>ought</a:t>
            </a:r>
            <a:r>
              <a:rPr sz="1100" spc="-65" dirty="0">
                <a:solidFill>
                  <a:srgbClr val="22373A"/>
                </a:solidFill>
                <a:latin typeface="Arial Black"/>
                <a:cs typeface="Arial" panose="020B0604020202020204" pitchFamily="34" charset="0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act.</a:t>
            </a:r>
            <a:endParaRPr sz="11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9994" y="1062177"/>
          <a:ext cx="5039995" cy="878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Three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2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Branches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of</a:t>
                      </a:r>
                      <a:r>
                        <a:rPr sz="1100" spc="-7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Ethics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19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1990">
                <a:tc>
                  <a:txBody>
                    <a:bodyPr/>
                    <a:lstStyle/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395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Descriptive</a:t>
                      </a:r>
                      <a:r>
                        <a:rPr sz="1100" spc="-7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Ethics: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What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people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do</a:t>
                      </a:r>
                      <a:r>
                        <a:rPr sz="11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believe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about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right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wrong</a:t>
                      </a:r>
                      <a:endParaRPr sz="1100" dirty="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Normative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Ethics: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What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people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should</a:t>
                      </a:r>
                      <a:r>
                        <a:rPr sz="11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believe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about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right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wrong</a:t>
                      </a:r>
                      <a:endParaRPr sz="1100" dirty="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Metaethics: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nature</a:t>
                      </a:r>
                      <a:r>
                        <a:rPr sz="11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1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morality</a:t>
                      </a:r>
                      <a:r>
                        <a:rPr sz="1100" spc="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itself</a:t>
                      </a:r>
                      <a:r>
                        <a:rPr sz="11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(e.g.,</a:t>
                      </a:r>
                      <a:r>
                        <a:rPr sz="11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Are</a:t>
                      </a:r>
                      <a:r>
                        <a:rPr sz="1100" spc="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moral</a:t>
                      </a:r>
                      <a:r>
                        <a:rPr sz="11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facts</a:t>
                      </a:r>
                      <a:r>
                        <a:rPr sz="11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real?)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59994" y="2085530"/>
          <a:ext cx="5039995" cy="421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4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Key</a:t>
                      </a:r>
                      <a:r>
                        <a:rPr sz="1100" spc="-9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Insight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BF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Ethics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also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ancient</a:t>
                      </a:r>
                      <a:r>
                        <a:rPr sz="1100" spc="-1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as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old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as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philosophy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itself!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solidFill>
                      <a:srgbClr val="F9E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37"/>
              <a:ext cx="808990" cy="5080"/>
            </a:xfrm>
            <a:custGeom>
              <a:avLst/>
              <a:gdLst/>
              <a:ahLst/>
              <a:cxnLst/>
              <a:rect l="l" t="t" r="r" b="b"/>
              <a:pathLst>
                <a:path w="808990" h="5080">
                  <a:moveTo>
                    <a:pt x="0" y="5060"/>
                  </a:moveTo>
                  <a:lnTo>
                    <a:pt x="0" y="0"/>
                  </a:lnTo>
                  <a:lnTo>
                    <a:pt x="808428" y="0"/>
                  </a:lnTo>
                  <a:lnTo>
                    <a:pt x="80842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40" dirty="0"/>
              <a:t>The</a:t>
            </a:r>
            <a:r>
              <a:rPr spc="-100" dirty="0"/>
              <a:t> </a:t>
            </a:r>
            <a:r>
              <a:rPr spc="-110" dirty="0"/>
              <a:t>Five</a:t>
            </a:r>
            <a:r>
              <a:rPr spc="-100" dirty="0"/>
              <a:t> </a:t>
            </a:r>
            <a:r>
              <a:rPr spc="-70" dirty="0"/>
              <a:t>IT</a:t>
            </a:r>
            <a:r>
              <a:rPr spc="-100" dirty="0"/>
              <a:t> Revolutions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59994" y="488391"/>
          <a:ext cx="5116195" cy="571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2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Roadmap</a:t>
                      </a:r>
                      <a:r>
                        <a:rPr sz="1100" spc="-7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8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for</a:t>
                      </a:r>
                      <a:r>
                        <a:rPr sz="1100" spc="-6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2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Today’s</a:t>
                      </a:r>
                      <a:r>
                        <a:rPr sz="1100" spc="-6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Lecture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19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285">
                <a:tc>
                  <a:txBody>
                    <a:bodyPr/>
                    <a:lstStyle/>
                    <a:p>
                      <a:pPr marL="45720" marR="281940">
                        <a:lnSpc>
                          <a:spcPts val="1190"/>
                        </a:lnSpc>
                        <a:spcBef>
                          <a:spcPts val="229"/>
                        </a:spcBef>
                      </a:pPr>
                      <a:r>
                        <a:rPr sz="1100" spc="-6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We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will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examine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five</a:t>
                      </a:r>
                      <a:r>
                        <a:rPr sz="11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major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information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technology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revolutions,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each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with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its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own</a:t>
                      </a:r>
                      <a:r>
                        <a:rPr sz="1100" spc="-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debates,</a:t>
                      </a:r>
                      <a:r>
                        <a:rPr sz="1100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promises,</a:t>
                      </a:r>
                      <a:r>
                        <a:rPr sz="1100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unforeseen</a:t>
                      </a:r>
                      <a:r>
                        <a:rPr sz="1100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consequences.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904684" y="1225372"/>
            <a:ext cx="3950970" cy="0"/>
          </a:xfrm>
          <a:custGeom>
            <a:avLst/>
            <a:gdLst/>
            <a:ahLst/>
            <a:cxnLst/>
            <a:rect l="l" t="t" r="r" b="b"/>
            <a:pathLst>
              <a:path w="3950970">
                <a:moveTo>
                  <a:pt x="0" y="0"/>
                </a:moveTo>
                <a:lnTo>
                  <a:pt x="3950627" y="0"/>
                </a:lnTo>
              </a:path>
            </a:pathLst>
          </a:custGeom>
          <a:ln w="11087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91984" y="1228310"/>
            <a:ext cx="8940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3840" algn="l"/>
              </a:tabLst>
            </a:pPr>
            <a:r>
              <a:rPr sz="1000" spc="-50" dirty="0">
                <a:solidFill>
                  <a:srgbClr val="22373A"/>
                </a:solidFill>
                <a:latin typeface="Arial Black"/>
                <a:cs typeface="Arial Black"/>
              </a:rPr>
              <a:t>#</a:t>
            </a:r>
            <a:r>
              <a:rPr sz="1000" dirty="0">
                <a:solidFill>
                  <a:srgbClr val="22373A"/>
                </a:solidFill>
                <a:latin typeface="Arial Black"/>
                <a:cs typeface="Arial Black"/>
              </a:rPr>
              <a:t>	</a:t>
            </a:r>
            <a:r>
              <a:rPr sz="1000" spc="-85" dirty="0">
                <a:solidFill>
                  <a:srgbClr val="22373A"/>
                </a:solidFill>
                <a:latin typeface="Arial Black"/>
                <a:cs typeface="Arial Black"/>
              </a:rPr>
              <a:t>Revolution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04684" y="1435722"/>
            <a:ext cx="3950970" cy="0"/>
          </a:xfrm>
          <a:custGeom>
            <a:avLst/>
            <a:gdLst/>
            <a:ahLst/>
            <a:cxnLst/>
            <a:rect l="l" t="t" r="r" b="b"/>
            <a:pathLst>
              <a:path w="3950970">
                <a:moveTo>
                  <a:pt x="0" y="0"/>
                </a:moveTo>
                <a:lnTo>
                  <a:pt x="3950627" y="0"/>
                </a:lnTo>
              </a:path>
            </a:pathLst>
          </a:custGeom>
          <a:ln w="6921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694586" y="1173257"/>
            <a:ext cx="1104900" cy="43942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000" spc="-95" dirty="0">
                <a:solidFill>
                  <a:srgbClr val="22373A"/>
                </a:solidFill>
                <a:latin typeface="Arial Black"/>
                <a:cs typeface="Arial Black"/>
              </a:rPr>
              <a:t>Approximate</a:t>
            </a:r>
            <a:r>
              <a:rPr sz="1000" spc="-1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000" spc="-75" dirty="0">
                <a:solidFill>
                  <a:srgbClr val="22373A"/>
                </a:solidFill>
                <a:latin typeface="Arial Black"/>
                <a:cs typeface="Arial Black"/>
              </a:rPr>
              <a:t>Date</a:t>
            </a:r>
            <a:endParaRPr sz="10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000" dirty="0">
                <a:solidFill>
                  <a:srgbClr val="22373A"/>
                </a:solidFill>
                <a:latin typeface="Lucida Sans Unicode"/>
                <a:cs typeface="Lucida Sans Unicode"/>
              </a:rPr>
              <a:t>∼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3200</a:t>
            </a:r>
            <a:r>
              <a:rPr sz="10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BCE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25522" y="1173257"/>
            <a:ext cx="879475" cy="43942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000" spc="-135" dirty="0">
                <a:solidFill>
                  <a:srgbClr val="22373A"/>
                </a:solidFill>
                <a:latin typeface="Arial Black"/>
                <a:cs typeface="Arial Black"/>
              </a:rPr>
              <a:t>Key</a:t>
            </a:r>
            <a:r>
              <a:rPr sz="1000" spc="-7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 Black"/>
                <a:cs typeface="Arial Black"/>
              </a:rPr>
              <a:t>Thinkers</a:t>
            </a:r>
            <a:endParaRPr sz="10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Socrates,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Plato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25522" y="1570486"/>
            <a:ext cx="9385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Luther,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Erasmus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4003" y="1435193"/>
            <a:ext cx="1674495" cy="718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935" indent="-229235">
              <a:lnSpc>
                <a:spcPts val="1135"/>
              </a:lnSpc>
              <a:spcBef>
                <a:spcPts val="95"/>
              </a:spcBef>
              <a:buAutoNum type="arabicPlain"/>
              <a:tabLst>
                <a:tab pos="241935" algn="l"/>
              </a:tabLst>
            </a:pP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Writing</a:t>
            </a:r>
            <a:endParaRPr sz="1000">
              <a:latin typeface="Arial"/>
              <a:cs typeface="Arial"/>
            </a:endParaRPr>
          </a:p>
          <a:p>
            <a:pPr marL="241935" indent="-229235">
              <a:lnSpc>
                <a:spcPts val="1065"/>
              </a:lnSpc>
              <a:buAutoNum type="arabicPlain"/>
              <a:tabLst>
                <a:tab pos="241935" algn="l"/>
              </a:tabLst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Printing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Press</a:t>
            </a:r>
            <a:endParaRPr sz="1000">
              <a:latin typeface="Arial"/>
              <a:cs typeface="Arial"/>
            </a:endParaRPr>
          </a:p>
          <a:p>
            <a:pPr marL="241935" indent="-229235">
              <a:lnSpc>
                <a:spcPts val="1065"/>
              </a:lnSpc>
              <a:buAutoNum type="arabicPlain"/>
              <a:tabLst>
                <a:tab pos="241935" algn="l"/>
              </a:tabLst>
            </a:pP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Distance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Communication</a:t>
            </a:r>
            <a:endParaRPr sz="1000">
              <a:latin typeface="Arial"/>
              <a:cs typeface="Arial"/>
            </a:endParaRPr>
          </a:p>
          <a:p>
            <a:pPr marL="241935" indent="-229235">
              <a:lnSpc>
                <a:spcPts val="1065"/>
              </a:lnSpc>
              <a:buAutoNum type="arabicPlain"/>
              <a:tabLst>
                <a:tab pos="241935" algn="l"/>
              </a:tabLst>
            </a:pP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Mass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Media</a:t>
            </a:r>
            <a:endParaRPr sz="1000">
              <a:latin typeface="Arial"/>
              <a:cs typeface="Arial"/>
            </a:endParaRPr>
          </a:p>
          <a:p>
            <a:pPr marL="241935" indent="-229235">
              <a:lnSpc>
                <a:spcPts val="1135"/>
              </a:lnSpc>
              <a:buAutoNum type="arabicPlain"/>
              <a:tabLst>
                <a:tab pos="241935" algn="l"/>
              </a:tabLst>
            </a:pP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Web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94597" y="1570486"/>
            <a:ext cx="610235" cy="583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135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Lucida Sans Unicode"/>
                <a:cs typeface="Lucida Sans Unicode"/>
              </a:rPr>
              <a:t>∼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1440</a:t>
            </a:r>
            <a:r>
              <a:rPr sz="10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60" dirty="0">
                <a:solidFill>
                  <a:srgbClr val="22373A"/>
                </a:solidFill>
                <a:latin typeface="Arial"/>
                <a:cs typeface="Arial"/>
              </a:rPr>
              <a:t>CE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10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∼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1840s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10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∼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1920s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1135"/>
              </a:lnSpc>
            </a:pPr>
            <a:r>
              <a:rPr sz="10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∼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1990s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25522" y="1705780"/>
            <a:ext cx="942975" cy="448309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1070"/>
              </a:lnSpc>
              <a:spcBef>
                <a:spcPts val="240"/>
              </a:spcBef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Mill,</a:t>
            </a:r>
            <a:r>
              <a:rPr sz="10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Marx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Orwell,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Arendt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Current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debates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04684" y="2185847"/>
            <a:ext cx="3950970" cy="0"/>
          </a:xfrm>
          <a:custGeom>
            <a:avLst/>
            <a:gdLst/>
            <a:ahLst/>
            <a:cxnLst/>
            <a:rect l="l" t="t" r="r" b="b"/>
            <a:pathLst>
              <a:path w="3950970">
                <a:moveTo>
                  <a:pt x="0" y="0"/>
                </a:moveTo>
                <a:lnTo>
                  <a:pt x="3950627" y="0"/>
                </a:lnTo>
              </a:path>
            </a:pathLst>
          </a:custGeom>
          <a:ln w="11087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59994" y="2402598"/>
          <a:ext cx="5116195" cy="4203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0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Central</a:t>
                      </a:r>
                      <a:r>
                        <a:rPr sz="1100" spc="-4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Theme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2D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154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Each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revolution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promised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liberation—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each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enabled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new forms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control.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solidFill>
                      <a:srgbClr val="F4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5" name="object 15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6" name="object 16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3234937"/>
              <a:ext cx="909955" cy="5080"/>
            </a:xfrm>
            <a:custGeom>
              <a:avLst/>
              <a:gdLst/>
              <a:ahLst/>
              <a:cxnLst/>
              <a:rect l="l" t="t" r="r" b="b"/>
              <a:pathLst>
                <a:path w="909955" h="5080">
                  <a:moveTo>
                    <a:pt x="0" y="5060"/>
                  </a:moveTo>
                  <a:lnTo>
                    <a:pt x="0" y="0"/>
                  </a:lnTo>
                  <a:lnTo>
                    <a:pt x="909503" y="0"/>
                  </a:lnTo>
                  <a:lnTo>
                    <a:pt x="90950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5" dirty="0"/>
              <a:t>Lecture</a:t>
            </a:r>
            <a:r>
              <a:rPr spc="-60" dirty="0"/>
              <a:t> </a:t>
            </a:r>
            <a:r>
              <a:rPr spc="-85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47914"/>
            <a:ext cx="3044825" cy="23475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Introduction:</a:t>
            </a:r>
            <a:r>
              <a:rPr sz="1100" spc="195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Information</a:t>
            </a:r>
            <a:r>
              <a:rPr sz="1100" spc="125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spc="-2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Technology</a:t>
            </a:r>
            <a:r>
              <a:rPr sz="1100" spc="13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and</a:t>
            </a:r>
            <a:r>
              <a:rPr sz="1100" spc="125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Ethics</a:t>
            </a:r>
            <a:endParaRPr sz="1100">
              <a:latin typeface="Arial"/>
              <a:cs typeface="Arial"/>
            </a:endParaRPr>
          </a:p>
          <a:p>
            <a:pPr marL="12700" marR="1043305">
              <a:lnSpc>
                <a:spcPct val="214299"/>
              </a:lnSpc>
            </a:pPr>
            <a:r>
              <a:rPr sz="1100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Revolution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1: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Writing</a:t>
            </a:r>
            <a:r>
              <a:rPr sz="1100" spc="5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Revolution</a:t>
            </a:r>
            <a:r>
              <a:rPr sz="1100" spc="-3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2:</a:t>
            </a:r>
            <a:r>
              <a:rPr sz="1100" spc="15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The</a:t>
            </a:r>
            <a:r>
              <a:rPr sz="1100" spc="-3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Printing</a:t>
            </a:r>
            <a:r>
              <a:rPr sz="1100" spc="-25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Press</a:t>
            </a:r>
            <a:endParaRPr sz="1100">
              <a:latin typeface="Arial"/>
              <a:cs typeface="Arial"/>
            </a:endParaRPr>
          </a:p>
          <a:p>
            <a:pPr marL="12700" marR="613410">
              <a:lnSpc>
                <a:spcPct val="214299"/>
              </a:lnSpc>
            </a:pP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Revolution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3:</a:t>
            </a:r>
            <a:r>
              <a:rPr sz="1100" spc="1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Distance</a:t>
            </a:r>
            <a:r>
              <a:rPr sz="1100" spc="-3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Communication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Revolution</a:t>
            </a:r>
            <a:r>
              <a:rPr sz="1100" spc="-40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4:</a:t>
            </a:r>
            <a:r>
              <a:rPr sz="1100" spc="5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1100" spc="-30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Mass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Media</a:t>
            </a:r>
            <a:endParaRPr sz="1100">
              <a:latin typeface="Arial"/>
              <a:cs typeface="Arial"/>
            </a:endParaRPr>
          </a:p>
          <a:p>
            <a:pPr marL="12700" marR="875030">
              <a:lnSpc>
                <a:spcPct val="214299"/>
              </a:lnSpc>
            </a:pP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Revolution</a:t>
            </a:r>
            <a:r>
              <a:rPr sz="1100" spc="-4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5: 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The</a:t>
            </a:r>
            <a:r>
              <a:rPr sz="1100" spc="-4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World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Wide</a:t>
            </a:r>
            <a:r>
              <a:rPr sz="1100" spc="-4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1100" spc="-25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Web</a:t>
            </a:r>
            <a:r>
              <a:rPr sz="1100" spc="-25" dirty="0">
                <a:solidFill>
                  <a:srgbClr val="CED2D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Conclusion: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Patterns</a:t>
            </a:r>
            <a:r>
              <a:rPr sz="1100" spc="-7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and</a:t>
            </a:r>
            <a:r>
              <a:rPr sz="1100" spc="-7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Lessons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37"/>
              <a:ext cx="1010919" cy="5080"/>
            </a:xfrm>
            <a:custGeom>
              <a:avLst/>
              <a:gdLst/>
              <a:ahLst/>
              <a:cxnLst/>
              <a:rect l="l" t="t" r="r" b="b"/>
              <a:pathLst>
                <a:path w="1010919" h="5080">
                  <a:moveTo>
                    <a:pt x="0" y="5060"/>
                  </a:moveTo>
                  <a:lnTo>
                    <a:pt x="0" y="0"/>
                  </a:lnTo>
                  <a:lnTo>
                    <a:pt x="1010579" y="0"/>
                  </a:lnTo>
                  <a:lnTo>
                    <a:pt x="101057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14" dirty="0"/>
              <a:t>Revolution</a:t>
            </a:r>
            <a:r>
              <a:rPr spc="-85" dirty="0"/>
              <a:t> </a:t>
            </a:r>
            <a:r>
              <a:rPr spc="-55" dirty="0"/>
              <a:t>1:</a:t>
            </a:r>
            <a:r>
              <a:rPr spc="-35" dirty="0"/>
              <a:t> </a:t>
            </a:r>
            <a:r>
              <a:rPr spc="-130" dirty="0"/>
              <a:t>A</a:t>
            </a:r>
            <a:r>
              <a:rPr spc="-85" dirty="0"/>
              <a:t> </a:t>
            </a:r>
            <a:r>
              <a:rPr spc="-95" dirty="0"/>
              <a:t>Brief</a:t>
            </a:r>
            <a:r>
              <a:rPr spc="-85" dirty="0"/>
              <a:t> </a:t>
            </a:r>
            <a:r>
              <a:rPr spc="-110" dirty="0"/>
              <a:t>History</a:t>
            </a:r>
            <a:r>
              <a:rPr spc="-80" dirty="0"/>
              <a:t> </a:t>
            </a:r>
            <a:r>
              <a:rPr spc="-95" dirty="0"/>
              <a:t>of</a:t>
            </a:r>
            <a:r>
              <a:rPr spc="-85" dirty="0"/>
              <a:t> </a:t>
            </a:r>
            <a:r>
              <a:rPr spc="-55" dirty="0"/>
              <a:t>Writing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90398" y="732586"/>
          <a:ext cx="2848610" cy="1217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4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Key</a:t>
                      </a:r>
                      <a:r>
                        <a:rPr sz="1100" spc="-9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3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Developments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19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1080">
                <a:tc>
                  <a:txBody>
                    <a:bodyPr/>
                    <a:lstStyle/>
                    <a:p>
                      <a:pPr marL="274320" marR="264795" indent="-121920">
                        <a:lnSpc>
                          <a:spcPts val="1190"/>
                        </a:lnSpc>
                        <a:spcBef>
                          <a:spcPts val="540"/>
                        </a:spcBef>
                        <a:buFont typeface="Arial"/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10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Cuneiform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Mesopotamia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∼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3200 	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BCE)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55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Egyptian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hieroglyphics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∼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3100</a:t>
                      </a:r>
                      <a:r>
                        <a:rPr sz="1100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BCE)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5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Phoenician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alphabet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∼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1050</a:t>
                      </a:r>
                      <a:r>
                        <a:rPr sz="1100" spc="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BCE)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2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Greek</a:t>
                      </a:r>
                      <a:r>
                        <a:rPr sz="1100" spc="-5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alphabet</a:t>
                      </a:r>
                      <a:r>
                        <a:rPr sz="1100" spc="-5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∼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800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BCE)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0398" y="2053526"/>
          <a:ext cx="2848610" cy="5473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8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Writing</a:t>
                      </a:r>
                      <a:r>
                        <a:rPr sz="1100" spc="-7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3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as</a:t>
                      </a:r>
                      <a:r>
                        <a:rPr sz="1100" spc="-6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Memory</a:t>
                      </a:r>
                      <a:r>
                        <a:rPr sz="1100" spc="-7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3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Technology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BF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marL="45720" marR="38100">
                        <a:lnSpc>
                          <a:spcPts val="1190"/>
                        </a:lnSpc>
                        <a:spcBef>
                          <a:spcPts val="244"/>
                        </a:spcBef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Writing</a:t>
                      </a:r>
                      <a:r>
                        <a:rPr sz="1100" spc="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externalizes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information—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storing</a:t>
                      </a:r>
                      <a:r>
                        <a:rPr sz="1100" spc="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it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outside</a:t>
                      </a:r>
                      <a:r>
                        <a:rPr sz="11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human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mind</a:t>
                      </a:r>
                      <a:r>
                        <a:rPr sz="11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first</a:t>
                      </a:r>
                      <a:r>
                        <a:rPr sz="11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time.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1114" marB="0">
                    <a:solidFill>
                      <a:srgbClr val="F9E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3942483" y="1021732"/>
            <a:ext cx="761365" cy="1013460"/>
            <a:chOff x="3942483" y="1021732"/>
            <a:chExt cx="761365" cy="1013460"/>
          </a:xfrm>
        </p:grpSpPr>
        <p:sp>
          <p:nvSpPr>
            <p:cNvPr id="6" name="object 6"/>
            <p:cNvSpPr/>
            <p:nvPr/>
          </p:nvSpPr>
          <p:spPr>
            <a:xfrm>
              <a:off x="3945013" y="1024262"/>
              <a:ext cx="756285" cy="252095"/>
            </a:xfrm>
            <a:custGeom>
              <a:avLst/>
              <a:gdLst/>
              <a:ahLst/>
              <a:cxnLst/>
              <a:rect l="l" t="t" r="r" b="b"/>
              <a:pathLst>
                <a:path w="756285" h="252094">
                  <a:moveTo>
                    <a:pt x="70539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01391"/>
                  </a:lnTo>
                  <a:lnTo>
                    <a:pt x="3977" y="221091"/>
                  </a:lnTo>
                  <a:lnTo>
                    <a:pt x="14823" y="237178"/>
                  </a:lnTo>
                  <a:lnTo>
                    <a:pt x="30910" y="248024"/>
                  </a:lnTo>
                  <a:lnTo>
                    <a:pt x="50610" y="252001"/>
                  </a:lnTo>
                  <a:lnTo>
                    <a:pt x="705395" y="252001"/>
                  </a:lnTo>
                  <a:lnTo>
                    <a:pt x="725095" y="248024"/>
                  </a:lnTo>
                  <a:lnTo>
                    <a:pt x="741182" y="237178"/>
                  </a:lnTo>
                  <a:lnTo>
                    <a:pt x="752028" y="221091"/>
                  </a:lnTo>
                  <a:lnTo>
                    <a:pt x="756005" y="201391"/>
                  </a:lnTo>
                  <a:lnTo>
                    <a:pt x="756005" y="50610"/>
                  </a:lnTo>
                  <a:lnTo>
                    <a:pt x="752028" y="30910"/>
                  </a:lnTo>
                  <a:lnTo>
                    <a:pt x="741182" y="14823"/>
                  </a:lnTo>
                  <a:lnTo>
                    <a:pt x="725095" y="3977"/>
                  </a:lnTo>
                  <a:lnTo>
                    <a:pt x="705395" y="0"/>
                  </a:lnTo>
                  <a:close/>
                </a:path>
              </a:pathLst>
            </a:custGeom>
            <a:solidFill>
              <a:srgbClr val="D1DA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45013" y="1024262"/>
              <a:ext cx="756285" cy="252095"/>
            </a:xfrm>
            <a:custGeom>
              <a:avLst/>
              <a:gdLst/>
              <a:ahLst/>
              <a:cxnLst/>
              <a:rect l="l" t="t" r="r" b="b"/>
              <a:pathLst>
                <a:path w="756285" h="252094">
                  <a:moveTo>
                    <a:pt x="70539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01391"/>
                  </a:lnTo>
                  <a:lnTo>
                    <a:pt x="3977" y="221091"/>
                  </a:lnTo>
                  <a:lnTo>
                    <a:pt x="14823" y="237178"/>
                  </a:lnTo>
                  <a:lnTo>
                    <a:pt x="30910" y="248024"/>
                  </a:lnTo>
                  <a:lnTo>
                    <a:pt x="50610" y="252001"/>
                  </a:lnTo>
                  <a:lnTo>
                    <a:pt x="705395" y="252001"/>
                  </a:lnTo>
                  <a:lnTo>
                    <a:pt x="725095" y="248024"/>
                  </a:lnTo>
                  <a:lnTo>
                    <a:pt x="741182" y="237178"/>
                  </a:lnTo>
                  <a:lnTo>
                    <a:pt x="752028" y="221091"/>
                  </a:lnTo>
                  <a:lnTo>
                    <a:pt x="756005" y="201391"/>
                  </a:lnTo>
                  <a:lnTo>
                    <a:pt x="756005" y="50610"/>
                  </a:lnTo>
                  <a:lnTo>
                    <a:pt x="752028" y="30910"/>
                  </a:lnTo>
                  <a:lnTo>
                    <a:pt x="741182" y="14823"/>
                  </a:lnTo>
                  <a:lnTo>
                    <a:pt x="725095" y="3977"/>
                  </a:lnTo>
                  <a:lnTo>
                    <a:pt x="705395" y="0"/>
                  </a:lnTo>
                  <a:close/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45013" y="1780268"/>
              <a:ext cx="756285" cy="252095"/>
            </a:xfrm>
            <a:custGeom>
              <a:avLst/>
              <a:gdLst/>
              <a:ahLst/>
              <a:cxnLst/>
              <a:rect l="l" t="t" r="r" b="b"/>
              <a:pathLst>
                <a:path w="756285" h="252094">
                  <a:moveTo>
                    <a:pt x="70539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01390"/>
                  </a:lnTo>
                  <a:lnTo>
                    <a:pt x="3977" y="221090"/>
                  </a:lnTo>
                  <a:lnTo>
                    <a:pt x="14823" y="237178"/>
                  </a:lnTo>
                  <a:lnTo>
                    <a:pt x="30910" y="248024"/>
                  </a:lnTo>
                  <a:lnTo>
                    <a:pt x="50610" y="252001"/>
                  </a:lnTo>
                  <a:lnTo>
                    <a:pt x="705395" y="252001"/>
                  </a:lnTo>
                  <a:lnTo>
                    <a:pt x="725095" y="248024"/>
                  </a:lnTo>
                  <a:lnTo>
                    <a:pt x="741182" y="237178"/>
                  </a:lnTo>
                  <a:lnTo>
                    <a:pt x="752028" y="221090"/>
                  </a:lnTo>
                  <a:lnTo>
                    <a:pt x="756005" y="201390"/>
                  </a:lnTo>
                  <a:lnTo>
                    <a:pt x="756005" y="50610"/>
                  </a:lnTo>
                  <a:lnTo>
                    <a:pt x="752028" y="30910"/>
                  </a:lnTo>
                  <a:lnTo>
                    <a:pt x="741182" y="14823"/>
                  </a:lnTo>
                  <a:lnTo>
                    <a:pt x="725095" y="3977"/>
                  </a:lnTo>
                  <a:lnTo>
                    <a:pt x="705395" y="0"/>
                  </a:lnTo>
                  <a:close/>
                </a:path>
              </a:pathLst>
            </a:custGeom>
            <a:solidFill>
              <a:srgbClr val="D1DA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45013" y="1780268"/>
              <a:ext cx="756285" cy="252095"/>
            </a:xfrm>
            <a:custGeom>
              <a:avLst/>
              <a:gdLst/>
              <a:ahLst/>
              <a:cxnLst/>
              <a:rect l="l" t="t" r="r" b="b"/>
              <a:pathLst>
                <a:path w="756285" h="252094">
                  <a:moveTo>
                    <a:pt x="70539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01390"/>
                  </a:lnTo>
                  <a:lnTo>
                    <a:pt x="3977" y="221090"/>
                  </a:lnTo>
                  <a:lnTo>
                    <a:pt x="14823" y="237178"/>
                  </a:lnTo>
                  <a:lnTo>
                    <a:pt x="30910" y="248024"/>
                  </a:lnTo>
                  <a:lnTo>
                    <a:pt x="50610" y="252001"/>
                  </a:lnTo>
                  <a:lnTo>
                    <a:pt x="705395" y="252001"/>
                  </a:lnTo>
                  <a:lnTo>
                    <a:pt x="725095" y="248024"/>
                  </a:lnTo>
                  <a:lnTo>
                    <a:pt x="741182" y="237178"/>
                  </a:lnTo>
                  <a:lnTo>
                    <a:pt x="752028" y="221090"/>
                  </a:lnTo>
                  <a:lnTo>
                    <a:pt x="756005" y="201390"/>
                  </a:lnTo>
                  <a:lnTo>
                    <a:pt x="756005" y="50610"/>
                  </a:lnTo>
                  <a:lnTo>
                    <a:pt x="752028" y="30910"/>
                  </a:lnTo>
                  <a:lnTo>
                    <a:pt x="741182" y="14823"/>
                  </a:lnTo>
                  <a:lnTo>
                    <a:pt x="725095" y="3977"/>
                  </a:lnTo>
                  <a:lnTo>
                    <a:pt x="705395" y="0"/>
                  </a:lnTo>
                  <a:close/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23016" y="1278024"/>
              <a:ext cx="0" cy="491490"/>
            </a:xfrm>
            <a:custGeom>
              <a:avLst/>
              <a:gdLst/>
              <a:ahLst/>
              <a:cxnLst/>
              <a:rect l="l" t="t" r="r" b="b"/>
              <a:pathLst>
                <a:path h="491489">
                  <a:moveTo>
                    <a:pt x="0" y="0"/>
                  </a:moveTo>
                  <a:lnTo>
                    <a:pt x="0" y="491487"/>
                  </a:lnTo>
                </a:path>
              </a:pathLst>
            </a:custGeom>
            <a:ln w="10122">
              <a:solidFill>
                <a:srgbClr val="194A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96699" y="1749774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4" h="24764">
                  <a:moveTo>
                    <a:pt x="52633" y="0"/>
                  </a:moveTo>
                  <a:lnTo>
                    <a:pt x="44589" y="3855"/>
                  </a:lnTo>
                  <a:lnTo>
                    <a:pt x="36391" y="11102"/>
                  </a:lnTo>
                  <a:lnTo>
                    <a:pt x="29734" y="18966"/>
                  </a:lnTo>
                  <a:lnTo>
                    <a:pt x="26316" y="24671"/>
                  </a:lnTo>
                  <a:lnTo>
                    <a:pt x="22898" y="18966"/>
                  </a:lnTo>
                  <a:lnTo>
                    <a:pt x="16242" y="11102"/>
                  </a:lnTo>
                  <a:lnTo>
                    <a:pt x="8044" y="3855"/>
                  </a:lnTo>
                  <a:lnTo>
                    <a:pt x="0" y="0"/>
                  </a:lnTo>
                </a:path>
              </a:pathLst>
            </a:custGeom>
            <a:ln w="8097">
              <a:solidFill>
                <a:srgbClr val="194A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346181" y="1463864"/>
            <a:ext cx="544195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dirty="0">
                <a:solidFill>
                  <a:srgbClr val="194A79"/>
                </a:solidFill>
                <a:latin typeface="Arial"/>
                <a:cs typeface="Arial"/>
              </a:rPr>
              <a:t>Writing</a:t>
            </a:r>
            <a:r>
              <a:rPr sz="550" spc="25" dirty="0">
                <a:solidFill>
                  <a:srgbClr val="194A79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194A79"/>
                </a:solidFill>
                <a:latin typeface="Arial"/>
                <a:cs typeface="Arial"/>
              </a:rPr>
              <a:t>invented</a:t>
            </a:r>
            <a:endParaRPr sz="5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29997" y="783893"/>
            <a:ext cx="586105" cy="434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dirty="0">
                <a:solidFill>
                  <a:srgbClr val="22373A"/>
                </a:solidFill>
                <a:latin typeface="Arial"/>
                <a:cs typeface="Arial"/>
              </a:rPr>
              <a:t>Memory</a:t>
            </a:r>
            <a:r>
              <a:rPr sz="55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55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22373A"/>
                </a:solidFill>
                <a:latin typeface="Arial"/>
                <a:cs typeface="Arial"/>
              </a:rPr>
              <a:t>minds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550">
              <a:latin typeface="Arial"/>
              <a:cs typeface="Arial"/>
            </a:endParaRPr>
          </a:p>
          <a:p>
            <a:pPr marL="31115">
              <a:lnSpc>
                <a:spcPct val="100000"/>
              </a:lnSpc>
            </a:pPr>
            <a:r>
              <a:rPr sz="750" dirty="0">
                <a:solidFill>
                  <a:srgbClr val="22373A"/>
                </a:solidFill>
                <a:latin typeface="Arial"/>
                <a:cs typeface="Arial"/>
              </a:rPr>
              <a:t>Oral</a:t>
            </a:r>
            <a:r>
              <a:rPr sz="75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750" spc="-10" dirty="0">
                <a:solidFill>
                  <a:srgbClr val="22373A"/>
                </a:solidFill>
                <a:latin typeface="Arial"/>
                <a:cs typeface="Arial"/>
              </a:rPr>
              <a:t>Culture</a:t>
            </a:r>
            <a:endParaRPr sz="7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50678" y="1832490"/>
            <a:ext cx="1721485" cy="7156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41325">
              <a:lnSpc>
                <a:spcPct val="100000"/>
              </a:lnSpc>
              <a:spcBef>
                <a:spcPts val="110"/>
              </a:spcBef>
            </a:pPr>
            <a:r>
              <a:rPr sz="750" dirty="0">
                <a:solidFill>
                  <a:srgbClr val="22373A"/>
                </a:solidFill>
                <a:latin typeface="Arial"/>
                <a:cs typeface="Arial"/>
              </a:rPr>
              <a:t>Written</a:t>
            </a:r>
            <a:r>
              <a:rPr sz="75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750" spc="-10" dirty="0">
                <a:solidFill>
                  <a:srgbClr val="22373A"/>
                </a:solidFill>
                <a:latin typeface="Arial"/>
                <a:cs typeface="Arial"/>
              </a:rPr>
              <a:t>Culture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750">
              <a:latin typeface="Arial"/>
              <a:cs typeface="Arial"/>
            </a:endParaRPr>
          </a:p>
          <a:p>
            <a:pPr marL="467995">
              <a:lnSpc>
                <a:spcPct val="100000"/>
              </a:lnSpc>
            </a:pPr>
            <a:r>
              <a:rPr sz="550" dirty="0">
                <a:solidFill>
                  <a:srgbClr val="22373A"/>
                </a:solidFill>
                <a:latin typeface="Arial"/>
                <a:cs typeface="Arial"/>
              </a:rPr>
              <a:t>Memory</a:t>
            </a:r>
            <a:r>
              <a:rPr sz="55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55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22373A"/>
                </a:solidFill>
                <a:latin typeface="Arial"/>
                <a:cs typeface="Arial"/>
              </a:rPr>
              <a:t>tablets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Transition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oral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written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culture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6" name="object 16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3234937"/>
              <a:ext cx="1111885" cy="5080"/>
            </a:xfrm>
            <a:custGeom>
              <a:avLst/>
              <a:gdLst/>
              <a:ahLst/>
              <a:cxnLst/>
              <a:rect l="l" t="t" r="r" b="b"/>
              <a:pathLst>
                <a:path w="1111885" h="5080">
                  <a:moveTo>
                    <a:pt x="0" y="5060"/>
                  </a:moveTo>
                  <a:lnTo>
                    <a:pt x="0" y="0"/>
                  </a:lnTo>
                  <a:lnTo>
                    <a:pt x="1111566" y="0"/>
                  </a:lnTo>
                  <a:lnTo>
                    <a:pt x="111156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74559"/>
            <a:ext cx="319405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Cuneiform:</a:t>
            </a:r>
            <a:r>
              <a:rPr spc="-35" dirty="0"/>
              <a:t> </a:t>
            </a:r>
            <a:r>
              <a:rPr spc="-140" dirty="0"/>
              <a:t>The</a:t>
            </a:r>
            <a:r>
              <a:rPr spc="-85" dirty="0"/>
              <a:t> </a:t>
            </a:r>
            <a:r>
              <a:rPr spc="-90" dirty="0"/>
              <a:t>World’s</a:t>
            </a:r>
            <a:r>
              <a:rPr spc="-85" dirty="0"/>
              <a:t> </a:t>
            </a:r>
            <a:r>
              <a:rPr spc="-100" dirty="0"/>
              <a:t>First</a:t>
            </a:r>
            <a:r>
              <a:rPr spc="-85" dirty="0"/>
              <a:t> Writing </a:t>
            </a:r>
            <a:r>
              <a:rPr spc="-90" dirty="0"/>
              <a:t>System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90398" y="510412"/>
          <a:ext cx="2596515" cy="1795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0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4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Key</a:t>
                      </a:r>
                      <a:r>
                        <a:rPr sz="1100" spc="-9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Facts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19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8139">
                <a:tc>
                  <a:txBody>
                    <a:bodyPr/>
                    <a:lstStyle/>
                    <a:p>
                      <a:pPr marL="121920" marR="518159" indent="-121920" algn="r">
                        <a:lnSpc>
                          <a:spcPts val="1255"/>
                        </a:lnSpc>
                        <a:spcBef>
                          <a:spcPts val="395"/>
                        </a:spcBef>
                        <a:buChar char="•"/>
                        <a:tabLst>
                          <a:tab pos="121920" algn="l"/>
                        </a:tabLst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Developed</a:t>
                      </a:r>
                      <a:r>
                        <a:rPr sz="1100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Mesopotamia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R="532130" algn="r">
                        <a:lnSpc>
                          <a:spcPts val="1255"/>
                        </a:lnSpc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(modern</a:t>
                      </a:r>
                      <a:r>
                        <a:rPr sz="1100" spc="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Iraq),</a:t>
                      </a:r>
                      <a:r>
                        <a:rPr sz="1100" spc="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c.</a:t>
                      </a:r>
                      <a:r>
                        <a:rPr sz="1100" spc="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3200</a:t>
                      </a:r>
                      <a:r>
                        <a:rPr sz="1100" spc="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BCE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marR="407670" indent="-121920">
                        <a:lnSpc>
                          <a:spcPts val="1190"/>
                        </a:lnSpc>
                        <a:spcBef>
                          <a:spcPts val="320"/>
                        </a:spcBef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Originally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used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for 	</a:t>
                      </a: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bookkeeping</a:t>
                      </a:r>
                      <a:r>
                        <a:rPr sz="1100" spc="-114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tracking</a:t>
                      </a:r>
                      <a:r>
                        <a:rPr sz="1100" spc="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grain, 	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cattle,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trade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ts val="1255"/>
                        </a:lnSpc>
                        <a:spcBef>
                          <a:spcPts val="155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Impressed</a:t>
                      </a:r>
                      <a:r>
                        <a:rPr sz="11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into</a:t>
                      </a:r>
                      <a:r>
                        <a:rPr sz="11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2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wet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clay</a:t>
                      </a:r>
                      <a:r>
                        <a:rPr sz="1100" spc="-4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tablets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6860">
                        <a:lnSpc>
                          <a:spcPts val="1255"/>
                        </a:lnSpc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using</a:t>
                      </a:r>
                      <a:r>
                        <a:rPr sz="1100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a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reed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stylus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marR="169545" indent="-121920">
                        <a:lnSpc>
                          <a:spcPts val="1190"/>
                        </a:lnSpc>
                        <a:spcBef>
                          <a:spcPts val="320"/>
                        </a:spcBef>
                        <a:buChar char="•"/>
                        <a:tabLst>
                          <a:tab pos="27686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Later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adapted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laws,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literature, 	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-7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religion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0398" y="2438717"/>
          <a:ext cx="2596515" cy="6521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0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Legacy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2D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930">
                <a:tc>
                  <a:txBody>
                    <a:bodyPr/>
                    <a:lstStyle/>
                    <a:p>
                      <a:pPr marL="45720" marR="40005">
                        <a:lnSpc>
                          <a:spcPts val="1050"/>
                        </a:lnSpc>
                        <a:spcBef>
                          <a:spcPts val="270"/>
                        </a:spcBef>
                      </a:pPr>
                      <a:r>
                        <a:rPr sz="10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oldest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surviving</a:t>
                      </a:r>
                      <a:r>
                        <a:rPr sz="1000" spc="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literary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work—</a:t>
                      </a:r>
                      <a:r>
                        <a:rPr sz="10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Epic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Gilgamesh</a:t>
                      </a:r>
                      <a:r>
                        <a:rPr sz="1000" spc="-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was</a:t>
                      </a:r>
                      <a:r>
                        <a:rPr sz="10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recorded on</a:t>
                      </a:r>
                      <a:r>
                        <a:rPr sz="10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cuneiform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tablets</a:t>
                      </a:r>
                      <a:r>
                        <a:rPr sz="1000" spc="9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around</a:t>
                      </a:r>
                      <a:r>
                        <a:rPr sz="1000" spc="9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2100</a:t>
                      </a:r>
                      <a:r>
                        <a:rPr sz="1000" spc="9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BCE.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solidFill>
                      <a:srgbClr val="F4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0383" y="657103"/>
            <a:ext cx="1109623" cy="184456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088093" y="2582099"/>
            <a:ext cx="2205355" cy="35877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>
              <a:lnSpc>
                <a:spcPts val="830"/>
              </a:lnSpc>
              <a:spcBef>
                <a:spcPts val="229"/>
              </a:spcBef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Cuneiform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tablet,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c.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2041–2040</a:t>
            </a:r>
            <a:r>
              <a:rPr sz="8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50" dirty="0">
                <a:solidFill>
                  <a:srgbClr val="22373A"/>
                </a:solidFill>
                <a:latin typeface="Arial"/>
                <a:cs typeface="Arial"/>
              </a:rPr>
              <a:t>BCE.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Kirkor Minassian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 collection,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Library of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Congress.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Public domain.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37"/>
              <a:ext cx="1212850" cy="5080"/>
            </a:xfrm>
            <a:custGeom>
              <a:avLst/>
              <a:gdLst/>
              <a:ahLst/>
              <a:cxnLst/>
              <a:rect l="l" t="t" r="r" b="b"/>
              <a:pathLst>
                <a:path w="1212850" h="5080">
                  <a:moveTo>
                    <a:pt x="0" y="5060"/>
                  </a:moveTo>
                  <a:lnTo>
                    <a:pt x="0" y="0"/>
                  </a:lnTo>
                  <a:lnTo>
                    <a:pt x="1212642" y="0"/>
                  </a:lnTo>
                  <a:lnTo>
                    <a:pt x="121264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74559"/>
            <a:ext cx="221043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0" dirty="0"/>
              <a:t>Who </a:t>
            </a:r>
            <a:r>
              <a:rPr spc="-110" dirty="0"/>
              <a:t>Were</a:t>
            </a:r>
            <a:r>
              <a:rPr spc="-90" dirty="0"/>
              <a:t> </a:t>
            </a:r>
            <a:r>
              <a:rPr spc="-130" dirty="0"/>
              <a:t>Socrates</a:t>
            </a:r>
            <a:r>
              <a:rPr spc="-90" dirty="0"/>
              <a:t> </a:t>
            </a:r>
            <a:r>
              <a:rPr spc="-105" dirty="0"/>
              <a:t>and</a:t>
            </a:r>
            <a:r>
              <a:rPr spc="-90" dirty="0"/>
              <a:t> </a:t>
            </a:r>
            <a:r>
              <a:rPr spc="-85" dirty="0"/>
              <a:t>Plato?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07213" y="510412"/>
          <a:ext cx="2495550" cy="20123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2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Socrates</a:t>
                      </a:r>
                      <a:r>
                        <a:rPr sz="1100" spc="-7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(c.</a:t>
                      </a:r>
                      <a:r>
                        <a:rPr sz="1100" spc="-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7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470–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399</a:t>
                      </a:r>
                      <a:r>
                        <a:rPr sz="1100" spc="-7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BCE)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19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6100">
                <a:tc>
                  <a:txBody>
                    <a:bodyPr/>
                    <a:lstStyle/>
                    <a:p>
                      <a:pPr marL="274320" indent="-121920">
                        <a:lnSpc>
                          <a:spcPts val="1255"/>
                        </a:lnSpc>
                        <a:spcBef>
                          <a:spcPts val="380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Athenian</a:t>
                      </a:r>
                      <a:r>
                        <a:rPr sz="11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philosopher;</a:t>
                      </a:r>
                      <a:r>
                        <a:rPr sz="11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wrote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6860">
                        <a:lnSpc>
                          <a:spcPts val="1255"/>
                        </a:lnSpc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nothing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4320" marR="335280" indent="-121920">
                        <a:lnSpc>
                          <a:spcPts val="1190"/>
                        </a:lnSpc>
                        <a:spcBef>
                          <a:spcPts val="320"/>
                        </a:spcBef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Taught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through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dialogue</a:t>
                      </a:r>
                      <a:r>
                        <a:rPr sz="1100" spc="-5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 	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questioning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marR="66040" indent="-121920">
                        <a:lnSpc>
                          <a:spcPts val="1190"/>
                        </a:lnSpc>
                        <a:spcBef>
                          <a:spcPts val="305"/>
                        </a:spcBef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“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Socratic</a:t>
                      </a:r>
                      <a:r>
                        <a:rPr sz="1100" spc="-6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7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method</a:t>
                      </a:r>
                      <a:r>
                        <a:rPr sz="1100" spc="-7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”:</a:t>
                      </a:r>
                      <a:r>
                        <a:rPr sz="1100" spc="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Learn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by 	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examining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own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beliefs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marR="380365" indent="-121920">
                        <a:lnSpc>
                          <a:spcPts val="1190"/>
                        </a:lnSpc>
                        <a:spcBef>
                          <a:spcPts val="305"/>
                        </a:spcBef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Executed</a:t>
                      </a:r>
                      <a:r>
                        <a:rPr sz="1100" spc="5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sz="1100" spc="5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“corrupting</a:t>
                      </a:r>
                      <a:r>
                        <a:rPr sz="1100" spc="5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 	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youth”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marR="19685" indent="-121920">
                        <a:lnSpc>
                          <a:spcPts val="1190"/>
                        </a:lnSpc>
                        <a:spcBef>
                          <a:spcPts val="300"/>
                        </a:spcBef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6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We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know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him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only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through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others’ 	writings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033610" y="661835"/>
          <a:ext cx="2495550" cy="1709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0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Plato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(c.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7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428–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348</a:t>
                      </a:r>
                      <a:r>
                        <a:rPr sz="1100" spc="-7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BCE)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2D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3205">
                <a:tc>
                  <a:txBody>
                    <a:bodyPr/>
                    <a:lstStyle/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380"/>
                        </a:spcBef>
                        <a:buClr>
                          <a:srgbClr val="13B03D"/>
                        </a:buClr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Socrates’s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most</a:t>
                      </a:r>
                      <a:r>
                        <a:rPr sz="1100" spc="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famous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student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5"/>
                        </a:spcBef>
                        <a:buClr>
                          <a:srgbClr val="13B03D"/>
                        </a:buClr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Founded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2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Academy</a:t>
                      </a:r>
                      <a:r>
                        <a:rPr sz="1100" spc="-7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Athens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marR="506730" indent="-121920">
                        <a:lnSpc>
                          <a:spcPts val="1190"/>
                        </a:lnSpc>
                        <a:spcBef>
                          <a:spcPts val="315"/>
                        </a:spcBef>
                        <a:buClr>
                          <a:srgbClr val="13B03D"/>
                        </a:buClr>
                        <a:buChar char="•"/>
                        <a:tabLst>
                          <a:tab pos="27686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Wrote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dialogues</a:t>
                      </a:r>
                      <a:r>
                        <a:rPr sz="1100" spc="-7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featuring 	Socrates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marR="196850" indent="-121920">
                        <a:lnSpc>
                          <a:spcPts val="1190"/>
                        </a:lnSpc>
                        <a:spcBef>
                          <a:spcPts val="305"/>
                        </a:spcBef>
                        <a:buClr>
                          <a:srgbClr val="13B03D"/>
                        </a:buClr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Key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works:</a:t>
                      </a:r>
                      <a:r>
                        <a:rPr sz="1100" spc="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Republic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Phaedrus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, 	</a:t>
                      </a:r>
                      <a:r>
                        <a:rPr sz="11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Apology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marR="318770" indent="-121920">
                        <a:lnSpc>
                          <a:spcPts val="1190"/>
                        </a:lnSpc>
                        <a:spcBef>
                          <a:spcPts val="305"/>
                        </a:spcBef>
                        <a:buClr>
                          <a:srgbClr val="13B03D"/>
                        </a:buClr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Preserved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Socrates’s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ideas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 	</a:t>
                      </a:r>
                      <a:r>
                        <a:rPr sz="11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writing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solidFill>
                      <a:srgbClr val="F4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59994" y="2670543"/>
            <a:ext cx="5039995" cy="196850"/>
          </a:xfrm>
          <a:prstGeom prst="rect">
            <a:avLst/>
          </a:prstGeom>
          <a:solidFill>
            <a:srgbClr val="BF392B"/>
          </a:solidFill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295"/>
              </a:lnSpc>
            </a:pPr>
            <a:r>
              <a:rPr sz="1100" spc="-135" dirty="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sz="1100" spc="-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105" dirty="0">
                <a:solidFill>
                  <a:srgbClr val="FFFFFF"/>
                </a:solidFill>
                <a:latin typeface="Arial Black"/>
                <a:cs typeface="Arial Black"/>
              </a:rPr>
              <a:t>Central</a:t>
            </a:r>
            <a:r>
              <a:rPr sz="1100" spc="-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Arial Black"/>
                <a:cs typeface="Arial Black"/>
              </a:rPr>
              <a:t>Irony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9994" y="2867266"/>
            <a:ext cx="5039995" cy="372745"/>
          </a:xfrm>
          <a:prstGeom prst="rect">
            <a:avLst/>
          </a:prstGeom>
          <a:solidFill>
            <a:srgbClr val="F9EFEE"/>
          </a:solidFill>
        </p:spPr>
        <p:txBody>
          <a:bodyPr vert="horz" wrap="square" lIns="0" tIns="31114" rIns="0" bIns="0" rtlCol="0">
            <a:spAutoFit/>
          </a:bodyPr>
          <a:lstStyle/>
          <a:p>
            <a:pPr marL="45720" marR="377190">
              <a:lnSpc>
                <a:spcPts val="1190"/>
              </a:lnSpc>
              <a:spcBef>
                <a:spcPts val="244"/>
              </a:spcBef>
            </a:pP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Socrates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distrusted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writing—but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only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know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30" dirty="0">
                <a:solidFill>
                  <a:srgbClr val="22373A"/>
                </a:solidFill>
                <a:latin typeface="Arial Black"/>
                <a:cs typeface="Arial Black"/>
              </a:rPr>
              <a:t>because</a:t>
            </a:r>
            <a:r>
              <a:rPr sz="1100" spc="-6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100" dirty="0">
                <a:solidFill>
                  <a:srgbClr val="22373A"/>
                </a:solidFill>
                <a:latin typeface="Arial Black"/>
                <a:cs typeface="Arial Black"/>
              </a:rPr>
              <a:t>Plato</a:t>
            </a:r>
            <a:r>
              <a:rPr sz="1100" spc="-7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110" dirty="0">
                <a:solidFill>
                  <a:srgbClr val="22373A"/>
                </a:solidFill>
                <a:latin typeface="Arial Black"/>
                <a:cs typeface="Arial Black"/>
              </a:rPr>
              <a:t>wrote</a:t>
            </a:r>
            <a:r>
              <a:rPr sz="1100" spc="-7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Arial Black"/>
                <a:cs typeface="Arial Black"/>
              </a:rPr>
              <a:t>it </a:t>
            </a:r>
            <a:r>
              <a:rPr sz="1100" spc="-95" dirty="0">
                <a:solidFill>
                  <a:srgbClr val="22373A"/>
                </a:solidFill>
                <a:latin typeface="Arial Black"/>
                <a:cs typeface="Arial Black"/>
              </a:rPr>
              <a:t>down</a:t>
            </a:r>
            <a:r>
              <a:rPr sz="1100" spc="-95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 Would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Socrates</a:t>
            </a:r>
            <a:r>
              <a:rPr sz="1100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1100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approved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1100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Plato’s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project?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08320" y="2963111"/>
            <a:ext cx="1473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13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9" name="object 9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37"/>
              <a:ext cx="1313815" cy="5080"/>
            </a:xfrm>
            <a:custGeom>
              <a:avLst/>
              <a:gdLst/>
              <a:ahLst/>
              <a:cxnLst/>
              <a:rect l="l" t="t" r="r" b="b"/>
              <a:pathLst>
                <a:path w="1313815" h="5080">
                  <a:moveTo>
                    <a:pt x="0" y="5060"/>
                  </a:moveTo>
                  <a:lnTo>
                    <a:pt x="0" y="0"/>
                  </a:lnTo>
                  <a:lnTo>
                    <a:pt x="1313717" y="0"/>
                  </a:lnTo>
                  <a:lnTo>
                    <a:pt x="131371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0" dirty="0"/>
              <a:t>Socrates</a:t>
            </a:r>
            <a:r>
              <a:rPr spc="-80" dirty="0"/>
              <a:t> </a:t>
            </a:r>
            <a:r>
              <a:rPr spc="-105" dirty="0"/>
              <a:t>and</a:t>
            </a:r>
            <a:r>
              <a:rPr spc="-75" dirty="0"/>
              <a:t> </a:t>
            </a:r>
            <a:r>
              <a:rPr spc="-110" dirty="0"/>
              <a:t>Plato’s</a:t>
            </a:r>
            <a:r>
              <a:rPr spc="-75" dirty="0"/>
              <a:t> </a:t>
            </a:r>
            <a:r>
              <a:rPr spc="-100" dirty="0"/>
              <a:t>Worries</a:t>
            </a:r>
            <a:r>
              <a:rPr spc="-75" dirty="0"/>
              <a:t> </a:t>
            </a:r>
            <a:r>
              <a:rPr spc="-110" dirty="0"/>
              <a:t>About</a:t>
            </a:r>
            <a:r>
              <a:rPr spc="-75" dirty="0"/>
              <a:t> </a:t>
            </a:r>
            <a:r>
              <a:rPr spc="-60" dirty="0"/>
              <a:t>Writing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73583" y="510412"/>
          <a:ext cx="3100705" cy="1179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23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3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The</a:t>
                      </a:r>
                      <a:r>
                        <a:rPr sz="1100" spc="-9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Irony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19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marL="45720" marR="105410">
                        <a:lnSpc>
                          <a:spcPts val="1190"/>
                        </a:lnSpc>
                        <a:spcBef>
                          <a:spcPts val="229"/>
                        </a:spcBef>
                      </a:pPr>
                      <a:r>
                        <a:rPr sz="1100" spc="-12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Socrates</a:t>
                      </a:r>
                      <a:r>
                        <a:rPr sz="1100" spc="-5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never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wrote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anything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5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down—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yet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we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know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his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views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through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Plato’s</a:t>
                      </a:r>
                      <a:r>
                        <a:rPr sz="1100" spc="-7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written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dialogues.</a:t>
                      </a:r>
                      <a:r>
                        <a:rPr sz="1100" spc="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myth itself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almost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certainly </a:t>
                      </a: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Plato’s</a:t>
                      </a:r>
                      <a:r>
                        <a:rPr sz="1100" spc="-7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2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own</a:t>
                      </a:r>
                      <a:r>
                        <a:rPr sz="1100" spc="-7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invention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not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Egyptian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tradition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he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inherited:</a:t>
                      </a:r>
                      <a:r>
                        <a:rPr sz="1100" spc="7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he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wrote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story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against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writing,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it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survives because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he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wrote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it.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73583" y="1834692"/>
            <a:ext cx="3024505" cy="196850"/>
          </a:xfrm>
          <a:custGeom>
            <a:avLst/>
            <a:gdLst/>
            <a:ahLst/>
            <a:cxnLst/>
            <a:rect l="l" t="t" r="r" b="b"/>
            <a:pathLst>
              <a:path w="3024504" h="196850">
                <a:moveTo>
                  <a:pt x="3024035" y="0"/>
                </a:moveTo>
                <a:lnTo>
                  <a:pt x="0" y="0"/>
                </a:lnTo>
                <a:lnTo>
                  <a:pt x="0" y="196723"/>
                </a:lnTo>
                <a:lnTo>
                  <a:pt x="3024035" y="196723"/>
                </a:lnTo>
                <a:lnTo>
                  <a:pt x="3024035" y="0"/>
                </a:lnTo>
                <a:close/>
              </a:path>
            </a:pathLst>
          </a:custGeom>
          <a:solidFill>
            <a:srgbClr val="2D7D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07060" y="1820010"/>
            <a:ext cx="19335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5" dirty="0">
                <a:solidFill>
                  <a:srgbClr val="FFFFFF"/>
                </a:solidFill>
                <a:latin typeface="Arial Black"/>
                <a:cs typeface="Arial Black"/>
              </a:rPr>
              <a:t>Plato’s</a:t>
            </a:r>
            <a:r>
              <a:rPr sz="11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b="1" i="1" spc="-35" dirty="0">
                <a:solidFill>
                  <a:srgbClr val="FFFFFF"/>
                </a:solidFill>
                <a:latin typeface="Arial"/>
                <a:cs typeface="Arial"/>
              </a:rPr>
              <a:t>Phaedrus</a:t>
            </a:r>
            <a:r>
              <a:rPr sz="1100" b="1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95" dirty="0">
                <a:solidFill>
                  <a:srgbClr val="FFFFFF"/>
                </a:solidFill>
                <a:latin typeface="Arial Black"/>
                <a:cs typeface="Arial Black"/>
              </a:rPr>
              <a:t>(c.</a:t>
            </a:r>
            <a:r>
              <a:rPr sz="1100" spc="-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95" dirty="0">
                <a:solidFill>
                  <a:srgbClr val="FFFFFF"/>
                </a:solidFill>
                <a:latin typeface="Arial Black"/>
                <a:cs typeface="Arial Black"/>
              </a:rPr>
              <a:t>370</a:t>
            </a:r>
            <a:r>
              <a:rPr sz="11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85" dirty="0">
                <a:solidFill>
                  <a:srgbClr val="FFFFFF"/>
                </a:solidFill>
                <a:latin typeface="Arial Black"/>
                <a:cs typeface="Arial Black"/>
              </a:rPr>
              <a:t>BCE)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3583" y="2031415"/>
            <a:ext cx="3024505" cy="1209040"/>
          </a:xfrm>
          <a:custGeom>
            <a:avLst/>
            <a:gdLst/>
            <a:ahLst/>
            <a:cxnLst/>
            <a:rect l="l" t="t" r="r" b="b"/>
            <a:pathLst>
              <a:path w="3024504" h="1209039">
                <a:moveTo>
                  <a:pt x="3024035" y="0"/>
                </a:moveTo>
                <a:lnTo>
                  <a:pt x="0" y="0"/>
                </a:lnTo>
                <a:lnTo>
                  <a:pt x="0" y="1208582"/>
                </a:lnTo>
                <a:lnTo>
                  <a:pt x="3024035" y="1208582"/>
                </a:lnTo>
                <a:lnTo>
                  <a:pt x="3024035" y="0"/>
                </a:lnTo>
                <a:close/>
              </a:path>
            </a:pathLst>
          </a:custGeom>
          <a:solidFill>
            <a:srgbClr val="F4F8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7060" y="2030601"/>
            <a:ext cx="2988310" cy="113220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92455">
              <a:lnSpc>
                <a:spcPts val="1190"/>
              </a:lnSpc>
              <a:spcBef>
                <a:spcPts val="235"/>
              </a:spcBef>
            </a:pP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Socrates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tells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10" dirty="0">
                <a:solidFill>
                  <a:srgbClr val="22373A"/>
                </a:solidFill>
                <a:latin typeface="Arial Black"/>
                <a:cs typeface="Arial Black"/>
              </a:rPr>
              <a:t>myth</a:t>
            </a:r>
            <a:r>
              <a:rPr sz="1100" spc="-6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90" dirty="0">
                <a:solidFill>
                  <a:srgbClr val="22373A"/>
                </a:solidFill>
                <a:latin typeface="Arial Black"/>
                <a:cs typeface="Arial Black"/>
              </a:rPr>
              <a:t>of</a:t>
            </a:r>
            <a:r>
              <a:rPr sz="1100" spc="-6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114" dirty="0">
                <a:solidFill>
                  <a:srgbClr val="22373A"/>
                </a:solidFill>
                <a:latin typeface="Arial Black"/>
                <a:cs typeface="Arial Black"/>
              </a:rPr>
              <a:t>Theuth</a:t>
            </a:r>
            <a:r>
              <a:rPr sz="1100" spc="-65" dirty="0">
                <a:solidFill>
                  <a:srgbClr val="22373A"/>
                </a:solidFill>
                <a:latin typeface="Arial Black"/>
                <a:cs typeface="Arial Black"/>
              </a:rPr>
              <a:t> and </a:t>
            </a:r>
            <a:r>
              <a:rPr sz="1100" spc="-10" dirty="0">
                <a:solidFill>
                  <a:srgbClr val="22373A"/>
                </a:solidFill>
                <a:latin typeface="Arial Black"/>
                <a:cs typeface="Arial Black"/>
              </a:rPr>
              <a:t>Thamus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241300" indent="-121920">
              <a:lnSpc>
                <a:spcPct val="100000"/>
              </a:lnSpc>
              <a:spcBef>
                <a:spcPts val="705"/>
              </a:spcBef>
              <a:buClr>
                <a:srgbClr val="13B03D"/>
              </a:buClr>
              <a:buFont typeface="Arial"/>
              <a:buChar char="•"/>
              <a:tabLst>
                <a:tab pos="241300" algn="l"/>
              </a:tabLst>
            </a:pPr>
            <a:r>
              <a:rPr sz="1100" spc="-95" dirty="0">
                <a:solidFill>
                  <a:srgbClr val="22373A"/>
                </a:solidFill>
                <a:latin typeface="Arial Black"/>
                <a:cs typeface="Arial Black"/>
              </a:rPr>
              <a:t>Theuth</a:t>
            </a:r>
            <a:r>
              <a:rPr sz="1100" spc="-9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1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Egyptian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god</a:t>
            </a:r>
            <a:r>
              <a:rPr sz="11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who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invents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writing</a:t>
            </a:r>
            <a:endParaRPr sz="1100">
              <a:latin typeface="Arial"/>
              <a:cs typeface="Arial"/>
            </a:endParaRPr>
          </a:p>
          <a:p>
            <a:pPr marL="241300" indent="-121920">
              <a:lnSpc>
                <a:spcPct val="100000"/>
              </a:lnSpc>
              <a:spcBef>
                <a:spcPts val="170"/>
              </a:spcBef>
              <a:buClr>
                <a:srgbClr val="13B03D"/>
              </a:buClr>
              <a:buFont typeface="Arial"/>
              <a:buChar char="•"/>
              <a:tabLst>
                <a:tab pos="241300" algn="l"/>
              </a:tabLst>
            </a:pPr>
            <a:r>
              <a:rPr sz="1100" spc="-110" dirty="0">
                <a:solidFill>
                  <a:srgbClr val="22373A"/>
                </a:solidFill>
                <a:latin typeface="Arial Black"/>
                <a:cs typeface="Arial Black"/>
              </a:rPr>
              <a:t>Thamus</a:t>
            </a:r>
            <a:r>
              <a:rPr sz="1100" spc="-1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1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King</a:t>
            </a:r>
            <a:r>
              <a:rPr sz="11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who must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judge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 the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invention</a:t>
            </a:r>
            <a:endParaRPr sz="1100">
              <a:latin typeface="Arial"/>
              <a:cs typeface="Arial"/>
            </a:endParaRPr>
          </a:p>
          <a:p>
            <a:pPr marL="240665" marR="315595" indent="-121920">
              <a:lnSpc>
                <a:spcPts val="1190"/>
              </a:lnSpc>
              <a:spcBef>
                <a:spcPts val="320"/>
              </a:spcBef>
              <a:buClr>
                <a:srgbClr val="13B03D"/>
              </a:buClr>
              <a:buChar char="•"/>
              <a:tabLst>
                <a:tab pos="243204" algn="l"/>
              </a:tabLst>
            </a:pP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Theuth</a:t>
            </a:r>
            <a:r>
              <a:rPr sz="11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claims</a:t>
            </a:r>
            <a:r>
              <a:rPr sz="11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writing</a:t>
            </a:r>
            <a:r>
              <a:rPr sz="11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11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make</a:t>
            </a:r>
            <a:r>
              <a:rPr sz="11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people 	</a:t>
            </a:r>
            <a:r>
              <a:rPr sz="1100" spc="45" dirty="0">
                <a:solidFill>
                  <a:srgbClr val="22373A"/>
                </a:solidFill>
                <a:latin typeface="Arial"/>
                <a:cs typeface="Arial"/>
              </a:rPr>
              <a:t>“wiser”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966236" y="1087693"/>
            <a:ext cx="491490" cy="1463675"/>
            <a:chOff x="3966236" y="1087693"/>
            <a:chExt cx="491490" cy="1463675"/>
          </a:xfrm>
        </p:grpSpPr>
        <p:sp>
          <p:nvSpPr>
            <p:cNvPr id="9" name="object 9"/>
            <p:cNvSpPr/>
            <p:nvPr/>
          </p:nvSpPr>
          <p:spPr>
            <a:xfrm>
              <a:off x="3968776" y="1090233"/>
              <a:ext cx="486409" cy="486409"/>
            </a:xfrm>
            <a:custGeom>
              <a:avLst/>
              <a:gdLst/>
              <a:ahLst/>
              <a:cxnLst/>
              <a:rect l="l" t="t" r="r" b="b"/>
              <a:pathLst>
                <a:path w="486410" h="486409">
                  <a:moveTo>
                    <a:pt x="243001" y="0"/>
                  </a:moveTo>
                  <a:lnTo>
                    <a:pt x="194027" y="4936"/>
                  </a:lnTo>
                  <a:lnTo>
                    <a:pt x="148413" y="19096"/>
                  </a:lnTo>
                  <a:lnTo>
                    <a:pt x="107136" y="41500"/>
                  </a:lnTo>
                  <a:lnTo>
                    <a:pt x="71172" y="71172"/>
                  </a:lnTo>
                  <a:lnTo>
                    <a:pt x="41500" y="107136"/>
                  </a:lnTo>
                  <a:lnTo>
                    <a:pt x="19096" y="148413"/>
                  </a:lnTo>
                  <a:lnTo>
                    <a:pt x="4936" y="194027"/>
                  </a:lnTo>
                  <a:lnTo>
                    <a:pt x="0" y="243001"/>
                  </a:lnTo>
                  <a:lnTo>
                    <a:pt x="4936" y="291974"/>
                  </a:lnTo>
                  <a:lnTo>
                    <a:pt x="19096" y="337588"/>
                  </a:lnTo>
                  <a:lnTo>
                    <a:pt x="41500" y="378866"/>
                  </a:lnTo>
                  <a:lnTo>
                    <a:pt x="71172" y="414829"/>
                  </a:lnTo>
                  <a:lnTo>
                    <a:pt x="107136" y="444502"/>
                  </a:lnTo>
                  <a:lnTo>
                    <a:pt x="148413" y="466906"/>
                  </a:lnTo>
                  <a:lnTo>
                    <a:pt x="194027" y="481065"/>
                  </a:lnTo>
                  <a:lnTo>
                    <a:pt x="243001" y="486002"/>
                  </a:lnTo>
                  <a:lnTo>
                    <a:pt x="291974" y="481065"/>
                  </a:lnTo>
                  <a:lnTo>
                    <a:pt x="337588" y="466906"/>
                  </a:lnTo>
                  <a:lnTo>
                    <a:pt x="378865" y="444502"/>
                  </a:lnTo>
                  <a:lnTo>
                    <a:pt x="414829" y="414829"/>
                  </a:lnTo>
                  <a:lnTo>
                    <a:pt x="444501" y="378866"/>
                  </a:lnTo>
                  <a:lnTo>
                    <a:pt x="466906" y="337588"/>
                  </a:lnTo>
                  <a:lnTo>
                    <a:pt x="481065" y="291974"/>
                  </a:lnTo>
                  <a:lnTo>
                    <a:pt x="486002" y="243001"/>
                  </a:lnTo>
                  <a:lnTo>
                    <a:pt x="481065" y="194027"/>
                  </a:lnTo>
                  <a:lnTo>
                    <a:pt x="466906" y="148413"/>
                  </a:lnTo>
                  <a:lnTo>
                    <a:pt x="444501" y="107136"/>
                  </a:lnTo>
                  <a:lnTo>
                    <a:pt x="414829" y="71172"/>
                  </a:lnTo>
                  <a:lnTo>
                    <a:pt x="378865" y="41500"/>
                  </a:lnTo>
                  <a:lnTo>
                    <a:pt x="337588" y="19096"/>
                  </a:lnTo>
                  <a:lnTo>
                    <a:pt x="291974" y="4936"/>
                  </a:lnTo>
                  <a:lnTo>
                    <a:pt x="243001" y="0"/>
                  </a:lnTo>
                  <a:close/>
                </a:path>
              </a:pathLst>
            </a:custGeom>
            <a:solidFill>
              <a:srgbClr val="E9D6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68776" y="1090233"/>
              <a:ext cx="486409" cy="486409"/>
            </a:xfrm>
            <a:custGeom>
              <a:avLst/>
              <a:gdLst/>
              <a:ahLst/>
              <a:cxnLst/>
              <a:rect l="l" t="t" r="r" b="b"/>
              <a:pathLst>
                <a:path w="486410" h="486409">
                  <a:moveTo>
                    <a:pt x="486002" y="243001"/>
                  </a:moveTo>
                  <a:lnTo>
                    <a:pt x="481065" y="194027"/>
                  </a:lnTo>
                  <a:lnTo>
                    <a:pt x="466906" y="148413"/>
                  </a:lnTo>
                  <a:lnTo>
                    <a:pt x="444501" y="107136"/>
                  </a:lnTo>
                  <a:lnTo>
                    <a:pt x="414829" y="71172"/>
                  </a:lnTo>
                  <a:lnTo>
                    <a:pt x="378865" y="41500"/>
                  </a:lnTo>
                  <a:lnTo>
                    <a:pt x="337588" y="19096"/>
                  </a:lnTo>
                  <a:lnTo>
                    <a:pt x="291974" y="4936"/>
                  </a:lnTo>
                  <a:lnTo>
                    <a:pt x="243001" y="0"/>
                  </a:lnTo>
                  <a:lnTo>
                    <a:pt x="194027" y="4936"/>
                  </a:lnTo>
                  <a:lnTo>
                    <a:pt x="148413" y="19096"/>
                  </a:lnTo>
                  <a:lnTo>
                    <a:pt x="107136" y="41500"/>
                  </a:lnTo>
                  <a:lnTo>
                    <a:pt x="71172" y="71172"/>
                  </a:lnTo>
                  <a:lnTo>
                    <a:pt x="41500" y="107136"/>
                  </a:lnTo>
                  <a:lnTo>
                    <a:pt x="19096" y="148413"/>
                  </a:lnTo>
                  <a:lnTo>
                    <a:pt x="4936" y="194027"/>
                  </a:lnTo>
                  <a:lnTo>
                    <a:pt x="0" y="243001"/>
                  </a:lnTo>
                  <a:lnTo>
                    <a:pt x="4936" y="291974"/>
                  </a:lnTo>
                  <a:lnTo>
                    <a:pt x="19096" y="337588"/>
                  </a:lnTo>
                  <a:lnTo>
                    <a:pt x="41500" y="378866"/>
                  </a:lnTo>
                  <a:lnTo>
                    <a:pt x="71172" y="414829"/>
                  </a:lnTo>
                  <a:lnTo>
                    <a:pt x="107136" y="444502"/>
                  </a:lnTo>
                  <a:lnTo>
                    <a:pt x="148413" y="466906"/>
                  </a:lnTo>
                  <a:lnTo>
                    <a:pt x="194027" y="481065"/>
                  </a:lnTo>
                  <a:lnTo>
                    <a:pt x="243001" y="486002"/>
                  </a:lnTo>
                  <a:lnTo>
                    <a:pt x="291974" y="481065"/>
                  </a:lnTo>
                  <a:lnTo>
                    <a:pt x="337588" y="466906"/>
                  </a:lnTo>
                  <a:lnTo>
                    <a:pt x="378865" y="444502"/>
                  </a:lnTo>
                  <a:lnTo>
                    <a:pt x="414829" y="414829"/>
                  </a:lnTo>
                  <a:lnTo>
                    <a:pt x="444501" y="378866"/>
                  </a:lnTo>
                  <a:lnTo>
                    <a:pt x="466906" y="337588"/>
                  </a:lnTo>
                  <a:lnTo>
                    <a:pt x="481065" y="291974"/>
                  </a:lnTo>
                  <a:lnTo>
                    <a:pt x="486002" y="243001"/>
                  </a:lnTo>
                  <a:close/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68776" y="2062238"/>
              <a:ext cx="486409" cy="486409"/>
            </a:xfrm>
            <a:custGeom>
              <a:avLst/>
              <a:gdLst/>
              <a:ahLst/>
              <a:cxnLst/>
              <a:rect l="l" t="t" r="r" b="b"/>
              <a:pathLst>
                <a:path w="486410" h="486410">
                  <a:moveTo>
                    <a:pt x="243001" y="0"/>
                  </a:moveTo>
                  <a:lnTo>
                    <a:pt x="194027" y="4936"/>
                  </a:lnTo>
                  <a:lnTo>
                    <a:pt x="148413" y="19096"/>
                  </a:lnTo>
                  <a:lnTo>
                    <a:pt x="107136" y="41500"/>
                  </a:lnTo>
                  <a:lnTo>
                    <a:pt x="71172" y="71172"/>
                  </a:lnTo>
                  <a:lnTo>
                    <a:pt x="41500" y="107136"/>
                  </a:lnTo>
                  <a:lnTo>
                    <a:pt x="19096" y="148413"/>
                  </a:lnTo>
                  <a:lnTo>
                    <a:pt x="4936" y="194027"/>
                  </a:lnTo>
                  <a:lnTo>
                    <a:pt x="0" y="243001"/>
                  </a:lnTo>
                  <a:lnTo>
                    <a:pt x="4936" y="291974"/>
                  </a:lnTo>
                  <a:lnTo>
                    <a:pt x="19096" y="337588"/>
                  </a:lnTo>
                  <a:lnTo>
                    <a:pt x="41500" y="378866"/>
                  </a:lnTo>
                  <a:lnTo>
                    <a:pt x="71172" y="414829"/>
                  </a:lnTo>
                  <a:lnTo>
                    <a:pt x="107136" y="444502"/>
                  </a:lnTo>
                  <a:lnTo>
                    <a:pt x="148413" y="466906"/>
                  </a:lnTo>
                  <a:lnTo>
                    <a:pt x="194027" y="481065"/>
                  </a:lnTo>
                  <a:lnTo>
                    <a:pt x="243001" y="486002"/>
                  </a:lnTo>
                  <a:lnTo>
                    <a:pt x="291974" y="481065"/>
                  </a:lnTo>
                  <a:lnTo>
                    <a:pt x="337588" y="466906"/>
                  </a:lnTo>
                  <a:lnTo>
                    <a:pt x="378865" y="444502"/>
                  </a:lnTo>
                  <a:lnTo>
                    <a:pt x="414829" y="414829"/>
                  </a:lnTo>
                  <a:lnTo>
                    <a:pt x="444501" y="378866"/>
                  </a:lnTo>
                  <a:lnTo>
                    <a:pt x="466906" y="337588"/>
                  </a:lnTo>
                  <a:lnTo>
                    <a:pt x="481065" y="291974"/>
                  </a:lnTo>
                  <a:lnTo>
                    <a:pt x="486002" y="243001"/>
                  </a:lnTo>
                  <a:lnTo>
                    <a:pt x="481065" y="194027"/>
                  </a:lnTo>
                  <a:lnTo>
                    <a:pt x="466906" y="148413"/>
                  </a:lnTo>
                  <a:lnTo>
                    <a:pt x="444501" y="107136"/>
                  </a:lnTo>
                  <a:lnTo>
                    <a:pt x="414829" y="71172"/>
                  </a:lnTo>
                  <a:lnTo>
                    <a:pt x="378865" y="41500"/>
                  </a:lnTo>
                  <a:lnTo>
                    <a:pt x="337588" y="19096"/>
                  </a:lnTo>
                  <a:lnTo>
                    <a:pt x="291974" y="4936"/>
                  </a:lnTo>
                  <a:lnTo>
                    <a:pt x="243001" y="0"/>
                  </a:lnTo>
                  <a:close/>
                </a:path>
              </a:pathLst>
            </a:custGeom>
            <a:solidFill>
              <a:srgbClr val="BAC8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968776" y="2062238"/>
              <a:ext cx="486409" cy="486409"/>
            </a:xfrm>
            <a:custGeom>
              <a:avLst/>
              <a:gdLst/>
              <a:ahLst/>
              <a:cxnLst/>
              <a:rect l="l" t="t" r="r" b="b"/>
              <a:pathLst>
                <a:path w="486410" h="486410">
                  <a:moveTo>
                    <a:pt x="486002" y="243001"/>
                  </a:moveTo>
                  <a:lnTo>
                    <a:pt x="481065" y="194027"/>
                  </a:lnTo>
                  <a:lnTo>
                    <a:pt x="466906" y="148413"/>
                  </a:lnTo>
                  <a:lnTo>
                    <a:pt x="444501" y="107136"/>
                  </a:lnTo>
                  <a:lnTo>
                    <a:pt x="414829" y="71172"/>
                  </a:lnTo>
                  <a:lnTo>
                    <a:pt x="378865" y="41500"/>
                  </a:lnTo>
                  <a:lnTo>
                    <a:pt x="337588" y="19096"/>
                  </a:lnTo>
                  <a:lnTo>
                    <a:pt x="291974" y="4936"/>
                  </a:lnTo>
                  <a:lnTo>
                    <a:pt x="243001" y="0"/>
                  </a:lnTo>
                  <a:lnTo>
                    <a:pt x="194027" y="4936"/>
                  </a:lnTo>
                  <a:lnTo>
                    <a:pt x="148413" y="19096"/>
                  </a:lnTo>
                  <a:lnTo>
                    <a:pt x="107136" y="41500"/>
                  </a:lnTo>
                  <a:lnTo>
                    <a:pt x="71172" y="71172"/>
                  </a:lnTo>
                  <a:lnTo>
                    <a:pt x="41500" y="107136"/>
                  </a:lnTo>
                  <a:lnTo>
                    <a:pt x="19096" y="148413"/>
                  </a:lnTo>
                  <a:lnTo>
                    <a:pt x="4936" y="194027"/>
                  </a:lnTo>
                  <a:lnTo>
                    <a:pt x="0" y="243001"/>
                  </a:lnTo>
                  <a:lnTo>
                    <a:pt x="4936" y="291974"/>
                  </a:lnTo>
                  <a:lnTo>
                    <a:pt x="19096" y="337588"/>
                  </a:lnTo>
                  <a:lnTo>
                    <a:pt x="41500" y="378866"/>
                  </a:lnTo>
                  <a:lnTo>
                    <a:pt x="71172" y="414829"/>
                  </a:lnTo>
                  <a:lnTo>
                    <a:pt x="107136" y="444502"/>
                  </a:lnTo>
                  <a:lnTo>
                    <a:pt x="148413" y="466906"/>
                  </a:lnTo>
                  <a:lnTo>
                    <a:pt x="194027" y="481065"/>
                  </a:lnTo>
                  <a:lnTo>
                    <a:pt x="243001" y="486002"/>
                  </a:lnTo>
                  <a:lnTo>
                    <a:pt x="291974" y="481065"/>
                  </a:lnTo>
                  <a:lnTo>
                    <a:pt x="337588" y="466906"/>
                  </a:lnTo>
                  <a:lnTo>
                    <a:pt x="378865" y="444502"/>
                  </a:lnTo>
                  <a:lnTo>
                    <a:pt x="414829" y="414829"/>
                  </a:lnTo>
                  <a:lnTo>
                    <a:pt x="444501" y="378866"/>
                  </a:lnTo>
                  <a:lnTo>
                    <a:pt x="466906" y="337588"/>
                  </a:lnTo>
                  <a:lnTo>
                    <a:pt x="481065" y="291974"/>
                  </a:lnTo>
                  <a:lnTo>
                    <a:pt x="486002" y="243001"/>
                  </a:lnTo>
                  <a:close/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028592" y="2233916"/>
            <a:ext cx="366395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-55" dirty="0">
                <a:solidFill>
                  <a:srgbClr val="22373A"/>
                </a:solidFill>
                <a:latin typeface="Arial Black"/>
                <a:cs typeface="Arial Black"/>
              </a:rPr>
              <a:t>Thamus</a:t>
            </a:r>
            <a:endParaRPr sz="700">
              <a:latin typeface="Arial Black"/>
              <a:cs typeface="Arial Black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417018" y="1454343"/>
            <a:ext cx="795020" cy="453390"/>
            <a:chOff x="4417018" y="1454343"/>
            <a:chExt cx="795020" cy="453390"/>
          </a:xfrm>
        </p:grpSpPr>
        <p:sp>
          <p:nvSpPr>
            <p:cNvPr id="15" name="object 15"/>
            <p:cNvSpPr/>
            <p:nvPr/>
          </p:nvSpPr>
          <p:spPr>
            <a:xfrm>
              <a:off x="4834692" y="1733745"/>
              <a:ext cx="374650" cy="171450"/>
            </a:xfrm>
            <a:custGeom>
              <a:avLst/>
              <a:gdLst/>
              <a:ahLst/>
              <a:cxnLst/>
              <a:rect l="l" t="t" r="r" b="b"/>
              <a:pathLst>
                <a:path w="374650" h="171450">
                  <a:moveTo>
                    <a:pt x="323568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20372"/>
                  </a:lnTo>
                  <a:lnTo>
                    <a:pt x="3977" y="140072"/>
                  </a:lnTo>
                  <a:lnTo>
                    <a:pt x="14823" y="156159"/>
                  </a:lnTo>
                  <a:lnTo>
                    <a:pt x="30910" y="167005"/>
                  </a:lnTo>
                  <a:lnTo>
                    <a:pt x="50610" y="170983"/>
                  </a:lnTo>
                  <a:lnTo>
                    <a:pt x="323568" y="170983"/>
                  </a:lnTo>
                  <a:lnTo>
                    <a:pt x="343268" y="167005"/>
                  </a:lnTo>
                  <a:lnTo>
                    <a:pt x="359355" y="156159"/>
                  </a:lnTo>
                  <a:lnTo>
                    <a:pt x="370201" y="140072"/>
                  </a:lnTo>
                  <a:lnTo>
                    <a:pt x="374179" y="120372"/>
                  </a:lnTo>
                  <a:lnTo>
                    <a:pt x="374179" y="50610"/>
                  </a:lnTo>
                  <a:lnTo>
                    <a:pt x="370201" y="30910"/>
                  </a:lnTo>
                  <a:lnTo>
                    <a:pt x="359355" y="14823"/>
                  </a:lnTo>
                  <a:lnTo>
                    <a:pt x="343268" y="3977"/>
                  </a:lnTo>
                  <a:lnTo>
                    <a:pt x="323568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34692" y="1733745"/>
              <a:ext cx="374650" cy="171450"/>
            </a:xfrm>
            <a:custGeom>
              <a:avLst/>
              <a:gdLst/>
              <a:ahLst/>
              <a:cxnLst/>
              <a:rect l="l" t="t" r="r" b="b"/>
              <a:pathLst>
                <a:path w="374650" h="171450">
                  <a:moveTo>
                    <a:pt x="323568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20372"/>
                  </a:lnTo>
                  <a:lnTo>
                    <a:pt x="3977" y="140072"/>
                  </a:lnTo>
                  <a:lnTo>
                    <a:pt x="14823" y="156159"/>
                  </a:lnTo>
                  <a:lnTo>
                    <a:pt x="30910" y="167005"/>
                  </a:lnTo>
                  <a:lnTo>
                    <a:pt x="50610" y="170983"/>
                  </a:lnTo>
                  <a:lnTo>
                    <a:pt x="323568" y="170983"/>
                  </a:lnTo>
                  <a:lnTo>
                    <a:pt x="343268" y="167005"/>
                  </a:lnTo>
                  <a:lnTo>
                    <a:pt x="359355" y="156159"/>
                  </a:lnTo>
                  <a:lnTo>
                    <a:pt x="370201" y="140072"/>
                  </a:lnTo>
                  <a:lnTo>
                    <a:pt x="374179" y="120372"/>
                  </a:lnTo>
                  <a:lnTo>
                    <a:pt x="374179" y="50610"/>
                  </a:lnTo>
                  <a:lnTo>
                    <a:pt x="370201" y="30910"/>
                  </a:lnTo>
                  <a:lnTo>
                    <a:pt x="359355" y="14823"/>
                  </a:lnTo>
                  <a:lnTo>
                    <a:pt x="343268" y="3977"/>
                  </a:lnTo>
                  <a:lnTo>
                    <a:pt x="323568" y="0"/>
                  </a:lnTo>
                  <a:close/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22098" y="1459423"/>
              <a:ext cx="445770" cy="267970"/>
            </a:xfrm>
            <a:custGeom>
              <a:avLst/>
              <a:gdLst/>
              <a:ahLst/>
              <a:cxnLst/>
              <a:rect l="l" t="t" r="r" b="b"/>
              <a:pathLst>
                <a:path w="445770" h="267969">
                  <a:moveTo>
                    <a:pt x="0" y="0"/>
                  </a:moveTo>
                  <a:lnTo>
                    <a:pt x="445748" y="267424"/>
                  </a:lnTo>
                </a:path>
              </a:pathLst>
            </a:custGeom>
            <a:ln w="1012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37383" y="1694127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19">
                  <a:moveTo>
                    <a:pt x="27077" y="0"/>
                  </a:moveTo>
                  <a:lnTo>
                    <a:pt x="26244" y="8881"/>
                  </a:lnTo>
                  <a:lnTo>
                    <a:pt x="28241" y="19639"/>
                  </a:lnTo>
                  <a:lnTo>
                    <a:pt x="31561" y="29393"/>
                  </a:lnTo>
                  <a:lnTo>
                    <a:pt x="34694" y="35259"/>
                  </a:lnTo>
                  <a:lnTo>
                    <a:pt x="28044" y="35255"/>
                  </a:lnTo>
                  <a:lnTo>
                    <a:pt x="17876" y="36917"/>
                  </a:lnTo>
                  <a:lnTo>
                    <a:pt x="7444" y="40218"/>
                  </a:lnTo>
                  <a:lnTo>
                    <a:pt x="0" y="45133"/>
                  </a:lnTo>
                </a:path>
              </a:pathLst>
            </a:custGeom>
            <a:ln w="8097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047997" y="1261921"/>
            <a:ext cx="1132205" cy="6134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-10" dirty="0">
                <a:solidFill>
                  <a:srgbClr val="22373A"/>
                </a:solidFill>
                <a:latin typeface="Arial Black"/>
                <a:cs typeface="Arial Black"/>
              </a:rPr>
              <a:t>Theuth</a:t>
            </a:r>
            <a:endParaRPr sz="700">
              <a:latin typeface="Arial Black"/>
              <a:cs typeface="Arial Black"/>
            </a:endParaRPr>
          </a:p>
          <a:p>
            <a:pPr marL="69215" algn="ctr">
              <a:lnSpc>
                <a:spcPct val="100000"/>
              </a:lnSpc>
              <a:spcBef>
                <a:spcPts val="700"/>
              </a:spcBef>
            </a:pPr>
            <a:r>
              <a:rPr sz="500" spc="-10" dirty="0">
                <a:solidFill>
                  <a:srgbClr val="22373A"/>
                </a:solidFill>
                <a:latin typeface="Arial"/>
                <a:cs typeface="Arial"/>
              </a:rPr>
              <a:t>presents</a:t>
            </a:r>
            <a:endParaRPr sz="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5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700" spc="-10" dirty="0">
                <a:solidFill>
                  <a:srgbClr val="22373A"/>
                </a:solidFill>
                <a:latin typeface="Arial"/>
                <a:cs typeface="Arial"/>
              </a:rPr>
              <a:t>Writing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417037" y="1895166"/>
            <a:ext cx="459105" cy="289560"/>
            <a:chOff x="4417037" y="1895166"/>
            <a:chExt cx="459105" cy="289560"/>
          </a:xfrm>
        </p:grpSpPr>
        <p:sp>
          <p:nvSpPr>
            <p:cNvPr id="21" name="object 21"/>
            <p:cNvSpPr/>
            <p:nvPr/>
          </p:nvSpPr>
          <p:spPr>
            <a:xfrm>
              <a:off x="4422098" y="1911628"/>
              <a:ext cx="445770" cy="267970"/>
            </a:xfrm>
            <a:custGeom>
              <a:avLst/>
              <a:gdLst/>
              <a:ahLst/>
              <a:cxnLst/>
              <a:rect l="l" t="t" r="r" b="b"/>
              <a:pathLst>
                <a:path w="445770" h="267969">
                  <a:moveTo>
                    <a:pt x="0" y="267423"/>
                  </a:moveTo>
                  <a:lnTo>
                    <a:pt x="445748" y="0"/>
                  </a:lnTo>
                </a:path>
              </a:pathLst>
            </a:custGeom>
            <a:ln w="10122">
              <a:solidFill>
                <a:srgbClr val="B2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837383" y="1899215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19">
                  <a:moveTo>
                    <a:pt x="0" y="0"/>
                  </a:moveTo>
                  <a:lnTo>
                    <a:pt x="7444" y="4914"/>
                  </a:lnTo>
                  <a:lnTo>
                    <a:pt x="17876" y="8216"/>
                  </a:lnTo>
                  <a:lnTo>
                    <a:pt x="28044" y="9878"/>
                  </a:lnTo>
                  <a:lnTo>
                    <a:pt x="34694" y="9874"/>
                  </a:lnTo>
                  <a:lnTo>
                    <a:pt x="31561" y="15740"/>
                  </a:lnTo>
                  <a:lnTo>
                    <a:pt x="28241" y="25493"/>
                  </a:lnTo>
                  <a:lnTo>
                    <a:pt x="26244" y="36252"/>
                  </a:lnTo>
                  <a:lnTo>
                    <a:pt x="27077" y="45133"/>
                  </a:lnTo>
                </a:path>
              </a:pathLst>
            </a:custGeom>
            <a:ln w="8097">
              <a:solidFill>
                <a:srgbClr val="B2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535131" y="2059535"/>
            <a:ext cx="227965" cy="107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00" spc="-10" dirty="0">
                <a:solidFill>
                  <a:srgbClr val="B20000"/>
                </a:solidFill>
                <a:latin typeface="Arial"/>
                <a:cs typeface="Arial"/>
              </a:rPr>
              <a:t>judges</a:t>
            </a:r>
            <a:endParaRPr sz="5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02712" y="849898"/>
            <a:ext cx="618490" cy="107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00" spc="10" dirty="0">
                <a:solidFill>
                  <a:srgbClr val="22373A"/>
                </a:solidFill>
                <a:latin typeface="Arial"/>
                <a:cs typeface="Arial"/>
              </a:rPr>
              <a:t>Inventor</a:t>
            </a:r>
            <a:r>
              <a:rPr sz="500" spc="2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22373A"/>
                </a:solidFill>
                <a:latin typeface="Arial"/>
                <a:cs typeface="Arial"/>
              </a:rPr>
              <a:t>(Optimist)</a:t>
            </a:r>
            <a:endParaRPr sz="5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58228" y="2663877"/>
            <a:ext cx="507365" cy="107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00" dirty="0">
                <a:solidFill>
                  <a:srgbClr val="22373A"/>
                </a:solidFill>
                <a:latin typeface="Arial"/>
                <a:cs typeface="Arial"/>
              </a:rPr>
              <a:t>Judge</a:t>
            </a:r>
            <a:r>
              <a:rPr sz="500" spc="1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22373A"/>
                </a:solidFill>
                <a:latin typeface="Arial"/>
                <a:cs typeface="Arial"/>
              </a:rPr>
              <a:t>(Skeptic)</a:t>
            </a:r>
            <a:endParaRPr sz="5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82758" y="2927018"/>
            <a:ext cx="14922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myth</a:t>
            </a:r>
            <a:r>
              <a:rPr sz="8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8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Theuth</a:t>
            </a:r>
            <a:r>
              <a:rPr sz="8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8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Thamus</a:t>
            </a:r>
            <a:endParaRPr sz="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08320" y="2964331"/>
            <a:ext cx="1473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14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29" name="object 29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0" y="3234937"/>
              <a:ext cx="1415415" cy="5080"/>
            </a:xfrm>
            <a:custGeom>
              <a:avLst/>
              <a:gdLst/>
              <a:ahLst/>
              <a:cxnLst/>
              <a:rect l="l" t="t" r="r" b="b"/>
              <a:pathLst>
                <a:path w="1415415" h="5080">
                  <a:moveTo>
                    <a:pt x="0" y="5060"/>
                  </a:moveTo>
                  <a:lnTo>
                    <a:pt x="0" y="0"/>
                  </a:lnTo>
                  <a:lnTo>
                    <a:pt x="1414793" y="0"/>
                  </a:lnTo>
                  <a:lnTo>
                    <a:pt x="141479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770" y="74559"/>
            <a:ext cx="250253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5" dirty="0">
                <a:solidFill>
                  <a:srgbClr val="FFFFFF"/>
                </a:solidFill>
                <a:latin typeface="Arial Black"/>
                <a:cs typeface="Arial Black"/>
              </a:rPr>
              <a:t>Quote:</a:t>
            </a:r>
            <a:r>
              <a:rPr sz="1200" spc="-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110" dirty="0">
                <a:solidFill>
                  <a:srgbClr val="FFFFFF"/>
                </a:solidFill>
                <a:latin typeface="Arial Black"/>
                <a:cs typeface="Arial Black"/>
              </a:rPr>
              <a:t>Plato’s</a:t>
            </a:r>
            <a:r>
              <a:rPr sz="1200" spc="-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b="1" i="1" spc="-30" dirty="0">
                <a:solidFill>
                  <a:srgbClr val="FFFFFF"/>
                </a:solidFill>
                <a:latin typeface="Arial"/>
                <a:cs typeface="Arial"/>
              </a:rPr>
              <a:t>Phaedrus</a:t>
            </a:r>
            <a:r>
              <a:rPr sz="1200" b="1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20" dirty="0">
                <a:solidFill>
                  <a:srgbClr val="FFFFFF"/>
                </a:solidFill>
                <a:latin typeface="Arial Black"/>
                <a:cs typeface="Arial Black"/>
              </a:rPr>
              <a:t>on</a:t>
            </a:r>
            <a:r>
              <a:rPr sz="1200" spc="-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Arial Black"/>
                <a:cs typeface="Arial Black"/>
              </a:rPr>
              <a:t>Writing</a:t>
            </a:r>
            <a:endParaRPr sz="1200">
              <a:latin typeface="Arial Black"/>
              <a:cs typeface="Arial Black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59994" y="472452"/>
          <a:ext cx="5116195" cy="1859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100" spc="73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,</a:t>
                      </a:r>
                      <a:r>
                        <a:rPr sz="1100" spc="26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1100" spc="-9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Plato,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b="1" i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Phaedrus</a:t>
                      </a:r>
                      <a:r>
                        <a:rPr sz="1100" spc="-4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,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8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275a-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b</a:t>
                      </a:r>
                      <a:r>
                        <a:rPr sz="1100" spc="-8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(Fowler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trans.)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3810" marB="0">
                    <a:solidFill>
                      <a:srgbClr val="2D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6080">
                <a:tc>
                  <a:txBody>
                    <a:bodyPr/>
                    <a:lstStyle/>
                    <a:p>
                      <a:pPr marL="45720" marR="248920">
                        <a:lnSpc>
                          <a:spcPts val="1050"/>
                        </a:lnSpc>
                        <a:spcBef>
                          <a:spcPts val="270"/>
                        </a:spcBef>
                      </a:pPr>
                      <a:r>
                        <a:rPr sz="10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Context:</a:t>
                      </a:r>
                      <a:r>
                        <a:rPr sz="1000" spc="2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King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Thamus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responds</a:t>
                      </a:r>
                      <a:r>
                        <a:rPr sz="10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Theuth’s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claim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that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writing</a:t>
                      </a:r>
                      <a:r>
                        <a:rPr sz="10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will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improve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memory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0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wisdom: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45720" marR="80010">
                        <a:lnSpc>
                          <a:spcPts val="1050"/>
                        </a:lnSpc>
                        <a:spcBef>
                          <a:spcPts val="1050"/>
                        </a:spcBef>
                      </a:pP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“For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this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invention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will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produce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forgetfulness</a:t>
                      </a:r>
                      <a:r>
                        <a:rPr sz="1000" b="1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 the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minds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those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who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learn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 </a:t>
                      </a:r>
                      <a:r>
                        <a:rPr sz="1000" i="1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use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it, 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because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they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will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not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practice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their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memory.</a:t>
                      </a:r>
                      <a:r>
                        <a:rPr sz="1000" i="1" spc="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Their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trust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writing,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produced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by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external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characters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which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are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part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themselves,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will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discourage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use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their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own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memory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within</a:t>
                      </a:r>
                      <a:r>
                        <a:rPr sz="1000" i="1" spc="10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them.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45720" marR="73025">
                        <a:lnSpc>
                          <a:spcPts val="1050"/>
                        </a:lnSpc>
                        <a:spcBef>
                          <a:spcPts val="850"/>
                        </a:spcBef>
                      </a:pPr>
                      <a:r>
                        <a:rPr sz="1000" i="1" spc="-5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You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have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invented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elixir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not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memory</a:t>
                      </a:r>
                      <a:r>
                        <a:rPr sz="1000" i="1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but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reminding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;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you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offer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pupils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appearance</a:t>
                      </a:r>
                      <a:r>
                        <a:rPr sz="1000" b="1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000" b="1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wisdom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not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true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wisdom,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they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will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read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many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things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without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instruction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will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therefore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seem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know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many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things,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when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they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are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most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part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ignorant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hard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get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along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with,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since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they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are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not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wise,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but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only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appear</a:t>
                      </a:r>
                      <a:r>
                        <a:rPr sz="1000" b="1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wise.”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solidFill>
                      <a:srgbClr val="F4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9994" y="2451836"/>
          <a:ext cx="5116195" cy="5632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209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100" spc="39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!</a:t>
                      </a:r>
                      <a:r>
                        <a:rPr sz="1100" spc="2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1100" spc="-14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Key</a:t>
                      </a:r>
                      <a:r>
                        <a:rPr sz="1100" spc="-10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Distinctions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12065" marB="0">
                    <a:solidFill>
                      <a:srgbClr val="19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marL="45720" marR="62865">
                        <a:lnSpc>
                          <a:spcPts val="1190"/>
                        </a:lnSpc>
                        <a:spcBef>
                          <a:spcPts val="244"/>
                        </a:spcBef>
                        <a:tabLst>
                          <a:tab pos="2922905" algn="l"/>
                          <a:tab pos="3105150" algn="l"/>
                        </a:tabLst>
                      </a:pPr>
                      <a:r>
                        <a:rPr sz="1100" spc="-12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Memory</a:t>
                      </a:r>
                      <a:r>
                        <a:rPr sz="1100" spc="-6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(internal) vs.</a:t>
                      </a:r>
                      <a:r>
                        <a:rPr sz="1100" spc="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Reminding</a:t>
                      </a:r>
                      <a:r>
                        <a:rPr sz="1100" spc="-5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(external)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	|	</a:t>
                      </a:r>
                      <a:r>
                        <a:rPr sz="1100" spc="-13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True</a:t>
                      </a: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wisdom</a:t>
                      </a: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vs.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Appearance 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of</a:t>
                      </a:r>
                      <a:r>
                        <a:rPr sz="1100" spc="-10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wisdom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31114" marB="0"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37"/>
              <a:ext cx="1516380" cy="5080"/>
            </a:xfrm>
            <a:custGeom>
              <a:avLst/>
              <a:gdLst/>
              <a:ahLst/>
              <a:cxnLst/>
              <a:rect l="l" t="t" r="r" b="b"/>
              <a:pathLst>
                <a:path w="1516380" h="5080">
                  <a:moveTo>
                    <a:pt x="0" y="5060"/>
                  </a:moveTo>
                  <a:lnTo>
                    <a:pt x="0" y="0"/>
                  </a:lnTo>
                  <a:lnTo>
                    <a:pt x="1515781" y="0"/>
                  </a:lnTo>
                  <a:lnTo>
                    <a:pt x="151578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74559"/>
            <a:ext cx="264033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0" dirty="0"/>
              <a:t>Socrates’s</a:t>
            </a:r>
            <a:r>
              <a:rPr spc="-55" dirty="0"/>
              <a:t> </a:t>
            </a:r>
            <a:r>
              <a:rPr spc="-120" dirty="0"/>
              <a:t>Argument</a:t>
            </a:r>
            <a:r>
              <a:rPr spc="-55" dirty="0"/>
              <a:t> </a:t>
            </a:r>
            <a:r>
              <a:rPr spc="-114" dirty="0"/>
              <a:t>Against</a:t>
            </a:r>
            <a:r>
              <a:rPr spc="-55" dirty="0"/>
              <a:t> </a:t>
            </a:r>
            <a:r>
              <a:rPr spc="-60" dirty="0"/>
              <a:t>Writing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530306"/>
            <a:ext cx="5040630" cy="1619250"/>
            <a:chOff x="359994" y="530306"/>
            <a:chExt cx="5040630" cy="1619250"/>
          </a:xfrm>
        </p:grpSpPr>
        <p:sp>
          <p:nvSpPr>
            <p:cNvPr id="4" name="object 4"/>
            <p:cNvSpPr/>
            <p:nvPr/>
          </p:nvSpPr>
          <p:spPr>
            <a:xfrm>
              <a:off x="359994" y="530306"/>
              <a:ext cx="5040630" cy="1619250"/>
            </a:xfrm>
            <a:custGeom>
              <a:avLst/>
              <a:gdLst/>
              <a:ahLst/>
              <a:cxnLst/>
              <a:rect l="l" t="t" r="r" b="b"/>
              <a:pathLst>
                <a:path w="5040630" h="1619250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1580753"/>
                  </a:lnTo>
                  <a:lnTo>
                    <a:pt x="2982" y="1595528"/>
                  </a:lnTo>
                  <a:lnTo>
                    <a:pt x="11117" y="1607593"/>
                  </a:lnTo>
                  <a:lnTo>
                    <a:pt x="23182" y="1615728"/>
                  </a:lnTo>
                  <a:lnTo>
                    <a:pt x="37958" y="1618711"/>
                  </a:lnTo>
                  <a:lnTo>
                    <a:pt x="5002106" y="1618711"/>
                  </a:lnTo>
                  <a:lnTo>
                    <a:pt x="5016882" y="1615728"/>
                  </a:lnTo>
                  <a:lnTo>
                    <a:pt x="5028947" y="1607593"/>
                  </a:lnTo>
                  <a:lnTo>
                    <a:pt x="5037082" y="1595528"/>
                  </a:lnTo>
                  <a:lnTo>
                    <a:pt x="5040064" y="1580753"/>
                  </a:lnTo>
                  <a:lnTo>
                    <a:pt x="5040064" y="37958"/>
                  </a:lnTo>
                  <a:lnTo>
                    <a:pt x="5037082" y="23183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194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2646" y="762765"/>
              <a:ext cx="5015230" cy="1374140"/>
            </a:xfrm>
            <a:custGeom>
              <a:avLst/>
              <a:gdLst/>
              <a:ahLst/>
              <a:cxnLst/>
              <a:rect l="l" t="t" r="r" b="b"/>
              <a:pathLst>
                <a:path w="5015230" h="1374139">
                  <a:moveTo>
                    <a:pt x="5014759" y="0"/>
                  </a:moveTo>
                  <a:lnTo>
                    <a:pt x="0" y="0"/>
                  </a:lnTo>
                  <a:lnTo>
                    <a:pt x="0" y="1348294"/>
                  </a:lnTo>
                  <a:lnTo>
                    <a:pt x="1988" y="1358144"/>
                  </a:lnTo>
                  <a:lnTo>
                    <a:pt x="7411" y="1366188"/>
                  </a:lnTo>
                  <a:lnTo>
                    <a:pt x="15455" y="1371611"/>
                  </a:lnTo>
                  <a:lnTo>
                    <a:pt x="25305" y="1373599"/>
                  </a:lnTo>
                  <a:lnTo>
                    <a:pt x="4989454" y="1373599"/>
                  </a:lnTo>
                  <a:lnTo>
                    <a:pt x="4999304" y="1371611"/>
                  </a:lnTo>
                  <a:lnTo>
                    <a:pt x="5007347" y="1366188"/>
                  </a:lnTo>
                  <a:lnTo>
                    <a:pt x="5012770" y="1358144"/>
                  </a:lnTo>
                  <a:lnTo>
                    <a:pt x="5014759" y="1348294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3F5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59994" y="2369710"/>
            <a:ext cx="5040630" cy="557530"/>
            <a:chOff x="359994" y="2369710"/>
            <a:chExt cx="5040630" cy="557530"/>
          </a:xfrm>
        </p:grpSpPr>
        <p:sp>
          <p:nvSpPr>
            <p:cNvPr id="7" name="object 7"/>
            <p:cNvSpPr/>
            <p:nvPr/>
          </p:nvSpPr>
          <p:spPr>
            <a:xfrm>
              <a:off x="359994" y="2369710"/>
              <a:ext cx="5040630" cy="557530"/>
            </a:xfrm>
            <a:custGeom>
              <a:avLst/>
              <a:gdLst/>
              <a:ahLst/>
              <a:cxnLst/>
              <a:rect l="l" t="t" r="r" b="b"/>
              <a:pathLst>
                <a:path w="5040630" h="557530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518957"/>
                  </a:lnTo>
                  <a:lnTo>
                    <a:pt x="2982" y="533732"/>
                  </a:lnTo>
                  <a:lnTo>
                    <a:pt x="11117" y="545798"/>
                  </a:lnTo>
                  <a:lnTo>
                    <a:pt x="23182" y="553933"/>
                  </a:lnTo>
                  <a:lnTo>
                    <a:pt x="37958" y="556915"/>
                  </a:lnTo>
                  <a:lnTo>
                    <a:pt x="5002106" y="556915"/>
                  </a:lnTo>
                  <a:lnTo>
                    <a:pt x="5016882" y="553933"/>
                  </a:lnTo>
                  <a:lnTo>
                    <a:pt x="5028947" y="545798"/>
                  </a:lnTo>
                  <a:lnTo>
                    <a:pt x="5037082" y="533732"/>
                  </a:lnTo>
                  <a:lnTo>
                    <a:pt x="5040064" y="518957"/>
                  </a:lnTo>
                  <a:lnTo>
                    <a:pt x="5040064" y="37958"/>
                  </a:lnTo>
                  <a:lnTo>
                    <a:pt x="5037082" y="23183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B777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2646" y="2553000"/>
              <a:ext cx="5015230" cy="361315"/>
            </a:xfrm>
            <a:custGeom>
              <a:avLst/>
              <a:gdLst/>
              <a:ahLst/>
              <a:cxnLst/>
              <a:rect l="l" t="t" r="r" b="b"/>
              <a:pathLst>
                <a:path w="5015230" h="361314">
                  <a:moveTo>
                    <a:pt x="5014759" y="0"/>
                  </a:moveTo>
                  <a:lnTo>
                    <a:pt x="0" y="0"/>
                  </a:lnTo>
                  <a:lnTo>
                    <a:pt x="0" y="335667"/>
                  </a:lnTo>
                  <a:lnTo>
                    <a:pt x="1988" y="345517"/>
                  </a:lnTo>
                  <a:lnTo>
                    <a:pt x="7411" y="353561"/>
                  </a:lnTo>
                  <a:lnTo>
                    <a:pt x="15455" y="358984"/>
                  </a:lnTo>
                  <a:lnTo>
                    <a:pt x="25305" y="360973"/>
                  </a:lnTo>
                  <a:lnTo>
                    <a:pt x="4989454" y="360973"/>
                  </a:lnTo>
                  <a:lnTo>
                    <a:pt x="4999304" y="358984"/>
                  </a:lnTo>
                  <a:lnTo>
                    <a:pt x="5007347" y="353561"/>
                  </a:lnTo>
                  <a:lnTo>
                    <a:pt x="5012770" y="345517"/>
                  </a:lnTo>
                  <a:lnTo>
                    <a:pt x="5014759" y="335667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B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35863" y="533513"/>
            <a:ext cx="4888865" cy="2353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90"/>
              </a:spcBef>
            </a:pPr>
            <a:r>
              <a:rPr sz="1100" spc="-110" dirty="0">
                <a:solidFill>
                  <a:srgbClr val="FFFFFF"/>
                </a:solidFill>
                <a:latin typeface="Arial Black"/>
                <a:cs typeface="Arial Black"/>
              </a:rPr>
              <a:t>Argument</a:t>
            </a:r>
            <a:r>
              <a:rPr sz="110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80" dirty="0">
                <a:solidFill>
                  <a:srgbClr val="FFFFFF"/>
                </a:solidFill>
                <a:latin typeface="Arial Black"/>
                <a:cs typeface="Arial Black"/>
              </a:rPr>
              <a:t>in</a:t>
            </a:r>
            <a:r>
              <a:rPr sz="110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105" dirty="0">
                <a:solidFill>
                  <a:srgbClr val="FFFFFF"/>
                </a:solidFill>
                <a:latin typeface="Arial Black"/>
                <a:cs typeface="Arial Black"/>
              </a:rPr>
              <a:t>Standard</a:t>
            </a:r>
            <a:r>
              <a:rPr sz="110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Arial Black"/>
                <a:cs typeface="Arial Black"/>
              </a:rPr>
              <a:t>Form</a:t>
            </a:r>
            <a:endParaRPr sz="1100">
              <a:latin typeface="Arial Black"/>
              <a:cs typeface="Arial Black"/>
            </a:endParaRPr>
          </a:p>
          <a:p>
            <a:pPr marL="391160" marR="134620" indent="-187960">
              <a:lnSpc>
                <a:spcPts val="1190"/>
              </a:lnSpc>
              <a:spcBef>
                <a:spcPts val="1125"/>
              </a:spcBef>
              <a:buAutoNum type="arabicPeriod"/>
              <a:tabLst>
                <a:tab pos="393700" algn="l"/>
              </a:tabLst>
            </a:pP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True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knowledge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sz="11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14" dirty="0">
                <a:solidFill>
                  <a:srgbClr val="22373A"/>
                </a:solidFill>
                <a:latin typeface="Arial Black"/>
                <a:cs typeface="Arial Black"/>
              </a:rPr>
              <a:t>active</a:t>
            </a:r>
            <a:r>
              <a:rPr sz="1100" spc="-8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110" dirty="0">
                <a:solidFill>
                  <a:srgbClr val="22373A"/>
                </a:solidFill>
                <a:latin typeface="Arial Black"/>
                <a:cs typeface="Arial Black"/>
              </a:rPr>
              <a:t>engagement</a:t>
            </a:r>
            <a:r>
              <a:rPr sz="1100" spc="-11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11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dialogue,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1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ability 	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11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respond</a:t>
            </a:r>
            <a:r>
              <a:rPr sz="11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11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questions.</a:t>
            </a:r>
            <a:endParaRPr sz="1100">
              <a:latin typeface="Arial"/>
              <a:cs typeface="Arial"/>
            </a:endParaRPr>
          </a:p>
          <a:p>
            <a:pPr marL="391160" indent="-187960">
              <a:lnSpc>
                <a:spcPct val="100000"/>
              </a:lnSpc>
              <a:spcBef>
                <a:spcPts val="155"/>
              </a:spcBef>
              <a:buAutoNum type="arabicPeriod"/>
              <a:tabLst>
                <a:tab pos="391160" algn="l"/>
              </a:tabLst>
            </a:pP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Writing </a:t>
            </a:r>
            <a:r>
              <a:rPr sz="1100" spc="-120" dirty="0">
                <a:solidFill>
                  <a:srgbClr val="22373A"/>
                </a:solidFill>
                <a:latin typeface="Arial Black"/>
                <a:cs typeface="Arial Black"/>
              </a:rPr>
              <a:t>cannot</a:t>
            </a:r>
            <a:r>
              <a:rPr sz="1100" spc="-5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105" dirty="0">
                <a:solidFill>
                  <a:srgbClr val="22373A"/>
                </a:solidFill>
                <a:latin typeface="Arial Black"/>
                <a:cs typeface="Arial Black"/>
              </a:rPr>
              <a:t>respond</a:t>
            </a:r>
            <a:r>
              <a:rPr sz="1100" spc="-6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11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questions or</a:t>
            </a:r>
            <a:r>
              <a:rPr sz="11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adapt to</a:t>
            </a:r>
            <a:r>
              <a:rPr sz="11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its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audience.</a:t>
            </a:r>
            <a:endParaRPr sz="1100">
              <a:latin typeface="Arial"/>
              <a:cs typeface="Arial"/>
            </a:endParaRPr>
          </a:p>
          <a:p>
            <a:pPr marL="391160" marR="508000" indent="-187960">
              <a:lnSpc>
                <a:spcPts val="1190"/>
              </a:lnSpc>
              <a:spcBef>
                <a:spcPts val="320"/>
              </a:spcBef>
              <a:buAutoNum type="arabicPeriod"/>
              <a:tabLst>
                <a:tab pos="393700" algn="l"/>
              </a:tabLst>
            </a:pP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Writing</a:t>
            </a:r>
            <a:r>
              <a:rPr sz="11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therefore</a:t>
            </a:r>
            <a:r>
              <a:rPr sz="11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creates</a:t>
            </a:r>
            <a:r>
              <a:rPr sz="11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1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20" dirty="0">
                <a:solidFill>
                  <a:srgbClr val="22373A"/>
                </a:solidFill>
                <a:latin typeface="Arial Black"/>
                <a:cs typeface="Arial Black"/>
              </a:rPr>
              <a:t>appearance</a:t>
            </a:r>
            <a:r>
              <a:rPr sz="1100" spc="-3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90" dirty="0">
                <a:solidFill>
                  <a:srgbClr val="22373A"/>
                </a:solidFill>
                <a:latin typeface="Arial Black"/>
                <a:cs typeface="Arial Black"/>
              </a:rPr>
              <a:t>of</a:t>
            </a:r>
            <a:r>
              <a:rPr sz="1100" spc="-3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114" dirty="0">
                <a:solidFill>
                  <a:srgbClr val="22373A"/>
                </a:solidFill>
                <a:latin typeface="Arial Black"/>
                <a:cs typeface="Arial Black"/>
              </a:rPr>
              <a:t>wisdom</a:t>
            </a:r>
            <a:r>
              <a:rPr sz="1100" spc="-4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without</a:t>
            </a:r>
            <a:r>
              <a:rPr sz="11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its 	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reality.</a:t>
            </a:r>
            <a:endParaRPr sz="1100">
              <a:latin typeface="Arial"/>
              <a:cs typeface="Arial"/>
            </a:endParaRPr>
          </a:p>
          <a:p>
            <a:pPr marL="393700" marR="854710" indent="-161925">
              <a:lnSpc>
                <a:spcPts val="1190"/>
              </a:lnSpc>
              <a:spcBef>
                <a:spcPts val="305"/>
              </a:spcBef>
            </a:pP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∴</a:t>
            </a:r>
            <a:r>
              <a:rPr sz="1100" spc="22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Writing</a:t>
            </a:r>
            <a:r>
              <a:rPr sz="11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80" dirty="0">
                <a:solidFill>
                  <a:srgbClr val="22373A"/>
                </a:solidFill>
                <a:latin typeface="Arial Black"/>
                <a:cs typeface="Arial Black"/>
              </a:rPr>
              <a:t>inferior</a:t>
            </a:r>
            <a:r>
              <a:rPr sz="1100" spc="-9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living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discourse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producing</a:t>
            </a:r>
            <a:r>
              <a:rPr sz="11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genuine understanding.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Arial Black"/>
                <a:cs typeface="Arial Black"/>
              </a:rPr>
              <a:t>Discussion</a:t>
            </a:r>
            <a:endParaRPr sz="1100">
              <a:latin typeface="Arial Black"/>
              <a:cs typeface="Arial Black"/>
            </a:endParaRPr>
          </a:p>
          <a:p>
            <a:pPr marL="12700" marR="5080">
              <a:lnSpc>
                <a:spcPts val="1190"/>
              </a:lnSpc>
              <a:spcBef>
                <a:spcPts val="259"/>
              </a:spcBef>
            </a:pPr>
            <a:r>
              <a:rPr sz="1100" spc="55" dirty="0">
                <a:latin typeface="Arial"/>
                <a:cs typeface="Arial"/>
              </a:rPr>
              <a:t>Is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argument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spc="-135" dirty="0">
                <a:latin typeface="Arial Black"/>
                <a:cs typeface="Arial Black"/>
              </a:rPr>
              <a:t>sound</a:t>
            </a:r>
            <a:r>
              <a:rPr sz="1100" spc="-135" dirty="0">
                <a:latin typeface="Arial"/>
                <a:cs typeface="Arial"/>
              </a:rPr>
              <a:t>—</a:t>
            </a:r>
            <a:r>
              <a:rPr sz="1100" dirty="0">
                <a:latin typeface="Arial"/>
                <a:cs typeface="Arial"/>
              </a:rPr>
              <a:t>what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might</a:t>
            </a:r>
            <a:r>
              <a:rPr sz="1100" spc="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Socrates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missing?</a:t>
            </a:r>
            <a:r>
              <a:rPr sz="1100" spc="28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(The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paradox:</a:t>
            </a:r>
            <a:r>
              <a:rPr sz="1100" spc="19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we </a:t>
            </a:r>
            <a:r>
              <a:rPr sz="1100" dirty="0">
                <a:latin typeface="Arial"/>
                <a:cs typeface="Arial"/>
              </a:rPr>
              <a:t>only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know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case</a:t>
            </a:r>
            <a:r>
              <a:rPr sz="1100" spc="-10" dirty="0">
                <a:latin typeface="Arial"/>
                <a:cs typeface="Arial"/>
              </a:rPr>
              <a:t> against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writing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because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Plato </a:t>
            </a:r>
            <a:r>
              <a:rPr sz="1100" i="1" dirty="0">
                <a:latin typeface="Arial"/>
                <a:cs typeface="Arial"/>
              </a:rPr>
              <a:t>wrote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it</a:t>
            </a:r>
            <a:r>
              <a:rPr sz="1100" i="1" spc="-10" dirty="0">
                <a:latin typeface="Arial"/>
                <a:cs typeface="Arial"/>
              </a:rPr>
              <a:t> down</a:t>
            </a:r>
            <a:r>
              <a:rPr sz="1100" spc="-10" dirty="0">
                <a:latin typeface="Arial"/>
                <a:cs typeface="Arial"/>
              </a:rPr>
              <a:t>.)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37"/>
              <a:ext cx="1617345" cy="5080"/>
            </a:xfrm>
            <a:custGeom>
              <a:avLst/>
              <a:gdLst/>
              <a:ahLst/>
              <a:cxnLst/>
              <a:rect l="l" t="t" r="r" b="b"/>
              <a:pathLst>
                <a:path w="1617345" h="5080">
                  <a:moveTo>
                    <a:pt x="0" y="5060"/>
                  </a:moveTo>
                  <a:lnTo>
                    <a:pt x="0" y="0"/>
                  </a:lnTo>
                  <a:lnTo>
                    <a:pt x="1616856" y="0"/>
                  </a:lnTo>
                  <a:lnTo>
                    <a:pt x="161685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770" y="74559"/>
            <a:ext cx="226949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14" dirty="0">
                <a:solidFill>
                  <a:srgbClr val="FFFFFF"/>
                </a:solidFill>
                <a:latin typeface="Arial Black"/>
                <a:cs typeface="Arial Black"/>
              </a:rPr>
              <a:t>Social</a:t>
            </a:r>
            <a:r>
              <a:rPr sz="12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130" dirty="0">
                <a:solidFill>
                  <a:srgbClr val="FFFFFF"/>
                </a:solidFill>
                <a:latin typeface="Arial Black"/>
                <a:cs typeface="Arial Black"/>
              </a:rPr>
              <a:t>Consequences</a:t>
            </a:r>
            <a:r>
              <a:rPr sz="12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95" dirty="0">
                <a:solidFill>
                  <a:srgbClr val="FFFFFF"/>
                </a:solidFill>
                <a:latin typeface="Arial Black"/>
                <a:cs typeface="Arial Black"/>
              </a:rPr>
              <a:t>of</a:t>
            </a:r>
            <a:r>
              <a:rPr sz="12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Arial Black"/>
                <a:cs typeface="Arial Black"/>
              </a:rPr>
              <a:t>Writing</a:t>
            </a:r>
            <a:endParaRPr sz="1200">
              <a:latin typeface="Arial Black"/>
              <a:cs typeface="Arial Black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07213" y="657466"/>
          <a:ext cx="2495550" cy="1433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209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100" spc="73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,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Benefits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12065" marB="0">
                    <a:solidFill>
                      <a:srgbClr val="19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1105">
                <a:tc>
                  <a:txBody>
                    <a:bodyPr/>
                    <a:lstStyle/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380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4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Law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3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codes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(Hammurabi,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Torah)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5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0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Historical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records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memory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Literature</a:t>
                      </a:r>
                      <a:r>
                        <a:rPr sz="1100" spc="-7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poetry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Religious</a:t>
                      </a:r>
                      <a:r>
                        <a:rPr sz="1100" spc="-7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texts</a:t>
                      </a:r>
                      <a:r>
                        <a:rPr sz="1100" spc="-7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preserved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Scholarship</a:t>
                      </a:r>
                      <a:r>
                        <a:rPr sz="1100" spc="-7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across generations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5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2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Contracts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commerce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033610" y="510412"/>
          <a:ext cx="2495550" cy="172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209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100" spc="68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f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Harms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12065" marB="0">
                    <a:solidFill>
                      <a:srgbClr val="BF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5110">
                <a:tc>
                  <a:txBody>
                    <a:bodyPr/>
                    <a:lstStyle/>
                    <a:p>
                      <a:pPr marL="274320" marR="317500" indent="-121920">
                        <a:lnSpc>
                          <a:spcPts val="1190"/>
                        </a:lnSpc>
                        <a:spcBef>
                          <a:spcPts val="540"/>
                        </a:spcBef>
                        <a:buClr>
                          <a:srgbClr val="BF392B"/>
                        </a:buClr>
                        <a:buFont typeface="Arial"/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7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Imperial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administration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 	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control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marR="36830" indent="-121920">
                        <a:lnSpc>
                          <a:spcPts val="1190"/>
                        </a:lnSpc>
                        <a:spcBef>
                          <a:spcPts val="305"/>
                        </a:spcBef>
                        <a:buClr>
                          <a:srgbClr val="BF392B"/>
                        </a:buClr>
                        <a:buFont typeface="Arial"/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Social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stratification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1100" spc="9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literate</a:t>
                      </a:r>
                      <a:r>
                        <a:rPr sz="1100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elite 	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vs.</a:t>
                      </a:r>
                      <a:r>
                        <a:rPr sz="1100" spc="9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illiterate</a:t>
                      </a:r>
                      <a:r>
                        <a:rPr sz="1100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masses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55"/>
                        </a:spcBef>
                        <a:buClr>
                          <a:srgbClr val="BF392B"/>
                        </a:buClr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5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Loss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of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oral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traditions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4320" marR="550545" indent="-121920">
                        <a:lnSpc>
                          <a:spcPts val="1190"/>
                        </a:lnSpc>
                        <a:spcBef>
                          <a:spcPts val="320"/>
                        </a:spcBef>
                        <a:buClr>
                          <a:srgbClr val="BF392B"/>
                        </a:buClr>
                        <a:buFont typeface="Arial"/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Bureaucratic</a:t>
                      </a:r>
                      <a:r>
                        <a:rPr sz="1100" spc="-4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power</a:t>
                      </a:r>
                      <a:r>
                        <a:rPr sz="1100" spc="-4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over 	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individuals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55"/>
                        </a:spcBef>
                        <a:buClr>
                          <a:srgbClr val="BF392B"/>
                        </a:buClr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Propaganda</a:t>
                      </a:r>
                      <a:r>
                        <a:rPr sz="1100" spc="-7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becomes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possible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solidFill>
                      <a:srgbClr val="F9E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59994" y="2384666"/>
          <a:ext cx="5116195" cy="545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4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Key</a:t>
                      </a:r>
                      <a:r>
                        <a:rPr sz="1100" spc="-9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Insight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2D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45720" marR="182880">
                        <a:lnSpc>
                          <a:spcPts val="1190"/>
                        </a:lnSpc>
                        <a:spcBef>
                          <a:spcPts val="229"/>
                        </a:spcBef>
                      </a:pP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same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technology that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enables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law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 literature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also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enables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empire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control.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solidFill>
                      <a:srgbClr val="F4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37"/>
              <a:ext cx="1718310" cy="5080"/>
            </a:xfrm>
            <a:custGeom>
              <a:avLst/>
              <a:gdLst/>
              <a:ahLst/>
              <a:cxnLst/>
              <a:rect l="l" t="t" r="r" b="b"/>
              <a:pathLst>
                <a:path w="1718310" h="5080">
                  <a:moveTo>
                    <a:pt x="0" y="5060"/>
                  </a:moveTo>
                  <a:lnTo>
                    <a:pt x="0" y="0"/>
                  </a:lnTo>
                  <a:lnTo>
                    <a:pt x="1717931" y="0"/>
                  </a:lnTo>
                  <a:lnTo>
                    <a:pt x="171793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40" dirty="0"/>
              <a:t>The</a:t>
            </a:r>
            <a:r>
              <a:rPr spc="-85" dirty="0"/>
              <a:t> </a:t>
            </a:r>
            <a:r>
              <a:rPr spc="-105" dirty="0"/>
              <a:t>Pattern</a:t>
            </a:r>
            <a:r>
              <a:rPr spc="-85" dirty="0"/>
              <a:t> </a:t>
            </a:r>
            <a:r>
              <a:rPr spc="-120" dirty="0"/>
              <a:t>Emerges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08546" y="534399"/>
            <a:ext cx="977265" cy="297180"/>
            <a:chOff x="908546" y="534399"/>
            <a:chExt cx="977265" cy="297180"/>
          </a:xfrm>
        </p:grpSpPr>
        <p:sp>
          <p:nvSpPr>
            <p:cNvPr id="4" name="object 4"/>
            <p:cNvSpPr/>
            <p:nvPr/>
          </p:nvSpPr>
          <p:spPr>
            <a:xfrm>
              <a:off x="911086" y="536939"/>
              <a:ext cx="972185" cy="292100"/>
            </a:xfrm>
            <a:custGeom>
              <a:avLst/>
              <a:gdLst/>
              <a:ahLst/>
              <a:cxnLst/>
              <a:rect l="l" t="t" r="r" b="b"/>
              <a:pathLst>
                <a:path w="972185" h="292100">
                  <a:moveTo>
                    <a:pt x="92139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40988"/>
                  </a:lnTo>
                  <a:lnTo>
                    <a:pt x="3977" y="260688"/>
                  </a:lnTo>
                  <a:lnTo>
                    <a:pt x="14823" y="276776"/>
                  </a:lnTo>
                  <a:lnTo>
                    <a:pt x="30910" y="287622"/>
                  </a:lnTo>
                  <a:lnTo>
                    <a:pt x="50610" y="291599"/>
                  </a:lnTo>
                  <a:lnTo>
                    <a:pt x="921394" y="291599"/>
                  </a:lnTo>
                  <a:lnTo>
                    <a:pt x="941094" y="287622"/>
                  </a:lnTo>
                  <a:lnTo>
                    <a:pt x="957181" y="276776"/>
                  </a:lnTo>
                  <a:lnTo>
                    <a:pt x="968027" y="260688"/>
                  </a:lnTo>
                  <a:lnTo>
                    <a:pt x="972005" y="240988"/>
                  </a:lnTo>
                  <a:lnTo>
                    <a:pt x="972005" y="50610"/>
                  </a:lnTo>
                  <a:lnTo>
                    <a:pt x="968027" y="30910"/>
                  </a:lnTo>
                  <a:lnTo>
                    <a:pt x="957181" y="14823"/>
                  </a:lnTo>
                  <a:lnTo>
                    <a:pt x="941094" y="3977"/>
                  </a:lnTo>
                  <a:lnTo>
                    <a:pt x="921394" y="0"/>
                  </a:lnTo>
                  <a:close/>
                </a:path>
              </a:pathLst>
            </a:custGeom>
            <a:solidFill>
              <a:srgbClr val="E9D6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1086" y="536939"/>
              <a:ext cx="972185" cy="292100"/>
            </a:xfrm>
            <a:custGeom>
              <a:avLst/>
              <a:gdLst/>
              <a:ahLst/>
              <a:cxnLst/>
              <a:rect l="l" t="t" r="r" b="b"/>
              <a:pathLst>
                <a:path w="972185" h="292100">
                  <a:moveTo>
                    <a:pt x="92139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40988"/>
                  </a:lnTo>
                  <a:lnTo>
                    <a:pt x="3977" y="260688"/>
                  </a:lnTo>
                  <a:lnTo>
                    <a:pt x="14823" y="276776"/>
                  </a:lnTo>
                  <a:lnTo>
                    <a:pt x="30910" y="287622"/>
                  </a:lnTo>
                  <a:lnTo>
                    <a:pt x="50610" y="291599"/>
                  </a:lnTo>
                  <a:lnTo>
                    <a:pt x="921394" y="291599"/>
                  </a:lnTo>
                  <a:lnTo>
                    <a:pt x="941094" y="287622"/>
                  </a:lnTo>
                  <a:lnTo>
                    <a:pt x="957181" y="276776"/>
                  </a:lnTo>
                  <a:lnTo>
                    <a:pt x="968027" y="260688"/>
                  </a:lnTo>
                  <a:lnTo>
                    <a:pt x="972005" y="240988"/>
                  </a:lnTo>
                  <a:lnTo>
                    <a:pt x="972005" y="50610"/>
                  </a:lnTo>
                  <a:lnTo>
                    <a:pt x="968027" y="30910"/>
                  </a:lnTo>
                  <a:lnTo>
                    <a:pt x="957181" y="14823"/>
                  </a:lnTo>
                  <a:lnTo>
                    <a:pt x="941094" y="3977"/>
                  </a:lnTo>
                  <a:lnTo>
                    <a:pt x="921394" y="0"/>
                  </a:lnTo>
                  <a:close/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11605" y="538197"/>
            <a:ext cx="571500" cy="28257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28575" marR="5080" indent="-16510">
              <a:lnSpc>
                <a:spcPts val="950"/>
              </a:lnSpc>
              <a:spcBef>
                <a:spcPts val="23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Promise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Liberation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68308" y="524282"/>
            <a:ext cx="977265" cy="317500"/>
            <a:chOff x="2468308" y="524282"/>
            <a:chExt cx="977265" cy="317500"/>
          </a:xfrm>
        </p:grpSpPr>
        <p:sp>
          <p:nvSpPr>
            <p:cNvPr id="8" name="object 8"/>
            <p:cNvSpPr/>
            <p:nvPr/>
          </p:nvSpPr>
          <p:spPr>
            <a:xfrm>
              <a:off x="2470848" y="526822"/>
              <a:ext cx="972185" cy="312420"/>
            </a:xfrm>
            <a:custGeom>
              <a:avLst/>
              <a:gdLst/>
              <a:ahLst/>
              <a:cxnLst/>
              <a:rect l="l" t="t" r="r" b="b"/>
              <a:pathLst>
                <a:path w="972185" h="312419">
                  <a:moveTo>
                    <a:pt x="92139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61222"/>
                  </a:lnTo>
                  <a:lnTo>
                    <a:pt x="3977" y="280923"/>
                  </a:lnTo>
                  <a:lnTo>
                    <a:pt x="14823" y="297010"/>
                  </a:lnTo>
                  <a:lnTo>
                    <a:pt x="30910" y="307856"/>
                  </a:lnTo>
                  <a:lnTo>
                    <a:pt x="50610" y="311833"/>
                  </a:lnTo>
                  <a:lnTo>
                    <a:pt x="921394" y="311833"/>
                  </a:lnTo>
                  <a:lnTo>
                    <a:pt x="941094" y="307856"/>
                  </a:lnTo>
                  <a:lnTo>
                    <a:pt x="957182" y="297010"/>
                  </a:lnTo>
                  <a:lnTo>
                    <a:pt x="968028" y="280923"/>
                  </a:lnTo>
                  <a:lnTo>
                    <a:pt x="972005" y="261222"/>
                  </a:lnTo>
                  <a:lnTo>
                    <a:pt x="972005" y="50610"/>
                  </a:lnTo>
                  <a:lnTo>
                    <a:pt x="968028" y="30910"/>
                  </a:lnTo>
                  <a:lnTo>
                    <a:pt x="957182" y="14823"/>
                  </a:lnTo>
                  <a:lnTo>
                    <a:pt x="941094" y="3977"/>
                  </a:lnTo>
                  <a:lnTo>
                    <a:pt x="921394" y="0"/>
                  </a:lnTo>
                  <a:close/>
                </a:path>
              </a:pathLst>
            </a:custGeom>
            <a:solidFill>
              <a:srgbClr val="DCE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70848" y="526822"/>
              <a:ext cx="972185" cy="312420"/>
            </a:xfrm>
            <a:custGeom>
              <a:avLst/>
              <a:gdLst/>
              <a:ahLst/>
              <a:cxnLst/>
              <a:rect l="l" t="t" r="r" b="b"/>
              <a:pathLst>
                <a:path w="972185" h="312419">
                  <a:moveTo>
                    <a:pt x="92139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61222"/>
                  </a:lnTo>
                  <a:lnTo>
                    <a:pt x="3977" y="280923"/>
                  </a:lnTo>
                  <a:lnTo>
                    <a:pt x="14823" y="297010"/>
                  </a:lnTo>
                  <a:lnTo>
                    <a:pt x="30910" y="307856"/>
                  </a:lnTo>
                  <a:lnTo>
                    <a:pt x="50610" y="311833"/>
                  </a:lnTo>
                  <a:lnTo>
                    <a:pt x="921394" y="311833"/>
                  </a:lnTo>
                  <a:lnTo>
                    <a:pt x="941094" y="307856"/>
                  </a:lnTo>
                  <a:lnTo>
                    <a:pt x="957182" y="297010"/>
                  </a:lnTo>
                  <a:lnTo>
                    <a:pt x="968028" y="280923"/>
                  </a:lnTo>
                  <a:lnTo>
                    <a:pt x="972005" y="261222"/>
                  </a:lnTo>
                  <a:lnTo>
                    <a:pt x="972005" y="50610"/>
                  </a:lnTo>
                  <a:lnTo>
                    <a:pt x="968028" y="30910"/>
                  </a:lnTo>
                  <a:lnTo>
                    <a:pt x="957182" y="14823"/>
                  </a:lnTo>
                  <a:lnTo>
                    <a:pt x="941094" y="3977"/>
                  </a:lnTo>
                  <a:lnTo>
                    <a:pt x="921394" y="0"/>
                  </a:lnTo>
                  <a:close/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638844" y="527491"/>
            <a:ext cx="636270" cy="28257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85090" marR="5080" indent="-73025">
              <a:lnSpc>
                <a:spcPts val="950"/>
              </a:lnSpc>
              <a:spcBef>
                <a:spcPts val="23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Widespread Adoption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028065" y="524282"/>
            <a:ext cx="977265" cy="317500"/>
            <a:chOff x="4028065" y="524282"/>
            <a:chExt cx="977265" cy="317500"/>
          </a:xfrm>
        </p:grpSpPr>
        <p:sp>
          <p:nvSpPr>
            <p:cNvPr id="12" name="object 12"/>
            <p:cNvSpPr/>
            <p:nvPr/>
          </p:nvSpPr>
          <p:spPr>
            <a:xfrm>
              <a:off x="4030605" y="526822"/>
              <a:ext cx="972185" cy="312420"/>
            </a:xfrm>
            <a:custGeom>
              <a:avLst/>
              <a:gdLst/>
              <a:ahLst/>
              <a:cxnLst/>
              <a:rect l="l" t="t" r="r" b="b"/>
              <a:pathLst>
                <a:path w="972185" h="312419">
                  <a:moveTo>
                    <a:pt x="92139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61222"/>
                  </a:lnTo>
                  <a:lnTo>
                    <a:pt x="3977" y="280923"/>
                  </a:lnTo>
                  <a:lnTo>
                    <a:pt x="14823" y="297010"/>
                  </a:lnTo>
                  <a:lnTo>
                    <a:pt x="30910" y="307856"/>
                  </a:lnTo>
                  <a:lnTo>
                    <a:pt x="50610" y="311833"/>
                  </a:lnTo>
                  <a:lnTo>
                    <a:pt x="921394" y="311833"/>
                  </a:lnTo>
                  <a:lnTo>
                    <a:pt x="941094" y="307856"/>
                  </a:lnTo>
                  <a:lnTo>
                    <a:pt x="957181" y="297010"/>
                  </a:lnTo>
                  <a:lnTo>
                    <a:pt x="968028" y="280923"/>
                  </a:lnTo>
                  <a:lnTo>
                    <a:pt x="972005" y="261222"/>
                  </a:lnTo>
                  <a:lnTo>
                    <a:pt x="972005" y="50610"/>
                  </a:lnTo>
                  <a:lnTo>
                    <a:pt x="968028" y="30910"/>
                  </a:lnTo>
                  <a:lnTo>
                    <a:pt x="957181" y="14823"/>
                  </a:lnTo>
                  <a:lnTo>
                    <a:pt x="941094" y="3977"/>
                  </a:lnTo>
                  <a:lnTo>
                    <a:pt x="921394" y="0"/>
                  </a:lnTo>
                  <a:close/>
                </a:path>
              </a:pathLst>
            </a:custGeom>
            <a:solidFill>
              <a:srgbClr val="DCE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030605" y="526822"/>
              <a:ext cx="972185" cy="312420"/>
            </a:xfrm>
            <a:custGeom>
              <a:avLst/>
              <a:gdLst/>
              <a:ahLst/>
              <a:cxnLst/>
              <a:rect l="l" t="t" r="r" b="b"/>
              <a:pathLst>
                <a:path w="972185" h="312419">
                  <a:moveTo>
                    <a:pt x="92139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61222"/>
                  </a:lnTo>
                  <a:lnTo>
                    <a:pt x="3977" y="280923"/>
                  </a:lnTo>
                  <a:lnTo>
                    <a:pt x="14823" y="297010"/>
                  </a:lnTo>
                  <a:lnTo>
                    <a:pt x="30910" y="307856"/>
                  </a:lnTo>
                  <a:lnTo>
                    <a:pt x="50610" y="311833"/>
                  </a:lnTo>
                  <a:lnTo>
                    <a:pt x="921394" y="311833"/>
                  </a:lnTo>
                  <a:lnTo>
                    <a:pt x="941094" y="307856"/>
                  </a:lnTo>
                  <a:lnTo>
                    <a:pt x="957181" y="297010"/>
                  </a:lnTo>
                  <a:lnTo>
                    <a:pt x="968028" y="280923"/>
                  </a:lnTo>
                  <a:lnTo>
                    <a:pt x="972005" y="261222"/>
                  </a:lnTo>
                  <a:lnTo>
                    <a:pt x="972005" y="50610"/>
                  </a:lnTo>
                  <a:lnTo>
                    <a:pt x="968028" y="30910"/>
                  </a:lnTo>
                  <a:lnTo>
                    <a:pt x="957181" y="14823"/>
                  </a:lnTo>
                  <a:lnTo>
                    <a:pt x="941094" y="3977"/>
                  </a:lnTo>
                  <a:lnTo>
                    <a:pt x="921394" y="0"/>
                  </a:lnTo>
                  <a:close/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129061" y="527491"/>
            <a:ext cx="775335" cy="28257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 indent="78740">
              <a:lnSpc>
                <a:spcPts val="950"/>
              </a:lnSpc>
              <a:spcBef>
                <a:spcPts val="23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Unforeseen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Consequences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028054" y="1229471"/>
            <a:ext cx="977265" cy="297180"/>
            <a:chOff x="4028054" y="1229471"/>
            <a:chExt cx="977265" cy="297180"/>
          </a:xfrm>
        </p:grpSpPr>
        <p:sp>
          <p:nvSpPr>
            <p:cNvPr id="16" name="object 16"/>
            <p:cNvSpPr/>
            <p:nvPr/>
          </p:nvSpPr>
          <p:spPr>
            <a:xfrm>
              <a:off x="4030594" y="1232011"/>
              <a:ext cx="972185" cy="292100"/>
            </a:xfrm>
            <a:custGeom>
              <a:avLst/>
              <a:gdLst/>
              <a:ahLst/>
              <a:cxnLst/>
              <a:rect l="l" t="t" r="r" b="b"/>
              <a:pathLst>
                <a:path w="972185" h="292100">
                  <a:moveTo>
                    <a:pt x="92139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40988"/>
                  </a:lnTo>
                  <a:lnTo>
                    <a:pt x="3977" y="260689"/>
                  </a:lnTo>
                  <a:lnTo>
                    <a:pt x="14823" y="276776"/>
                  </a:lnTo>
                  <a:lnTo>
                    <a:pt x="30910" y="287622"/>
                  </a:lnTo>
                  <a:lnTo>
                    <a:pt x="50610" y="291599"/>
                  </a:lnTo>
                  <a:lnTo>
                    <a:pt x="921394" y="291599"/>
                  </a:lnTo>
                  <a:lnTo>
                    <a:pt x="941094" y="287622"/>
                  </a:lnTo>
                  <a:lnTo>
                    <a:pt x="957182" y="276776"/>
                  </a:lnTo>
                  <a:lnTo>
                    <a:pt x="968028" y="260689"/>
                  </a:lnTo>
                  <a:lnTo>
                    <a:pt x="972005" y="240988"/>
                  </a:lnTo>
                  <a:lnTo>
                    <a:pt x="972005" y="50610"/>
                  </a:lnTo>
                  <a:lnTo>
                    <a:pt x="968028" y="30910"/>
                  </a:lnTo>
                  <a:lnTo>
                    <a:pt x="957182" y="14823"/>
                  </a:lnTo>
                  <a:lnTo>
                    <a:pt x="941094" y="3977"/>
                  </a:lnTo>
                  <a:lnTo>
                    <a:pt x="921394" y="0"/>
                  </a:lnTo>
                  <a:close/>
                </a:path>
              </a:pathLst>
            </a:custGeom>
            <a:solidFill>
              <a:srgbClr val="DCE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30594" y="1232011"/>
              <a:ext cx="972185" cy="292100"/>
            </a:xfrm>
            <a:custGeom>
              <a:avLst/>
              <a:gdLst/>
              <a:ahLst/>
              <a:cxnLst/>
              <a:rect l="l" t="t" r="r" b="b"/>
              <a:pathLst>
                <a:path w="972185" h="292100">
                  <a:moveTo>
                    <a:pt x="92139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40988"/>
                  </a:lnTo>
                  <a:lnTo>
                    <a:pt x="3977" y="260689"/>
                  </a:lnTo>
                  <a:lnTo>
                    <a:pt x="14823" y="276776"/>
                  </a:lnTo>
                  <a:lnTo>
                    <a:pt x="30910" y="287622"/>
                  </a:lnTo>
                  <a:lnTo>
                    <a:pt x="50610" y="291599"/>
                  </a:lnTo>
                  <a:lnTo>
                    <a:pt x="921394" y="291599"/>
                  </a:lnTo>
                  <a:lnTo>
                    <a:pt x="941094" y="287622"/>
                  </a:lnTo>
                  <a:lnTo>
                    <a:pt x="957182" y="276776"/>
                  </a:lnTo>
                  <a:lnTo>
                    <a:pt x="968028" y="260689"/>
                  </a:lnTo>
                  <a:lnTo>
                    <a:pt x="972005" y="240988"/>
                  </a:lnTo>
                  <a:lnTo>
                    <a:pt x="972005" y="50610"/>
                  </a:lnTo>
                  <a:lnTo>
                    <a:pt x="968028" y="30910"/>
                  </a:lnTo>
                  <a:lnTo>
                    <a:pt x="957182" y="14823"/>
                  </a:lnTo>
                  <a:lnTo>
                    <a:pt x="941094" y="3977"/>
                  </a:lnTo>
                  <a:lnTo>
                    <a:pt x="921394" y="0"/>
                  </a:lnTo>
                  <a:close/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244746" y="1233255"/>
            <a:ext cx="544195" cy="28257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 indent="79375">
              <a:lnSpc>
                <a:spcPts val="950"/>
              </a:lnSpc>
              <a:spcBef>
                <a:spcPts val="23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Critical Reflection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08546" y="1219354"/>
            <a:ext cx="977265" cy="297180"/>
            <a:chOff x="908546" y="1219354"/>
            <a:chExt cx="977265" cy="297180"/>
          </a:xfrm>
        </p:grpSpPr>
        <p:sp>
          <p:nvSpPr>
            <p:cNvPr id="20" name="object 20"/>
            <p:cNvSpPr/>
            <p:nvPr/>
          </p:nvSpPr>
          <p:spPr>
            <a:xfrm>
              <a:off x="911086" y="1221894"/>
              <a:ext cx="972185" cy="292100"/>
            </a:xfrm>
            <a:custGeom>
              <a:avLst/>
              <a:gdLst/>
              <a:ahLst/>
              <a:cxnLst/>
              <a:rect l="l" t="t" r="r" b="b"/>
              <a:pathLst>
                <a:path w="972185" h="292100">
                  <a:moveTo>
                    <a:pt x="92139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40988"/>
                  </a:lnTo>
                  <a:lnTo>
                    <a:pt x="3977" y="260688"/>
                  </a:lnTo>
                  <a:lnTo>
                    <a:pt x="14823" y="276775"/>
                  </a:lnTo>
                  <a:lnTo>
                    <a:pt x="30910" y="287622"/>
                  </a:lnTo>
                  <a:lnTo>
                    <a:pt x="50610" y="291599"/>
                  </a:lnTo>
                  <a:lnTo>
                    <a:pt x="921394" y="291599"/>
                  </a:lnTo>
                  <a:lnTo>
                    <a:pt x="941094" y="287622"/>
                  </a:lnTo>
                  <a:lnTo>
                    <a:pt x="957181" y="276775"/>
                  </a:lnTo>
                  <a:lnTo>
                    <a:pt x="968027" y="260688"/>
                  </a:lnTo>
                  <a:lnTo>
                    <a:pt x="972005" y="240988"/>
                  </a:lnTo>
                  <a:lnTo>
                    <a:pt x="972005" y="50610"/>
                  </a:lnTo>
                  <a:lnTo>
                    <a:pt x="968027" y="30910"/>
                  </a:lnTo>
                  <a:lnTo>
                    <a:pt x="957181" y="14823"/>
                  </a:lnTo>
                  <a:lnTo>
                    <a:pt x="941094" y="3977"/>
                  </a:lnTo>
                  <a:lnTo>
                    <a:pt x="921394" y="0"/>
                  </a:lnTo>
                  <a:close/>
                </a:path>
              </a:pathLst>
            </a:custGeom>
            <a:solidFill>
              <a:srgbClr val="DCE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11086" y="1221894"/>
              <a:ext cx="972185" cy="292100"/>
            </a:xfrm>
            <a:custGeom>
              <a:avLst/>
              <a:gdLst/>
              <a:ahLst/>
              <a:cxnLst/>
              <a:rect l="l" t="t" r="r" b="b"/>
              <a:pathLst>
                <a:path w="972185" h="292100">
                  <a:moveTo>
                    <a:pt x="92139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40988"/>
                  </a:lnTo>
                  <a:lnTo>
                    <a:pt x="3977" y="260688"/>
                  </a:lnTo>
                  <a:lnTo>
                    <a:pt x="14823" y="276775"/>
                  </a:lnTo>
                  <a:lnTo>
                    <a:pt x="30910" y="287622"/>
                  </a:lnTo>
                  <a:lnTo>
                    <a:pt x="50610" y="291599"/>
                  </a:lnTo>
                  <a:lnTo>
                    <a:pt x="921394" y="291599"/>
                  </a:lnTo>
                  <a:lnTo>
                    <a:pt x="941094" y="287622"/>
                  </a:lnTo>
                  <a:lnTo>
                    <a:pt x="957181" y="276775"/>
                  </a:lnTo>
                  <a:lnTo>
                    <a:pt x="968027" y="260688"/>
                  </a:lnTo>
                  <a:lnTo>
                    <a:pt x="972005" y="240988"/>
                  </a:lnTo>
                  <a:lnTo>
                    <a:pt x="972005" y="50610"/>
                  </a:lnTo>
                  <a:lnTo>
                    <a:pt x="968027" y="30910"/>
                  </a:lnTo>
                  <a:lnTo>
                    <a:pt x="957181" y="14823"/>
                  </a:lnTo>
                  <a:lnTo>
                    <a:pt x="941094" y="3977"/>
                  </a:lnTo>
                  <a:lnTo>
                    <a:pt x="921394" y="0"/>
                  </a:lnTo>
                  <a:close/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095387" y="1220897"/>
            <a:ext cx="603885" cy="28257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50165" marR="5080" indent="-38100">
              <a:lnSpc>
                <a:spcPts val="950"/>
              </a:lnSpc>
              <a:spcBef>
                <a:spcPts val="23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Forms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Control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366723" y="652373"/>
            <a:ext cx="3180715" cy="747395"/>
            <a:chOff x="1366723" y="652373"/>
            <a:chExt cx="3180715" cy="747395"/>
          </a:xfrm>
        </p:grpSpPr>
        <p:sp>
          <p:nvSpPr>
            <p:cNvPr id="24" name="object 24"/>
            <p:cNvSpPr/>
            <p:nvPr/>
          </p:nvSpPr>
          <p:spPr>
            <a:xfrm>
              <a:off x="1885367" y="682739"/>
              <a:ext cx="574675" cy="0"/>
            </a:xfrm>
            <a:custGeom>
              <a:avLst/>
              <a:gdLst/>
              <a:ahLst/>
              <a:cxnLst/>
              <a:rect l="l" t="t" r="r" b="b"/>
              <a:pathLst>
                <a:path w="574675">
                  <a:moveTo>
                    <a:pt x="0" y="0"/>
                  </a:moveTo>
                  <a:lnTo>
                    <a:pt x="574216" y="0"/>
                  </a:lnTo>
                </a:path>
              </a:pathLst>
            </a:custGeom>
            <a:ln w="10122">
              <a:solidFill>
                <a:srgbClr val="194A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439846" y="656422"/>
              <a:ext cx="24765" cy="52705"/>
            </a:xfrm>
            <a:custGeom>
              <a:avLst/>
              <a:gdLst/>
              <a:ahLst/>
              <a:cxnLst/>
              <a:rect l="l" t="t" r="r" b="b"/>
              <a:pathLst>
                <a:path w="24764" h="52704">
                  <a:moveTo>
                    <a:pt x="0" y="0"/>
                  </a:moveTo>
                  <a:lnTo>
                    <a:pt x="3855" y="8044"/>
                  </a:lnTo>
                  <a:lnTo>
                    <a:pt x="11102" y="16242"/>
                  </a:lnTo>
                  <a:lnTo>
                    <a:pt x="18966" y="22898"/>
                  </a:lnTo>
                  <a:lnTo>
                    <a:pt x="24671" y="26316"/>
                  </a:lnTo>
                  <a:lnTo>
                    <a:pt x="18966" y="29734"/>
                  </a:lnTo>
                  <a:lnTo>
                    <a:pt x="11102" y="36391"/>
                  </a:lnTo>
                  <a:lnTo>
                    <a:pt x="3855" y="44589"/>
                  </a:lnTo>
                  <a:lnTo>
                    <a:pt x="0" y="52633"/>
                  </a:lnTo>
                </a:path>
              </a:pathLst>
            </a:custGeom>
            <a:ln w="8097">
              <a:solidFill>
                <a:srgbClr val="194A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445123" y="682739"/>
              <a:ext cx="574675" cy="0"/>
            </a:xfrm>
            <a:custGeom>
              <a:avLst/>
              <a:gdLst/>
              <a:ahLst/>
              <a:cxnLst/>
              <a:rect l="l" t="t" r="r" b="b"/>
              <a:pathLst>
                <a:path w="574675">
                  <a:moveTo>
                    <a:pt x="0" y="0"/>
                  </a:moveTo>
                  <a:lnTo>
                    <a:pt x="574210" y="0"/>
                  </a:lnTo>
                </a:path>
              </a:pathLst>
            </a:custGeom>
            <a:ln w="10122">
              <a:solidFill>
                <a:srgbClr val="194A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999597" y="656422"/>
              <a:ext cx="24765" cy="52705"/>
            </a:xfrm>
            <a:custGeom>
              <a:avLst/>
              <a:gdLst/>
              <a:ahLst/>
              <a:cxnLst/>
              <a:rect l="l" t="t" r="r" b="b"/>
              <a:pathLst>
                <a:path w="24764" h="52704">
                  <a:moveTo>
                    <a:pt x="0" y="0"/>
                  </a:moveTo>
                  <a:lnTo>
                    <a:pt x="3855" y="8044"/>
                  </a:lnTo>
                  <a:lnTo>
                    <a:pt x="11102" y="16242"/>
                  </a:lnTo>
                  <a:lnTo>
                    <a:pt x="18966" y="22898"/>
                  </a:lnTo>
                  <a:lnTo>
                    <a:pt x="24671" y="26316"/>
                  </a:lnTo>
                  <a:lnTo>
                    <a:pt x="18966" y="29734"/>
                  </a:lnTo>
                  <a:lnTo>
                    <a:pt x="11102" y="36391"/>
                  </a:lnTo>
                  <a:lnTo>
                    <a:pt x="3855" y="44589"/>
                  </a:lnTo>
                  <a:lnTo>
                    <a:pt x="0" y="52633"/>
                  </a:lnTo>
                </a:path>
              </a:pathLst>
            </a:custGeom>
            <a:ln w="8097">
              <a:solidFill>
                <a:srgbClr val="194A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16584" y="840932"/>
              <a:ext cx="635" cy="380365"/>
            </a:xfrm>
            <a:custGeom>
              <a:avLst/>
              <a:gdLst/>
              <a:ahLst/>
              <a:cxnLst/>
              <a:rect l="l" t="t" r="r" b="b"/>
              <a:pathLst>
                <a:path w="635" h="380365">
                  <a:moveTo>
                    <a:pt x="7" y="0"/>
                  </a:moveTo>
                  <a:lnTo>
                    <a:pt x="0" y="379815"/>
                  </a:lnTo>
                </a:path>
              </a:pathLst>
            </a:custGeom>
            <a:ln w="10122">
              <a:solidFill>
                <a:srgbClr val="194A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490268" y="1201010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4" h="24765">
                  <a:moveTo>
                    <a:pt x="52632" y="1"/>
                  </a:moveTo>
                  <a:lnTo>
                    <a:pt x="44588" y="3855"/>
                  </a:lnTo>
                  <a:lnTo>
                    <a:pt x="36390" y="11102"/>
                  </a:lnTo>
                  <a:lnTo>
                    <a:pt x="29734" y="18966"/>
                  </a:lnTo>
                  <a:lnTo>
                    <a:pt x="26315" y="24671"/>
                  </a:lnTo>
                  <a:lnTo>
                    <a:pt x="22898" y="18966"/>
                  </a:lnTo>
                  <a:lnTo>
                    <a:pt x="16242" y="11102"/>
                  </a:lnTo>
                  <a:lnTo>
                    <a:pt x="8043" y="3855"/>
                  </a:lnTo>
                  <a:lnTo>
                    <a:pt x="0" y="0"/>
                  </a:lnTo>
                </a:path>
              </a:pathLst>
            </a:custGeom>
            <a:ln w="8097">
              <a:solidFill>
                <a:srgbClr val="194A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894350" y="1369299"/>
              <a:ext cx="2134235" cy="6985"/>
            </a:xfrm>
            <a:custGeom>
              <a:avLst/>
              <a:gdLst/>
              <a:ahLst/>
              <a:cxnLst/>
              <a:rect l="l" t="t" r="r" b="b"/>
              <a:pathLst>
                <a:path w="2134235" h="6984">
                  <a:moveTo>
                    <a:pt x="2133956" y="6928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194A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889416" y="1343047"/>
              <a:ext cx="24765" cy="52705"/>
            </a:xfrm>
            <a:custGeom>
              <a:avLst/>
              <a:gdLst/>
              <a:ahLst/>
              <a:cxnLst/>
              <a:rect l="l" t="t" r="r" b="b"/>
              <a:pathLst>
                <a:path w="24764" h="52705">
                  <a:moveTo>
                    <a:pt x="24585" y="52632"/>
                  </a:moveTo>
                  <a:lnTo>
                    <a:pt x="20756" y="44575"/>
                  </a:lnTo>
                  <a:lnTo>
                    <a:pt x="13536" y="36354"/>
                  </a:lnTo>
                  <a:lnTo>
                    <a:pt x="5694" y="29672"/>
                  </a:lnTo>
                  <a:lnTo>
                    <a:pt x="0" y="26235"/>
                  </a:lnTo>
                  <a:lnTo>
                    <a:pt x="5716" y="22836"/>
                  </a:lnTo>
                  <a:lnTo>
                    <a:pt x="13601" y="16205"/>
                  </a:lnTo>
                  <a:lnTo>
                    <a:pt x="20875" y="8031"/>
                  </a:lnTo>
                  <a:lnTo>
                    <a:pt x="24756" y="0"/>
                  </a:lnTo>
                </a:path>
              </a:pathLst>
            </a:custGeom>
            <a:ln w="8097">
              <a:solidFill>
                <a:srgbClr val="194A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397088" y="839799"/>
              <a:ext cx="0" cy="380365"/>
            </a:xfrm>
            <a:custGeom>
              <a:avLst/>
              <a:gdLst/>
              <a:ahLst/>
              <a:cxnLst/>
              <a:rect l="l" t="t" r="r" b="b"/>
              <a:pathLst>
                <a:path h="380365">
                  <a:moveTo>
                    <a:pt x="0" y="379815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B2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370771" y="834864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5" h="24765">
                  <a:moveTo>
                    <a:pt x="0" y="24671"/>
                  </a:moveTo>
                  <a:lnTo>
                    <a:pt x="8044" y="20816"/>
                  </a:lnTo>
                  <a:lnTo>
                    <a:pt x="16242" y="13569"/>
                  </a:lnTo>
                  <a:lnTo>
                    <a:pt x="22898" y="5705"/>
                  </a:lnTo>
                  <a:lnTo>
                    <a:pt x="26316" y="0"/>
                  </a:lnTo>
                  <a:lnTo>
                    <a:pt x="29734" y="5705"/>
                  </a:lnTo>
                  <a:lnTo>
                    <a:pt x="36391" y="13569"/>
                  </a:lnTo>
                  <a:lnTo>
                    <a:pt x="44589" y="20816"/>
                  </a:lnTo>
                  <a:lnTo>
                    <a:pt x="52633" y="24671"/>
                  </a:lnTo>
                </a:path>
              </a:pathLst>
            </a:custGeom>
            <a:ln w="8097">
              <a:solidFill>
                <a:srgbClr val="B2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83767" y="946567"/>
            <a:ext cx="58039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dirty="0">
                <a:solidFill>
                  <a:srgbClr val="B20000"/>
                </a:solidFill>
                <a:latin typeface="Arial"/>
                <a:cs typeface="Arial"/>
              </a:rPr>
              <a:t>Cycle</a:t>
            </a:r>
            <a:r>
              <a:rPr sz="700" spc="-25" dirty="0">
                <a:solidFill>
                  <a:srgbClr val="B2000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B20000"/>
                </a:solidFill>
                <a:latin typeface="Arial"/>
                <a:cs typeface="Arial"/>
              </a:rPr>
              <a:t>repeats</a:t>
            </a:r>
            <a:endParaRPr sz="700">
              <a:latin typeface="Arial"/>
              <a:cs typeface="Arial"/>
            </a:endParaRPr>
          </a:p>
        </p:txBody>
      </p:sp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359994" y="1754136"/>
          <a:ext cx="5116195" cy="1067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0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Recurring</a:t>
                      </a:r>
                      <a:r>
                        <a:rPr sz="1100" spc="-6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Themes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19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1219">
                <a:tc>
                  <a:txBody>
                    <a:bodyPr/>
                    <a:lstStyle/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395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New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IT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promises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liberation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democratization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Critics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warn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unintended</a:t>
                      </a:r>
                      <a:r>
                        <a:rPr sz="1100" spc="-7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4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consequences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Both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turn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out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partially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right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technology </a:t>
                      </a: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serves</a:t>
                      </a:r>
                      <a:r>
                        <a:rPr sz="1100" spc="-6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whoever</a:t>
                      </a:r>
                      <a:r>
                        <a:rPr sz="1100" spc="-6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controls</a:t>
                      </a:r>
                      <a:r>
                        <a:rPr sz="1100" spc="-6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it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50165" marB="0"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6" name="object 36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37" name="object 37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0" y="3234937"/>
              <a:ext cx="1819275" cy="5080"/>
            </a:xfrm>
            <a:custGeom>
              <a:avLst/>
              <a:gdLst/>
              <a:ahLst/>
              <a:cxnLst/>
              <a:rect l="l" t="t" r="r" b="b"/>
              <a:pathLst>
                <a:path w="1819275" h="5080">
                  <a:moveTo>
                    <a:pt x="0" y="5060"/>
                  </a:moveTo>
                  <a:lnTo>
                    <a:pt x="0" y="0"/>
                  </a:lnTo>
                  <a:lnTo>
                    <a:pt x="1819007" y="0"/>
                  </a:lnTo>
                  <a:lnTo>
                    <a:pt x="181900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5" dirty="0"/>
              <a:t>Lecture</a:t>
            </a:r>
            <a:r>
              <a:rPr spc="-60" dirty="0"/>
              <a:t> </a:t>
            </a:r>
            <a:r>
              <a:rPr spc="-85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47914"/>
            <a:ext cx="3044825" cy="23475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Introduction:</a:t>
            </a:r>
            <a:r>
              <a:rPr sz="1100" spc="195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Information</a:t>
            </a:r>
            <a:r>
              <a:rPr sz="1100" spc="125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spc="-2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Technology</a:t>
            </a:r>
            <a:r>
              <a:rPr sz="1100" spc="13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and</a:t>
            </a:r>
            <a:r>
              <a:rPr sz="1100" spc="125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Ethics</a:t>
            </a:r>
            <a:endParaRPr sz="1100">
              <a:latin typeface="Arial"/>
              <a:cs typeface="Arial"/>
            </a:endParaRPr>
          </a:p>
          <a:p>
            <a:pPr marL="12700" marR="1043305">
              <a:lnSpc>
                <a:spcPct val="214299"/>
              </a:lnSpc>
            </a:pP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Revolution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1:</a:t>
            </a:r>
            <a:r>
              <a:rPr sz="1100" spc="10" dirty="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Writing</a:t>
            </a:r>
            <a:r>
              <a:rPr sz="1100" spc="500" dirty="0">
                <a:solidFill>
                  <a:srgbClr val="CED2D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  <a:hlinkClick r:id="rId4" action="ppaction://hlinksldjump"/>
              </a:rPr>
              <a:t>Revolution</a:t>
            </a:r>
            <a:r>
              <a:rPr sz="1100" spc="-30" dirty="0">
                <a:solidFill>
                  <a:srgbClr val="22373A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  <a:hlinkClick r:id="rId4" action="ppaction://hlinksldjump"/>
              </a:rPr>
              <a:t>2:</a:t>
            </a:r>
            <a:r>
              <a:rPr sz="1100" spc="15" dirty="0">
                <a:solidFill>
                  <a:srgbClr val="22373A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  <a:hlinkClick r:id="rId4" action="ppaction://hlinksldjump"/>
              </a:rPr>
              <a:t>The</a:t>
            </a:r>
            <a:r>
              <a:rPr sz="1100" spc="-30" dirty="0">
                <a:solidFill>
                  <a:srgbClr val="22373A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  <a:hlinkClick r:id="rId4" action="ppaction://hlinksldjump"/>
              </a:rPr>
              <a:t>Printing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  <a:hlinkClick r:id="rId4" action="ppaction://hlinksldjump"/>
              </a:rPr>
              <a:t>Press</a:t>
            </a:r>
            <a:endParaRPr sz="1100">
              <a:latin typeface="Arial"/>
              <a:cs typeface="Arial"/>
            </a:endParaRPr>
          </a:p>
          <a:p>
            <a:pPr marL="12700" marR="613410">
              <a:lnSpc>
                <a:spcPct val="214299"/>
              </a:lnSpc>
            </a:pP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Revolution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3:</a:t>
            </a:r>
            <a:r>
              <a:rPr sz="1100" spc="1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Distance</a:t>
            </a:r>
            <a:r>
              <a:rPr sz="1100" spc="-3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Communication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Revolution</a:t>
            </a:r>
            <a:r>
              <a:rPr sz="1100" spc="-40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4:</a:t>
            </a:r>
            <a:r>
              <a:rPr sz="1100" spc="5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1100" spc="-30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Mass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Media</a:t>
            </a:r>
            <a:endParaRPr sz="1100">
              <a:latin typeface="Arial"/>
              <a:cs typeface="Arial"/>
            </a:endParaRPr>
          </a:p>
          <a:p>
            <a:pPr marL="12700" marR="875030">
              <a:lnSpc>
                <a:spcPct val="214299"/>
              </a:lnSpc>
            </a:pP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Revolution</a:t>
            </a:r>
            <a:r>
              <a:rPr sz="1100" spc="-4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5: 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The</a:t>
            </a:r>
            <a:r>
              <a:rPr sz="1100" spc="-4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World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Wide</a:t>
            </a:r>
            <a:r>
              <a:rPr sz="1100" spc="-4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1100" spc="-25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Web</a:t>
            </a:r>
            <a:r>
              <a:rPr sz="1100" spc="-25" dirty="0">
                <a:solidFill>
                  <a:srgbClr val="CED2D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Conclusion: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Patterns</a:t>
            </a:r>
            <a:r>
              <a:rPr sz="1100" spc="-7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and</a:t>
            </a:r>
            <a:r>
              <a:rPr sz="1100" spc="-7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Lessons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37"/>
              <a:ext cx="1920239" cy="5080"/>
            </a:xfrm>
            <a:custGeom>
              <a:avLst/>
              <a:gdLst/>
              <a:ahLst/>
              <a:cxnLst/>
              <a:rect l="l" t="t" r="r" b="b"/>
              <a:pathLst>
                <a:path w="1920239" h="5080">
                  <a:moveTo>
                    <a:pt x="0" y="5060"/>
                  </a:moveTo>
                  <a:lnTo>
                    <a:pt x="0" y="0"/>
                  </a:lnTo>
                  <a:lnTo>
                    <a:pt x="1919995" y="0"/>
                  </a:lnTo>
                  <a:lnTo>
                    <a:pt x="191999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770" y="74559"/>
            <a:ext cx="282638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14" dirty="0">
                <a:solidFill>
                  <a:srgbClr val="FFFFFF"/>
                </a:solidFill>
                <a:latin typeface="Arial Black"/>
                <a:cs typeface="Arial Black"/>
              </a:rPr>
              <a:t>Revolution</a:t>
            </a:r>
            <a:r>
              <a:rPr sz="1200" spc="-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Arial Black"/>
                <a:cs typeface="Arial Black"/>
              </a:rPr>
              <a:t>2:</a:t>
            </a:r>
            <a:r>
              <a:rPr sz="1200" spc="-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130" dirty="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sz="1200" spc="-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95" dirty="0">
                <a:solidFill>
                  <a:srgbClr val="FFFFFF"/>
                </a:solidFill>
                <a:latin typeface="Arial Black"/>
                <a:cs typeface="Arial Black"/>
              </a:rPr>
              <a:t>Brief</a:t>
            </a:r>
            <a:r>
              <a:rPr sz="1200" spc="-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110" dirty="0">
                <a:solidFill>
                  <a:srgbClr val="FFFFFF"/>
                </a:solidFill>
                <a:latin typeface="Arial Black"/>
                <a:cs typeface="Arial Black"/>
              </a:rPr>
              <a:t>History</a:t>
            </a:r>
            <a:r>
              <a:rPr sz="12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95" dirty="0">
                <a:solidFill>
                  <a:srgbClr val="FFFFFF"/>
                </a:solidFill>
                <a:latin typeface="Arial Black"/>
                <a:cs typeface="Arial Black"/>
              </a:rPr>
              <a:t>of</a:t>
            </a:r>
            <a:r>
              <a:rPr sz="1200" spc="-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Arial Black"/>
                <a:cs typeface="Arial Black"/>
              </a:rPr>
              <a:t>Printing</a:t>
            </a:r>
            <a:endParaRPr sz="1200">
              <a:latin typeface="Arial Black"/>
              <a:cs typeface="Arial Black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59994" y="767499"/>
          <a:ext cx="5116195" cy="1065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4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Key</a:t>
                      </a:r>
                      <a:r>
                        <a:rPr sz="1100" spc="-9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3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Developments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19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315">
                <a:tc>
                  <a:txBody>
                    <a:bodyPr/>
                    <a:lstStyle/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395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2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Chinese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woodblock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printing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(9th</a:t>
                      </a:r>
                      <a:r>
                        <a:rPr sz="1100" spc="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century</a:t>
                      </a:r>
                      <a:r>
                        <a:rPr sz="1100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CE)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Gutenberg’s</a:t>
                      </a:r>
                      <a:r>
                        <a:rPr sz="1100" spc="-5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movable</a:t>
                      </a:r>
                      <a:r>
                        <a:rPr sz="1100" spc="-5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type</a:t>
                      </a:r>
                      <a:r>
                        <a:rPr sz="1100" spc="-5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∼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1440,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Mainz,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Germany)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0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Rapid</a:t>
                      </a: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spread</a:t>
                      </a:r>
                      <a:r>
                        <a:rPr sz="1100" spc="-10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across</a:t>
                      </a:r>
                      <a:r>
                        <a:rPr sz="1100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Europe: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Venice,</a:t>
                      </a:r>
                      <a:r>
                        <a:rPr sz="1100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Paris,</a:t>
                      </a:r>
                      <a:r>
                        <a:rPr sz="1100" spc="-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London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5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Economics</a:t>
                      </a:r>
                      <a:r>
                        <a:rPr sz="1100" spc="-114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Cost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book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drops</a:t>
                      </a:r>
                      <a:r>
                        <a:rPr sz="1100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dramatically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9994" y="1978571"/>
          <a:ext cx="5116195" cy="573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Scale</a:t>
                      </a:r>
                      <a:r>
                        <a:rPr sz="1100" spc="-9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of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Change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2D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45720" marR="1169670">
                        <a:lnSpc>
                          <a:spcPts val="1190"/>
                        </a:lnSpc>
                        <a:spcBef>
                          <a:spcPts val="229"/>
                        </a:spcBef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Before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printing:</a:t>
                      </a:r>
                      <a:r>
                        <a:rPr sz="1100" spc="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single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book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might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cost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as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much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as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6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house</a:t>
                      </a:r>
                      <a:r>
                        <a:rPr sz="1100" spc="-6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.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After</a:t>
                      </a:r>
                      <a:r>
                        <a:rPr sz="1100" spc="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printing:</a:t>
                      </a:r>
                      <a:r>
                        <a:rPr sz="1100" spc="8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Books</a:t>
                      </a:r>
                      <a:r>
                        <a:rPr sz="1100" spc="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become</a:t>
                      </a:r>
                      <a:r>
                        <a:rPr sz="1100" spc="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affordable</a:t>
                      </a:r>
                      <a:r>
                        <a:rPr sz="1100" spc="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100" spc="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middle</a:t>
                      </a:r>
                      <a:r>
                        <a:rPr sz="1100" spc="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class.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solidFill>
                      <a:srgbClr val="F4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37"/>
              <a:ext cx="2021205" cy="5080"/>
            </a:xfrm>
            <a:custGeom>
              <a:avLst/>
              <a:gdLst/>
              <a:ahLst/>
              <a:cxnLst/>
              <a:rect l="l" t="t" r="r" b="b"/>
              <a:pathLst>
                <a:path w="2021205" h="5080">
                  <a:moveTo>
                    <a:pt x="0" y="5060"/>
                  </a:moveTo>
                  <a:lnTo>
                    <a:pt x="0" y="0"/>
                  </a:lnTo>
                  <a:lnTo>
                    <a:pt x="2021070" y="0"/>
                  </a:lnTo>
                  <a:lnTo>
                    <a:pt x="202107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770" y="74559"/>
            <a:ext cx="311721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25" dirty="0">
                <a:solidFill>
                  <a:srgbClr val="FFFFFF"/>
                </a:solidFill>
                <a:latin typeface="Arial Black"/>
                <a:cs typeface="Arial Black"/>
              </a:rPr>
              <a:t>Johannes</a:t>
            </a:r>
            <a:r>
              <a:rPr sz="12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114" dirty="0">
                <a:solidFill>
                  <a:srgbClr val="FFFFFF"/>
                </a:solidFill>
                <a:latin typeface="Arial Black"/>
                <a:cs typeface="Arial Black"/>
              </a:rPr>
              <a:t>Gutenberg</a:t>
            </a:r>
            <a:r>
              <a:rPr sz="12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105" dirty="0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sz="12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105" dirty="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sz="12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95" dirty="0">
                <a:solidFill>
                  <a:srgbClr val="FFFFFF"/>
                </a:solidFill>
                <a:latin typeface="Arial Black"/>
                <a:cs typeface="Arial Black"/>
              </a:rPr>
              <a:t>Printing</a:t>
            </a:r>
            <a:r>
              <a:rPr sz="1200" spc="-75" dirty="0">
                <a:solidFill>
                  <a:srgbClr val="FFFFFF"/>
                </a:solidFill>
                <a:latin typeface="Arial Black"/>
                <a:cs typeface="Arial Black"/>
              </a:rPr>
              <a:t> Press</a:t>
            </a:r>
            <a:endParaRPr sz="1200">
              <a:latin typeface="Arial Black"/>
              <a:cs typeface="Arial Black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90398" y="812647"/>
          <a:ext cx="2697480" cy="1708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0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2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Johannes</a:t>
                      </a:r>
                      <a:r>
                        <a:rPr sz="1100" spc="-5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14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Gutenberg</a:t>
                      </a:r>
                      <a:r>
                        <a:rPr sz="1100" spc="-5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(c.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7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1400–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1468)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19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1935">
                <a:tc>
                  <a:txBody>
                    <a:bodyPr/>
                    <a:lstStyle/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380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German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goldsmith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inventor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5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Developed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movable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type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∼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1440)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ts val="1255"/>
                        </a:lnSpc>
                        <a:spcBef>
                          <a:spcPts val="170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Key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innovations:</a:t>
                      </a:r>
                      <a:r>
                        <a:rPr sz="1100" spc="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metal alloy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type,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6860" marR="50165">
                        <a:lnSpc>
                          <a:spcPts val="1190"/>
                        </a:lnSpc>
                        <a:spcBef>
                          <a:spcPts val="85"/>
                        </a:spcBef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oil-based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ink,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wooden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press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adapted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from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wine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presses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marR="73660" indent="-121920">
                        <a:lnSpc>
                          <a:spcPts val="1190"/>
                        </a:lnSpc>
                        <a:spcBef>
                          <a:spcPts val="300"/>
                        </a:spcBef>
                        <a:buFont typeface="Arial"/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Gutenberg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Bible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(1455):</a:t>
                      </a:r>
                      <a:r>
                        <a:rPr sz="1100" spc="8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First</a:t>
                      </a:r>
                      <a:r>
                        <a:rPr sz="1100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major 	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book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printed</a:t>
                      </a:r>
                      <a:r>
                        <a:rPr sz="1100" spc="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100" spc="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Europe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60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Died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relative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obscurity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3201593" y="833021"/>
            <a:ext cx="874394" cy="658495"/>
            <a:chOff x="3201593" y="833021"/>
            <a:chExt cx="874394" cy="658495"/>
          </a:xfrm>
        </p:grpSpPr>
        <p:sp>
          <p:nvSpPr>
            <p:cNvPr id="5" name="object 5"/>
            <p:cNvSpPr/>
            <p:nvPr/>
          </p:nvSpPr>
          <p:spPr>
            <a:xfrm>
              <a:off x="3206673" y="1378113"/>
              <a:ext cx="864235" cy="108585"/>
            </a:xfrm>
            <a:custGeom>
              <a:avLst/>
              <a:gdLst/>
              <a:ahLst/>
              <a:cxnLst/>
              <a:rect l="l" t="t" r="r" b="b"/>
              <a:pathLst>
                <a:path w="864235" h="108584">
                  <a:moveTo>
                    <a:pt x="0" y="108002"/>
                  </a:moveTo>
                  <a:lnTo>
                    <a:pt x="0" y="0"/>
                  </a:lnTo>
                  <a:lnTo>
                    <a:pt x="864019" y="0"/>
                  </a:lnTo>
                  <a:lnTo>
                    <a:pt x="864019" y="108002"/>
                  </a:lnTo>
                  <a:lnTo>
                    <a:pt x="0" y="108002"/>
                  </a:lnTo>
                  <a:close/>
                </a:path>
              </a:pathLst>
            </a:custGeom>
            <a:solidFill>
              <a:srgbClr val="EBD8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06673" y="1378113"/>
              <a:ext cx="864235" cy="108585"/>
            </a:xfrm>
            <a:custGeom>
              <a:avLst/>
              <a:gdLst/>
              <a:ahLst/>
              <a:cxnLst/>
              <a:rect l="l" t="t" r="r" b="b"/>
              <a:pathLst>
                <a:path w="864235" h="108584">
                  <a:moveTo>
                    <a:pt x="0" y="108002"/>
                  </a:moveTo>
                  <a:lnTo>
                    <a:pt x="0" y="0"/>
                  </a:lnTo>
                  <a:lnTo>
                    <a:pt x="864019" y="0"/>
                  </a:lnTo>
                  <a:lnTo>
                    <a:pt x="864019" y="108002"/>
                  </a:lnTo>
                  <a:lnTo>
                    <a:pt x="0" y="108002"/>
                  </a:lnTo>
                  <a:close/>
                </a:path>
              </a:pathLst>
            </a:custGeom>
            <a:ln w="1012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14676" y="838101"/>
              <a:ext cx="648335" cy="540385"/>
            </a:xfrm>
            <a:custGeom>
              <a:avLst/>
              <a:gdLst/>
              <a:ahLst/>
              <a:cxnLst/>
              <a:rect l="l" t="t" r="r" b="b"/>
              <a:pathLst>
                <a:path w="648335" h="540385">
                  <a:moveTo>
                    <a:pt x="0" y="540012"/>
                  </a:moveTo>
                  <a:lnTo>
                    <a:pt x="0" y="0"/>
                  </a:lnTo>
                  <a:lnTo>
                    <a:pt x="648014" y="0"/>
                  </a:lnTo>
                  <a:lnTo>
                    <a:pt x="648014" y="540012"/>
                  </a:lnTo>
                  <a:lnTo>
                    <a:pt x="0" y="540012"/>
                  </a:lnTo>
                  <a:close/>
                </a:path>
              </a:pathLst>
            </a:custGeom>
            <a:solidFill>
              <a:srgbClr val="DFB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14676" y="838101"/>
              <a:ext cx="648335" cy="540385"/>
            </a:xfrm>
            <a:custGeom>
              <a:avLst/>
              <a:gdLst/>
              <a:ahLst/>
              <a:cxnLst/>
              <a:rect l="l" t="t" r="r" b="b"/>
              <a:pathLst>
                <a:path w="648335" h="540385">
                  <a:moveTo>
                    <a:pt x="0" y="540012"/>
                  </a:moveTo>
                  <a:lnTo>
                    <a:pt x="0" y="0"/>
                  </a:lnTo>
                  <a:lnTo>
                    <a:pt x="648014" y="0"/>
                  </a:lnTo>
                  <a:lnTo>
                    <a:pt x="648014" y="540012"/>
                  </a:lnTo>
                  <a:lnTo>
                    <a:pt x="0" y="540012"/>
                  </a:lnTo>
                  <a:close/>
                </a:path>
              </a:pathLst>
            </a:custGeom>
            <a:ln w="1012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22678" y="1162108"/>
            <a:ext cx="432434" cy="108585"/>
          </a:xfrm>
          <a:prstGeom prst="rect">
            <a:avLst/>
          </a:prstGeom>
          <a:solidFill>
            <a:srgbClr val="CCCCCC"/>
          </a:solidFill>
          <a:ln w="10122">
            <a:solidFill>
              <a:srgbClr val="22373A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350" spc="-20" dirty="0">
                <a:solidFill>
                  <a:srgbClr val="22373A"/>
                </a:solidFill>
                <a:latin typeface="Arial"/>
                <a:cs typeface="Arial"/>
              </a:rPr>
              <a:t>Type</a:t>
            </a:r>
            <a:endParaRPr sz="35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417617" y="725038"/>
            <a:ext cx="442595" cy="334645"/>
            <a:chOff x="3417617" y="725038"/>
            <a:chExt cx="442595" cy="334645"/>
          </a:xfrm>
        </p:grpSpPr>
        <p:sp>
          <p:nvSpPr>
            <p:cNvPr id="11" name="object 11"/>
            <p:cNvSpPr/>
            <p:nvPr/>
          </p:nvSpPr>
          <p:spPr>
            <a:xfrm>
              <a:off x="3422678" y="989304"/>
              <a:ext cx="432434" cy="65405"/>
            </a:xfrm>
            <a:custGeom>
              <a:avLst/>
              <a:gdLst/>
              <a:ahLst/>
              <a:cxnLst/>
              <a:rect l="l" t="t" r="r" b="b"/>
              <a:pathLst>
                <a:path w="432435" h="65405">
                  <a:moveTo>
                    <a:pt x="0" y="64802"/>
                  </a:moveTo>
                  <a:lnTo>
                    <a:pt x="0" y="0"/>
                  </a:lnTo>
                  <a:lnTo>
                    <a:pt x="432009" y="0"/>
                  </a:lnTo>
                  <a:lnTo>
                    <a:pt x="432009" y="64802"/>
                  </a:lnTo>
                  <a:lnTo>
                    <a:pt x="0" y="64802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22678" y="730099"/>
              <a:ext cx="432434" cy="324485"/>
            </a:xfrm>
            <a:custGeom>
              <a:avLst/>
              <a:gdLst/>
              <a:ahLst/>
              <a:cxnLst/>
              <a:rect l="l" t="t" r="r" b="b"/>
              <a:pathLst>
                <a:path w="432435" h="324484">
                  <a:moveTo>
                    <a:pt x="0" y="324007"/>
                  </a:moveTo>
                  <a:lnTo>
                    <a:pt x="0" y="259205"/>
                  </a:lnTo>
                  <a:lnTo>
                    <a:pt x="432009" y="259205"/>
                  </a:lnTo>
                  <a:lnTo>
                    <a:pt x="432009" y="324007"/>
                  </a:lnTo>
                  <a:lnTo>
                    <a:pt x="0" y="324007"/>
                  </a:lnTo>
                  <a:close/>
                </a:path>
                <a:path w="432435" h="324484">
                  <a:moveTo>
                    <a:pt x="216004" y="259205"/>
                  </a:moveTo>
                  <a:lnTo>
                    <a:pt x="216004" y="0"/>
                  </a:lnTo>
                </a:path>
                <a:path w="432435" h="324484">
                  <a:moveTo>
                    <a:pt x="108002" y="0"/>
                  </a:moveTo>
                  <a:lnTo>
                    <a:pt x="324007" y="0"/>
                  </a:lnTo>
                </a:path>
              </a:pathLst>
            </a:custGeom>
            <a:ln w="1012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438042" y="1552409"/>
            <a:ext cx="401320" cy="98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50" spc="10" dirty="0">
                <a:solidFill>
                  <a:srgbClr val="22373A"/>
                </a:solidFill>
                <a:latin typeface="Arial"/>
                <a:cs typeface="Arial"/>
              </a:rPr>
              <a:t>Printing</a:t>
            </a:r>
            <a:r>
              <a:rPr sz="45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22373A"/>
                </a:solidFill>
                <a:latin typeface="Arial"/>
                <a:cs typeface="Arial"/>
              </a:rPr>
              <a:t>Press</a:t>
            </a:r>
            <a:endParaRPr sz="450">
              <a:latin typeface="Arial"/>
              <a:cs typeface="Arial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201619" y="1796554"/>
          <a:ext cx="2344420" cy="723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8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3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The</a:t>
                      </a:r>
                      <a:r>
                        <a:rPr sz="1100" spc="-9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Impact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2D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45720" marR="342900">
                        <a:lnSpc>
                          <a:spcPts val="1190"/>
                        </a:lnSpc>
                        <a:spcBef>
                          <a:spcPts val="229"/>
                        </a:spcBef>
                      </a:pP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By</a:t>
                      </a:r>
                      <a:r>
                        <a:rPr sz="1100" spc="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1500:</a:t>
                      </a:r>
                      <a:r>
                        <a:rPr sz="1100" spc="9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∼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20</a:t>
                      </a:r>
                      <a:r>
                        <a:rPr sz="1100" spc="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million</a:t>
                      </a:r>
                      <a:r>
                        <a:rPr sz="1100" spc="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books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printed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Europe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(vs.</a:t>
                      </a:r>
                      <a:r>
                        <a:rPr sz="1100" spc="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few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thousand</a:t>
                      </a:r>
                      <a:r>
                        <a:rPr sz="11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manuscripts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before)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solidFill>
                      <a:srgbClr val="F4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5" name="object 15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6" name="object 16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3234937"/>
              <a:ext cx="2122170" cy="5080"/>
            </a:xfrm>
            <a:custGeom>
              <a:avLst/>
              <a:gdLst/>
              <a:ahLst/>
              <a:cxnLst/>
              <a:rect l="l" t="t" r="r" b="b"/>
              <a:pathLst>
                <a:path w="2122170" h="5080">
                  <a:moveTo>
                    <a:pt x="0" y="5060"/>
                  </a:moveTo>
                  <a:lnTo>
                    <a:pt x="0" y="0"/>
                  </a:lnTo>
                  <a:lnTo>
                    <a:pt x="2122146" y="0"/>
                  </a:lnTo>
                  <a:lnTo>
                    <a:pt x="212214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40" dirty="0"/>
              <a:t>The</a:t>
            </a:r>
            <a:r>
              <a:rPr spc="-85" dirty="0"/>
              <a:t> </a:t>
            </a:r>
            <a:r>
              <a:rPr spc="-114" dirty="0"/>
              <a:t>Gutenberg</a:t>
            </a:r>
            <a:r>
              <a:rPr spc="-85" dirty="0"/>
              <a:t> </a:t>
            </a:r>
            <a:r>
              <a:rPr spc="-100" dirty="0"/>
              <a:t>Bible</a:t>
            </a:r>
            <a:r>
              <a:rPr spc="-80" dirty="0"/>
              <a:t> </a:t>
            </a:r>
            <a:r>
              <a:rPr spc="-60" dirty="0"/>
              <a:t>(1455)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90398" y="510412"/>
          <a:ext cx="2596515" cy="1795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0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3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The</a:t>
                      </a:r>
                      <a:r>
                        <a:rPr sz="1100" spc="-8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First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Major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Printed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Book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19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8930">
                <a:tc>
                  <a:txBody>
                    <a:bodyPr/>
                    <a:lstStyle/>
                    <a:p>
                      <a:pPr marL="274320" marR="88265" indent="-121920">
                        <a:lnSpc>
                          <a:spcPts val="1190"/>
                        </a:lnSpc>
                        <a:spcBef>
                          <a:spcPts val="530"/>
                        </a:spcBef>
                        <a:buChar char="•"/>
                        <a:tabLst>
                          <a:tab pos="27686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Approximately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180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copies</a:t>
                      </a:r>
                      <a:r>
                        <a:rPr sz="1100" spc="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printed; 	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about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49</a:t>
                      </a:r>
                      <a:r>
                        <a:rPr sz="1100" spc="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survive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marR="126364" indent="-121920">
                        <a:lnSpc>
                          <a:spcPts val="1190"/>
                        </a:lnSpc>
                        <a:spcBef>
                          <a:spcPts val="305"/>
                        </a:spcBef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Two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folio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volumes,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1,282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pages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 	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total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marR="645160" indent="-121920">
                        <a:lnSpc>
                          <a:spcPts val="1190"/>
                        </a:lnSpc>
                        <a:spcBef>
                          <a:spcPts val="300"/>
                        </a:spcBef>
                        <a:buChar char="•"/>
                        <a:tabLst>
                          <a:tab pos="27686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Quality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rivaled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finest 	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hand-copied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manuscripts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marR="86360" indent="-121920">
                        <a:lnSpc>
                          <a:spcPts val="1190"/>
                        </a:lnSpc>
                        <a:spcBef>
                          <a:spcPts val="305"/>
                        </a:spcBef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Each</a:t>
                      </a:r>
                      <a:r>
                        <a:rPr sz="1100" spc="-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copy</a:t>
                      </a:r>
                      <a:r>
                        <a:rPr sz="1100" spc="-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cost</a:t>
                      </a:r>
                      <a:r>
                        <a:rPr sz="1100" spc="-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roughly</a:t>
                      </a:r>
                      <a:r>
                        <a:rPr sz="1100" spc="-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30 	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florins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about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years’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wages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 	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clerk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0398" y="2409481"/>
          <a:ext cx="2596515" cy="6775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0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8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Why</a:t>
                      </a:r>
                      <a:r>
                        <a:rPr sz="1100" spc="-9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It</a:t>
                      </a:r>
                      <a:r>
                        <a:rPr sz="1100" spc="-9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Matters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BF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330">
                <a:tc>
                  <a:txBody>
                    <a:bodyPr/>
                    <a:lstStyle/>
                    <a:p>
                      <a:pPr marL="45720" marR="76835">
                        <a:lnSpc>
                          <a:spcPts val="1050"/>
                        </a:lnSpc>
                        <a:spcBef>
                          <a:spcPts val="270"/>
                        </a:spcBef>
                      </a:pPr>
                      <a:r>
                        <a:rPr sz="10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Bible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was</a:t>
                      </a:r>
                      <a:r>
                        <a:rPr sz="10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era’s</a:t>
                      </a:r>
                      <a:r>
                        <a:rPr sz="10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ultimate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test</a:t>
                      </a:r>
                      <a:r>
                        <a:rPr sz="10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case: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could</a:t>
                      </a:r>
                      <a:r>
                        <a:rPr sz="1000" spc="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machine</a:t>
                      </a:r>
                      <a:r>
                        <a:rPr sz="1000" spc="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printing</a:t>
                      </a:r>
                      <a:r>
                        <a:rPr sz="1000" spc="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match</a:t>
                      </a:r>
                      <a:r>
                        <a:rPr sz="1000" spc="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spc="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quality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000" spc="7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authority</a:t>
                      </a:r>
                      <a:r>
                        <a:rPr sz="1000" spc="7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000" spc="7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hand-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copying?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solidFill>
                      <a:srgbClr val="F9E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0844" y="879982"/>
            <a:ext cx="2368661" cy="148041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088093" y="2440824"/>
            <a:ext cx="2161540" cy="25272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>
              <a:lnSpc>
                <a:spcPts val="830"/>
              </a:lnSpc>
              <a:spcBef>
                <a:spcPts val="229"/>
              </a:spcBef>
            </a:pP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Gutenberg</a:t>
            </a:r>
            <a:r>
              <a:rPr sz="8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Bible</a:t>
            </a:r>
            <a:r>
              <a:rPr sz="8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(Lenox</a:t>
            </a:r>
            <a:r>
              <a:rPr sz="8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Copy),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sz="8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York</a:t>
            </a:r>
            <a:r>
              <a:rPr sz="8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Public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Library.</a:t>
            </a:r>
            <a:r>
              <a:rPr sz="8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Photo:</a:t>
            </a:r>
            <a:r>
              <a:rPr sz="8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Kevin</a:t>
            </a:r>
            <a:r>
              <a:rPr sz="8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Eng.</a:t>
            </a:r>
            <a:r>
              <a:rPr sz="8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95" dirty="0">
                <a:solidFill>
                  <a:srgbClr val="22373A"/>
                </a:solidFill>
                <a:latin typeface="Arial"/>
                <a:cs typeface="Arial"/>
              </a:rPr>
              <a:t>CC</a:t>
            </a:r>
            <a:r>
              <a:rPr sz="8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50" dirty="0">
                <a:solidFill>
                  <a:srgbClr val="22373A"/>
                </a:solidFill>
                <a:latin typeface="Arial"/>
                <a:cs typeface="Arial"/>
              </a:rPr>
              <a:t>BY-</a:t>
            </a:r>
            <a:r>
              <a:rPr sz="800" spc="-60" dirty="0">
                <a:solidFill>
                  <a:srgbClr val="22373A"/>
                </a:solidFill>
                <a:latin typeface="Arial"/>
                <a:cs typeface="Arial"/>
              </a:rPr>
              <a:t>SA</a:t>
            </a:r>
            <a:r>
              <a:rPr sz="8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2.0.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37"/>
              <a:ext cx="2223770" cy="5080"/>
            </a:xfrm>
            <a:custGeom>
              <a:avLst/>
              <a:gdLst/>
              <a:ahLst/>
              <a:cxnLst/>
              <a:rect l="l" t="t" r="r" b="b"/>
              <a:pathLst>
                <a:path w="2223770" h="5080">
                  <a:moveTo>
                    <a:pt x="0" y="5060"/>
                  </a:moveTo>
                  <a:lnTo>
                    <a:pt x="0" y="0"/>
                  </a:lnTo>
                  <a:lnTo>
                    <a:pt x="2223221" y="0"/>
                  </a:lnTo>
                  <a:lnTo>
                    <a:pt x="222322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770" y="74559"/>
            <a:ext cx="30492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5" dirty="0">
                <a:solidFill>
                  <a:srgbClr val="FFFFFF"/>
                </a:solidFill>
                <a:latin typeface="Arial Black"/>
                <a:cs typeface="Arial Black"/>
              </a:rPr>
              <a:t>Luther</a:t>
            </a:r>
            <a:r>
              <a:rPr sz="1200" spc="-95" dirty="0">
                <a:solidFill>
                  <a:srgbClr val="FFFFFF"/>
                </a:solidFill>
                <a:latin typeface="Arial Black"/>
                <a:cs typeface="Arial Black"/>
              </a:rPr>
              <a:t> vs.</a:t>
            </a:r>
            <a:r>
              <a:rPr sz="1200" spc="-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114" dirty="0">
                <a:solidFill>
                  <a:srgbClr val="FFFFFF"/>
                </a:solidFill>
                <a:latin typeface="Arial Black"/>
                <a:cs typeface="Arial Black"/>
              </a:rPr>
              <a:t>Erasmus:</a:t>
            </a:r>
            <a:r>
              <a:rPr sz="1200" spc="-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114" dirty="0">
                <a:solidFill>
                  <a:srgbClr val="FFFFFF"/>
                </a:solidFill>
                <a:latin typeface="Arial Black"/>
                <a:cs typeface="Arial Black"/>
              </a:rPr>
              <a:t>Revolution</a:t>
            </a:r>
            <a:r>
              <a:rPr sz="1200" spc="-95" dirty="0">
                <a:solidFill>
                  <a:srgbClr val="FFFFFF"/>
                </a:solidFill>
                <a:latin typeface="Arial Black"/>
                <a:cs typeface="Arial Black"/>
              </a:rPr>
              <a:t> vs.</a:t>
            </a:r>
            <a:r>
              <a:rPr sz="1200" spc="-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75" dirty="0">
                <a:solidFill>
                  <a:srgbClr val="FFFFFF"/>
                </a:solidFill>
                <a:latin typeface="Arial Black"/>
                <a:cs typeface="Arial Black"/>
              </a:rPr>
              <a:t>Reform</a:t>
            </a:r>
            <a:endParaRPr sz="1200">
              <a:latin typeface="Arial Black"/>
              <a:cs typeface="Arial Black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90398" y="510412"/>
          <a:ext cx="2848610" cy="1370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9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Martin</a:t>
                      </a:r>
                      <a:r>
                        <a:rPr sz="1100" spc="-4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Luther</a:t>
                      </a:r>
                      <a:r>
                        <a:rPr sz="1100" spc="-4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(1483–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1546)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19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4115">
                <a:tc>
                  <a:txBody>
                    <a:bodyPr/>
                    <a:lstStyle/>
                    <a:p>
                      <a:pPr marL="274320" marR="458470" indent="-121920">
                        <a:lnSpc>
                          <a:spcPts val="1190"/>
                        </a:lnSpc>
                        <a:spcBef>
                          <a:spcPts val="540"/>
                        </a:spcBef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Used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press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spread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radical 	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reformation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4320" marR="485775" indent="-121920">
                        <a:lnSpc>
                          <a:spcPts val="1190"/>
                        </a:lnSpc>
                        <a:spcBef>
                          <a:spcPts val="305"/>
                        </a:spcBef>
                        <a:buChar char="•"/>
                        <a:tabLst>
                          <a:tab pos="27686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95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Theses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(1517)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spread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across 	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Germany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weeks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55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German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Bible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becomes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bestseller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Saw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printing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as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providential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68580" marB="0"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0398" y="1984438"/>
          <a:ext cx="2848610" cy="989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Erasmus</a:t>
                      </a:r>
                      <a:r>
                        <a:rPr sz="1100" spc="-5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of</a:t>
                      </a:r>
                      <a:r>
                        <a:rPr sz="1100" spc="-4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14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Rotterdam</a:t>
                      </a:r>
                      <a:r>
                        <a:rPr sz="1100" spc="-4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(1466–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1536)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BF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marL="274320" marR="303530" indent="-121920">
                        <a:lnSpc>
                          <a:spcPts val="1190"/>
                        </a:lnSpc>
                        <a:spcBef>
                          <a:spcPts val="530"/>
                        </a:spcBef>
                        <a:buClr>
                          <a:srgbClr val="BF392B"/>
                        </a:buClr>
                        <a:buChar char="•"/>
                        <a:tabLst>
                          <a:tab pos="27686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Advocated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gradual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reform</a:t>
                      </a:r>
                      <a:r>
                        <a:rPr sz="1100" spc="-7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through 	scholarship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ts val="1255"/>
                        </a:lnSpc>
                        <a:spcBef>
                          <a:spcPts val="155"/>
                        </a:spcBef>
                        <a:buClr>
                          <a:srgbClr val="BF392B"/>
                        </a:buClr>
                        <a:buChar char="•"/>
                        <a:tabLst>
                          <a:tab pos="27432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Worried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about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unlearned</a:t>
                      </a:r>
                      <a:r>
                        <a:rPr sz="1100" spc="-6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masses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6860">
                        <a:lnSpc>
                          <a:spcPts val="1255"/>
                        </a:lnSpc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reading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complex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texts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solidFill>
                      <a:srgbClr val="F9E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520897" y="1231707"/>
            <a:ext cx="1350645" cy="54610"/>
          </a:xfrm>
          <a:custGeom>
            <a:avLst/>
            <a:gdLst/>
            <a:ahLst/>
            <a:cxnLst/>
            <a:rect l="l" t="t" r="r" b="b"/>
            <a:pathLst>
              <a:path w="1350645" h="54609">
                <a:moveTo>
                  <a:pt x="0" y="27001"/>
                </a:moveTo>
                <a:lnTo>
                  <a:pt x="1350016" y="27001"/>
                </a:lnTo>
              </a:path>
              <a:path w="1350645" h="54609">
                <a:moveTo>
                  <a:pt x="0" y="0"/>
                </a:moveTo>
                <a:lnTo>
                  <a:pt x="0" y="54003"/>
                </a:lnTo>
              </a:path>
              <a:path w="1350645" h="54609">
                <a:moveTo>
                  <a:pt x="1350016" y="0"/>
                </a:moveTo>
                <a:lnTo>
                  <a:pt x="1350016" y="54003"/>
                </a:lnTo>
              </a:path>
              <a:path w="1350645" h="54609">
                <a:moveTo>
                  <a:pt x="675008" y="0"/>
                </a:moveTo>
                <a:lnTo>
                  <a:pt x="675008" y="54003"/>
                </a:lnTo>
              </a:path>
            </a:pathLst>
          </a:custGeom>
          <a:ln w="10122">
            <a:solidFill>
              <a:srgbClr val="194A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374745" y="1078692"/>
            <a:ext cx="2927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22373A"/>
                </a:solidFill>
                <a:latin typeface="Arial Black"/>
                <a:cs typeface="Arial Black"/>
              </a:rPr>
              <a:t>Radical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15713" y="1078692"/>
            <a:ext cx="3105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45" dirty="0">
                <a:solidFill>
                  <a:srgbClr val="22373A"/>
                </a:solidFill>
                <a:latin typeface="Arial Black"/>
                <a:cs typeface="Arial Black"/>
              </a:rPr>
              <a:t>Gradual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58170" y="1078654"/>
            <a:ext cx="2755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22373A"/>
                </a:solidFill>
                <a:latin typeface="Arial"/>
                <a:cs typeface="Arial"/>
              </a:rPr>
              <a:t>Reform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07828" y="1342623"/>
            <a:ext cx="2584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40" dirty="0">
                <a:solidFill>
                  <a:srgbClr val="B20000"/>
                </a:solidFill>
                <a:latin typeface="Arial Black"/>
                <a:cs typeface="Arial Black"/>
              </a:rPr>
              <a:t>Luther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87938" y="1339436"/>
            <a:ext cx="3340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5" dirty="0">
                <a:solidFill>
                  <a:srgbClr val="194A79"/>
                </a:solidFill>
                <a:latin typeface="Arial Black"/>
                <a:cs typeface="Arial Black"/>
              </a:rPr>
              <a:t>Erasmus</a:t>
            </a:r>
            <a:endParaRPr sz="600">
              <a:latin typeface="Arial Black"/>
              <a:cs typeface="Arial Black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96401" y="1218211"/>
            <a:ext cx="999490" cy="81280"/>
            <a:chOff x="3696401" y="1218211"/>
            <a:chExt cx="999490" cy="8128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96401" y="1218211"/>
              <a:ext cx="80997" cy="8099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4411" y="1218211"/>
              <a:ext cx="80997" cy="80997"/>
            </a:xfrm>
            <a:prstGeom prst="rect">
              <a:avLst/>
            </a:prstGeom>
          </p:spPr>
        </p:pic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352812" y="1624583"/>
          <a:ext cx="2193290" cy="6972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17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4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Key</a:t>
                      </a:r>
                      <a:r>
                        <a:rPr sz="1100" spc="-9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Question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2D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 marL="45720" marR="65405">
                        <a:lnSpc>
                          <a:spcPts val="1190"/>
                        </a:lnSpc>
                        <a:spcBef>
                          <a:spcPts val="229"/>
                        </a:spcBef>
                      </a:pP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Same</a:t>
                      </a:r>
                      <a:r>
                        <a:rPr sz="1100" spc="-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technology,</a:t>
                      </a:r>
                      <a:r>
                        <a:rPr sz="1100" spc="-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different </a:t>
                      </a:r>
                      <a:r>
                        <a:rPr sz="1100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visions—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who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gets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 decide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how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it’s</a:t>
                      </a:r>
                      <a:r>
                        <a:rPr sz="1100" spc="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used?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solidFill>
                      <a:srgbClr val="F4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5" name="object 15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6" name="object 16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3234937"/>
              <a:ext cx="2324735" cy="5080"/>
            </a:xfrm>
            <a:custGeom>
              <a:avLst/>
              <a:gdLst/>
              <a:ahLst/>
              <a:cxnLst/>
              <a:rect l="l" t="t" r="r" b="b"/>
              <a:pathLst>
                <a:path w="2324735" h="5080">
                  <a:moveTo>
                    <a:pt x="0" y="5060"/>
                  </a:moveTo>
                  <a:lnTo>
                    <a:pt x="0" y="0"/>
                  </a:lnTo>
                  <a:lnTo>
                    <a:pt x="2324209" y="0"/>
                  </a:lnTo>
                  <a:lnTo>
                    <a:pt x="232420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Quote:</a:t>
            </a:r>
            <a:r>
              <a:rPr spc="-50" dirty="0"/>
              <a:t> </a:t>
            </a:r>
            <a:r>
              <a:rPr spc="-105" dirty="0"/>
              <a:t>Martin</a:t>
            </a:r>
            <a:r>
              <a:rPr spc="-95" dirty="0"/>
              <a:t> </a:t>
            </a:r>
            <a:r>
              <a:rPr spc="-105" dirty="0"/>
              <a:t>Luther</a:t>
            </a:r>
            <a:r>
              <a:rPr spc="-95" dirty="0"/>
              <a:t> </a:t>
            </a:r>
            <a:r>
              <a:rPr spc="-120" dirty="0"/>
              <a:t>on</a:t>
            </a:r>
            <a:r>
              <a:rPr spc="-95" dirty="0"/>
              <a:t> </a:t>
            </a:r>
            <a:r>
              <a:rPr spc="-75" dirty="0"/>
              <a:t>Printing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59994" y="472452"/>
          <a:ext cx="5116195" cy="19234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100" spc="73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,</a:t>
                      </a:r>
                      <a:r>
                        <a:rPr sz="1100" spc="25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1100" spc="-9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Martin</a:t>
                      </a:r>
                      <a:r>
                        <a:rPr sz="1100" spc="-8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Luther</a:t>
                      </a:r>
                      <a:r>
                        <a:rPr sz="1100" spc="-8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on</a:t>
                      </a:r>
                      <a:r>
                        <a:rPr sz="1100" spc="-8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the</a:t>
                      </a:r>
                      <a:r>
                        <a:rPr sz="1100" spc="-8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Printing</a:t>
                      </a:r>
                      <a:r>
                        <a:rPr sz="1100" spc="-8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Press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3810" marB="0">
                    <a:solidFill>
                      <a:srgbClr val="2D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0214">
                <a:tc>
                  <a:txBody>
                    <a:bodyPr/>
                    <a:lstStyle/>
                    <a:p>
                      <a:pPr marL="45720" marR="227329">
                        <a:lnSpc>
                          <a:spcPts val="1050"/>
                        </a:lnSpc>
                        <a:spcBef>
                          <a:spcPts val="270"/>
                        </a:spcBef>
                      </a:pPr>
                      <a:r>
                        <a:rPr sz="10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Context: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Luther was</a:t>
                      </a:r>
                      <a:r>
                        <a:rPr sz="10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among</a:t>
                      </a:r>
                      <a:r>
                        <a:rPr sz="10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first</a:t>
                      </a:r>
                      <a:r>
                        <a:rPr sz="10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0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grasp</a:t>
                      </a:r>
                      <a:r>
                        <a:rPr sz="10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printing’s</a:t>
                      </a:r>
                      <a:r>
                        <a:rPr sz="10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power:</a:t>
                      </a:r>
                      <a:r>
                        <a:rPr sz="1000" spc="5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his</a:t>
                      </a:r>
                      <a:r>
                        <a:rPr sz="10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95</a:t>
                      </a:r>
                      <a:r>
                        <a:rPr sz="10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Theses</a:t>
                      </a:r>
                      <a:r>
                        <a:rPr sz="10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(1517)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spread</a:t>
                      </a:r>
                      <a:r>
                        <a:rPr sz="10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across</a:t>
                      </a:r>
                      <a:r>
                        <a:rPr sz="10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Germany</a:t>
                      </a:r>
                      <a:r>
                        <a:rPr sz="10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0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weeks,</a:t>
                      </a:r>
                      <a:r>
                        <a:rPr sz="10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0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his</a:t>
                      </a:r>
                      <a:r>
                        <a:rPr sz="10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German</a:t>
                      </a:r>
                      <a:r>
                        <a:rPr sz="10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Bible</a:t>
                      </a:r>
                      <a:r>
                        <a:rPr sz="10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became</a:t>
                      </a:r>
                      <a:r>
                        <a:rPr sz="10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0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bestseller.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For 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Luther,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this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was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providential.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45720" marR="127000">
                        <a:lnSpc>
                          <a:spcPts val="1050"/>
                        </a:lnSpc>
                        <a:spcBef>
                          <a:spcPts val="950"/>
                        </a:spcBef>
                      </a:pP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“The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art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book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printing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last</a:t>
                      </a:r>
                      <a:r>
                        <a:rPr sz="1000" b="1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000" b="1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greatest</a:t>
                      </a:r>
                      <a:r>
                        <a:rPr sz="1000" b="1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gift</a:t>
                      </a:r>
                      <a:r>
                        <a:rPr sz="1000" b="1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because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it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through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this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that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question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true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religion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will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become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known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entire</a:t>
                      </a:r>
                      <a:r>
                        <a:rPr sz="1000" b="1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6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world</a:t>
                      </a:r>
                      <a:r>
                        <a:rPr sz="1000" i="1" spc="-6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very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ends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i="1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earth</a:t>
                      </a:r>
                      <a:r>
                        <a:rPr sz="1000" i="1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000" i="1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000" i="1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all</a:t>
                      </a:r>
                      <a:r>
                        <a:rPr sz="1000" i="1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languages—</a:t>
                      </a:r>
                      <a:r>
                        <a:rPr sz="1000" i="1" spc="-5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000" i="1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accordance</a:t>
                      </a:r>
                      <a:r>
                        <a:rPr sz="1000" i="1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with</a:t>
                      </a:r>
                      <a:r>
                        <a:rPr sz="1000" i="1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God’s</a:t>
                      </a:r>
                      <a:r>
                        <a:rPr sz="1000" i="1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will.</a:t>
                      </a:r>
                      <a:r>
                        <a:rPr sz="1000" i="1" spc="6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7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It</a:t>
                      </a:r>
                      <a:r>
                        <a:rPr sz="1000" i="1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1000" i="1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i="1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inextinguishable </a:t>
                      </a:r>
                      <a:r>
                        <a:rPr sz="1000" b="1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flame</a:t>
                      </a:r>
                      <a:r>
                        <a:rPr sz="1000" b="1" i="1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000" i="1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i="1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world.”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243649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000" spc="-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attributed</a:t>
                      </a:r>
                      <a:r>
                        <a:rPr sz="10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0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Martin</a:t>
                      </a:r>
                      <a:r>
                        <a:rPr sz="10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Luther,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via</a:t>
                      </a:r>
                      <a:r>
                        <a:rPr sz="10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Otto</a:t>
                      </a:r>
                      <a:r>
                        <a:rPr sz="10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Clemen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45720" marR="273050">
                        <a:lnSpc>
                          <a:spcPct val="109600"/>
                        </a:lnSpc>
                        <a:spcBef>
                          <a:spcPts val="705"/>
                        </a:spcBef>
                      </a:pPr>
                      <a:r>
                        <a:rPr sz="8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A</a:t>
                      </a:r>
                      <a:r>
                        <a:rPr sz="800" spc="-4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8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note</a:t>
                      </a:r>
                      <a:r>
                        <a:rPr sz="800" spc="-4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800" spc="-8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on</a:t>
                      </a:r>
                      <a:r>
                        <a:rPr sz="800" spc="-4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800" spc="-7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sources</a:t>
                      </a:r>
                      <a:r>
                        <a:rPr sz="800" spc="-7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800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this</a:t>
                      </a:r>
                      <a:r>
                        <a:rPr sz="8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famous</a:t>
                      </a:r>
                      <a:r>
                        <a:rPr sz="8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quote circulates</a:t>
                      </a:r>
                      <a:r>
                        <a:rPr sz="8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widely</a:t>
                      </a:r>
                      <a:r>
                        <a:rPr sz="8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but cannot</a:t>
                      </a:r>
                      <a:r>
                        <a:rPr sz="8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 traced</a:t>
                      </a:r>
                      <a:r>
                        <a:rPr sz="8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8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Luther’s own</a:t>
                      </a:r>
                      <a:r>
                        <a:rPr sz="8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writings—</a:t>
                      </a:r>
                      <a:r>
                        <a:rPr sz="8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it</a:t>
                      </a:r>
                      <a:r>
                        <a:rPr sz="8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reaches </a:t>
                      </a:r>
                      <a:r>
                        <a:rPr sz="8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us</a:t>
                      </a:r>
                      <a:r>
                        <a:rPr sz="8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secondhand.</a:t>
                      </a:r>
                      <a:r>
                        <a:rPr sz="800" spc="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(Sound</a:t>
                      </a:r>
                      <a:r>
                        <a:rPr sz="8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familiar?</a:t>
                      </a:r>
                      <a:r>
                        <a:rPr sz="800" spc="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We</a:t>
                      </a:r>
                      <a:r>
                        <a:rPr sz="8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only</a:t>
                      </a:r>
                      <a:r>
                        <a:rPr sz="8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know</a:t>
                      </a:r>
                      <a:r>
                        <a:rPr sz="8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Socrates</a:t>
                      </a:r>
                      <a:r>
                        <a:rPr sz="8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through</a:t>
                      </a:r>
                      <a:r>
                        <a:rPr sz="8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Plato,</a:t>
                      </a:r>
                      <a:r>
                        <a:rPr sz="8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too.)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solidFill>
                      <a:srgbClr val="F4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59994" y="2501887"/>
            <a:ext cx="5039995" cy="212725"/>
          </a:xfrm>
          <a:prstGeom prst="rect">
            <a:avLst/>
          </a:prstGeom>
          <a:solidFill>
            <a:srgbClr val="194A79"/>
          </a:solidFill>
        </p:spPr>
        <p:txBody>
          <a:bodyPr vert="horz" wrap="square" lIns="0" tIns="1206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95"/>
              </a:spcBef>
            </a:pPr>
            <a:r>
              <a:rPr sz="1100" spc="395" dirty="0">
                <a:solidFill>
                  <a:srgbClr val="FFFFFF"/>
                </a:solidFill>
                <a:latin typeface="Lucida Sans"/>
                <a:cs typeface="Lucida Sans"/>
              </a:rPr>
              <a:t>!</a:t>
            </a:r>
            <a:r>
              <a:rPr sz="1100" spc="21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100" spc="-135" dirty="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sz="1100" spc="-10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 Black"/>
                <a:cs typeface="Arial Black"/>
              </a:rPr>
              <a:t>Tension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994" y="2714129"/>
            <a:ext cx="5039995" cy="481965"/>
          </a:xfrm>
          <a:prstGeom prst="rect">
            <a:avLst/>
          </a:prstGeom>
          <a:solidFill>
            <a:srgbClr val="ECF0F4"/>
          </a:solidFill>
        </p:spPr>
        <p:txBody>
          <a:bodyPr vert="horz" wrap="square" lIns="0" tIns="36194" rIns="0" bIns="0" rtlCol="0">
            <a:spAutoFit/>
          </a:bodyPr>
          <a:lstStyle/>
          <a:p>
            <a:pPr marL="45720" marR="62230">
              <a:lnSpc>
                <a:spcPts val="1050"/>
              </a:lnSpc>
              <a:spcBef>
                <a:spcPts val="284"/>
              </a:spcBef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Luther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sees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printing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80" dirty="0">
                <a:solidFill>
                  <a:srgbClr val="22373A"/>
                </a:solidFill>
                <a:latin typeface="Arial Black"/>
                <a:cs typeface="Arial Black"/>
              </a:rPr>
              <a:t>divinely</a:t>
            </a:r>
            <a:r>
              <a:rPr sz="1000" spc="-3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000" spc="-80" dirty="0">
                <a:solidFill>
                  <a:srgbClr val="22373A"/>
                </a:solidFill>
                <a:latin typeface="Arial Black"/>
                <a:cs typeface="Arial Black"/>
              </a:rPr>
              <a:t>ordained</a:t>
            </a:r>
            <a:r>
              <a:rPr sz="1000" spc="-3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spreading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truth.</a:t>
            </a:r>
            <a:r>
              <a:rPr sz="10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press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spreads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Luther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would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call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80" dirty="0">
                <a:solidFill>
                  <a:srgbClr val="22373A"/>
                </a:solidFill>
                <a:latin typeface="Arial Black"/>
                <a:cs typeface="Arial Black"/>
              </a:rPr>
              <a:t>error</a:t>
            </a:r>
            <a:r>
              <a:rPr sz="1000" spc="-80" dirty="0">
                <a:solidFill>
                  <a:srgbClr val="22373A"/>
                </a:solidFill>
                <a:latin typeface="Arial"/>
                <a:cs typeface="Arial"/>
              </a:rPr>
              <a:t>—</a:t>
            </a:r>
            <a:r>
              <a:rPr sz="1000" spc="-45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Luther’s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own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late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polemic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“On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Jews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Lies”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was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later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cited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Nazis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justify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anti-Semitic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policies.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08320" y="2964331"/>
            <a:ext cx="1473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24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37"/>
              <a:ext cx="2425700" cy="5080"/>
            </a:xfrm>
            <a:custGeom>
              <a:avLst/>
              <a:gdLst/>
              <a:ahLst/>
              <a:cxnLst/>
              <a:rect l="l" t="t" r="r" b="b"/>
              <a:pathLst>
                <a:path w="2425700" h="5080">
                  <a:moveTo>
                    <a:pt x="0" y="5060"/>
                  </a:moveTo>
                  <a:lnTo>
                    <a:pt x="0" y="0"/>
                  </a:lnTo>
                  <a:lnTo>
                    <a:pt x="2425284" y="0"/>
                  </a:lnTo>
                  <a:lnTo>
                    <a:pt x="242528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40" dirty="0"/>
              <a:t>The</a:t>
            </a:r>
            <a:r>
              <a:rPr spc="-90" dirty="0"/>
              <a:t> </a:t>
            </a:r>
            <a:r>
              <a:rPr spc="-114" dirty="0"/>
              <a:t>Erasmian</a:t>
            </a:r>
            <a:r>
              <a:rPr spc="-85" dirty="0"/>
              <a:t> </a:t>
            </a:r>
            <a:r>
              <a:rPr spc="-110" dirty="0"/>
              <a:t>Counterargument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530306"/>
            <a:ext cx="5040630" cy="1619250"/>
            <a:chOff x="359994" y="530306"/>
            <a:chExt cx="5040630" cy="1619250"/>
          </a:xfrm>
        </p:grpSpPr>
        <p:sp>
          <p:nvSpPr>
            <p:cNvPr id="4" name="object 4"/>
            <p:cNvSpPr/>
            <p:nvPr/>
          </p:nvSpPr>
          <p:spPr>
            <a:xfrm>
              <a:off x="359994" y="530306"/>
              <a:ext cx="5040630" cy="1619250"/>
            </a:xfrm>
            <a:custGeom>
              <a:avLst/>
              <a:gdLst/>
              <a:ahLst/>
              <a:cxnLst/>
              <a:rect l="l" t="t" r="r" b="b"/>
              <a:pathLst>
                <a:path w="5040630" h="1619250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1580753"/>
                  </a:lnTo>
                  <a:lnTo>
                    <a:pt x="2982" y="1595528"/>
                  </a:lnTo>
                  <a:lnTo>
                    <a:pt x="11117" y="1607593"/>
                  </a:lnTo>
                  <a:lnTo>
                    <a:pt x="23182" y="1615728"/>
                  </a:lnTo>
                  <a:lnTo>
                    <a:pt x="37958" y="1618711"/>
                  </a:lnTo>
                  <a:lnTo>
                    <a:pt x="5002106" y="1618711"/>
                  </a:lnTo>
                  <a:lnTo>
                    <a:pt x="5016882" y="1615728"/>
                  </a:lnTo>
                  <a:lnTo>
                    <a:pt x="5028947" y="1607593"/>
                  </a:lnTo>
                  <a:lnTo>
                    <a:pt x="5037082" y="1595528"/>
                  </a:lnTo>
                  <a:lnTo>
                    <a:pt x="5040064" y="1580753"/>
                  </a:lnTo>
                  <a:lnTo>
                    <a:pt x="5040064" y="37958"/>
                  </a:lnTo>
                  <a:lnTo>
                    <a:pt x="5037082" y="23183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194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2646" y="762765"/>
              <a:ext cx="5015230" cy="1374140"/>
            </a:xfrm>
            <a:custGeom>
              <a:avLst/>
              <a:gdLst/>
              <a:ahLst/>
              <a:cxnLst/>
              <a:rect l="l" t="t" r="r" b="b"/>
              <a:pathLst>
                <a:path w="5015230" h="1374139">
                  <a:moveTo>
                    <a:pt x="5014759" y="0"/>
                  </a:moveTo>
                  <a:lnTo>
                    <a:pt x="0" y="0"/>
                  </a:lnTo>
                  <a:lnTo>
                    <a:pt x="0" y="1348294"/>
                  </a:lnTo>
                  <a:lnTo>
                    <a:pt x="1988" y="1358144"/>
                  </a:lnTo>
                  <a:lnTo>
                    <a:pt x="7411" y="1366188"/>
                  </a:lnTo>
                  <a:lnTo>
                    <a:pt x="15455" y="1371611"/>
                  </a:lnTo>
                  <a:lnTo>
                    <a:pt x="25305" y="1373599"/>
                  </a:lnTo>
                  <a:lnTo>
                    <a:pt x="4989454" y="1373599"/>
                  </a:lnTo>
                  <a:lnTo>
                    <a:pt x="4999304" y="1371611"/>
                  </a:lnTo>
                  <a:lnTo>
                    <a:pt x="5007347" y="1366188"/>
                  </a:lnTo>
                  <a:lnTo>
                    <a:pt x="5012770" y="1358144"/>
                  </a:lnTo>
                  <a:lnTo>
                    <a:pt x="5014759" y="1348294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3F5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59994" y="2369710"/>
            <a:ext cx="5040630" cy="557530"/>
            <a:chOff x="359994" y="2369710"/>
            <a:chExt cx="5040630" cy="557530"/>
          </a:xfrm>
        </p:grpSpPr>
        <p:sp>
          <p:nvSpPr>
            <p:cNvPr id="7" name="object 7"/>
            <p:cNvSpPr/>
            <p:nvPr/>
          </p:nvSpPr>
          <p:spPr>
            <a:xfrm>
              <a:off x="359994" y="2369710"/>
              <a:ext cx="5040630" cy="557530"/>
            </a:xfrm>
            <a:custGeom>
              <a:avLst/>
              <a:gdLst/>
              <a:ahLst/>
              <a:cxnLst/>
              <a:rect l="l" t="t" r="r" b="b"/>
              <a:pathLst>
                <a:path w="5040630" h="557530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518957"/>
                  </a:lnTo>
                  <a:lnTo>
                    <a:pt x="2982" y="533732"/>
                  </a:lnTo>
                  <a:lnTo>
                    <a:pt x="11117" y="545798"/>
                  </a:lnTo>
                  <a:lnTo>
                    <a:pt x="23182" y="553933"/>
                  </a:lnTo>
                  <a:lnTo>
                    <a:pt x="37958" y="556915"/>
                  </a:lnTo>
                  <a:lnTo>
                    <a:pt x="5002106" y="556915"/>
                  </a:lnTo>
                  <a:lnTo>
                    <a:pt x="5016882" y="553933"/>
                  </a:lnTo>
                  <a:lnTo>
                    <a:pt x="5028947" y="545798"/>
                  </a:lnTo>
                  <a:lnTo>
                    <a:pt x="5037082" y="533732"/>
                  </a:lnTo>
                  <a:lnTo>
                    <a:pt x="5040064" y="518957"/>
                  </a:lnTo>
                  <a:lnTo>
                    <a:pt x="5040064" y="37958"/>
                  </a:lnTo>
                  <a:lnTo>
                    <a:pt x="5037082" y="23183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B777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2646" y="2553000"/>
              <a:ext cx="5015230" cy="361315"/>
            </a:xfrm>
            <a:custGeom>
              <a:avLst/>
              <a:gdLst/>
              <a:ahLst/>
              <a:cxnLst/>
              <a:rect l="l" t="t" r="r" b="b"/>
              <a:pathLst>
                <a:path w="5015230" h="361314">
                  <a:moveTo>
                    <a:pt x="5014759" y="0"/>
                  </a:moveTo>
                  <a:lnTo>
                    <a:pt x="0" y="0"/>
                  </a:lnTo>
                  <a:lnTo>
                    <a:pt x="0" y="335667"/>
                  </a:lnTo>
                  <a:lnTo>
                    <a:pt x="1988" y="345517"/>
                  </a:lnTo>
                  <a:lnTo>
                    <a:pt x="7411" y="353561"/>
                  </a:lnTo>
                  <a:lnTo>
                    <a:pt x="15455" y="358984"/>
                  </a:lnTo>
                  <a:lnTo>
                    <a:pt x="25305" y="360973"/>
                  </a:lnTo>
                  <a:lnTo>
                    <a:pt x="4989454" y="360973"/>
                  </a:lnTo>
                  <a:lnTo>
                    <a:pt x="4999304" y="358984"/>
                  </a:lnTo>
                  <a:lnTo>
                    <a:pt x="5007347" y="353561"/>
                  </a:lnTo>
                  <a:lnTo>
                    <a:pt x="5012770" y="345517"/>
                  </a:lnTo>
                  <a:lnTo>
                    <a:pt x="5014759" y="335667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B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35863" y="533513"/>
            <a:ext cx="4888865" cy="2353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90"/>
              </a:spcBef>
            </a:pPr>
            <a:r>
              <a:rPr sz="1100" spc="-110" dirty="0">
                <a:solidFill>
                  <a:srgbClr val="FFFFFF"/>
                </a:solidFill>
                <a:latin typeface="Arial Black"/>
                <a:cs typeface="Arial Black"/>
              </a:rPr>
              <a:t>Argument</a:t>
            </a:r>
            <a:r>
              <a:rPr sz="110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80" dirty="0">
                <a:solidFill>
                  <a:srgbClr val="FFFFFF"/>
                </a:solidFill>
                <a:latin typeface="Arial Black"/>
                <a:cs typeface="Arial Black"/>
              </a:rPr>
              <a:t>in</a:t>
            </a:r>
            <a:r>
              <a:rPr sz="110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105" dirty="0">
                <a:solidFill>
                  <a:srgbClr val="FFFFFF"/>
                </a:solidFill>
                <a:latin typeface="Arial Black"/>
                <a:cs typeface="Arial Black"/>
              </a:rPr>
              <a:t>Standard</a:t>
            </a:r>
            <a:r>
              <a:rPr sz="110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Arial Black"/>
                <a:cs typeface="Arial Black"/>
              </a:rPr>
              <a:t>Form</a:t>
            </a:r>
            <a:endParaRPr sz="1100">
              <a:latin typeface="Arial Black"/>
              <a:cs typeface="Arial Black"/>
            </a:endParaRPr>
          </a:p>
          <a:p>
            <a:pPr marL="391160" marR="268605" indent="-187960">
              <a:lnSpc>
                <a:spcPts val="1190"/>
              </a:lnSpc>
              <a:spcBef>
                <a:spcPts val="1125"/>
              </a:spcBef>
              <a:buAutoNum type="arabicPeriod"/>
              <a:tabLst>
                <a:tab pos="393700" algn="l"/>
              </a:tabLst>
            </a:pP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Rapid,</a:t>
            </a:r>
            <a:r>
              <a:rPr sz="11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uncontrolled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spread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11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ideas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leads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11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5" dirty="0">
                <a:solidFill>
                  <a:srgbClr val="22373A"/>
                </a:solidFill>
                <a:latin typeface="Arial Black"/>
                <a:cs typeface="Arial Black"/>
              </a:rPr>
              <a:t>misunderstanding</a:t>
            </a:r>
            <a:r>
              <a:rPr sz="1100" spc="-5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30" dirty="0">
                <a:solidFill>
                  <a:srgbClr val="22373A"/>
                </a:solidFill>
                <a:latin typeface="Arial Black"/>
                <a:cs typeface="Arial Black"/>
              </a:rPr>
              <a:t>and 	</a:t>
            </a:r>
            <a:r>
              <a:rPr sz="1100" spc="-10" dirty="0">
                <a:solidFill>
                  <a:srgbClr val="22373A"/>
                </a:solidFill>
                <a:latin typeface="Arial Black"/>
                <a:cs typeface="Arial Black"/>
              </a:rPr>
              <a:t>conflict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391160" marR="741045" indent="-187960">
              <a:lnSpc>
                <a:spcPts val="1190"/>
              </a:lnSpc>
              <a:spcBef>
                <a:spcPts val="305"/>
              </a:spcBef>
              <a:buAutoNum type="arabicPeriod"/>
              <a:tabLst>
                <a:tab pos="393700" algn="l"/>
              </a:tabLst>
            </a:pP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Complex</a:t>
            </a:r>
            <a:r>
              <a:rPr sz="11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theological</a:t>
            </a:r>
            <a:r>
              <a:rPr sz="11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11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philosophical</a:t>
            </a:r>
            <a:r>
              <a:rPr sz="11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texts</a:t>
            </a:r>
            <a:r>
              <a:rPr sz="11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require</a:t>
            </a:r>
            <a:r>
              <a:rPr sz="11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75" dirty="0">
                <a:solidFill>
                  <a:srgbClr val="22373A"/>
                </a:solidFill>
                <a:latin typeface="Arial Black"/>
                <a:cs typeface="Arial Black"/>
              </a:rPr>
              <a:t>learned 	</a:t>
            </a:r>
            <a:r>
              <a:rPr sz="1100" spc="-20" dirty="0">
                <a:solidFill>
                  <a:srgbClr val="22373A"/>
                </a:solidFill>
                <a:latin typeface="Arial Black"/>
                <a:cs typeface="Arial Black"/>
              </a:rPr>
              <a:t>interpretation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391160" marR="342900" indent="-187960">
              <a:lnSpc>
                <a:spcPts val="1190"/>
              </a:lnSpc>
              <a:spcBef>
                <a:spcPts val="300"/>
              </a:spcBef>
              <a:buAutoNum type="arabicPeriod"/>
              <a:tabLst>
                <a:tab pos="393700" algn="l"/>
              </a:tabLst>
            </a:pPr>
            <a:r>
              <a:rPr sz="1100" spc="-35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printing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press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enables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95" dirty="0">
                <a:solidFill>
                  <a:srgbClr val="22373A"/>
                </a:solidFill>
                <a:latin typeface="Arial Black"/>
                <a:cs typeface="Arial Black"/>
              </a:rPr>
              <a:t>unlearned</a:t>
            </a:r>
            <a:r>
              <a:rPr sz="1100" spc="-6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135" dirty="0">
                <a:solidFill>
                  <a:srgbClr val="22373A"/>
                </a:solidFill>
                <a:latin typeface="Arial Black"/>
                <a:cs typeface="Arial Black"/>
              </a:rPr>
              <a:t>masses</a:t>
            </a:r>
            <a:r>
              <a:rPr sz="1100" spc="-6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 such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texts 	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without</a:t>
            </a:r>
            <a:r>
              <a:rPr sz="1100" spc="1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guidance.</a:t>
            </a:r>
            <a:endParaRPr sz="1100">
              <a:latin typeface="Arial"/>
              <a:cs typeface="Arial"/>
            </a:endParaRPr>
          </a:p>
          <a:p>
            <a:pPr marL="231775">
              <a:lnSpc>
                <a:spcPct val="100000"/>
              </a:lnSpc>
              <a:spcBef>
                <a:spcPts val="160"/>
              </a:spcBef>
            </a:pP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∴</a:t>
            </a:r>
            <a:r>
              <a:rPr sz="1100" spc="229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Printing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0" dirty="0">
                <a:solidFill>
                  <a:srgbClr val="22373A"/>
                </a:solidFill>
                <a:latin typeface="Arial Black"/>
                <a:cs typeface="Arial Black"/>
              </a:rPr>
              <a:t>responsible</a:t>
            </a:r>
            <a:r>
              <a:rPr sz="1100" spc="-9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120" dirty="0">
                <a:solidFill>
                  <a:srgbClr val="22373A"/>
                </a:solidFill>
                <a:latin typeface="Arial Black"/>
                <a:cs typeface="Arial Black"/>
              </a:rPr>
              <a:t>gatekeeping</a:t>
            </a:r>
            <a:r>
              <a:rPr sz="1100" spc="-9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scholarly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mediation.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Arial Black"/>
                <a:cs typeface="Arial Black"/>
              </a:rPr>
              <a:t>Discussion</a:t>
            </a:r>
            <a:endParaRPr sz="1100">
              <a:latin typeface="Arial Black"/>
              <a:cs typeface="Arial Black"/>
            </a:endParaRPr>
          </a:p>
          <a:p>
            <a:pPr marL="12700" marR="5080">
              <a:lnSpc>
                <a:spcPts val="1190"/>
              </a:lnSpc>
              <a:spcBef>
                <a:spcPts val="259"/>
              </a:spcBef>
            </a:pPr>
            <a:r>
              <a:rPr sz="1100" dirty="0">
                <a:latin typeface="Arial"/>
                <a:cs typeface="Arial"/>
              </a:rPr>
              <a:t>Both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Luther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Erasmus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have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point.</a:t>
            </a:r>
            <a:r>
              <a:rPr sz="1100" spc="2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Who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gets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spc="-110" dirty="0">
                <a:latin typeface="Arial Black"/>
                <a:cs typeface="Arial Black"/>
              </a:rPr>
              <a:t>gatekeeper</a:t>
            </a:r>
            <a:r>
              <a:rPr sz="1100" spc="-110" dirty="0">
                <a:latin typeface="Arial"/>
                <a:cs typeface="Arial"/>
              </a:rPr>
              <a:t>,</a:t>
            </a:r>
            <a:r>
              <a:rPr sz="1100" spc="7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who </a:t>
            </a:r>
            <a:r>
              <a:rPr sz="1100" spc="-20" dirty="0">
                <a:latin typeface="Arial"/>
                <a:cs typeface="Arial"/>
              </a:rPr>
              <a:t>decides—</a:t>
            </a:r>
            <a:r>
              <a:rPr sz="1100" spc="-65" dirty="0">
                <a:latin typeface="Arial"/>
                <a:cs typeface="Arial"/>
              </a:rPr>
              <a:t>and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there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a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middle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ground?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37"/>
              <a:ext cx="2526665" cy="5080"/>
            </a:xfrm>
            <a:custGeom>
              <a:avLst/>
              <a:gdLst/>
              <a:ahLst/>
              <a:cxnLst/>
              <a:rect l="l" t="t" r="r" b="b"/>
              <a:pathLst>
                <a:path w="2526665" h="5080">
                  <a:moveTo>
                    <a:pt x="0" y="5060"/>
                  </a:moveTo>
                  <a:lnTo>
                    <a:pt x="0" y="0"/>
                  </a:lnTo>
                  <a:lnTo>
                    <a:pt x="2526360" y="0"/>
                  </a:lnTo>
                  <a:lnTo>
                    <a:pt x="252636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770" y="74559"/>
            <a:ext cx="307657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14" dirty="0">
                <a:solidFill>
                  <a:srgbClr val="FFFFFF"/>
                </a:solidFill>
                <a:latin typeface="Arial Black"/>
                <a:cs typeface="Arial Black"/>
              </a:rPr>
              <a:t>Social</a:t>
            </a:r>
            <a:r>
              <a:rPr sz="1200" spc="-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130" dirty="0">
                <a:solidFill>
                  <a:srgbClr val="FFFFFF"/>
                </a:solidFill>
                <a:latin typeface="Arial Black"/>
                <a:cs typeface="Arial Black"/>
              </a:rPr>
              <a:t>Consequences</a:t>
            </a:r>
            <a:r>
              <a:rPr sz="12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95" dirty="0">
                <a:solidFill>
                  <a:srgbClr val="FFFFFF"/>
                </a:solidFill>
                <a:latin typeface="Arial Black"/>
                <a:cs typeface="Arial Black"/>
              </a:rPr>
              <a:t>of</a:t>
            </a:r>
            <a:r>
              <a:rPr sz="12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85" dirty="0">
                <a:solidFill>
                  <a:srgbClr val="FFFFFF"/>
                </a:solidFill>
                <a:latin typeface="Arial Black"/>
                <a:cs typeface="Arial Black"/>
              </a:rPr>
              <a:t>Printing:</a:t>
            </a:r>
            <a:r>
              <a:rPr sz="1200" spc="-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140" dirty="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sz="1200" spc="-80" dirty="0">
                <a:solidFill>
                  <a:srgbClr val="FFFFFF"/>
                </a:solidFill>
                <a:latin typeface="Arial Black"/>
                <a:cs typeface="Arial Black"/>
              </a:rPr>
              <a:t> Good</a:t>
            </a:r>
            <a:endParaRPr sz="1200">
              <a:latin typeface="Arial Black"/>
              <a:cs typeface="Arial Black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59994" y="472452"/>
          <a:ext cx="5116195" cy="17646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209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100" spc="73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,</a:t>
                      </a:r>
                      <a:r>
                        <a:rPr sz="1100" spc="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1100" spc="-10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Benefits</a:t>
                      </a:r>
                      <a:r>
                        <a:rPr sz="1100" spc="-8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of</a:t>
                      </a:r>
                      <a:r>
                        <a:rPr sz="1100" spc="-8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the</a:t>
                      </a:r>
                      <a:r>
                        <a:rPr sz="1100" spc="-8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Printing</a:t>
                      </a:r>
                      <a:r>
                        <a:rPr sz="1100" spc="-8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Revolution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12065" marB="0">
                    <a:solidFill>
                      <a:srgbClr val="19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2575">
                <a:tc>
                  <a:txBody>
                    <a:bodyPr/>
                    <a:lstStyle/>
                    <a:p>
                      <a:pPr marL="274320" marR="663575" indent="-121920">
                        <a:lnSpc>
                          <a:spcPts val="1190"/>
                        </a:lnSpc>
                        <a:spcBef>
                          <a:spcPts val="540"/>
                        </a:spcBef>
                        <a:buFont typeface="Arial"/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Scientific</a:t>
                      </a:r>
                      <a:r>
                        <a:rPr sz="1100" spc="-5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Revolution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1100" spc="6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Sharing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data,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replication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experiments, 	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cumulative</a:t>
                      </a:r>
                      <a:r>
                        <a:rPr sz="1100" spc="6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knowledge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55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4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Mass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literacy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campaigns</a:t>
                      </a:r>
                      <a:r>
                        <a:rPr sz="1100" spc="-10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1100" spc="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Reading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becomes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widespread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skill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marR="274955" indent="-121920">
                        <a:lnSpc>
                          <a:spcPts val="1190"/>
                        </a:lnSpc>
                        <a:spcBef>
                          <a:spcPts val="320"/>
                        </a:spcBef>
                        <a:buFont typeface="Arial"/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1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Vernacular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7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literature</a:t>
                      </a:r>
                      <a:r>
                        <a:rPr sz="1100" spc="-7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11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National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languages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emerge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(Dante,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Shakespeare, 	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Luther’s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German)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55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Religious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7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diversity</a:t>
                      </a:r>
                      <a:r>
                        <a:rPr sz="1100" spc="-7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1100" spc="9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Individual</a:t>
                      </a:r>
                      <a:r>
                        <a:rPr sz="1100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conscience,</a:t>
                      </a:r>
                      <a:r>
                        <a:rPr sz="1100" spc="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Protestant</a:t>
                      </a:r>
                      <a:r>
                        <a:rPr sz="1100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Reformation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5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0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Philosophical</a:t>
                      </a:r>
                      <a:r>
                        <a:rPr sz="1100" spc="-5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treatises</a:t>
                      </a:r>
                      <a:r>
                        <a:rPr sz="1100" spc="-5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widely</a:t>
                      </a:r>
                      <a:r>
                        <a:rPr sz="1100" spc="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available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(Enlightenment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becomes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possible)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8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Standardization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11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Spelling,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grammar,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shared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reference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texts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9994" y="2356954"/>
          <a:ext cx="5116195" cy="571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3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The</a:t>
                      </a:r>
                      <a:r>
                        <a:rPr sz="1100" spc="-7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14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Promise</a:t>
                      </a:r>
                      <a:r>
                        <a:rPr sz="1100" spc="-7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Fulfilled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2D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285">
                <a:tc>
                  <a:txBody>
                    <a:bodyPr/>
                    <a:lstStyle/>
                    <a:p>
                      <a:pPr marL="45720" marR="466725">
                        <a:lnSpc>
                          <a:spcPts val="1190"/>
                        </a:lnSpc>
                        <a:spcBef>
                          <a:spcPts val="229"/>
                        </a:spcBef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Printing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did</a:t>
                      </a:r>
                      <a:r>
                        <a:rPr sz="11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democratize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knowledge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enable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new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forms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intellectual community.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solidFill>
                      <a:srgbClr val="F4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37"/>
              <a:ext cx="2627630" cy="5080"/>
            </a:xfrm>
            <a:custGeom>
              <a:avLst/>
              <a:gdLst/>
              <a:ahLst/>
              <a:cxnLst/>
              <a:rect l="l" t="t" r="r" b="b"/>
              <a:pathLst>
                <a:path w="2627630" h="5080">
                  <a:moveTo>
                    <a:pt x="0" y="5060"/>
                  </a:moveTo>
                  <a:lnTo>
                    <a:pt x="0" y="0"/>
                  </a:lnTo>
                  <a:lnTo>
                    <a:pt x="2627435" y="0"/>
                  </a:lnTo>
                  <a:lnTo>
                    <a:pt x="262743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74559"/>
            <a:ext cx="29838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14" dirty="0"/>
              <a:t>Social</a:t>
            </a:r>
            <a:r>
              <a:rPr spc="-85" dirty="0"/>
              <a:t> </a:t>
            </a:r>
            <a:r>
              <a:rPr spc="-130" dirty="0"/>
              <a:t>Consequences</a:t>
            </a:r>
            <a:r>
              <a:rPr spc="-80" dirty="0"/>
              <a:t> </a:t>
            </a:r>
            <a:r>
              <a:rPr spc="-95" dirty="0"/>
              <a:t>of</a:t>
            </a:r>
            <a:r>
              <a:rPr spc="-80" dirty="0"/>
              <a:t> </a:t>
            </a:r>
            <a:r>
              <a:rPr spc="-85" dirty="0"/>
              <a:t>Printing:</a:t>
            </a:r>
            <a:r>
              <a:rPr spc="-30" dirty="0"/>
              <a:t> </a:t>
            </a:r>
            <a:r>
              <a:rPr spc="-140" dirty="0"/>
              <a:t>The</a:t>
            </a:r>
            <a:r>
              <a:rPr spc="-80" dirty="0"/>
              <a:t> </a:t>
            </a:r>
            <a:r>
              <a:rPr spc="-60" dirty="0"/>
              <a:t>Bad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59994" y="472452"/>
          <a:ext cx="5116195" cy="1574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209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100" spc="68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f</a:t>
                      </a:r>
                      <a:r>
                        <a:rPr sz="1100" spc="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1100" spc="-10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Dark</a:t>
                      </a:r>
                      <a:r>
                        <a:rPr sz="1100" spc="-8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Side</a:t>
                      </a:r>
                      <a:r>
                        <a:rPr sz="1100" spc="-8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of</a:t>
                      </a:r>
                      <a:r>
                        <a:rPr sz="1100" spc="-8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the</a:t>
                      </a:r>
                      <a:r>
                        <a:rPr sz="1100" spc="-8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Printing</a:t>
                      </a:r>
                      <a:r>
                        <a:rPr sz="1100" spc="-8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Revolution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12065" marB="0">
                    <a:solidFill>
                      <a:srgbClr val="BF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2075">
                <a:tc>
                  <a:txBody>
                    <a:bodyPr/>
                    <a:lstStyle/>
                    <a:p>
                      <a:pPr marL="274320" marR="563880" indent="-121920">
                        <a:lnSpc>
                          <a:spcPts val="1190"/>
                        </a:lnSpc>
                        <a:spcBef>
                          <a:spcPts val="545"/>
                        </a:spcBef>
                        <a:buClr>
                          <a:srgbClr val="BF392B"/>
                        </a:buClr>
                        <a:buFont typeface="Arial"/>
                        <a:buChar char="•"/>
                        <a:tabLst>
                          <a:tab pos="276860" algn="l"/>
                        </a:tabLst>
                      </a:pPr>
                      <a:r>
                        <a:rPr sz="1100" b="1" i="1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Malleus</a:t>
                      </a:r>
                      <a:r>
                        <a:rPr sz="1100" b="1" i="1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Maleficarum</a:t>
                      </a:r>
                      <a:r>
                        <a:rPr sz="1100" b="1" i="1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(1487):</a:t>
                      </a:r>
                      <a:r>
                        <a:rPr sz="1100" spc="8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witch-hunting</a:t>
                      </a:r>
                      <a:r>
                        <a:rPr sz="1100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manual</a:t>
                      </a:r>
                      <a:r>
                        <a:rPr sz="1100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becomes</a:t>
                      </a:r>
                      <a:r>
                        <a:rPr sz="1100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 	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bestseller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marR="225425" indent="-121920">
                        <a:lnSpc>
                          <a:spcPts val="1190"/>
                        </a:lnSpc>
                        <a:spcBef>
                          <a:spcPts val="300"/>
                        </a:spcBef>
                        <a:buClr>
                          <a:srgbClr val="BF392B"/>
                        </a:buClr>
                        <a:buFont typeface="Arial"/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6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Anti-</a:t>
                      </a:r>
                      <a:r>
                        <a:rPr sz="1100" spc="-1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Semitic</a:t>
                      </a:r>
                      <a:r>
                        <a:rPr sz="1100" spc="-5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pamphlets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1100" spc="6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Pogroms</a:t>
                      </a:r>
                      <a:r>
                        <a:rPr sz="1100" spc="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spread</a:t>
                      </a:r>
                      <a:r>
                        <a:rPr sz="1100" spc="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with</a:t>
                      </a:r>
                      <a:r>
                        <a:rPr sz="1100" spc="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printed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propaganda</a:t>
                      </a:r>
                      <a:r>
                        <a:rPr sz="1100" spc="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(e.g., 	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Luther’s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later</a:t>
                      </a:r>
                      <a:r>
                        <a:rPr sz="1100" spc="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writings)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55"/>
                        </a:spcBef>
                        <a:buClr>
                          <a:srgbClr val="BF392B"/>
                        </a:buClr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Religious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wars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1100" spc="7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Thirty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Years’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War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(1618–1648)</a:t>
                      </a:r>
                      <a:r>
                        <a:rPr sz="1100" spc="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kills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∼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8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million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5"/>
                        </a:spcBef>
                        <a:buClr>
                          <a:srgbClr val="BF392B"/>
                        </a:buClr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Propaganda</a:t>
                      </a:r>
                      <a:r>
                        <a:rPr sz="1100" spc="-5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and</a:t>
                      </a:r>
                      <a:r>
                        <a:rPr sz="1100" spc="-5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7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polarization</a:t>
                      </a:r>
                      <a:r>
                        <a:rPr sz="1100" spc="-7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1100" spc="5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Pamphleteering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as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political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warfare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Clr>
                          <a:srgbClr val="BF392B"/>
                        </a:buClr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State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power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consolidated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1100" spc="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Printed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laws,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surveillance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records,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bureaucracy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solidFill>
                      <a:srgbClr val="F9E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359994" y="2223914"/>
            <a:ext cx="5040630" cy="558800"/>
            <a:chOff x="359994" y="2223914"/>
            <a:chExt cx="5040630" cy="558800"/>
          </a:xfrm>
        </p:grpSpPr>
        <p:sp>
          <p:nvSpPr>
            <p:cNvPr id="5" name="object 5"/>
            <p:cNvSpPr/>
            <p:nvPr/>
          </p:nvSpPr>
          <p:spPr>
            <a:xfrm>
              <a:off x="359994" y="2223914"/>
              <a:ext cx="5040630" cy="558800"/>
            </a:xfrm>
            <a:custGeom>
              <a:avLst/>
              <a:gdLst/>
              <a:ahLst/>
              <a:cxnLst/>
              <a:rect l="l" t="t" r="r" b="b"/>
              <a:pathLst>
                <a:path w="5040630" h="558800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520481"/>
                  </a:lnTo>
                  <a:lnTo>
                    <a:pt x="2982" y="535256"/>
                  </a:lnTo>
                  <a:lnTo>
                    <a:pt x="11117" y="547322"/>
                  </a:lnTo>
                  <a:lnTo>
                    <a:pt x="23182" y="555457"/>
                  </a:lnTo>
                  <a:lnTo>
                    <a:pt x="37958" y="558439"/>
                  </a:lnTo>
                  <a:lnTo>
                    <a:pt x="5002106" y="558439"/>
                  </a:lnTo>
                  <a:lnTo>
                    <a:pt x="5016882" y="555457"/>
                  </a:lnTo>
                  <a:lnTo>
                    <a:pt x="5028947" y="547322"/>
                  </a:lnTo>
                  <a:lnTo>
                    <a:pt x="5037082" y="535256"/>
                  </a:lnTo>
                  <a:lnTo>
                    <a:pt x="5040064" y="520481"/>
                  </a:lnTo>
                  <a:lnTo>
                    <a:pt x="5040064" y="37958"/>
                  </a:lnTo>
                  <a:lnTo>
                    <a:pt x="5037082" y="23182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B777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2646" y="2407204"/>
              <a:ext cx="5015230" cy="362585"/>
            </a:xfrm>
            <a:custGeom>
              <a:avLst/>
              <a:gdLst/>
              <a:ahLst/>
              <a:cxnLst/>
              <a:rect l="l" t="t" r="r" b="b"/>
              <a:pathLst>
                <a:path w="5015230" h="362585">
                  <a:moveTo>
                    <a:pt x="5014759" y="0"/>
                  </a:moveTo>
                  <a:lnTo>
                    <a:pt x="0" y="0"/>
                  </a:lnTo>
                  <a:lnTo>
                    <a:pt x="0" y="337191"/>
                  </a:lnTo>
                  <a:lnTo>
                    <a:pt x="1988" y="347041"/>
                  </a:lnTo>
                  <a:lnTo>
                    <a:pt x="7411" y="355085"/>
                  </a:lnTo>
                  <a:lnTo>
                    <a:pt x="15455" y="360508"/>
                  </a:lnTo>
                  <a:lnTo>
                    <a:pt x="25305" y="362497"/>
                  </a:lnTo>
                  <a:lnTo>
                    <a:pt x="4989454" y="362497"/>
                  </a:lnTo>
                  <a:lnTo>
                    <a:pt x="4999304" y="360508"/>
                  </a:lnTo>
                  <a:lnTo>
                    <a:pt x="5007347" y="355085"/>
                  </a:lnTo>
                  <a:lnTo>
                    <a:pt x="5012770" y="347041"/>
                  </a:lnTo>
                  <a:lnTo>
                    <a:pt x="5014759" y="337191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B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35863" y="2199383"/>
            <a:ext cx="4888865" cy="54356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100" spc="-10" dirty="0">
                <a:solidFill>
                  <a:srgbClr val="FFFFFF"/>
                </a:solidFill>
                <a:latin typeface="Arial Black"/>
                <a:cs typeface="Arial Black"/>
              </a:rPr>
              <a:t>Discussion</a:t>
            </a:r>
            <a:endParaRPr sz="1100">
              <a:latin typeface="Arial Black"/>
              <a:cs typeface="Arial Black"/>
            </a:endParaRPr>
          </a:p>
          <a:p>
            <a:pPr marL="12700" marR="5080">
              <a:lnSpc>
                <a:spcPts val="1190"/>
              </a:lnSpc>
              <a:spcBef>
                <a:spcPts val="270"/>
              </a:spcBef>
            </a:pPr>
            <a:r>
              <a:rPr sz="1100" dirty="0">
                <a:latin typeface="Arial"/>
                <a:cs typeface="Arial"/>
              </a:rPr>
              <a:t>Does</a:t>
            </a:r>
            <a:r>
              <a:rPr sz="1100" spc="1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printing</a:t>
            </a:r>
            <a:r>
              <a:rPr sz="1100" spc="1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press</a:t>
            </a:r>
            <a:r>
              <a:rPr sz="1100" spc="1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bear</a:t>
            </a:r>
            <a:r>
              <a:rPr sz="1100" spc="100" dirty="0">
                <a:latin typeface="Arial"/>
                <a:cs typeface="Arial"/>
              </a:rPr>
              <a:t> </a:t>
            </a:r>
            <a:r>
              <a:rPr sz="1100" spc="-90" dirty="0">
                <a:latin typeface="Arial Black"/>
                <a:cs typeface="Arial Black"/>
              </a:rPr>
              <a:t>responsibility</a:t>
            </a:r>
            <a:r>
              <a:rPr sz="1100" spc="40" dirty="0">
                <a:latin typeface="Arial Black"/>
                <a:cs typeface="Arial Black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1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witch</a:t>
            </a:r>
            <a:r>
              <a:rPr sz="1100" spc="10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trials—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1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100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it</a:t>
            </a:r>
            <a:r>
              <a:rPr sz="1100" spc="1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just</a:t>
            </a:r>
            <a:r>
              <a:rPr sz="1100" spc="10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 </a:t>
            </a:r>
            <a:r>
              <a:rPr sz="1100" dirty="0">
                <a:latin typeface="Arial"/>
                <a:cs typeface="Arial"/>
              </a:rPr>
              <a:t>tool?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(The</a:t>
            </a:r>
            <a:r>
              <a:rPr sz="1100" spc="-8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same</a:t>
            </a:r>
            <a:r>
              <a:rPr sz="1100" spc="-8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press</a:t>
            </a:r>
            <a:r>
              <a:rPr sz="1100" spc="-8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enabled</a:t>
            </a:r>
            <a:r>
              <a:rPr sz="1100" spc="-8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8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Scientific</a:t>
            </a:r>
            <a:r>
              <a:rPr sz="1100" spc="-8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Revolution</a:t>
            </a:r>
            <a:r>
              <a:rPr sz="1100" spc="-8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and</a:t>
            </a:r>
            <a:r>
              <a:rPr sz="1100" i="1" spc="-8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mass</a:t>
            </a:r>
            <a:r>
              <a:rPr sz="1100" spc="-8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propaganda.)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9" name="object 9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37"/>
              <a:ext cx="2728595" cy="5080"/>
            </a:xfrm>
            <a:custGeom>
              <a:avLst/>
              <a:gdLst/>
              <a:ahLst/>
              <a:cxnLst/>
              <a:rect l="l" t="t" r="r" b="b"/>
              <a:pathLst>
                <a:path w="2728595" h="5080">
                  <a:moveTo>
                    <a:pt x="0" y="5060"/>
                  </a:moveTo>
                  <a:lnTo>
                    <a:pt x="0" y="0"/>
                  </a:lnTo>
                  <a:lnTo>
                    <a:pt x="2728423" y="0"/>
                  </a:lnTo>
                  <a:lnTo>
                    <a:pt x="272842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40" dirty="0"/>
              <a:t>The</a:t>
            </a:r>
            <a:r>
              <a:rPr spc="-85" dirty="0"/>
              <a:t> </a:t>
            </a:r>
            <a:r>
              <a:rPr spc="-105" dirty="0"/>
              <a:t>Pattern</a:t>
            </a:r>
            <a:r>
              <a:rPr spc="-85" dirty="0"/>
              <a:t> </a:t>
            </a:r>
            <a:r>
              <a:rPr spc="-110" dirty="0"/>
              <a:t>Repeats</a:t>
            </a:r>
          </a:p>
        </p:txBody>
      </p:sp>
      <p:sp>
        <p:nvSpPr>
          <p:cNvPr id="3" name="object 3"/>
          <p:cNvSpPr/>
          <p:nvPr/>
        </p:nvSpPr>
        <p:spPr>
          <a:xfrm>
            <a:off x="388175" y="576859"/>
            <a:ext cx="4984115" cy="0"/>
          </a:xfrm>
          <a:custGeom>
            <a:avLst/>
            <a:gdLst/>
            <a:ahLst/>
            <a:cxnLst/>
            <a:rect l="l" t="t" r="r" b="b"/>
            <a:pathLst>
              <a:path w="4984115">
                <a:moveTo>
                  <a:pt x="0" y="0"/>
                </a:moveTo>
                <a:lnTo>
                  <a:pt x="4983657" y="0"/>
                </a:lnTo>
              </a:path>
            </a:pathLst>
          </a:custGeom>
          <a:ln w="11087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88175" y="801941"/>
            <a:ext cx="4984115" cy="0"/>
          </a:xfrm>
          <a:custGeom>
            <a:avLst/>
            <a:gdLst/>
            <a:ahLst/>
            <a:cxnLst/>
            <a:rect l="l" t="t" r="r" b="b"/>
            <a:pathLst>
              <a:path w="4984115">
                <a:moveTo>
                  <a:pt x="0" y="0"/>
                </a:moveTo>
                <a:lnTo>
                  <a:pt x="4983657" y="0"/>
                </a:lnTo>
              </a:path>
            </a:pathLst>
          </a:custGeom>
          <a:ln w="6921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07299" y="520431"/>
            <a:ext cx="1283335" cy="47180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100" spc="-10" dirty="0">
                <a:solidFill>
                  <a:srgbClr val="22373A"/>
                </a:solidFill>
                <a:latin typeface="Arial Black"/>
                <a:cs typeface="Arial Black"/>
              </a:rPr>
              <a:t>Writing</a:t>
            </a:r>
            <a:endParaRPr sz="11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Preserve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knowledge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5462" y="800174"/>
            <a:ext cx="883919" cy="110045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233045">
              <a:lnSpc>
                <a:spcPts val="1190"/>
              </a:lnSpc>
              <a:spcBef>
                <a:spcPts val="235"/>
              </a:spcBef>
            </a:pPr>
            <a:r>
              <a:rPr sz="1100" spc="-10" dirty="0">
                <a:solidFill>
                  <a:srgbClr val="22373A"/>
                </a:solidFill>
                <a:latin typeface="Arial Black"/>
                <a:cs typeface="Arial Black"/>
              </a:rPr>
              <a:t>Promise </a:t>
            </a:r>
            <a:r>
              <a:rPr sz="1100" spc="-35" dirty="0">
                <a:solidFill>
                  <a:srgbClr val="22373A"/>
                </a:solidFill>
                <a:latin typeface="Arial Black"/>
                <a:cs typeface="Arial Black"/>
              </a:rPr>
              <a:t>Optimist </a:t>
            </a:r>
            <a:r>
              <a:rPr sz="1100" spc="-114" dirty="0">
                <a:solidFill>
                  <a:srgbClr val="22373A"/>
                </a:solidFill>
                <a:latin typeface="Arial Black"/>
                <a:cs typeface="Arial Black"/>
              </a:rPr>
              <a:t>Pessimist </a:t>
            </a:r>
            <a:r>
              <a:rPr sz="1100" spc="-20" dirty="0">
                <a:solidFill>
                  <a:srgbClr val="22373A"/>
                </a:solidFill>
                <a:latin typeface="Arial Black"/>
                <a:cs typeface="Arial Black"/>
              </a:rPr>
              <a:t>Benefits</a:t>
            </a:r>
            <a:endParaRPr sz="1100">
              <a:latin typeface="Arial Black"/>
              <a:cs typeface="Arial Black"/>
            </a:endParaRPr>
          </a:p>
          <a:p>
            <a:pPr marL="12700">
              <a:lnSpc>
                <a:spcPts val="1255"/>
              </a:lnSpc>
              <a:spcBef>
                <a:spcPts val="1055"/>
              </a:spcBef>
            </a:pPr>
            <a:r>
              <a:rPr sz="1100" spc="-10" dirty="0">
                <a:solidFill>
                  <a:srgbClr val="22373A"/>
                </a:solidFill>
                <a:latin typeface="Arial Black"/>
                <a:cs typeface="Arial Black"/>
              </a:rPr>
              <a:t>Harms</a:t>
            </a:r>
            <a:endParaRPr sz="1100">
              <a:latin typeface="Arial Black"/>
              <a:cs typeface="Arial Black"/>
            </a:endParaRPr>
          </a:p>
          <a:p>
            <a:pPr marL="12700">
              <a:lnSpc>
                <a:spcPts val="1255"/>
              </a:lnSpc>
            </a:pPr>
            <a:r>
              <a:rPr sz="1100" spc="-145" dirty="0">
                <a:solidFill>
                  <a:srgbClr val="22373A"/>
                </a:solidFill>
                <a:latin typeface="Arial Black"/>
                <a:cs typeface="Arial Black"/>
              </a:rPr>
              <a:t>Key</a:t>
            </a:r>
            <a:r>
              <a:rPr sz="1100" spc="-9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100" dirty="0">
                <a:solidFill>
                  <a:srgbClr val="22373A"/>
                </a:solidFill>
                <a:latin typeface="Arial Black"/>
                <a:cs typeface="Arial Black"/>
              </a:rPr>
              <a:t>Question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7299" y="951609"/>
            <a:ext cx="1700530" cy="94932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85470">
              <a:lnSpc>
                <a:spcPts val="1190"/>
              </a:lnSpc>
              <a:spcBef>
                <a:spcPts val="235"/>
              </a:spcBef>
            </a:pP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Theuth Thamus/Socrates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ts val="1175"/>
              </a:lnSpc>
            </a:pPr>
            <a:r>
              <a:rPr sz="1100" spc="-30" dirty="0">
                <a:solidFill>
                  <a:srgbClr val="22373A"/>
                </a:solidFill>
                <a:latin typeface="Arial"/>
                <a:cs typeface="Arial"/>
              </a:rPr>
              <a:t>Law,</a:t>
            </a:r>
            <a:r>
              <a:rPr sz="11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literature,</a:t>
            </a:r>
            <a:r>
              <a:rPr sz="11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scholarship</a:t>
            </a:r>
            <a:endParaRPr sz="1100">
              <a:latin typeface="Arial"/>
              <a:cs typeface="Arial"/>
            </a:endParaRPr>
          </a:p>
          <a:p>
            <a:pPr marL="12700" marR="339725">
              <a:lnSpc>
                <a:spcPts val="1190"/>
              </a:lnSpc>
              <a:spcBef>
                <a:spcPts val="1215"/>
              </a:spcBef>
            </a:pP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Empire,</a:t>
            </a:r>
            <a:r>
              <a:rPr sz="1100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bureaucracy </a:t>
            </a:r>
            <a:r>
              <a:rPr sz="1100" spc="-30" dirty="0">
                <a:solidFill>
                  <a:srgbClr val="22373A"/>
                </a:solidFill>
                <a:latin typeface="Arial"/>
                <a:cs typeface="Arial"/>
              </a:rPr>
              <a:t>Who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controls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22373A"/>
                </a:solidFill>
                <a:latin typeface="Arial"/>
                <a:cs typeface="Arial"/>
              </a:rPr>
              <a:t>access?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59124" y="520431"/>
            <a:ext cx="1825625" cy="138049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100" spc="-10" dirty="0">
                <a:solidFill>
                  <a:srgbClr val="22373A"/>
                </a:solidFill>
                <a:latin typeface="Arial Black"/>
                <a:cs typeface="Arial Black"/>
              </a:rPr>
              <a:t>Printing</a:t>
            </a:r>
            <a:endParaRPr sz="1100">
              <a:latin typeface="Arial Black"/>
              <a:cs typeface="Arial Black"/>
            </a:endParaRPr>
          </a:p>
          <a:p>
            <a:pPr marL="12700" marR="310515">
              <a:lnSpc>
                <a:spcPts val="1190"/>
              </a:lnSpc>
              <a:spcBef>
                <a:spcPts val="585"/>
              </a:spcBef>
            </a:pP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Democratize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knowledge Luther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ts val="1115"/>
              </a:lnSpc>
            </a:pP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Erasmus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ts val="1190"/>
              </a:lnSpc>
              <a:spcBef>
                <a:spcPts val="85"/>
              </a:spcBef>
            </a:pP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Science,</a:t>
            </a:r>
            <a:r>
              <a:rPr sz="1100" spc="2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literacy,</a:t>
            </a:r>
            <a:r>
              <a:rPr sz="1100" spc="2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Enlighten-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ment</a:t>
            </a:r>
            <a:endParaRPr sz="1100">
              <a:latin typeface="Arial"/>
              <a:cs typeface="Arial"/>
            </a:endParaRPr>
          </a:p>
          <a:p>
            <a:pPr marL="12700" marR="173990">
              <a:lnSpc>
                <a:spcPts val="1190"/>
              </a:lnSpc>
              <a:spcBef>
                <a:spcPts val="5"/>
              </a:spcBef>
            </a:pP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Religious war,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propaganda </a:t>
            </a:r>
            <a:r>
              <a:rPr sz="1100" spc="-30" dirty="0">
                <a:solidFill>
                  <a:srgbClr val="22373A"/>
                </a:solidFill>
                <a:latin typeface="Arial"/>
                <a:cs typeface="Arial"/>
              </a:rPr>
              <a:t>Who</a:t>
            </a:r>
            <a:r>
              <a:rPr sz="11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controls</a:t>
            </a:r>
            <a:r>
              <a:rPr sz="11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1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press?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8175" y="1935581"/>
            <a:ext cx="4984115" cy="0"/>
          </a:xfrm>
          <a:custGeom>
            <a:avLst/>
            <a:gdLst/>
            <a:ahLst/>
            <a:cxnLst/>
            <a:rect l="l" t="t" r="r" b="b"/>
            <a:pathLst>
              <a:path w="4984115">
                <a:moveTo>
                  <a:pt x="0" y="0"/>
                </a:moveTo>
                <a:lnTo>
                  <a:pt x="4983657" y="0"/>
                </a:lnTo>
              </a:path>
            </a:pathLst>
          </a:custGeom>
          <a:ln w="11087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59994" y="2212847"/>
          <a:ext cx="5116195" cy="573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14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Emerging</a:t>
                      </a:r>
                      <a:r>
                        <a:rPr sz="1100" spc="-6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Insight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2D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45720" marR="68580">
                        <a:lnSpc>
                          <a:spcPts val="1190"/>
                        </a:lnSpc>
                        <a:spcBef>
                          <a:spcPts val="244"/>
                        </a:spcBef>
                      </a:pP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technology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amplifies</a:t>
                      </a:r>
                      <a:r>
                        <a:rPr sz="1100" spc="-7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human</a:t>
                      </a:r>
                      <a:r>
                        <a:rPr sz="1100" spc="-7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intentions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both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good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bad.</a:t>
                      </a:r>
                      <a:r>
                        <a:rPr sz="1100" spc="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question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always: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Who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controls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5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it,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and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for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what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ends?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31114" marB="0">
                    <a:solidFill>
                      <a:srgbClr val="F4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2" name="object 12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3234937"/>
              <a:ext cx="2829560" cy="5080"/>
            </a:xfrm>
            <a:custGeom>
              <a:avLst/>
              <a:gdLst/>
              <a:ahLst/>
              <a:cxnLst/>
              <a:rect l="l" t="t" r="r" b="b"/>
              <a:pathLst>
                <a:path w="2829560" h="5080">
                  <a:moveTo>
                    <a:pt x="0" y="5060"/>
                  </a:moveTo>
                  <a:lnTo>
                    <a:pt x="0" y="0"/>
                  </a:lnTo>
                  <a:lnTo>
                    <a:pt x="2829499" y="0"/>
                  </a:lnTo>
                  <a:lnTo>
                    <a:pt x="282949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5" dirty="0"/>
              <a:t>Lecture</a:t>
            </a:r>
            <a:r>
              <a:rPr spc="-60" dirty="0"/>
              <a:t> </a:t>
            </a:r>
            <a:r>
              <a:rPr spc="-85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47914"/>
            <a:ext cx="3044825" cy="23475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Introduction:</a:t>
            </a:r>
            <a:r>
              <a:rPr sz="1100" spc="195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Information</a:t>
            </a:r>
            <a:r>
              <a:rPr sz="1100" spc="125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spc="-2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Technology</a:t>
            </a:r>
            <a:r>
              <a:rPr sz="1100" spc="13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and</a:t>
            </a:r>
            <a:r>
              <a:rPr sz="1100" spc="125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Ethics</a:t>
            </a:r>
            <a:endParaRPr sz="1100">
              <a:latin typeface="Arial"/>
              <a:cs typeface="Arial"/>
            </a:endParaRPr>
          </a:p>
          <a:p>
            <a:pPr marL="12700" marR="1043305">
              <a:lnSpc>
                <a:spcPct val="214299"/>
              </a:lnSpc>
            </a:pP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Revolution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1:</a:t>
            </a:r>
            <a:r>
              <a:rPr sz="1100" spc="10" dirty="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Writing</a:t>
            </a:r>
            <a:r>
              <a:rPr sz="1100" spc="500" dirty="0">
                <a:solidFill>
                  <a:srgbClr val="CED2D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Revolution</a:t>
            </a:r>
            <a:r>
              <a:rPr sz="1100" spc="-3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2:</a:t>
            </a:r>
            <a:r>
              <a:rPr sz="1100" spc="15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The</a:t>
            </a:r>
            <a:r>
              <a:rPr sz="1100" spc="-3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Printing</a:t>
            </a:r>
            <a:r>
              <a:rPr sz="1100" spc="-25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Press</a:t>
            </a:r>
            <a:endParaRPr sz="1100">
              <a:latin typeface="Arial"/>
              <a:cs typeface="Arial"/>
            </a:endParaRPr>
          </a:p>
          <a:p>
            <a:pPr marL="12700" marR="613410">
              <a:lnSpc>
                <a:spcPct val="214299"/>
              </a:lnSpc>
            </a:pPr>
            <a:r>
              <a:rPr sz="1100" dirty="0">
                <a:solidFill>
                  <a:srgbClr val="22373A"/>
                </a:solidFill>
                <a:latin typeface="Arial"/>
                <a:cs typeface="Arial"/>
                <a:hlinkClick r:id="rId5" action="ppaction://hlinksldjump"/>
              </a:rPr>
              <a:t>Revolution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  <a:hlinkClick r:id="rId5" action="ppaction://hlinksldjump"/>
              </a:rPr>
              <a:t>3: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  <a:hlinkClick r:id="rId5" action="ppaction://hlinksldjump"/>
              </a:rPr>
              <a:t>Distance</a:t>
            </a:r>
            <a:r>
              <a:rPr sz="1100" spc="-30" dirty="0">
                <a:solidFill>
                  <a:srgbClr val="22373A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  <a:hlinkClick r:id="rId5" action="ppaction://hlinksldjump"/>
              </a:rPr>
              <a:t>Communication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Revolution</a:t>
            </a:r>
            <a:r>
              <a:rPr sz="1100" spc="-40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4:</a:t>
            </a:r>
            <a:r>
              <a:rPr sz="1100" spc="5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1100" spc="-30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Mass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Media</a:t>
            </a:r>
            <a:endParaRPr sz="1100">
              <a:latin typeface="Arial"/>
              <a:cs typeface="Arial"/>
            </a:endParaRPr>
          </a:p>
          <a:p>
            <a:pPr marL="12700" marR="875030">
              <a:lnSpc>
                <a:spcPct val="214299"/>
              </a:lnSpc>
            </a:pP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Revolution</a:t>
            </a:r>
            <a:r>
              <a:rPr sz="1100" spc="-4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5: 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The</a:t>
            </a:r>
            <a:r>
              <a:rPr sz="1100" spc="-4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World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Wide</a:t>
            </a:r>
            <a:r>
              <a:rPr sz="1100" spc="-4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1100" spc="-25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Web</a:t>
            </a:r>
            <a:r>
              <a:rPr sz="1100" spc="-25" dirty="0">
                <a:solidFill>
                  <a:srgbClr val="CED2D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Conclusion: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Patterns</a:t>
            </a:r>
            <a:r>
              <a:rPr sz="1100" spc="-7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and</a:t>
            </a:r>
            <a:r>
              <a:rPr sz="1100" spc="-7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Lessons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37"/>
              <a:ext cx="2931160" cy="5080"/>
            </a:xfrm>
            <a:custGeom>
              <a:avLst/>
              <a:gdLst/>
              <a:ahLst/>
              <a:cxnLst/>
              <a:rect l="l" t="t" r="r" b="b"/>
              <a:pathLst>
                <a:path w="2931160" h="5080">
                  <a:moveTo>
                    <a:pt x="0" y="5060"/>
                  </a:moveTo>
                  <a:lnTo>
                    <a:pt x="0" y="0"/>
                  </a:lnTo>
                  <a:lnTo>
                    <a:pt x="2930574" y="0"/>
                  </a:lnTo>
                  <a:lnTo>
                    <a:pt x="293057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74559"/>
            <a:ext cx="402844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14" dirty="0"/>
              <a:t>Revolution</a:t>
            </a:r>
            <a:r>
              <a:rPr spc="-80" dirty="0"/>
              <a:t> </a:t>
            </a:r>
            <a:r>
              <a:rPr spc="-55" dirty="0"/>
              <a:t>3:</a:t>
            </a:r>
            <a:r>
              <a:rPr spc="-30" dirty="0"/>
              <a:t> </a:t>
            </a:r>
            <a:r>
              <a:rPr spc="-140" dirty="0"/>
              <a:t>The</a:t>
            </a:r>
            <a:r>
              <a:rPr spc="-80" dirty="0"/>
              <a:t> </a:t>
            </a:r>
            <a:r>
              <a:rPr spc="-135" dirty="0"/>
              <a:t>Technologies</a:t>
            </a:r>
            <a:r>
              <a:rPr spc="-75" dirty="0"/>
              <a:t> </a:t>
            </a:r>
            <a:r>
              <a:rPr spc="-95" dirty="0"/>
              <a:t>of</a:t>
            </a:r>
            <a:r>
              <a:rPr spc="-80" dirty="0"/>
              <a:t> </a:t>
            </a:r>
            <a:r>
              <a:rPr spc="-105" dirty="0"/>
              <a:t>the</a:t>
            </a:r>
            <a:r>
              <a:rPr spc="-80" dirty="0"/>
              <a:t> </a:t>
            </a:r>
            <a:r>
              <a:rPr spc="-145" dirty="0"/>
              <a:t>Long</a:t>
            </a:r>
            <a:r>
              <a:rPr spc="-80" dirty="0"/>
              <a:t> </a:t>
            </a:r>
            <a:r>
              <a:rPr spc="-95" dirty="0"/>
              <a:t>19th</a:t>
            </a:r>
            <a:r>
              <a:rPr spc="-80" dirty="0"/>
              <a:t> </a:t>
            </a:r>
            <a:r>
              <a:rPr spc="-70" dirty="0"/>
              <a:t>Century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59994" y="685825"/>
          <a:ext cx="5116195" cy="12553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4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Key</a:t>
                      </a:r>
                      <a:r>
                        <a:rPr sz="1100" spc="-10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Innovations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19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9180">
                <a:tc>
                  <a:txBody>
                    <a:bodyPr/>
                    <a:lstStyle/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380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2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Telegraph</a:t>
                      </a:r>
                      <a:r>
                        <a:rPr sz="1100" spc="-6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(1840s)—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“The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Victorian </a:t>
                      </a:r>
                      <a:r>
                        <a:rPr sz="1100" spc="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Internet”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5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2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Telephone</a:t>
                      </a:r>
                      <a:r>
                        <a:rPr sz="1100" spc="-7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(1876)—Voice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across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distance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Undersea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4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cables</a:t>
                      </a:r>
                      <a:r>
                        <a:rPr sz="1100" spc="-1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Connecting</a:t>
                      </a:r>
                      <a:r>
                        <a:rPr sz="1100" spc="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continents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Postal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2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systems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and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railroads</a:t>
                      </a:r>
                      <a:r>
                        <a:rPr sz="1100" spc="-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Physical</a:t>
                      </a:r>
                      <a:r>
                        <a:rPr sz="1100" spc="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distribution</a:t>
                      </a:r>
                      <a:r>
                        <a:rPr sz="1100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at</a:t>
                      </a:r>
                      <a:r>
                        <a:rPr sz="1100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scale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Photography</a:t>
                      </a:r>
                      <a:r>
                        <a:rPr sz="1100" spc="-5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and</a:t>
                      </a:r>
                      <a:r>
                        <a:rPr sz="1100" spc="-4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recorded</a:t>
                      </a:r>
                      <a:r>
                        <a:rPr sz="1100" spc="-4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sound</a:t>
                      </a:r>
                      <a:r>
                        <a:rPr sz="1100" spc="-114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sz="1100" spc="-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New</a:t>
                      </a:r>
                      <a:r>
                        <a:rPr sz="1100" spc="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forms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100" spc="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documentation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9994" y="2086419"/>
          <a:ext cx="5116195" cy="5473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3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The</a:t>
                      </a:r>
                      <a:r>
                        <a:rPr sz="1100" spc="-7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Optimistic</a:t>
                      </a:r>
                      <a:r>
                        <a:rPr sz="1100" spc="-7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19th</a:t>
                      </a:r>
                      <a:r>
                        <a:rPr sz="1100" spc="-7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Century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2D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marL="45720" marR="111125">
                        <a:lnSpc>
                          <a:spcPts val="1190"/>
                        </a:lnSpc>
                        <a:spcBef>
                          <a:spcPts val="244"/>
                        </a:spcBef>
                      </a:pP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Many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believed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these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technologies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would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unite</a:t>
                      </a:r>
                      <a:r>
                        <a:rPr sz="1100" spc="-7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humanity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end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war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through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better</a:t>
                      </a:r>
                      <a:r>
                        <a:rPr sz="1100" spc="1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communication.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1114" marB="0">
                    <a:solidFill>
                      <a:srgbClr val="F4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37"/>
              <a:ext cx="3032125" cy="5080"/>
            </a:xfrm>
            <a:custGeom>
              <a:avLst/>
              <a:gdLst/>
              <a:ahLst/>
              <a:cxnLst/>
              <a:rect l="l" t="t" r="r" b="b"/>
              <a:pathLst>
                <a:path w="3032125" h="5080">
                  <a:moveTo>
                    <a:pt x="0" y="5060"/>
                  </a:moveTo>
                  <a:lnTo>
                    <a:pt x="0" y="0"/>
                  </a:lnTo>
                  <a:lnTo>
                    <a:pt x="3031650" y="0"/>
                  </a:lnTo>
                  <a:lnTo>
                    <a:pt x="303165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40" dirty="0"/>
              <a:t>The</a:t>
            </a:r>
            <a:r>
              <a:rPr spc="-70" dirty="0"/>
              <a:t> </a:t>
            </a:r>
            <a:r>
              <a:rPr spc="-114" dirty="0"/>
              <a:t>Telegraph:</a:t>
            </a:r>
            <a:r>
              <a:rPr spc="-20" dirty="0"/>
              <a:t> </a:t>
            </a:r>
            <a:r>
              <a:rPr spc="-95" dirty="0"/>
              <a:t>“The</a:t>
            </a:r>
            <a:r>
              <a:rPr spc="-70" dirty="0"/>
              <a:t> </a:t>
            </a:r>
            <a:r>
              <a:rPr spc="-114" dirty="0"/>
              <a:t>Victorian</a:t>
            </a:r>
            <a:r>
              <a:rPr spc="-70" dirty="0"/>
              <a:t> </a:t>
            </a:r>
            <a:r>
              <a:rPr spc="-50" dirty="0"/>
              <a:t>Internet”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90398" y="510412"/>
          <a:ext cx="2848610" cy="1026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3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How</a:t>
                      </a:r>
                      <a:r>
                        <a:rPr sz="1100" spc="-9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It</a:t>
                      </a:r>
                      <a:r>
                        <a:rPr sz="1100" spc="-9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Worked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19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9944">
                <a:tc>
                  <a:txBody>
                    <a:bodyPr/>
                    <a:lstStyle/>
                    <a:p>
                      <a:pPr marL="274320" marR="13335" indent="-121920">
                        <a:lnSpc>
                          <a:spcPts val="1190"/>
                        </a:lnSpc>
                        <a:spcBef>
                          <a:spcPts val="530"/>
                        </a:spcBef>
                        <a:buFont typeface="Arial"/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12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Morse</a:t>
                      </a:r>
                      <a:r>
                        <a:rPr sz="1100" spc="-5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code</a:t>
                      </a:r>
                      <a:r>
                        <a:rPr sz="1100" spc="-1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1100" spc="6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Letters</a:t>
                      </a:r>
                      <a:r>
                        <a:rPr sz="1100" spc="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as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electrical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pulses 	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(dots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dashes)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55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Messages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sent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through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copper</a:t>
                      </a:r>
                      <a:r>
                        <a:rPr sz="1100" spc="-5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wires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Required 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trained</a:t>
                      </a:r>
                      <a:r>
                        <a:rPr sz="1100" spc="-7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operators</a:t>
                      </a:r>
                      <a:r>
                        <a:rPr sz="1100" spc="-7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at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each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end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90398" y="1640446"/>
            <a:ext cx="2772410" cy="196850"/>
          </a:xfrm>
          <a:prstGeom prst="rect">
            <a:avLst/>
          </a:prstGeom>
          <a:solidFill>
            <a:srgbClr val="2D7D32"/>
          </a:solidFill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295"/>
              </a:lnSpc>
            </a:pPr>
            <a:r>
              <a:rPr sz="1100" spc="-145" dirty="0">
                <a:solidFill>
                  <a:srgbClr val="FFFFFF"/>
                </a:solidFill>
                <a:latin typeface="Arial Black"/>
                <a:cs typeface="Arial Black"/>
              </a:rPr>
              <a:t>Key</a:t>
            </a:r>
            <a:r>
              <a:rPr sz="1100" spc="-9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 Black"/>
                <a:cs typeface="Arial Black"/>
              </a:rPr>
              <a:t>Milestones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398" y="1837156"/>
            <a:ext cx="2772410" cy="1107440"/>
          </a:xfrm>
          <a:custGeom>
            <a:avLst/>
            <a:gdLst/>
            <a:ahLst/>
            <a:cxnLst/>
            <a:rect l="l" t="t" r="r" b="b"/>
            <a:pathLst>
              <a:path w="2772410" h="1107439">
                <a:moveTo>
                  <a:pt x="2772016" y="0"/>
                </a:moveTo>
                <a:lnTo>
                  <a:pt x="0" y="0"/>
                </a:lnTo>
                <a:lnTo>
                  <a:pt x="0" y="1107249"/>
                </a:lnTo>
                <a:lnTo>
                  <a:pt x="2772016" y="1107249"/>
                </a:lnTo>
                <a:lnTo>
                  <a:pt x="2772016" y="0"/>
                </a:lnTo>
                <a:close/>
              </a:path>
            </a:pathLst>
          </a:custGeom>
          <a:solidFill>
            <a:srgbClr val="F4F8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30656" y="1874315"/>
            <a:ext cx="2453640" cy="102489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33985" marR="5080" indent="-121920">
              <a:lnSpc>
                <a:spcPts val="1190"/>
              </a:lnSpc>
              <a:spcBef>
                <a:spcPts val="235"/>
              </a:spcBef>
              <a:buClr>
                <a:srgbClr val="13B03D"/>
              </a:buClr>
              <a:buFont typeface="Arial"/>
              <a:buChar char="•"/>
              <a:tabLst>
                <a:tab pos="136525" algn="l"/>
              </a:tabLst>
            </a:pPr>
            <a:r>
              <a:rPr sz="1100" spc="-70" dirty="0">
                <a:solidFill>
                  <a:srgbClr val="22373A"/>
                </a:solidFill>
                <a:latin typeface="Arial Black"/>
                <a:cs typeface="Arial Black"/>
              </a:rPr>
              <a:t>1858</a:t>
            </a:r>
            <a:r>
              <a:rPr sz="1100" spc="-7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1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sz="11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transatlantic</a:t>
            </a:r>
            <a:r>
              <a:rPr sz="11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cable</a:t>
            </a:r>
            <a:r>
              <a:rPr sz="11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(failed 	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after</a:t>
            </a:r>
            <a:r>
              <a:rPr sz="11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weeks)</a:t>
            </a:r>
            <a:endParaRPr sz="1100">
              <a:latin typeface="Arial"/>
              <a:cs typeface="Arial"/>
            </a:endParaRPr>
          </a:p>
          <a:p>
            <a:pPr marL="133985" marR="394970" indent="-121920">
              <a:lnSpc>
                <a:spcPts val="1190"/>
              </a:lnSpc>
              <a:spcBef>
                <a:spcPts val="305"/>
              </a:spcBef>
              <a:buClr>
                <a:srgbClr val="13B03D"/>
              </a:buClr>
              <a:buFont typeface="Arial"/>
              <a:buChar char="•"/>
              <a:tabLst>
                <a:tab pos="136525" algn="l"/>
              </a:tabLst>
            </a:pPr>
            <a:r>
              <a:rPr sz="1100" spc="-70" dirty="0">
                <a:solidFill>
                  <a:srgbClr val="22373A"/>
                </a:solidFill>
                <a:latin typeface="Arial Black"/>
                <a:cs typeface="Arial Black"/>
              </a:rPr>
              <a:t>1866</a:t>
            </a:r>
            <a:r>
              <a:rPr sz="1100" spc="-7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Permanent</a:t>
            </a:r>
            <a:r>
              <a:rPr sz="1100" spc="-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transatlantic 	connection</a:t>
            </a:r>
            <a:endParaRPr sz="1100">
              <a:latin typeface="Arial"/>
              <a:cs typeface="Arial"/>
            </a:endParaRPr>
          </a:p>
          <a:p>
            <a:pPr marL="133985" marR="282575" indent="-121920">
              <a:lnSpc>
                <a:spcPts val="1190"/>
              </a:lnSpc>
              <a:spcBef>
                <a:spcPts val="305"/>
              </a:spcBef>
              <a:buClr>
                <a:srgbClr val="13B03D"/>
              </a:buClr>
              <a:buFont typeface="Arial"/>
              <a:buChar char="•"/>
              <a:tabLst>
                <a:tab pos="136525" algn="l"/>
              </a:tabLst>
            </a:pPr>
            <a:r>
              <a:rPr sz="1100" spc="-80" dirty="0">
                <a:solidFill>
                  <a:srgbClr val="22373A"/>
                </a:solidFill>
                <a:latin typeface="Arial Black"/>
                <a:cs typeface="Arial Black"/>
              </a:rPr>
              <a:t>1870s</a:t>
            </a:r>
            <a:r>
              <a:rPr sz="1100" spc="-8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1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Global</a:t>
            </a:r>
            <a:r>
              <a:rPr sz="11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connects 	continents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352812" y="704913"/>
          <a:ext cx="2193290" cy="1050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17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3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The</a:t>
                      </a:r>
                      <a:r>
                        <a:rPr sz="1100" spc="-9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Hype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BF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4075">
                <a:tc>
                  <a:txBody>
                    <a:bodyPr/>
                    <a:lstStyle/>
                    <a:p>
                      <a:pPr marL="45720" marR="111760">
                        <a:lnSpc>
                          <a:spcPts val="1050"/>
                        </a:lnSpc>
                        <a:spcBef>
                          <a:spcPts val="270"/>
                        </a:spcBef>
                      </a:pP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“The</a:t>
                      </a:r>
                      <a:r>
                        <a:rPr sz="1000" i="1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telegraph</a:t>
                      </a:r>
                      <a:r>
                        <a:rPr sz="1000" i="1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will</a:t>
                      </a:r>
                      <a:r>
                        <a:rPr sz="1000" i="1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unite</a:t>
                      </a:r>
                      <a:r>
                        <a:rPr sz="1000" i="1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all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nations...</a:t>
                      </a:r>
                      <a:r>
                        <a:rPr sz="1000" i="1" spc="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Wars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will 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cease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to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exist... </a:t>
                      </a:r>
                      <a:r>
                        <a:rPr sz="1000" i="1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reign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peace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will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begin.”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45720" marR="668020">
                        <a:lnSpc>
                          <a:spcPts val="1050"/>
                        </a:lnSpc>
                        <a:spcBef>
                          <a:spcPts val="850"/>
                        </a:spcBef>
                      </a:pPr>
                      <a:r>
                        <a:rPr sz="1000" spc="-2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Common</a:t>
                      </a:r>
                      <a:r>
                        <a:rPr sz="1000" spc="2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19th-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century predictions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solidFill>
                      <a:srgbClr val="F9E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352812" y="1900631"/>
          <a:ext cx="2193290" cy="848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17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0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Sound</a:t>
                      </a:r>
                      <a:r>
                        <a:rPr sz="1100" spc="-1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Familiar?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19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2145">
                <a:tc>
                  <a:txBody>
                    <a:bodyPr/>
                    <a:lstStyle/>
                    <a:p>
                      <a:pPr marL="45720" marR="231140">
                        <a:lnSpc>
                          <a:spcPts val="1190"/>
                        </a:lnSpc>
                        <a:spcBef>
                          <a:spcPts val="229"/>
                        </a:spcBef>
                      </a:pP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Compare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claims about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internet</a:t>
                      </a:r>
                      <a:r>
                        <a:rPr sz="1100" spc="1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“democratizing”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information</a:t>
                      </a:r>
                      <a:r>
                        <a:rPr sz="1100" spc="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“connecting”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world.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0" name="object 10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37"/>
              <a:ext cx="3133090" cy="5080"/>
            </a:xfrm>
            <a:custGeom>
              <a:avLst/>
              <a:gdLst/>
              <a:ahLst/>
              <a:cxnLst/>
              <a:rect l="l" t="t" r="r" b="b"/>
              <a:pathLst>
                <a:path w="3133090" h="5080">
                  <a:moveTo>
                    <a:pt x="0" y="5060"/>
                  </a:moveTo>
                  <a:lnTo>
                    <a:pt x="0" y="0"/>
                  </a:lnTo>
                  <a:lnTo>
                    <a:pt x="3132637" y="0"/>
                  </a:lnTo>
                  <a:lnTo>
                    <a:pt x="31326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74559"/>
            <a:ext cx="301815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14" dirty="0"/>
              <a:t>Samuel</a:t>
            </a:r>
            <a:r>
              <a:rPr spc="-85" dirty="0"/>
              <a:t> </a:t>
            </a:r>
            <a:r>
              <a:rPr spc="-120" dirty="0"/>
              <a:t>F.B.</a:t>
            </a:r>
            <a:r>
              <a:rPr spc="-85" dirty="0"/>
              <a:t> </a:t>
            </a:r>
            <a:r>
              <a:rPr spc="-105" dirty="0"/>
              <a:t>Morse:</a:t>
            </a:r>
            <a:r>
              <a:rPr spc="-30" dirty="0"/>
              <a:t> </a:t>
            </a:r>
            <a:r>
              <a:rPr spc="-100" dirty="0"/>
              <a:t>Artist</a:t>
            </a:r>
            <a:r>
              <a:rPr spc="-80" dirty="0"/>
              <a:t> </a:t>
            </a:r>
            <a:r>
              <a:rPr spc="-120" dirty="0"/>
              <a:t>Turned</a:t>
            </a:r>
            <a:r>
              <a:rPr spc="-85" dirty="0"/>
              <a:t> </a:t>
            </a:r>
            <a:r>
              <a:rPr spc="-65" dirty="0"/>
              <a:t>Inventor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90398" y="521449"/>
          <a:ext cx="2596515" cy="2289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0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Samuel</a:t>
                      </a:r>
                      <a:r>
                        <a:rPr sz="1100" spc="-5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2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Morse</a:t>
                      </a:r>
                      <a:r>
                        <a:rPr sz="1100" spc="-4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(1791–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1872)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19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2960">
                <a:tc>
                  <a:txBody>
                    <a:bodyPr/>
                    <a:lstStyle/>
                    <a:p>
                      <a:pPr marL="274320" marR="389255" indent="-121920">
                        <a:lnSpc>
                          <a:spcPts val="1190"/>
                        </a:lnSpc>
                        <a:spcBef>
                          <a:spcPts val="540"/>
                        </a:spcBef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Began</a:t>
                      </a:r>
                      <a:r>
                        <a:rPr sz="1100" spc="-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his</a:t>
                      </a:r>
                      <a:r>
                        <a:rPr sz="1100" spc="-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career</a:t>
                      </a:r>
                      <a:r>
                        <a:rPr sz="1100" spc="-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as</a:t>
                      </a:r>
                      <a:r>
                        <a:rPr sz="1100" spc="-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100" spc="-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7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portrait 	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painter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sz="1100" spc="-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not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engineer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marR="19050" indent="-121920">
                        <a:lnSpc>
                          <a:spcPts val="1190"/>
                        </a:lnSpc>
                        <a:spcBef>
                          <a:spcPts val="305"/>
                        </a:spcBef>
                        <a:buChar char="•"/>
                        <a:tabLst>
                          <a:tab pos="27686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Inspired</a:t>
                      </a:r>
                      <a:r>
                        <a:rPr sz="1100" spc="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100" spc="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build</a:t>
                      </a:r>
                      <a:r>
                        <a:rPr sz="1100" spc="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telegraph</a:t>
                      </a:r>
                      <a:r>
                        <a:rPr sz="1100" spc="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after 	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his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wife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died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while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he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was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away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on 	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commission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ts val="1190"/>
                        </a:lnSpc>
                        <a:spcBef>
                          <a:spcPts val="305"/>
                        </a:spcBef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Developed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2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Morse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3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code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the</a:t>
                      </a:r>
                      <a:r>
                        <a:rPr sz="1100" spc="5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	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1830s:</a:t>
                      </a:r>
                      <a:r>
                        <a:rPr sz="1100" spc="1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letters</a:t>
                      </a:r>
                      <a:r>
                        <a:rPr sz="1100" spc="6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as</a:t>
                      </a:r>
                      <a:r>
                        <a:rPr sz="1100" spc="6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electrical</a:t>
                      </a:r>
                      <a:r>
                        <a:rPr sz="1100" spc="6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dots</a:t>
                      </a:r>
                      <a:r>
                        <a:rPr sz="1100" spc="6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 	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dashes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marR="130810" indent="-121920">
                        <a:lnSpc>
                          <a:spcPts val="1190"/>
                        </a:lnSpc>
                        <a:spcBef>
                          <a:spcPts val="305"/>
                        </a:spcBef>
                        <a:buChar char="•"/>
                        <a:tabLst>
                          <a:tab pos="27686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First</a:t>
                      </a:r>
                      <a:r>
                        <a:rPr sz="1100" spc="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message</a:t>
                      </a:r>
                      <a:r>
                        <a:rPr sz="1100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(1844):</a:t>
                      </a:r>
                      <a:r>
                        <a:rPr sz="1100" spc="8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“</a:t>
                      </a:r>
                      <a:r>
                        <a:rPr sz="11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What</a:t>
                      </a:r>
                      <a:r>
                        <a:rPr sz="1100" i="1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hath 	</a:t>
                      </a:r>
                      <a:r>
                        <a:rPr sz="1100" i="1" spc="-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God</a:t>
                      </a:r>
                      <a:r>
                        <a:rPr sz="11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wrought!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”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marR="85090" indent="-121920">
                        <a:lnSpc>
                          <a:spcPts val="1190"/>
                        </a:lnSpc>
                        <a:spcBef>
                          <a:spcPts val="305"/>
                        </a:spcBef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Became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one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wealthiest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men 	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America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5890" y="575646"/>
            <a:ext cx="1278632" cy="18438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088093" y="2499955"/>
            <a:ext cx="2360930" cy="25272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>
              <a:lnSpc>
                <a:spcPts val="830"/>
              </a:lnSpc>
              <a:spcBef>
                <a:spcPts val="229"/>
              </a:spcBef>
            </a:pP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Samuel </a:t>
            </a:r>
            <a:r>
              <a:rPr sz="800" spc="-45" dirty="0">
                <a:solidFill>
                  <a:srgbClr val="22373A"/>
                </a:solidFill>
                <a:latin typeface="Arial"/>
                <a:cs typeface="Arial"/>
              </a:rPr>
              <a:t>F.B.</a:t>
            </a:r>
            <a:r>
              <a:rPr sz="8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Morse,</a:t>
            </a:r>
            <a:r>
              <a:rPr sz="8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1840.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Archives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8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American</a:t>
            </a:r>
            <a:r>
              <a:rPr sz="8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Art,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Smithsonian</a:t>
            </a:r>
            <a:r>
              <a:rPr sz="800" spc="10" dirty="0">
                <a:solidFill>
                  <a:srgbClr val="22373A"/>
                </a:solidFill>
                <a:latin typeface="Arial"/>
                <a:cs typeface="Arial"/>
              </a:rPr>
              <a:t> Institution.</a:t>
            </a:r>
            <a:r>
              <a:rPr sz="8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8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domain.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37"/>
              <a:ext cx="3234055" cy="5080"/>
            </a:xfrm>
            <a:custGeom>
              <a:avLst/>
              <a:gdLst/>
              <a:ahLst/>
              <a:cxnLst/>
              <a:rect l="l" t="t" r="r" b="b"/>
              <a:pathLst>
                <a:path w="3234055" h="5080">
                  <a:moveTo>
                    <a:pt x="0" y="5060"/>
                  </a:moveTo>
                  <a:lnTo>
                    <a:pt x="0" y="0"/>
                  </a:lnTo>
                  <a:lnTo>
                    <a:pt x="3233713" y="0"/>
                  </a:lnTo>
                  <a:lnTo>
                    <a:pt x="323371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74559"/>
            <a:ext cx="18288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0" dirty="0"/>
              <a:t>Who</a:t>
            </a:r>
            <a:r>
              <a:rPr spc="-95" dirty="0"/>
              <a:t> </a:t>
            </a:r>
            <a:r>
              <a:rPr spc="-110" dirty="0"/>
              <a:t>Were</a:t>
            </a:r>
            <a:r>
              <a:rPr spc="-90" dirty="0"/>
              <a:t> Mill</a:t>
            </a:r>
            <a:r>
              <a:rPr spc="-95" dirty="0"/>
              <a:t> </a:t>
            </a:r>
            <a:r>
              <a:rPr spc="-105" dirty="0"/>
              <a:t>and</a:t>
            </a:r>
            <a:r>
              <a:rPr spc="-90" dirty="0"/>
              <a:t> </a:t>
            </a:r>
            <a:r>
              <a:rPr spc="-105" dirty="0"/>
              <a:t>Marx?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07213" y="661835"/>
          <a:ext cx="2495550" cy="1594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John</a:t>
                      </a:r>
                      <a:r>
                        <a:rPr sz="1100" spc="-5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Stuart</a:t>
                      </a:r>
                      <a:r>
                        <a:rPr sz="1100" spc="-5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Mill</a:t>
                      </a:r>
                      <a:r>
                        <a:rPr sz="1100" spc="-5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(1806–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1873)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19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8270">
                <a:tc>
                  <a:txBody>
                    <a:bodyPr/>
                    <a:lstStyle/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380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British</a:t>
                      </a:r>
                      <a:r>
                        <a:rPr sz="11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philosopher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economist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marR="266700" indent="-121920">
                        <a:lnSpc>
                          <a:spcPts val="1190"/>
                        </a:lnSpc>
                        <a:spcBef>
                          <a:spcPts val="320"/>
                        </a:spcBef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Child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prodigy;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educated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by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his 	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father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55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Member</a:t>
                      </a:r>
                      <a:r>
                        <a:rPr sz="1100" spc="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100" spc="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Parliament</a:t>
                      </a:r>
                      <a:r>
                        <a:rPr sz="1100" spc="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(1865–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68)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5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Champion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100" spc="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individual</a:t>
                      </a:r>
                      <a:r>
                        <a:rPr sz="1100" spc="-5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liberty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Early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advocate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for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2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women’s</a:t>
                      </a:r>
                      <a:r>
                        <a:rPr sz="1100" spc="-6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7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rights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Key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work: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6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On</a:t>
                      </a:r>
                      <a:r>
                        <a:rPr sz="11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Liberty</a:t>
                      </a:r>
                      <a:r>
                        <a:rPr sz="1100" i="1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(1859)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033610" y="510412"/>
          <a:ext cx="2495550" cy="18973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0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Karl</a:t>
                      </a:r>
                      <a:r>
                        <a:rPr sz="1100" spc="-5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Marx</a:t>
                      </a:r>
                      <a:r>
                        <a:rPr sz="1100" spc="-5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(1818–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1883)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BF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1164">
                <a:tc>
                  <a:txBody>
                    <a:bodyPr/>
                    <a:lstStyle/>
                    <a:p>
                      <a:pPr marL="274320" marR="598805" indent="-121920">
                        <a:lnSpc>
                          <a:spcPts val="1190"/>
                        </a:lnSpc>
                        <a:spcBef>
                          <a:spcPts val="530"/>
                        </a:spcBef>
                        <a:buClr>
                          <a:srgbClr val="BF392B"/>
                        </a:buClr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German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philosopher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 	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economist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marR="310515" indent="-121920">
                        <a:lnSpc>
                          <a:spcPts val="1190"/>
                        </a:lnSpc>
                        <a:spcBef>
                          <a:spcPts val="305"/>
                        </a:spcBef>
                        <a:buClr>
                          <a:srgbClr val="BF392B"/>
                        </a:buClr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Exiled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from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Germany,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France, 	Belgium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55"/>
                        </a:spcBef>
                        <a:buClr>
                          <a:srgbClr val="BF392B"/>
                        </a:buClr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Lived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poverty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London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Clr>
                          <a:srgbClr val="BF392B"/>
                        </a:buClr>
                        <a:buChar char="•"/>
                        <a:tabLst>
                          <a:tab pos="27432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Studied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British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Museum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library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Clr>
                          <a:srgbClr val="BF392B"/>
                        </a:buClr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Founded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2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communist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theory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4320" marR="55880" indent="-121920">
                        <a:lnSpc>
                          <a:spcPts val="1190"/>
                        </a:lnSpc>
                        <a:spcBef>
                          <a:spcPts val="320"/>
                        </a:spcBef>
                        <a:buClr>
                          <a:srgbClr val="BF392B"/>
                        </a:buClr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Key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works:</a:t>
                      </a:r>
                      <a:r>
                        <a:rPr sz="1100" spc="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Communist</a:t>
                      </a:r>
                      <a:r>
                        <a:rPr sz="11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Manifesto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, 	</a:t>
                      </a:r>
                      <a:r>
                        <a:rPr sz="1100" i="1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Das</a:t>
                      </a:r>
                      <a:r>
                        <a:rPr sz="1100" i="1" spc="-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Kapital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solidFill>
                      <a:srgbClr val="F9E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59994" y="2527706"/>
            <a:ext cx="5039995" cy="196850"/>
          </a:xfrm>
          <a:prstGeom prst="rect">
            <a:avLst/>
          </a:prstGeom>
          <a:solidFill>
            <a:srgbClr val="2D7D32"/>
          </a:solidFill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295"/>
              </a:lnSpc>
            </a:pPr>
            <a:r>
              <a:rPr sz="1100" spc="-85" dirty="0">
                <a:solidFill>
                  <a:srgbClr val="FFFFFF"/>
                </a:solidFill>
                <a:latin typeface="Arial Black"/>
                <a:cs typeface="Arial Black"/>
              </a:rPr>
              <a:t>Why</a:t>
            </a:r>
            <a:r>
              <a:rPr sz="1100" spc="-9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100" dirty="0">
                <a:solidFill>
                  <a:srgbClr val="FFFFFF"/>
                </a:solidFill>
                <a:latin typeface="Arial Black"/>
                <a:cs typeface="Arial Black"/>
              </a:rPr>
              <a:t>Their</a:t>
            </a:r>
            <a:r>
              <a:rPr sz="1100" spc="-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114" dirty="0">
                <a:solidFill>
                  <a:srgbClr val="FFFFFF"/>
                </a:solidFill>
                <a:latin typeface="Arial Black"/>
                <a:cs typeface="Arial Black"/>
              </a:rPr>
              <a:t>Debate</a:t>
            </a:r>
            <a:r>
              <a:rPr sz="1100" spc="-9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 Black"/>
                <a:cs typeface="Arial Black"/>
              </a:rPr>
              <a:t>Matters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9994" y="2724442"/>
            <a:ext cx="5039995" cy="501650"/>
          </a:xfrm>
          <a:prstGeom prst="rect">
            <a:avLst/>
          </a:prstGeom>
          <a:solidFill>
            <a:srgbClr val="F4F8F4"/>
          </a:solidFill>
        </p:spPr>
        <p:txBody>
          <a:bodyPr vert="horz" wrap="square" lIns="0" tIns="29209" rIns="0" bIns="0" rtlCol="0">
            <a:spAutoFit/>
          </a:bodyPr>
          <a:lstStyle/>
          <a:p>
            <a:pPr marL="45720" marR="135890" algn="just">
              <a:lnSpc>
                <a:spcPts val="1190"/>
              </a:lnSpc>
              <a:spcBef>
                <a:spcPts val="229"/>
              </a:spcBef>
            </a:pP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Mill</a:t>
            </a:r>
            <a:r>
              <a:rPr sz="1100" spc="-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11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Marx</a:t>
            </a:r>
            <a:r>
              <a:rPr sz="11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offer</a:t>
            </a:r>
            <a:r>
              <a:rPr sz="11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fundamentally</a:t>
            </a:r>
            <a:r>
              <a:rPr sz="11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11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analyses</a:t>
            </a:r>
            <a:r>
              <a:rPr sz="11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11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30" dirty="0">
                <a:solidFill>
                  <a:srgbClr val="22373A"/>
                </a:solidFill>
                <a:latin typeface="Arial Black"/>
                <a:cs typeface="Arial Black"/>
              </a:rPr>
              <a:t>technology</a:t>
            </a:r>
            <a:r>
              <a:rPr sz="1100" spc="4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155" dirty="0">
                <a:solidFill>
                  <a:srgbClr val="22373A"/>
                </a:solidFill>
                <a:latin typeface="Arial Black"/>
                <a:cs typeface="Arial Black"/>
              </a:rPr>
              <a:t>and</a:t>
            </a:r>
            <a:r>
              <a:rPr sz="1100" spc="6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65" dirty="0">
                <a:solidFill>
                  <a:srgbClr val="22373A"/>
                </a:solidFill>
                <a:latin typeface="Arial Black"/>
                <a:cs typeface="Arial Black"/>
              </a:rPr>
              <a:t>power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still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shape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debates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today:</a:t>
            </a:r>
            <a:r>
              <a:rPr sz="11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technology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neutral,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does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serve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whoever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owns</a:t>
            </a:r>
            <a:r>
              <a:rPr sz="1100" spc="-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it?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08320" y="2963111"/>
            <a:ext cx="1473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33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9" name="object 9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37"/>
              <a:ext cx="3335020" cy="5080"/>
            </a:xfrm>
            <a:custGeom>
              <a:avLst/>
              <a:gdLst/>
              <a:ahLst/>
              <a:cxnLst/>
              <a:rect l="l" t="t" r="r" b="b"/>
              <a:pathLst>
                <a:path w="3335020" h="5080">
                  <a:moveTo>
                    <a:pt x="0" y="5060"/>
                  </a:moveTo>
                  <a:lnTo>
                    <a:pt x="0" y="0"/>
                  </a:lnTo>
                  <a:lnTo>
                    <a:pt x="3334788" y="0"/>
                  </a:lnTo>
                  <a:lnTo>
                    <a:pt x="333478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10" dirty="0"/>
              <a:t>Karl</a:t>
            </a:r>
            <a:r>
              <a:rPr spc="-80" dirty="0"/>
              <a:t> </a:t>
            </a:r>
            <a:r>
              <a:rPr spc="-100" dirty="0"/>
              <a:t>Marx:</a:t>
            </a:r>
            <a:r>
              <a:rPr spc="-25" dirty="0"/>
              <a:t> </a:t>
            </a:r>
            <a:r>
              <a:rPr spc="-135" dirty="0"/>
              <a:t>Technology,</a:t>
            </a:r>
            <a:r>
              <a:rPr spc="-75" dirty="0"/>
              <a:t> </a:t>
            </a:r>
            <a:r>
              <a:rPr spc="-130" dirty="0"/>
              <a:t>Power,</a:t>
            </a:r>
            <a:r>
              <a:rPr spc="-80" dirty="0"/>
              <a:t> </a:t>
            </a:r>
            <a:r>
              <a:rPr spc="-105" dirty="0"/>
              <a:t>and</a:t>
            </a:r>
            <a:r>
              <a:rPr spc="-75" dirty="0"/>
              <a:t> </a:t>
            </a:r>
            <a:r>
              <a:rPr spc="-85" dirty="0"/>
              <a:t>Ownership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90398" y="510412"/>
          <a:ext cx="2596515" cy="1671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0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3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The</a:t>
                      </a:r>
                      <a:r>
                        <a:rPr sz="1100" spc="-8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Marxist</a:t>
                      </a:r>
                      <a:r>
                        <a:rPr sz="1100" spc="-8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Critique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19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5740">
                <a:tc>
                  <a:txBody>
                    <a:bodyPr/>
                    <a:lstStyle/>
                    <a:p>
                      <a:pPr marL="274320" marR="6985" indent="-121920">
                        <a:lnSpc>
                          <a:spcPts val="1190"/>
                        </a:lnSpc>
                        <a:spcBef>
                          <a:spcPts val="530"/>
                        </a:spcBef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Technology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not</a:t>
                      </a:r>
                      <a:r>
                        <a:rPr sz="1100" spc="-7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neutral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1100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it 	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reinforces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existing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power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structures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ts val="1255"/>
                        </a:lnSpc>
                        <a:spcBef>
                          <a:spcPts val="155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Press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telegraph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served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6860">
                        <a:lnSpc>
                          <a:spcPts val="1255"/>
                        </a:lnSpc>
                      </a:pP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bourgeois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commercial</a:t>
                      </a:r>
                      <a:r>
                        <a:rPr sz="1100" spc="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interests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marR="97155" indent="-121920">
                        <a:lnSpc>
                          <a:spcPts val="1190"/>
                        </a:lnSpc>
                        <a:spcBef>
                          <a:spcPts val="320"/>
                        </a:spcBef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Whoever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3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owns</a:t>
                      </a:r>
                      <a:r>
                        <a:rPr sz="1100" spc="-7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means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 	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communication</a:t>
                      </a:r>
                      <a:r>
                        <a:rPr sz="1100" spc="6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controls</a:t>
                      </a:r>
                      <a:r>
                        <a:rPr sz="1100" spc="6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discourse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marR="113030" indent="-121920">
                        <a:lnSpc>
                          <a:spcPts val="1190"/>
                        </a:lnSpc>
                        <a:spcBef>
                          <a:spcPts val="305"/>
                        </a:spcBef>
                        <a:buChar char="•"/>
                        <a:tabLst>
                          <a:tab pos="27686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“The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ruling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ideas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each 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age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have 	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been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ideas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of its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ruling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class”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290398" y="2318338"/>
            <a:ext cx="2520315" cy="557530"/>
            <a:chOff x="290398" y="2318338"/>
            <a:chExt cx="2520315" cy="557530"/>
          </a:xfrm>
        </p:grpSpPr>
        <p:sp>
          <p:nvSpPr>
            <p:cNvPr id="5" name="object 5"/>
            <p:cNvSpPr/>
            <p:nvPr/>
          </p:nvSpPr>
          <p:spPr>
            <a:xfrm>
              <a:off x="290398" y="2318338"/>
              <a:ext cx="2520315" cy="557530"/>
            </a:xfrm>
            <a:custGeom>
              <a:avLst/>
              <a:gdLst/>
              <a:ahLst/>
              <a:cxnLst/>
              <a:rect l="l" t="t" r="r" b="b"/>
              <a:pathLst>
                <a:path w="2520315" h="557530">
                  <a:moveTo>
                    <a:pt x="2482074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518957"/>
                  </a:lnTo>
                  <a:lnTo>
                    <a:pt x="2982" y="533732"/>
                  </a:lnTo>
                  <a:lnTo>
                    <a:pt x="11117" y="545798"/>
                  </a:lnTo>
                  <a:lnTo>
                    <a:pt x="23182" y="553933"/>
                  </a:lnTo>
                  <a:lnTo>
                    <a:pt x="37958" y="556915"/>
                  </a:lnTo>
                  <a:lnTo>
                    <a:pt x="2482074" y="556915"/>
                  </a:lnTo>
                  <a:lnTo>
                    <a:pt x="2496849" y="553933"/>
                  </a:lnTo>
                  <a:lnTo>
                    <a:pt x="2508914" y="545798"/>
                  </a:lnTo>
                  <a:lnTo>
                    <a:pt x="2517049" y="533732"/>
                  </a:lnTo>
                  <a:lnTo>
                    <a:pt x="2520032" y="518957"/>
                  </a:lnTo>
                  <a:lnTo>
                    <a:pt x="2520032" y="37958"/>
                  </a:lnTo>
                  <a:lnTo>
                    <a:pt x="2517049" y="23183"/>
                  </a:lnTo>
                  <a:lnTo>
                    <a:pt x="2508914" y="11117"/>
                  </a:lnTo>
                  <a:lnTo>
                    <a:pt x="2496849" y="2982"/>
                  </a:lnTo>
                  <a:lnTo>
                    <a:pt x="2482074" y="0"/>
                  </a:lnTo>
                  <a:close/>
                </a:path>
              </a:pathLst>
            </a:custGeom>
            <a:solidFill>
              <a:srgbClr val="B777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3050" y="2501628"/>
              <a:ext cx="2494915" cy="361315"/>
            </a:xfrm>
            <a:custGeom>
              <a:avLst/>
              <a:gdLst/>
              <a:ahLst/>
              <a:cxnLst/>
              <a:rect l="l" t="t" r="r" b="b"/>
              <a:pathLst>
                <a:path w="2494915" h="361314">
                  <a:moveTo>
                    <a:pt x="2494726" y="0"/>
                  </a:moveTo>
                  <a:lnTo>
                    <a:pt x="0" y="0"/>
                  </a:lnTo>
                  <a:lnTo>
                    <a:pt x="0" y="335667"/>
                  </a:lnTo>
                  <a:lnTo>
                    <a:pt x="1988" y="345517"/>
                  </a:lnTo>
                  <a:lnTo>
                    <a:pt x="7411" y="353561"/>
                  </a:lnTo>
                  <a:lnTo>
                    <a:pt x="15455" y="358984"/>
                  </a:lnTo>
                  <a:lnTo>
                    <a:pt x="25305" y="360973"/>
                  </a:lnTo>
                  <a:lnTo>
                    <a:pt x="2469421" y="360973"/>
                  </a:lnTo>
                  <a:lnTo>
                    <a:pt x="2479271" y="358984"/>
                  </a:lnTo>
                  <a:lnTo>
                    <a:pt x="2487315" y="353561"/>
                  </a:lnTo>
                  <a:lnTo>
                    <a:pt x="2492738" y="345517"/>
                  </a:lnTo>
                  <a:lnTo>
                    <a:pt x="2494726" y="335667"/>
                  </a:lnTo>
                  <a:lnTo>
                    <a:pt x="2494726" y="0"/>
                  </a:lnTo>
                  <a:close/>
                </a:path>
              </a:pathLst>
            </a:custGeom>
            <a:solidFill>
              <a:srgbClr val="FB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66268" y="2295306"/>
            <a:ext cx="2368550" cy="54038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1100" spc="-10" dirty="0">
                <a:solidFill>
                  <a:srgbClr val="FFFFFF"/>
                </a:solidFill>
                <a:latin typeface="Arial Black"/>
                <a:cs typeface="Arial Black"/>
              </a:rPr>
              <a:t>Discussion</a:t>
            </a:r>
            <a:endParaRPr sz="1100">
              <a:latin typeface="Arial Black"/>
              <a:cs typeface="Arial Black"/>
            </a:endParaRPr>
          </a:p>
          <a:p>
            <a:pPr marL="12700" marR="5080">
              <a:lnSpc>
                <a:spcPts val="1190"/>
              </a:lnSpc>
              <a:spcBef>
                <a:spcPts val="260"/>
              </a:spcBef>
            </a:pPr>
            <a:r>
              <a:rPr sz="1100" dirty="0">
                <a:latin typeface="Arial"/>
                <a:cs typeface="Arial"/>
              </a:rPr>
              <a:t>Who</a:t>
            </a:r>
            <a:r>
              <a:rPr sz="1100" spc="1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owns</a:t>
            </a:r>
            <a:r>
              <a:rPr sz="1100" spc="1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today’s</a:t>
            </a:r>
            <a:r>
              <a:rPr sz="1100" spc="15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media—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15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does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shape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message?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2372" y="618741"/>
            <a:ext cx="1285654" cy="184385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374606" y="2588665"/>
            <a:ext cx="18211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Karl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Marx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(1818–1883).</a:t>
            </a:r>
            <a:r>
              <a:rPr sz="8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domain.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37"/>
              <a:ext cx="3435985" cy="5080"/>
            </a:xfrm>
            <a:custGeom>
              <a:avLst/>
              <a:gdLst/>
              <a:ahLst/>
              <a:cxnLst/>
              <a:rect l="l" t="t" r="r" b="b"/>
              <a:pathLst>
                <a:path w="3435985" h="5080">
                  <a:moveTo>
                    <a:pt x="0" y="5060"/>
                  </a:moveTo>
                  <a:lnTo>
                    <a:pt x="0" y="0"/>
                  </a:lnTo>
                  <a:lnTo>
                    <a:pt x="3435864" y="0"/>
                  </a:lnTo>
                  <a:lnTo>
                    <a:pt x="343586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0" dirty="0"/>
              <a:t>Mill</a:t>
            </a:r>
            <a:r>
              <a:rPr spc="-100" dirty="0"/>
              <a:t> </a:t>
            </a:r>
            <a:r>
              <a:rPr spc="-95" dirty="0"/>
              <a:t>vs.</a:t>
            </a:r>
            <a:r>
              <a:rPr spc="-45" dirty="0"/>
              <a:t> </a:t>
            </a:r>
            <a:r>
              <a:rPr spc="-100" dirty="0"/>
              <a:t>Marx:</a:t>
            </a:r>
            <a:r>
              <a:rPr spc="-45" dirty="0"/>
              <a:t> </a:t>
            </a:r>
            <a:r>
              <a:rPr spc="-105" dirty="0"/>
              <a:t>Liberal</a:t>
            </a:r>
            <a:r>
              <a:rPr spc="-95" dirty="0"/>
              <a:t> vs.</a:t>
            </a:r>
            <a:r>
              <a:rPr spc="-45" dirty="0"/>
              <a:t> </a:t>
            </a:r>
            <a:r>
              <a:rPr spc="-114" dirty="0"/>
              <a:t>Radical</a:t>
            </a:r>
            <a:r>
              <a:rPr spc="-95" dirty="0"/>
              <a:t> </a:t>
            </a:r>
            <a:r>
              <a:rPr spc="-90" dirty="0"/>
              <a:t>Visions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07213" y="797013"/>
          <a:ext cx="2495550" cy="1370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John</a:t>
                      </a:r>
                      <a:r>
                        <a:rPr sz="1100" spc="-5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Stuart</a:t>
                      </a:r>
                      <a:r>
                        <a:rPr sz="1100" spc="-5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Mill</a:t>
                      </a:r>
                      <a:r>
                        <a:rPr sz="1100" spc="-5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(1806–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1873)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19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4115">
                <a:tc>
                  <a:txBody>
                    <a:bodyPr/>
                    <a:lstStyle/>
                    <a:p>
                      <a:pPr marL="274320" marR="221615" indent="-121920">
                        <a:lnSpc>
                          <a:spcPts val="1190"/>
                        </a:lnSpc>
                        <a:spcBef>
                          <a:spcPts val="540"/>
                        </a:spcBef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Technology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enables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7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individual 	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liberty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55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“Marketplace</a:t>
                      </a:r>
                      <a:r>
                        <a:rPr sz="1100" spc="5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100" spc="5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ideas”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marR="672465" indent="-121920">
                        <a:lnSpc>
                          <a:spcPts val="1190"/>
                        </a:lnSpc>
                        <a:spcBef>
                          <a:spcPts val="320"/>
                        </a:spcBef>
                        <a:buChar char="•"/>
                        <a:tabLst>
                          <a:tab pos="27686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Truth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wins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through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free 	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competition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55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Technology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neutral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tool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68580" marB="0"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033610" y="873480"/>
          <a:ext cx="2495550" cy="1217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0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Karl</a:t>
                      </a:r>
                      <a:r>
                        <a:rPr sz="1100" spc="-5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Marx</a:t>
                      </a:r>
                      <a:r>
                        <a:rPr sz="1100" spc="-5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(1818–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1883)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BF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1080">
                <a:tc>
                  <a:txBody>
                    <a:bodyPr/>
                    <a:lstStyle/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380"/>
                        </a:spcBef>
                        <a:buClr>
                          <a:srgbClr val="BF392B"/>
                        </a:buClr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Technology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serves</a:t>
                      </a:r>
                      <a:r>
                        <a:rPr sz="1100" spc="-6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owners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5"/>
                        </a:spcBef>
                        <a:buClr>
                          <a:srgbClr val="BF392B"/>
                        </a:buClr>
                        <a:buChar char="•"/>
                        <a:tabLst>
                          <a:tab pos="27432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“Ruling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ideas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ideas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rulers”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marR="340360" indent="-121920">
                        <a:lnSpc>
                          <a:spcPts val="1190"/>
                        </a:lnSpc>
                        <a:spcBef>
                          <a:spcPts val="315"/>
                        </a:spcBef>
                        <a:buClr>
                          <a:srgbClr val="BF392B"/>
                        </a:buClr>
                        <a:buChar char="•"/>
                        <a:tabLst>
                          <a:tab pos="27686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Liberation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requires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changing 	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ownership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60"/>
                        </a:spcBef>
                        <a:buClr>
                          <a:srgbClr val="BF392B"/>
                        </a:buClr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Technology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shaped</a:t>
                      </a:r>
                      <a:r>
                        <a:rPr sz="1100" spc="-7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by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power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48260" marB="0">
                    <a:solidFill>
                      <a:srgbClr val="F9E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62521" y="2354230"/>
            <a:ext cx="1468755" cy="193675"/>
          </a:xfrm>
          <a:custGeom>
            <a:avLst/>
            <a:gdLst/>
            <a:ahLst/>
            <a:cxnLst/>
            <a:rect l="l" t="t" r="r" b="b"/>
            <a:pathLst>
              <a:path w="1468755" h="193675">
                <a:moveTo>
                  <a:pt x="1417915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142771"/>
                </a:lnTo>
                <a:lnTo>
                  <a:pt x="3977" y="162471"/>
                </a:lnTo>
                <a:lnTo>
                  <a:pt x="14823" y="178558"/>
                </a:lnTo>
                <a:lnTo>
                  <a:pt x="30910" y="189404"/>
                </a:lnTo>
                <a:lnTo>
                  <a:pt x="50610" y="193382"/>
                </a:lnTo>
                <a:lnTo>
                  <a:pt x="1417915" y="193382"/>
                </a:lnTo>
                <a:lnTo>
                  <a:pt x="1437615" y="189404"/>
                </a:lnTo>
                <a:lnTo>
                  <a:pt x="1453702" y="178558"/>
                </a:lnTo>
                <a:lnTo>
                  <a:pt x="1464548" y="162471"/>
                </a:lnTo>
                <a:lnTo>
                  <a:pt x="1468526" y="142771"/>
                </a:lnTo>
                <a:lnTo>
                  <a:pt x="1468526" y="50610"/>
                </a:lnTo>
                <a:lnTo>
                  <a:pt x="1464548" y="30910"/>
                </a:lnTo>
                <a:lnTo>
                  <a:pt x="1453702" y="14823"/>
                </a:lnTo>
                <a:lnTo>
                  <a:pt x="1437615" y="3977"/>
                </a:lnTo>
                <a:lnTo>
                  <a:pt x="1417915" y="0"/>
                </a:lnTo>
                <a:close/>
              </a:path>
            </a:pathLst>
          </a:custGeom>
          <a:solidFill>
            <a:srgbClr val="D1DA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2521" y="2354230"/>
            <a:ext cx="1468755" cy="193675"/>
          </a:xfrm>
          <a:prstGeom prst="rect">
            <a:avLst/>
          </a:prstGeom>
          <a:ln w="5060">
            <a:solidFill>
              <a:srgbClr val="22373A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14"/>
              </a:spcBef>
            </a:pPr>
            <a:r>
              <a:rPr sz="900" spc="-25" dirty="0">
                <a:solidFill>
                  <a:srgbClr val="22373A"/>
                </a:solidFill>
                <a:latin typeface="Arial Black"/>
                <a:cs typeface="Arial Black"/>
              </a:rPr>
              <a:t>Mill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Technology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neutral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42215" y="2352338"/>
            <a:ext cx="1817370" cy="197485"/>
            <a:chOff x="2942215" y="2352338"/>
            <a:chExt cx="1817370" cy="197485"/>
          </a:xfrm>
        </p:grpSpPr>
        <p:sp>
          <p:nvSpPr>
            <p:cNvPr id="8" name="object 8"/>
            <p:cNvSpPr/>
            <p:nvPr/>
          </p:nvSpPr>
          <p:spPr>
            <a:xfrm>
              <a:off x="2944755" y="2354878"/>
              <a:ext cx="1812289" cy="192405"/>
            </a:xfrm>
            <a:custGeom>
              <a:avLst/>
              <a:gdLst/>
              <a:ahLst/>
              <a:cxnLst/>
              <a:rect l="l" t="t" r="r" b="b"/>
              <a:pathLst>
                <a:path w="1812289" h="192405">
                  <a:moveTo>
                    <a:pt x="176155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41475"/>
                  </a:lnTo>
                  <a:lnTo>
                    <a:pt x="3977" y="161175"/>
                  </a:lnTo>
                  <a:lnTo>
                    <a:pt x="14823" y="177263"/>
                  </a:lnTo>
                  <a:lnTo>
                    <a:pt x="30910" y="188109"/>
                  </a:lnTo>
                  <a:lnTo>
                    <a:pt x="50610" y="192086"/>
                  </a:lnTo>
                  <a:lnTo>
                    <a:pt x="1761555" y="192086"/>
                  </a:lnTo>
                  <a:lnTo>
                    <a:pt x="1781256" y="188109"/>
                  </a:lnTo>
                  <a:lnTo>
                    <a:pt x="1797343" y="177263"/>
                  </a:lnTo>
                  <a:lnTo>
                    <a:pt x="1808189" y="161175"/>
                  </a:lnTo>
                  <a:lnTo>
                    <a:pt x="1812166" y="141475"/>
                  </a:lnTo>
                  <a:lnTo>
                    <a:pt x="1812166" y="50610"/>
                  </a:lnTo>
                  <a:lnTo>
                    <a:pt x="1808189" y="30910"/>
                  </a:lnTo>
                  <a:lnTo>
                    <a:pt x="1797343" y="14823"/>
                  </a:lnTo>
                  <a:lnTo>
                    <a:pt x="1781256" y="3977"/>
                  </a:lnTo>
                  <a:lnTo>
                    <a:pt x="1761555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44755" y="2354878"/>
              <a:ext cx="1812289" cy="192405"/>
            </a:xfrm>
            <a:custGeom>
              <a:avLst/>
              <a:gdLst/>
              <a:ahLst/>
              <a:cxnLst/>
              <a:rect l="l" t="t" r="r" b="b"/>
              <a:pathLst>
                <a:path w="1812289" h="192405">
                  <a:moveTo>
                    <a:pt x="176155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41475"/>
                  </a:lnTo>
                  <a:lnTo>
                    <a:pt x="3977" y="161175"/>
                  </a:lnTo>
                  <a:lnTo>
                    <a:pt x="14823" y="177263"/>
                  </a:lnTo>
                  <a:lnTo>
                    <a:pt x="30910" y="188109"/>
                  </a:lnTo>
                  <a:lnTo>
                    <a:pt x="50610" y="192086"/>
                  </a:lnTo>
                  <a:lnTo>
                    <a:pt x="1761555" y="192086"/>
                  </a:lnTo>
                  <a:lnTo>
                    <a:pt x="1781256" y="188109"/>
                  </a:lnTo>
                  <a:lnTo>
                    <a:pt x="1797343" y="177263"/>
                  </a:lnTo>
                  <a:lnTo>
                    <a:pt x="1808189" y="161175"/>
                  </a:lnTo>
                  <a:lnTo>
                    <a:pt x="1812166" y="141475"/>
                  </a:lnTo>
                  <a:lnTo>
                    <a:pt x="1812166" y="50610"/>
                  </a:lnTo>
                  <a:lnTo>
                    <a:pt x="1808189" y="30910"/>
                  </a:lnTo>
                  <a:lnTo>
                    <a:pt x="1797343" y="14823"/>
                  </a:lnTo>
                  <a:lnTo>
                    <a:pt x="1781256" y="3977"/>
                  </a:lnTo>
                  <a:lnTo>
                    <a:pt x="1761555" y="0"/>
                  </a:lnTo>
                  <a:close/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971279" y="2352284"/>
            <a:ext cx="1759585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spc="-55" dirty="0">
                <a:solidFill>
                  <a:srgbClr val="22373A"/>
                </a:solidFill>
                <a:latin typeface="Arial Black"/>
                <a:cs typeface="Arial Black"/>
              </a:rPr>
              <a:t>Marx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Technology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reflects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power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833183" y="2420556"/>
            <a:ext cx="1109980" cy="60960"/>
            <a:chOff x="1833183" y="2420556"/>
            <a:chExt cx="1109980" cy="60960"/>
          </a:xfrm>
        </p:grpSpPr>
        <p:sp>
          <p:nvSpPr>
            <p:cNvPr id="12" name="object 12"/>
            <p:cNvSpPr/>
            <p:nvPr/>
          </p:nvSpPr>
          <p:spPr>
            <a:xfrm>
              <a:off x="1842166" y="2450922"/>
              <a:ext cx="1091565" cy="0"/>
            </a:xfrm>
            <a:custGeom>
              <a:avLst/>
              <a:gdLst/>
              <a:ahLst/>
              <a:cxnLst/>
              <a:rect l="l" t="t" r="r" b="b"/>
              <a:pathLst>
                <a:path w="1091564">
                  <a:moveTo>
                    <a:pt x="0" y="0"/>
                  </a:moveTo>
                  <a:lnTo>
                    <a:pt x="1091415" y="0"/>
                  </a:lnTo>
                </a:path>
              </a:pathLst>
            </a:custGeom>
            <a:ln w="1012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37232" y="2424605"/>
              <a:ext cx="24765" cy="52705"/>
            </a:xfrm>
            <a:custGeom>
              <a:avLst/>
              <a:gdLst/>
              <a:ahLst/>
              <a:cxnLst/>
              <a:rect l="l" t="t" r="r" b="b"/>
              <a:pathLst>
                <a:path w="24764" h="52705">
                  <a:moveTo>
                    <a:pt x="24671" y="52633"/>
                  </a:moveTo>
                  <a:lnTo>
                    <a:pt x="20816" y="44589"/>
                  </a:lnTo>
                  <a:lnTo>
                    <a:pt x="13569" y="36391"/>
                  </a:lnTo>
                  <a:lnTo>
                    <a:pt x="5705" y="29734"/>
                  </a:lnTo>
                  <a:lnTo>
                    <a:pt x="0" y="26316"/>
                  </a:lnTo>
                  <a:lnTo>
                    <a:pt x="5705" y="22898"/>
                  </a:lnTo>
                  <a:lnTo>
                    <a:pt x="13569" y="16242"/>
                  </a:lnTo>
                  <a:lnTo>
                    <a:pt x="20816" y="8044"/>
                  </a:lnTo>
                  <a:lnTo>
                    <a:pt x="24671" y="0"/>
                  </a:lnTo>
                </a:path>
              </a:pathLst>
            </a:custGeom>
            <a:ln w="8097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13844" y="2424605"/>
              <a:ext cx="24765" cy="52705"/>
            </a:xfrm>
            <a:custGeom>
              <a:avLst/>
              <a:gdLst/>
              <a:ahLst/>
              <a:cxnLst/>
              <a:rect l="l" t="t" r="r" b="b"/>
              <a:pathLst>
                <a:path w="24764" h="52705">
                  <a:moveTo>
                    <a:pt x="0" y="0"/>
                  </a:moveTo>
                  <a:lnTo>
                    <a:pt x="3855" y="8044"/>
                  </a:lnTo>
                  <a:lnTo>
                    <a:pt x="11102" y="16242"/>
                  </a:lnTo>
                  <a:lnTo>
                    <a:pt x="18966" y="22898"/>
                  </a:lnTo>
                  <a:lnTo>
                    <a:pt x="24671" y="26316"/>
                  </a:lnTo>
                  <a:lnTo>
                    <a:pt x="18966" y="29734"/>
                  </a:lnTo>
                  <a:lnTo>
                    <a:pt x="11102" y="36391"/>
                  </a:lnTo>
                  <a:lnTo>
                    <a:pt x="3855" y="44589"/>
                  </a:lnTo>
                  <a:lnTo>
                    <a:pt x="0" y="52633"/>
                  </a:lnTo>
                </a:path>
              </a:pathLst>
            </a:custGeom>
            <a:ln w="8097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04556" y="2264318"/>
            <a:ext cx="1766570" cy="15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spc="-25" dirty="0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sz="85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22373A"/>
                </a:solidFill>
                <a:latin typeface="Arial"/>
                <a:cs typeface="Arial"/>
              </a:rPr>
              <a:t>technology,</a:t>
            </a:r>
            <a:r>
              <a:rPr sz="85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85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22373A"/>
                </a:solidFill>
                <a:latin typeface="Arial"/>
                <a:cs typeface="Arial"/>
              </a:rPr>
              <a:t>analyses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7" name="object 17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0" y="3234937"/>
              <a:ext cx="3536950" cy="5080"/>
            </a:xfrm>
            <a:custGeom>
              <a:avLst/>
              <a:gdLst/>
              <a:ahLst/>
              <a:cxnLst/>
              <a:rect l="l" t="t" r="r" b="b"/>
              <a:pathLst>
                <a:path w="3536950" h="5080">
                  <a:moveTo>
                    <a:pt x="0" y="5060"/>
                  </a:moveTo>
                  <a:lnTo>
                    <a:pt x="0" y="0"/>
                  </a:lnTo>
                  <a:lnTo>
                    <a:pt x="3536851" y="0"/>
                  </a:lnTo>
                  <a:lnTo>
                    <a:pt x="353685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770" y="74559"/>
            <a:ext cx="298196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5" dirty="0">
                <a:solidFill>
                  <a:srgbClr val="FFFFFF"/>
                </a:solidFill>
                <a:latin typeface="Arial Black"/>
                <a:cs typeface="Arial Black"/>
              </a:rPr>
              <a:t>Quote:</a:t>
            </a:r>
            <a:r>
              <a:rPr sz="1200" spc="-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120" dirty="0">
                <a:solidFill>
                  <a:srgbClr val="FFFFFF"/>
                </a:solidFill>
                <a:latin typeface="Arial Black"/>
                <a:cs typeface="Arial Black"/>
              </a:rPr>
              <a:t>John</a:t>
            </a:r>
            <a:r>
              <a:rPr sz="1200" spc="-10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100" dirty="0">
                <a:solidFill>
                  <a:srgbClr val="FFFFFF"/>
                </a:solidFill>
                <a:latin typeface="Arial Black"/>
                <a:cs typeface="Arial Black"/>
              </a:rPr>
              <a:t>Stuart </a:t>
            </a:r>
            <a:r>
              <a:rPr sz="1200" spc="-75" dirty="0">
                <a:solidFill>
                  <a:srgbClr val="FFFFFF"/>
                </a:solidFill>
                <a:latin typeface="Arial Black"/>
                <a:cs typeface="Arial Black"/>
              </a:rPr>
              <a:t>Mill,</a:t>
            </a:r>
            <a:r>
              <a:rPr sz="1200" spc="-1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b="1" i="1" spc="-85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1200" b="1" i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i="1" spc="-30" dirty="0">
                <a:solidFill>
                  <a:srgbClr val="FFFFFF"/>
                </a:solidFill>
                <a:latin typeface="Arial"/>
                <a:cs typeface="Arial"/>
              </a:rPr>
              <a:t>Liberty</a:t>
            </a:r>
            <a:r>
              <a:rPr sz="1200" b="1" i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 Black"/>
                <a:cs typeface="Arial Black"/>
              </a:rPr>
              <a:t>(1859)</a:t>
            </a:r>
            <a:endParaRPr sz="1200">
              <a:latin typeface="Arial Black"/>
              <a:cs typeface="Arial Black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59994" y="472452"/>
          <a:ext cx="5116195" cy="19678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100" spc="73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,</a:t>
                      </a:r>
                      <a:r>
                        <a:rPr sz="1100" spc="254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1100" spc="-1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John</a:t>
                      </a:r>
                      <a:r>
                        <a:rPr sz="1100" spc="-8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Stuart</a:t>
                      </a:r>
                      <a:r>
                        <a:rPr sz="1100" spc="-8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6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Mill,</a:t>
                      </a:r>
                      <a:r>
                        <a:rPr sz="1100" spc="-8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b="1" i="1" spc="-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On</a:t>
                      </a:r>
                      <a:r>
                        <a:rPr sz="1100" b="1" i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i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Liberty</a:t>
                      </a:r>
                      <a:r>
                        <a:rPr sz="1100" spc="-4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,</a:t>
                      </a:r>
                      <a:r>
                        <a:rPr sz="1100" spc="-8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Chapter</a:t>
                      </a:r>
                      <a:r>
                        <a:rPr sz="1100" spc="-8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2</a:t>
                      </a:r>
                      <a:r>
                        <a:rPr sz="1100" spc="-8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(mill1859liberty)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3810" marB="0">
                    <a:solidFill>
                      <a:srgbClr val="2D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4664">
                <a:tc>
                  <a:txBody>
                    <a:bodyPr/>
                    <a:lstStyle/>
                    <a:p>
                      <a:pPr marL="45720" marR="257175">
                        <a:lnSpc>
                          <a:spcPts val="1050"/>
                        </a:lnSpc>
                        <a:spcBef>
                          <a:spcPts val="270"/>
                        </a:spcBef>
                      </a:pPr>
                      <a:r>
                        <a:rPr sz="10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Context:</a:t>
                      </a:r>
                      <a:r>
                        <a:rPr sz="1000" spc="2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Mill</a:t>
                      </a:r>
                      <a:r>
                        <a:rPr sz="10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argues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absolute</a:t>
                      </a:r>
                      <a:r>
                        <a:rPr sz="10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freedom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0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expression,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claiming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that</a:t>
                      </a:r>
                      <a:r>
                        <a:rPr sz="10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silencing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any </a:t>
                      </a:r>
                      <a:r>
                        <a:rPr sz="10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opinion—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even</a:t>
                      </a:r>
                      <a:r>
                        <a:rPr sz="10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0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false</a:t>
                      </a:r>
                      <a:r>
                        <a:rPr sz="10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one—</a:t>
                      </a:r>
                      <a:r>
                        <a:rPr sz="10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harms</a:t>
                      </a:r>
                      <a:r>
                        <a:rPr sz="10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everyone.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45720" marR="65405" algn="just">
                        <a:lnSpc>
                          <a:spcPts val="1050"/>
                        </a:lnSpc>
                        <a:spcBef>
                          <a:spcPts val="1050"/>
                        </a:spcBef>
                      </a:pPr>
                      <a:r>
                        <a:rPr sz="1000" i="1" spc="8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“If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all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mankind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minus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one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were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one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opinion,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only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one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person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were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contrary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opinion,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mankind</a:t>
                      </a:r>
                      <a:r>
                        <a:rPr sz="1000" i="1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would</a:t>
                      </a:r>
                      <a:r>
                        <a:rPr sz="1000" i="1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</a:t>
                      </a:r>
                      <a:r>
                        <a:rPr sz="1000" i="1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9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sz="1000" b="1" i="1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more</a:t>
                      </a:r>
                      <a:r>
                        <a:rPr sz="1000" b="1" i="1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justified</a:t>
                      </a:r>
                      <a:r>
                        <a:rPr sz="1000" b="1" i="1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000" b="1" i="1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silencing</a:t>
                      </a:r>
                      <a:r>
                        <a:rPr sz="1000" b="1" i="1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that </a:t>
                      </a:r>
                      <a:r>
                        <a:rPr sz="1000" b="1" i="1" spc="-6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one</a:t>
                      </a:r>
                      <a:r>
                        <a:rPr sz="1000" b="1" i="1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person</a:t>
                      </a:r>
                      <a:r>
                        <a:rPr sz="1000" i="1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sz="1000" i="1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than</a:t>
                      </a:r>
                      <a:r>
                        <a:rPr sz="1000" i="1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he,</a:t>
                      </a:r>
                      <a:r>
                        <a:rPr sz="1000" i="1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if</a:t>
                      </a:r>
                      <a:r>
                        <a:rPr sz="1000" i="1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he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had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power,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would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justified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silencing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mankind.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45720" marR="113030">
                        <a:lnSpc>
                          <a:spcPts val="1050"/>
                        </a:lnSpc>
                        <a:spcBef>
                          <a:spcPts val="850"/>
                        </a:spcBef>
                      </a:pP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But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peculiar</a:t>
                      </a:r>
                      <a:r>
                        <a:rPr sz="1000" b="1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evil</a:t>
                      </a:r>
                      <a:r>
                        <a:rPr sz="1000" b="1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silencing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expression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opinion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is,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that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it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robbing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human</a:t>
                      </a:r>
                      <a:r>
                        <a:rPr sz="1000" i="1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race;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posterity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as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well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as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existing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generation;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those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who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dissent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from</a:t>
                      </a:r>
                      <a:r>
                        <a:rPr sz="1000" i="1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opinion,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still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more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than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those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who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hold it.</a:t>
                      </a:r>
                      <a:r>
                        <a:rPr sz="1000" i="1" spc="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6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If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opinion is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right, they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are deprived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 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opportunity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exchanging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error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truth:</a:t>
                      </a:r>
                      <a:r>
                        <a:rPr sz="1000" i="1" spc="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if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wrong,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they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lose,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what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almost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as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great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benefit,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clearer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perception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livelier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impression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truth,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produced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by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its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collision </a:t>
                      </a:r>
                      <a:r>
                        <a:rPr sz="1000" b="1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with</a:t>
                      </a:r>
                      <a:r>
                        <a:rPr sz="1000" b="1" i="1" spc="-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error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.”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solidFill>
                      <a:srgbClr val="F4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9994" y="2546286"/>
          <a:ext cx="5116195" cy="561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209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100" spc="39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!</a:t>
                      </a:r>
                      <a:r>
                        <a:rPr sz="1100" spc="2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1100" spc="-13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The</a:t>
                      </a:r>
                      <a:r>
                        <a:rPr sz="1100" spc="-10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Assumption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12065" marB="0">
                    <a:solidFill>
                      <a:srgbClr val="19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45720" marR="218440">
                        <a:lnSpc>
                          <a:spcPts val="1190"/>
                        </a:lnSpc>
                        <a:spcBef>
                          <a:spcPts val="229"/>
                        </a:spcBef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Mill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assumes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“marketplace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ideas”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where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truth</a:t>
                      </a:r>
                      <a:r>
                        <a:rPr sz="1100" spc="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wins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out.</a:t>
                      </a:r>
                      <a:r>
                        <a:rPr sz="1100" spc="7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What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conditions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must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hold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sz="1100" spc="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this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100" spc="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work?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37"/>
              <a:ext cx="3638550" cy="5080"/>
            </a:xfrm>
            <a:custGeom>
              <a:avLst/>
              <a:gdLst/>
              <a:ahLst/>
              <a:cxnLst/>
              <a:rect l="l" t="t" r="r" b="b"/>
              <a:pathLst>
                <a:path w="3638550" h="5080">
                  <a:moveTo>
                    <a:pt x="0" y="5060"/>
                  </a:moveTo>
                  <a:lnTo>
                    <a:pt x="0" y="0"/>
                  </a:lnTo>
                  <a:lnTo>
                    <a:pt x="3637927" y="0"/>
                  </a:lnTo>
                  <a:lnTo>
                    <a:pt x="363792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0" dirty="0"/>
              <a:t>Marx’s</a:t>
            </a:r>
            <a:r>
              <a:rPr spc="-90" dirty="0"/>
              <a:t> </a:t>
            </a:r>
            <a:r>
              <a:rPr spc="-110" dirty="0"/>
              <a:t>Counterargument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530312"/>
            <a:ext cx="5040630" cy="1770380"/>
            <a:chOff x="359994" y="530312"/>
            <a:chExt cx="5040630" cy="1770380"/>
          </a:xfrm>
        </p:grpSpPr>
        <p:sp>
          <p:nvSpPr>
            <p:cNvPr id="4" name="object 4"/>
            <p:cNvSpPr/>
            <p:nvPr/>
          </p:nvSpPr>
          <p:spPr>
            <a:xfrm>
              <a:off x="359994" y="530312"/>
              <a:ext cx="5040630" cy="1770380"/>
            </a:xfrm>
            <a:custGeom>
              <a:avLst/>
              <a:gdLst/>
              <a:ahLst/>
              <a:cxnLst/>
              <a:rect l="l" t="t" r="r" b="b"/>
              <a:pathLst>
                <a:path w="5040630" h="1770380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1732181"/>
                  </a:lnTo>
                  <a:lnTo>
                    <a:pt x="2982" y="1746956"/>
                  </a:lnTo>
                  <a:lnTo>
                    <a:pt x="11117" y="1759022"/>
                  </a:lnTo>
                  <a:lnTo>
                    <a:pt x="23182" y="1767156"/>
                  </a:lnTo>
                  <a:lnTo>
                    <a:pt x="37958" y="1770139"/>
                  </a:lnTo>
                  <a:lnTo>
                    <a:pt x="5002106" y="1770139"/>
                  </a:lnTo>
                  <a:lnTo>
                    <a:pt x="5016882" y="1767156"/>
                  </a:lnTo>
                  <a:lnTo>
                    <a:pt x="5028947" y="1759022"/>
                  </a:lnTo>
                  <a:lnTo>
                    <a:pt x="5037082" y="1746956"/>
                  </a:lnTo>
                  <a:lnTo>
                    <a:pt x="5040064" y="1732181"/>
                  </a:lnTo>
                  <a:lnTo>
                    <a:pt x="5040064" y="37958"/>
                  </a:lnTo>
                  <a:lnTo>
                    <a:pt x="5037082" y="23182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194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2646" y="762771"/>
              <a:ext cx="5015230" cy="1525270"/>
            </a:xfrm>
            <a:custGeom>
              <a:avLst/>
              <a:gdLst/>
              <a:ahLst/>
              <a:cxnLst/>
              <a:rect l="l" t="t" r="r" b="b"/>
              <a:pathLst>
                <a:path w="5015230" h="1525270">
                  <a:moveTo>
                    <a:pt x="5014759" y="0"/>
                  </a:moveTo>
                  <a:lnTo>
                    <a:pt x="0" y="0"/>
                  </a:lnTo>
                  <a:lnTo>
                    <a:pt x="0" y="1499723"/>
                  </a:lnTo>
                  <a:lnTo>
                    <a:pt x="1988" y="1509573"/>
                  </a:lnTo>
                  <a:lnTo>
                    <a:pt x="7411" y="1517616"/>
                  </a:lnTo>
                  <a:lnTo>
                    <a:pt x="15455" y="1523039"/>
                  </a:lnTo>
                  <a:lnTo>
                    <a:pt x="25305" y="1525028"/>
                  </a:lnTo>
                  <a:lnTo>
                    <a:pt x="4989454" y="1525028"/>
                  </a:lnTo>
                  <a:lnTo>
                    <a:pt x="4999304" y="1523039"/>
                  </a:lnTo>
                  <a:lnTo>
                    <a:pt x="5007347" y="1517616"/>
                  </a:lnTo>
                  <a:lnTo>
                    <a:pt x="5012770" y="1509573"/>
                  </a:lnTo>
                  <a:lnTo>
                    <a:pt x="5014759" y="1499723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3F5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39953" y="533513"/>
            <a:ext cx="4466590" cy="16573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10" dirty="0">
                <a:solidFill>
                  <a:srgbClr val="FFFFFF"/>
                </a:solidFill>
                <a:latin typeface="Arial Black"/>
                <a:cs typeface="Arial Black"/>
              </a:rPr>
              <a:t>Argument</a:t>
            </a:r>
            <a:r>
              <a:rPr sz="110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80" dirty="0">
                <a:solidFill>
                  <a:srgbClr val="FFFFFF"/>
                </a:solidFill>
                <a:latin typeface="Arial Black"/>
                <a:cs typeface="Arial Black"/>
              </a:rPr>
              <a:t>in</a:t>
            </a:r>
            <a:r>
              <a:rPr sz="110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105" dirty="0">
                <a:solidFill>
                  <a:srgbClr val="FFFFFF"/>
                </a:solidFill>
                <a:latin typeface="Arial Black"/>
                <a:cs typeface="Arial Black"/>
              </a:rPr>
              <a:t>Standard</a:t>
            </a:r>
            <a:r>
              <a:rPr sz="110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Arial Black"/>
                <a:cs typeface="Arial Black"/>
              </a:rPr>
              <a:t>Form</a:t>
            </a:r>
            <a:endParaRPr sz="1100">
              <a:latin typeface="Arial Black"/>
              <a:cs typeface="Arial Black"/>
            </a:endParaRPr>
          </a:p>
          <a:p>
            <a:pPr marL="287020" marR="384175" indent="-187960">
              <a:lnSpc>
                <a:spcPts val="1190"/>
              </a:lnSpc>
              <a:spcBef>
                <a:spcPts val="1125"/>
              </a:spcBef>
              <a:buAutoNum type="arabicPeriod"/>
              <a:tabLst>
                <a:tab pos="289560" algn="l"/>
              </a:tabLst>
            </a:pP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Those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who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10" dirty="0">
                <a:solidFill>
                  <a:srgbClr val="22373A"/>
                </a:solidFill>
                <a:latin typeface="Arial Black"/>
                <a:cs typeface="Arial Black"/>
              </a:rPr>
              <a:t>control</a:t>
            </a:r>
            <a:r>
              <a:rPr sz="1100" spc="-6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105" dirty="0">
                <a:solidFill>
                  <a:srgbClr val="22373A"/>
                </a:solidFill>
                <a:latin typeface="Arial Black"/>
                <a:cs typeface="Arial Black"/>
              </a:rPr>
              <a:t>the</a:t>
            </a:r>
            <a:r>
              <a:rPr sz="1100" spc="-6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125" dirty="0">
                <a:solidFill>
                  <a:srgbClr val="22373A"/>
                </a:solidFill>
                <a:latin typeface="Arial Black"/>
                <a:cs typeface="Arial Black"/>
              </a:rPr>
              <a:t>means</a:t>
            </a:r>
            <a:r>
              <a:rPr sz="1100" spc="-6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90" dirty="0">
                <a:solidFill>
                  <a:srgbClr val="22373A"/>
                </a:solidFill>
                <a:latin typeface="Arial Black"/>
                <a:cs typeface="Arial Black"/>
              </a:rPr>
              <a:t>of</a:t>
            </a:r>
            <a:r>
              <a:rPr sz="1100" spc="-6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120" dirty="0">
                <a:solidFill>
                  <a:srgbClr val="22373A"/>
                </a:solidFill>
                <a:latin typeface="Arial Black"/>
                <a:cs typeface="Arial Black"/>
              </a:rPr>
              <a:t>communication</a:t>
            </a:r>
            <a:r>
              <a:rPr sz="1100" spc="-6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control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the 	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dominant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ideas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11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society.</a:t>
            </a:r>
            <a:endParaRPr sz="1100">
              <a:latin typeface="Arial"/>
              <a:cs typeface="Arial"/>
            </a:endParaRPr>
          </a:p>
          <a:p>
            <a:pPr marL="287020" marR="684530" indent="-187960">
              <a:lnSpc>
                <a:spcPts val="1190"/>
              </a:lnSpc>
              <a:spcBef>
                <a:spcPts val="305"/>
              </a:spcBef>
              <a:buAutoNum type="arabicPeriod"/>
              <a:tabLst>
                <a:tab pos="289560" algn="l"/>
              </a:tabLst>
            </a:pP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Under</a:t>
            </a:r>
            <a:r>
              <a:rPr sz="11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capitalism,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1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80" dirty="0">
                <a:solidFill>
                  <a:srgbClr val="22373A"/>
                </a:solidFill>
                <a:latin typeface="Arial Black"/>
                <a:cs typeface="Arial Black"/>
              </a:rPr>
              <a:t>ruling</a:t>
            </a:r>
            <a:r>
              <a:rPr sz="1100" spc="-5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125" dirty="0">
                <a:solidFill>
                  <a:srgbClr val="22373A"/>
                </a:solidFill>
                <a:latin typeface="Arial Black"/>
                <a:cs typeface="Arial Black"/>
              </a:rPr>
              <a:t>class</a:t>
            </a:r>
            <a:r>
              <a:rPr sz="1100" spc="-5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controls</a:t>
            </a:r>
            <a:r>
              <a:rPr sz="11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means</a:t>
            </a:r>
            <a:r>
              <a:rPr sz="11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of 	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communication.</a:t>
            </a:r>
            <a:endParaRPr sz="1100">
              <a:latin typeface="Arial"/>
              <a:cs typeface="Arial"/>
            </a:endParaRPr>
          </a:p>
          <a:p>
            <a:pPr marL="287020" marR="5080" indent="-187960">
              <a:lnSpc>
                <a:spcPts val="1190"/>
              </a:lnSpc>
              <a:spcBef>
                <a:spcPts val="300"/>
              </a:spcBef>
              <a:buAutoNum type="arabicPeriod"/>
              <a:tabLst>
                <a:tab pos="289560" algn="l"/>
              </a:tabLst>
            </a:pP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Therefore,</a:t>
            </a:r>
            <a:r>
              <a:rPr sz="11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Arial"/>
                <a:cs typeface="Arial"/>
              </a:rPr>
              <a:t>“free”</a:t>
            </a:r>
            <a:r>
              <a:rPr sz="11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communication</a:t>
            </a:r>
            <a:r>
              <a:rPr sz="11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under</a:t>
            </a:r>
            <a:r>
              <a:rPr sz="11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capitalism</a:t>
            </a:r>
            <a:r>
              <a:rPr sz="11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primarily</a:t>
            </a:r>
            <a:r>
              <a:rPr sz="11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80" dirty="0">
                <a:solidFill>
                  <a:srgbClr val="22373A"/>
                </a:solidFill>
                <a:latin typeface="Arial Black"/>
                <a:cs typeface="Arial Black"/>
              </a:rPr>
              <a:t>serves 	</a:t>
            </a:r>
            <a:r>
              <a:rPr sz="1100" spc="-60" dirty="0">
                <a:solidFill>
                  <a:srgbClr val="22373A"/>
                </a:solidFill>
                <a:latin typeface="Arial Black"/>
                <a:cs typeface="Arial Black"/>
              </a:rPr>
              <a:t>ruling-</a:t>
            </a:r>
            <a:r>
              <a:rPr sz="1100" spc="-125" dirty="0">
                <a:solidFill>
                  <a:srgbClr val="22373A"/>
                </a:solidFill>
                <a:latin typeface="Arial Black"/>
                <a:cs typeface="Arial Black"/>
              </a:rPr>
              <a:t>class</a:t>
            </a:r>
            <a:r>
              <a:rPr sz="1100" spc="-2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 Black"/>
                <a:cs typeface="Arial Black"/>
              </a:rPr>
              <a:t>interests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289560" marR="39370" indent="-161925">
              <a:lnSpc>
                <a:spcPts val="1190"/>
              </a:lnSpc>
              <a:spcBef>
                <a:spcPts val="305"/>
              </a:spcBef>
            </a:pP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∴</a:t>
            </a:r>
            <a:r>
              <a:rPr sz="1100" spc="25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Genuine</a:t>
            </a:r>
            <a:r>
              <a:rPr sz="11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free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communication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sz="11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95" dirty="0">
                <a:solidFill>
                  <a:srgbClr val="22373A"/>
                </a:solidFill>
                <a:latin typeface="Arial Black"/>
                <a:cs typeface="Arial Black"/>
              </a:rPr>
              <a:t>revolutionary</a:t>
            </a:r>
            <a:r>
              <a:rPr sz="1100" spc="-8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135" dirty="0">
                <a:solidFill>
                  <a:srgbClr val="22373A"/>
                </a:solidFill>
                <a:latin typeface="Arial Black"/>
                <a:cs typeface="Arial Black"/>
              </a:rPr>
              <a:t>change</a:t>
            </a:r>
            <a:r>
              <a:rPr sz="1100" spc="-8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 the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ownership</a:t>
            </a:r>
            <a:r>
              <a:rPr sz="11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11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communication</a:t>
            </a:r>
            <a:r>
              <a:rPr sz="11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technologies.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59994" y="2521143"/>
            <a:ext cx="5040630" cy="555625"/>
            <a:chOff x="359994" y="2521143"/>
            <a:chExt cx="5040630" cy="555625"/>
          </a:xfrm>
        </p:grpSpPr>
        <p:sp>
          <p:nvSpPr>
            <p:cNvPr id="8" name="object 8"/>
            <p:cNvSpPr/>
            <p:nvPr/>
          </p:nvSpPr>
          <p:spPr>
            <a:xfrm>
              <a:off x="359994" y="2521143"/>
              <a:ext cx="5040630" cy="555625"/>
            </a:xfrm>
            <a:custGeom>
              <a:avLst/>
              <a:gdLst/>
              <a:ahLst/>
              <a:cxnLst/>
              <a:rect l="l" t="t" r="r" b="b"/>
              <a:pathLst>
                <a:path w="5040630" h="555625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517295"/>
                  </a:lnTo>
                  <a:lnTo>
                    <a:pt x="2982" y="532070"/>
                  </a:lnTo>
                  <a:lnTo>
                    <a:pt x="11117" y="544135"/>
                  </a:lnTo>
                  <a:lnTo>
                    <a:pt x="23182" y="552270"/>
                  </a:lnTo>
                  <a:lnTo>
                    <a:pt x="37958" y="555253"/>
                  </a:lnTo>
                  <a:lnTo>
                    <a:pt x="5002106" y="555253"/>
                  </a:lnTo>
                  <a:lnTo>
                    <a:pt x="5016882" y="552270"/>
                  </a:lnTo>
                  <a:lnTo>
                    <a:pt x="5028947" y="544135"/>
                  </a:lnTo>
                  <a:lnTo>
                    <a:pt x="5037082" y="532070"/>
                  </a:lnTo>
                  <a:lnTo>
                    <a:pt x="5040064" y="517295"/>
                  </a:lnTo>
                  <a:lnTo>
                    <a:pt x="5040064" y="37958"/>
                  </a:lnTo>
                  <a:lnTo>
                    <a:pt x="5037082" y="23183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B777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2646" y="2704433"/>
              <a:ext cx="5015230" cy="359410"/>
            </a:xfrm>
            <a:custGeom>
              <a:avLst/>
              <a:gdLst/>
              <a:ahLst/>
              <a:cxnLst/>
              <a:rect l="l" t="t" r="r" b="b"/>
              <a:pathLst>
                <a:path w="5015230" h="359410">
                  <a:moveTo>
                    <a:pt x="5014759" y="0"/>
                  </a:moveTo>
                  <a:lnTo>
                    <a:pt x="0" y="0"/>
                  </a:lnTo>
                  <a:lnTo>
                    <a:pt x="0" y="334005"/>
                  </a:lnTo>
                  <a:lnTo>
                    <a:pt x="1988" y="343855"/>
                  </a:lnTo>
                  <a:lnTo>
                    <a:pt x="7411" y="351898"/>
                  </a:lnTo>
                  <a:lnTo>
                    <a:pt x="15455" y="357321"/>
                  </a:lnTo>
                  <a:lnTo>
                    <a:pt x="25305" y="359310"/>
                  </a:lnTo>
                  <a:lnTo>
                    <a:pt x="4989454" y="359310"/>
                  </a:lnTo>
                  <a:lnTo>
                    <a:pt x="4999304" y="357321"/>
                  </a:lnTo>
                  <a:lnTo>
                    <a:pt x="5007347" y="351898"/>
                  </a:lnTo>
                  <a:lnTo>
                    <a:pt x="5012770" y="343855"/>
                  </a:lnTo>
                  <a:lnTo>
                    <a:pt x="5014759" y="334005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B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35863" y="2498138"/>
            <a:ext cx="4888865" cy="54038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1100" spc="-10" dirty="0">
                <a:solidFill>
                  <a:srgbClr val="FFFFFF"/>
                </a:solidFill>
                <a:latin typeface="Arial Black"/>
                <a:cs typeface="Arial Black"/>
              </a:rPr>
              <a:t>Discussion</a:t>
            </a:r>
            <a:endParaRPr sz="1100">
              <a:latin typeface="Arial Black"/>
              <a:cs typeface="Arial Black"/>
            </a:endParaRPr>
          </a:p>
          <a:p>
            <a:pPr marL="12700" marR="5080">
              <a:lnSpc>
                <a:spcPts val="1190"/>
              </a:lnSpc>
              <a:spcBef>
                <a:spcPts val="260"/>
              </a:spcBef>
            </a:pPr>
            <a:r>
              <a:rPr sz="1100" spc="55" dirty="0">
                <a:latin typeface="Arial"/>
                <a:cs typeface="Arial"/>
              </a:rPr>
              <a:t>Is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Marx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right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whoever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130" dirty="0">
                <a:latin typeface="Arial Black"/>
                <a:cs typeface="Arial Black"/>
              </a:rPr>
              <a:t>owns</a:t>
            </a:r>
            <a:r>
              <a:rPr sz="1100" spc="-50" dirty="0">
                <a:latin typeface="Arial Black"/>
                <a:cs typeface="Arial Black"/>
              </a:rPr>
              <a:t> </a:t>
            </a:r>
            <a:r>
              <a:rPr sz="1100" spc="-105" dirty="0">
                <a:latin typeface="Arial Black"/>
                <a:cs typeface="Arial Black"/>
              </a:rPr>
              <a:t>the</a:t>
            </a:r>
            <a:r>
              <a:rPr sz="1100" spc="-50" dirty="0">
                <a:latin typeface="Arial Black"/>
                <a:cs typeface="Arial Black"/>
              </a:rPr>
              <a:t> </a:t>
            </a:r>
            <a:r>
              <a:rPr sz="1100" spc="-120" dirty="0">
                <a:latin typeface="Arial Black"/>
                <a:cs typeface="Arial Black"/>
              </a:rPr>
              <a:t>technology</a:t>
            </a:r>
            <a:r>
              <a:rPr sz="1100" spc="-50" dirty="0">
                <a:latin typeface="Arial Black"/>
                <a:cs typeface="Arial Black"/>
              </a:rPr>
              <a:t> </a:t>
            </a:r>
            <a:r>
              <a:rPr sz="1100" dirty="0">
                <a:latin typeface="Arial"/>
                <a:cs typeface="Arial"/>
              </a:rPr>
              <a:t>controls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message—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can </a:t>
            </a:r>
            <a:r>
              <a:rPr sz="1100" dirty="0">
                <a:latin typeface="Arial"/>
                <a:cs typeface="Arial"/>
              </a:rPr>
              <a:t>you think of </a:t>
            </a:r>
            <a:r>
              <a:rPr sz="1100" spc="-10" dirty="0">
                <a:latin typeface="Arial"/>
                <a:cs typeface="Arial"/>
              </a:rPr>
              <a:t>counterexamples?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08320" y="2963111"/>
            <a:ext cx="1473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37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3" name="object 13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3234937"/>
              <a:ext cx="3739515" cy="5080"/>
            </a:xfrm>
            <a:custGeom>
              <a:avLst/>
              <a:gdLst/>
              <a:ahLst/>
              <a:cxnLst/>
              <a:rect l="l" t="t" r="r" b="b"/>
              <a:pathLst>
                <a:path w="3739515" h="5080">
                  <a:moveTo>
                    <a:pt x="0" y="5060"/>
                  </a:moveTo>
                  <a:lnTo>
                    <a:pt x="0" y="0"/>
                  </a:lnTo>
                  <a:lnTo>
                    <a:pt x="3739002" y="0"/>
                  </a:lnTo>
                  <a:lnTo>
                    <a:pt x="373900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770" y="74559"/>
            <a:ext cx="3522979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14" dirty="0">
                <a:solidFill>
                  <a:srgbClr val="FFFFFF"/>
                </a:solidFill>
                <a:latin typeface="Arial Black"/>
                <a:cs typeface="Arial Black"/>
              </a:rPr>
              <a:t>Social</a:t>
            </a:r>
            <a:r>
              <a:rPr sz="1200" spc="-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130" dirty="0">
                <a:solidFill>
                  <a:srgbClr val="FFFFFF"/>
                </a:solidFill>
                <a:latin typeface="Arial Black"/>
                <a:cs typeface="Arial Black"/>
              </a:rPr>
              <a:t>Consequences</a:t>
            </a:r>
            <a:r>
              <a:rPr sz="1200" spc="-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95" dirty="0">
                <a:solidFill>
                  <a:srgbClr val="FFFFFF"/>
                </a:solidFill>
                <a:latin typeface="Arial Black"/>
                <a:cs typeface="Arial Black"/>
              </a:rPr>
              <a:t>of</a:t>
            </a:r>
            <a:r>
              <a:rPr sz="1200" spc="-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125" dirty="0">
                <a:solidFill>
                  <a:srgbClr val="FFFFFF"/>
                </a:solidFill>
                <a:latin typeface="Arial Black"/>
                <a:cs typeface="Arial Black"/>
              </a:rPr>
              <a:t>Distance</a:t>
            </a:r>
            <a:r>
              <a:rPr sz="1200" spc="-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100" dirty="0">
                <a:solidFill>
                  <a:srgbClr val="FFFFFF"/>
                </a:solidFill>
                <a:latin typeface="Arial Black"/>
                <a:cs typeface="Arial Black"/>
              </a:rPr>
              <a:t>Communication</a:t>
            </a:r>
            <a:endParaRPr sz="1200">
              <a:latin typeface="Arial Black"/>
              <a:cs typeface="Arial Black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07213" y="511174"/>
          <a:ext cx="2495550" cy="1724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209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100" spc="73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,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Benefits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12065" marB="0">
                    <a:solidFill>
                      <a:srgbClr val="19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1935">
                <a:tc>
                  <a:txBody>
                    <a:bodyPr/>
                    <a:lstStyle/>
                    <a:p>
                      <a:pPr marL="274320" marR="57785" indent="-121920">
                        <a:lnSpc>
                          <a:spcPts val="1190"/>
                        </a:lnSpc>
                        <a:spcBef>
                          <a:spcPts val="530"/>
                        </a:spcBef>
                        <a:buChar char="•"/>
                        <a:tabLst>
                          <a:tab pos="27686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Coordination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reform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and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7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labor 	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movements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55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0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Investigative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journalism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4320" marR="192405" indent="-121920">
                        <a:lnSpc>
                          <a:spcPts val="1190"/>
                        </a:lnSpc>
                        <a:spcBef>
                          <a:spcPts val="320"/>
                        </a:spcBef>
                        <a:buFont typeface="Arial"/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Scientific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collaboration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across 	borders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marR="224154" indent="-121920">
                        <a:lnSpc>
                          <a:spcPts val="1190"/>
                        </a:lnSpc>
                        <a:spcBef>
                          <a:spcPts val="305"/>
                        </a:spcBef>
                        <a:buFont typeface="Arial"/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Family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2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connection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across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vast 	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distances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55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Commercial</a:t>
                      </a:r>
                      <a:r>
                        <a:rPr sz="1100" spc="-7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efficiency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033610" y="510412"/>
          <a:ext cx="2495550" cy="1725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209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100" spc="68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f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Harms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12065" marB="0">
                    <a:solidFill>
                      <a:srgbClr val="BF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3205">
                <a:tc>
                  <a:txBody>
                    <a:bodyPr/>
                    <a:lstStyle/>
                    <a:p>
                      <a:pPr marL="274320" marR="561975" indent="-121920">
                        <a:lnSpc>
                          <a:spcPts val="1190"/>
                        </a:lnSpc>
                        <a:spcBef>
                          <a:spcPts val="540"/>
                        </a:spcBef>
                        <a:buClr>
                          <a:srgbClr val="BF392B"/>
                        </a:buClr>
                        <a:buFont typeface="Arial"/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Colonialism</a:t>
                      </a:r>
                      <a:r>
                        <a:rPr sz="1100" spc="-7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imperial 	coordination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55"/>
                        </a:spcBef>
                        <a:buClr>
                          <a:srgbClr val="BF392B"/>
                        </a:buClr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9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Surveillance</a:t>
                      </a:r>
                      <a:r>
                        <a:rPr sz="1100" spc="-1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networks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4320" indent="-121920">
                        <a:lnSpc>
                          <a:spcPts val="1255"/>
                        </a:lnSpc>
                        <a:spcBef>
                          <a:spcPts val="175"/>
                        </a:spcBef>
                        <a:buClr>
                          <a:srgbClr val="BF392B"/>
                        </a:buClr>
                        <a:buChar char="•"/>
                        <a:tabLst>
                          <a:tab pos="27432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Market</a:t>
                      </a:r>
                      <a:r>
                        <a:rPr sz="1100" spc="6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manipulation</a:t>
                      </a:r>
                      <a:r>
                        <a:rPr sz="1100" spc="6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6860">
                        <a:lnSpc>
                          <a:spcPts val="1255"/>
                        </a:lnSpc>
                      </a:pPr>
                      <a:r>
                        <a:rPr sz="1100" spc="-2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speculation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4320" marR="721360" indent="-121920">
                        <a:lnSpc>
                          <a:spcPts val="1190"/>
                        </a:lnSpc>
                        <a:spcBef>
                          <a:spcPts val="320"/>
                        </a:spcBef>
                        <a:buClr>
                          <a:srgbClr val="BF392B"/>
                        </a:buClr>
                        <a:buChar char="•"/>
                        <a:tabLst>
                          <a:tab pos="27686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Sensationalist</a:t>
                      </a:r>
                      <a:r>
                        <a:rPr sz="1100" spc="-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7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“yellow 	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journalism”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55"/>
                        </a:spcBef>
                        <a:buClr>
                          <a:srgbClr val="BF392B"/>
                        </a:buClr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Cultural</a:t>
                      </a:r>
                      <a:r>
                        <a:rPr sz="1100" spc="-5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imperialism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68580" marB="0">
                    <a:solidFill>
                      <a:srgbClr val="F9E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59994" y="2399728"/>
          <a:ext cx="5116195" cy="421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3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The</a:t>
                      </a:r>
                      <a:r>
                        <a:rPr sz="1100" spc="-7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Pattern</a:t>
                      </a:r>
                      <a:r>
                        <a:rPr sz="1100" spc="-7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Continues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2D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telegraph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telephone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that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connected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families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also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coordinated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empires.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solidFill>
                      <a:srgbClr val="F4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37"/>
              <a:ext cx="3840479" cy="5080"/>
            </a:xfrm>
            <a:custGeom>
              <a:avLst/>
              <a:gdLst/>
              <a:ahLst/>
              <a:cxnLst/>
              <a:rect l="l" t="t" r="r" b="b"/>
              <a:pathLst>
                <a:path w="3840479" h="5080">
                  <a:moveTo>
                    <a:pt x="0" y="5060"/>
                  </a:moveTo>
                  <a:lnTo>
                    <a:pt x="0" y="0"/>
                  </a:lnTo>
                  <a:lnTo>
                    <a:pt x="3840078" y="0"/>
                  </a:lnTo>
                  <a:lnTo>
                    <a:pt x="384007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5" dirty="0"/>
              <a:t>Lecture</a:t>
            </a:r>
            <a:r>
              <a:rPr spc="-60" dirty="0"/>
              <a:t> </a:t>
            </a:r>
            <a:r>
              <a:rPr spc="-85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47914"/>
            <a:ext cx="3044825" cy="23475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Introduction:</a:t>
            </a:r>
            <a:r>
              <a:rPr sz="1100" spc="195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Information</a:t>
            </a:r>
            <a:r>
              <a:rPr sz="1100" spc="125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spc="-2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Technology</a:t>
            </a:r>
            <a:r>
              <a:rPr sz="1100" spc="13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and</a:t>
            </a:r>
            <a:r>
              <a:rPr sz="1100" spc="125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Ethics</a:t>
            </a:r>
            <a:endParaRPr sz="1100">
              <a:latin typeface="Arial"/>
              <a:cs typeface="Arial"/>
            </a:endParaRPr>
          </a:p>
          <a:p>
            <a:pPr marL="12700" marR="1043305">
              <a:lnSpc>
                <a:spcPct val="214299"/>
              </a:lnSpc>
            </a:pP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Revolution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1:</a:t>
            </a:r>
            <a:r>
              <a:rPr sz="1100" spc="10" dirty="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Writing</a:t>
            </a:r>
            <a:r>
              <a:rPr sz="1100" spc="500" dirty="0">
                <a:solidFill>
                  <a:srgbClr val="CED2D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Revolution</a:t>
            </a:r>
            <a:r>
              <a:rPr sz="1100" spc="-3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2:</a:t>
            </a:r>
            <a:r>
              <a:rPr sz="1100" spc="15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The</a:t>
            </a:r>
            <a:r>
              <a:rPr sz="1100" spc="-3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Printing</a:t>
            </a:r>
            <a:r>
              <a:rPr sz="1100" spc="-25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Press</a:t>
            </a:r>
            <a:endParaRPr sz="1100">
              <a:latin typeface="Arial"/>
              <a:cs typeface="Arial"/>
            </a:endParaRPr>
          </a:p>
          <a:p>
            <a:pPr marL="12700" marR="613410">
              <a:lnSpc>
                <a:spcPct val="214299"/>
              </a:lnSpc>
            </a:pP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Revolution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3:</a:t>
            </a:r>
            <a:r>
              <a:rPr sz="1100" spc="1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Distance</a:t>
            </a:r>
            <a:r>
              <a:rPr sz="1100" spc="-3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Communication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  <a:hlinkClick r:id="rId6" action="ppaction://hlinksldjump"/>
              </a:rPr>
              <a:t>Revolution</a:t>
            </a:r>
            <a:r>
              <a:rPr sz="1100" spc="-40" dirty="0">
                <a:solidFill>
                  <a:srgbClr val="22373A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  <a:hlinkClick r:id="rId6" action="ppaction://hlinksldjump"/>
              </a:rPr>
              <a:t>4:</a:t>
            </a:r>
            <a:r>
              <a:rPr sz="1100" spc="5" dirty="0">
                <a:solidFill>
                  <a:srgbClr val="22373A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1100" spc="-30" dirty="0">
                <a:solidFill>
                  <a:srgbClr val="22373A"/>
                </a:solidFill>
                <a:latin typeface="Arial"/>
                <a:cs typeface="Arial"/>
                <a:hlinkClick r:id="rId6" action="ppaction://hlinksldjump"/>
              </a:rPr>
              <a:t>Mass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  <a:hlinkClick r:id="rId6" action="ppaction://hlinksldjump"/>
              </a:rPr>
              <a:t>Media</a:t>
            </a:r>
            <a:endParaRPr sz="1100">
              <a:latin typeface="Arial"/>
              <a:cs typeface="Arial"/>
            </a:endParaRPr>
          </a:p>
          <a:p>
            <a:pPr marL="12700" marR="875030">
              <a:lnSpc>
                <a:spcPct val="214299"/>
              </a:lnSpc>
            </a:pP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Revolution</a:t>
            </a:r>
            <a:r>
              <a:rPr sz="1100" spc="-4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5: 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The</a:t>
            </a:r>
            <a:r>
              <a:rPr sz="1100" spc="-4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World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Wide</a:t>
            </a:r>
            <a:r>
              <a:rPr sz="1100" spc="-4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1100" spc="-25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Web</a:t>
            </a:r>
            <a:r>
              <a:rPr sz="1100" spc="-25" dirty="0">
                <a:solidFill>
                  <a:srgbClr val="CED2D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Conclusion: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Patterns</a:t>
            </a:r>
            <a:r>
              <a:rPr sz="1100" spc="-7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and</a:t>
            </a:r>
            <a:r>
              <a:rPr sz="1100" spc="-7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Lessons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37"/>
              <a:ext cx="3941445" cy="5080"/>
            </a:xfrm>
            <a:custGeom>
              <a:avLst/>
              <a:gdLst/>
              <a:ahLst/>
              <a:cxnLst/>
              <a:rect l="l" t="t" r="r" b="b"/>
              <a:pathLst>
                <a:path w="3941445" h="5080">
                  <a:moveTo>
                    <a:pt x="0" y="5060"/>
                  </a:moveTo>
                  <a:lnTo>
                    <a:pt x="0" y="0"/>
                  </a:lnTo>
                  <a:lnTo>
                    <a:pt x="3941066" y="0"/>
                  </a:lnTo>
                  <a:lnTo>
                    <a:pt x="394106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14" dirty="0"/>
              <a:t>Revolution</a:t>
            </a:r>
            <a:r>
              <a:rPr spc="-95" dirty="0"/>
              <a:t> </a:t>
            </a:r>
            <a:r>
              <a:rPr spc="-55" dirty="0"/>
              <a:t>4:</a:t>
            </a:r>
            <a:r>
              <a:rPr spc="-40" dirty="0"/>
              <a:t> </a:t>
            </a:r>
            <a:r>
              <a:rPr spc="-140" dirty="0"/>
              <a:t>The</a:t>
            </a:r>
            <a:r>
              <a:rPr spc="-90" dirty="0"/>
              <a:t> </a:t>
            </a:r>
            <a:r>
              <a:rPr spc="-114" dirty="0"/>
              <a:t>Rise</a:t>
            </a:r>
            <a:r>
              <a:rPr spc="-90" dirty="0"/>
              <a:t> </a:t>
            </a:r>
            <a:r>
              <a:rPr spc="-95" dirty="0"/>
              <a:t>of</a:t>
            </a:r>
            <a:r>
              <a:rPr spc="-90" dirty="0"/>
              <a:t> </a:t>
            </a:r>
            <a:r>
              <a:rPr spc="-114" dirty="0"/>
              <a:t>Radio</a:t>
            </a:r>
            <a:r>
              <a:rPr spc="-90" dirty="0"/>
              <a:t> </a:t>
            </a:r>
            <a:r>
              <a:rPr spc="-105" dirty="0"/>
              <a:t>and</a:t>
            </a:r>
            <a:r>
              <a:rPr spc="-90" dirty="0"/>
              <a:t> </a:t>
            </a:r>
            <a:r>
              <a:rPr spc="-100" dirty="0"/>
              <a:t>Television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73608" y="1022019"/>
          <a:ext cx="2797810" cy="1342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1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4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Key</a:t>
                      </a:r>
                      <a:r>
                        <a:rPr sz="1100" spc="-9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3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Developments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19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6175">
                <a:tc>
                  <a:txBody>
                    <a:bodyPr/>
                    <a:lstStyle/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395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Radio</a:t>
                      </a:r>
                      <a:r>
                        <a:rPr sz="1100" spc="-7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broadcasting</a:t>
                      </a:r>
                      <a:r>
                        <a:rPr sz="1100" spc="-7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emerges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1920s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Television</a:t>
                      </a:r>
                      <a:r>
                        <a:rPr sz="1100" spc="-6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becomes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dominant in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1950s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marR="20320" indent="-121920">
                        <a:lnSpc>
                          <a:spcPts val="1190"/>
                        </a:lnSpc>
                        <a:spcBef>
                          <a:spcPts val="320"/>
                        </a:spcBef>
                        <a:buFont typeface="Arial"/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9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Structural</a:t>
                      </a:r>
                      <a:r>
                        <a:rPr sz="1100" spc="-7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6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shift</a:t>
                      </a:r>
                      <a:r>
                        <a:rPr sz="1100" spc="-6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1100" spc="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Passive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consumption, 	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one-to-many</a:t>
                      </a:r>
                      <a:r>
                        <a:rPr sz="1100" spc="6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broadcast</a:t>
                      </a:r>
                      <a:r>
                        <a:rPr sz="1100" spc="7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model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marR="328295" indent="-121920">
                        <a:lnSpc>
                          <a:spcPts val="1190"/>
                        </a:lnSpc>
                        <a:spcBef>
                          <a:spcPts val="305"/>
                        </a:spcBef>
                        <a:buFont typeface="Arial"/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Limited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spectrum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1100" spc="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Corporate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 	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state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control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4167546" y="1332588"/>
            <a:ext cx="420370" cy="420370"/>
            <a:chOff x="4167546" y="1332588"/>
            <a:chExt cx="420370" cy="420370"/>
          </a:xfrm>
        </p:grpSpPr>
        <p:sp>
          <p:nvSpPr>
            <p:cNvPr id="5" name="object 5"/>
            <p:cNvSpPr/>
            <p:nvPr/>
          </p:nvSpPr>
          <p:spPr>
            <a:xfrm>
              <a:off x="4170086" y="1335128"/>
              <a:ext cx="415290" cy="415290"/>
            </a:xfrm>
            <a:custGeom>
              <a:avLst/>
              <a:gdLst/>
              <a:ahLst/>
              <a:cxnLst/>
              <a:rect l="l" t="t" r="r" b="b"/>
              <a:pathLst>
                <a:path w="415289" h="415289">
                  <a:moveTo>
                    <a:pt x="207502" y="0"/>
                  </a:moveTo>
                  <a:lnTo>
                    <a:pt x="159923" y="5480"/>
                  </a:lnTo>
                  <a:lnTo>
                    <a:pt x="116247" y="21090"/>
                  </a:lnTo>
                  <a:lnTo>
                    <a:pt x="77719" y="45585"/>
                  </a:lnTo>
                  <a:lnTo>
                    <a:pt x="45585" y="77719"/>
                  </a:lnTo>
                  <a:lnTo>
                    <a:pt x="21090" y="116247"/>
                  </a:lnTo>
                  <a:lnTo>
                    <a:pt x="5480" y="159923"/>
                  </a:lnTo>
                  <a:lnTo>
                    <a:pt x="0" y="207502"/>
                  </a:lnTo>
                  <a:lnTo>
                    <a:pt x="5480" y="255080"/>
                  </a:lnTo>
                  <a:lnTo>
                    <a:pt x="21090" y="298756"/>
                  </a:lnTo>
                  <a:lnTo>
                    <a:pt x="45585" y="337284"/>
                  </a:lnTo>
                  <a:lnTo>
                    <a:pt x="77719" y="369418"/>
                  </a:lnTo>
                  <a:lnTo>
                    <a:pt x="116247" y="393913"/>
                  </a:lnTo>
                  <a:lnTo>
                    <a:pt x="159923" y="409524"/>
                  </a:lnTo>
                  <a:lnTo>
                    <a:pt x="207502" y="415004"/>
                  </a:lnTo>
                  <a:lnTo>
                    <a:pt x="255080" y="409524"/>
                  </a:lnTo>
                  <a:lnTo>
                    <a:pt x="298756" y="393913"/>
                  </a:lnTo>
                  <a:lnTo>
                    <a:pt x="337284" y="369418"/>
                  </a:lnTo>
                  <a:lnTo>
                    <a:pt x="369418" y="337284"/>
                  </a:lnTo>
                  <a:lnTo>
                    <a:pt x="393913" y="298756"/>
                  </a:lnTo>
                  <a:lnTo>
                    <a:pt x="409524" y="255080"/>
                  </a:lnTo>
                  <a:lnTo>
                    <a:pt x="415004" y="207502"/>
                  </a:lnTo>
                  <a:lnTo>
                    <a:pt x="409524" y="159923"/>
                  </a:lnTo>
                  <a:lnTo>
                    <a:pt x="393913" y="116247"/>
                  </a:lnTo>
                  <a:lnTo>
                    <a:pt x="369418" y="77719"/>
                  </a:lnTo>
                  <a:lnTo>
                    <a:pt x="337284" y="45585"/>
                  </a:lnTo>
                  <a:lnTo>
                    <a:pt x="298756" y="21090"/>
                  </a:lnTo>
                  <a:lnTo>
                    <a:pt x="255080" y="5480"/>
                  </a:lnTo>
                  <a:lnTo>
                    <a:pt x="207502" y="0"/>
                  </a:lnTo>
                  <a:close/>
                </a:path>
              </a:pathLst>
            </a:custGeom>
            <a:solidFill>
              <a:srgbClr val="FF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70086" y="1335128"/>
              <a:ext cx="415290" cy="415290"/>
            </a:xfrm>
            <a:custGeom>
              <a:avLst/>
              <a:gdLst/>
              <a:ahLst/>
              <a:cxnLst/>
              <a:rect l="l" t="t" r="r" b="b"/>
              <a:pathLst>
                <a:path w="415289" h="415289">
                  <a:moveTo>
                    <a:pt x="415004" y="207502"/>
                  </a:moveTo>
                  <a:lnTo>
                    <a:pt x="409524" y="159923"/>
                  </a:lnTo>
                  <a:lnTo>
                    <a:pt x="393913" y="116247"/>
                  </a:lnTo>
                  <a:lnTo>
                    <a:pt x="369418" y="77719"/>
                  </a:lnTo>
                  <a:lnTo>
                    <a:pt x="337284" y="45585"/>
                  </a:lnTo>
                  <a:lnTo>
                    <a:pt x="298756" y="21090"/>
                  </a:lnTo>
                  <a:lnTo>
                    <a:pt x="255080" y="5480"/>
                  </a:lnTo>
                  <a:lnTo>
                    <a:pt x="207502" y="0"/>
                  </a:lnTo>
                  <a:lnTo>
                    <a:pt x="159923" y="5480"/>
                  </a:lnTo>
                  <a:lnTo>
                    <a:pt x="116247" y="21090"/>
                  </a:lnTo>
                  <a:lnTo>
                    <a:pt x="77719" y="45585"/>
                  </a:lnTo>
                  <a:lnTo>
                    <a:pt x="45585" y="77719"/>
                  </a:lnTo>
                  <a:lnTo>
                    <a:pt x="21090" y="116247"/>
                  </a:lnTo>
                  <a:lnTo>
                    <a:pt x="5480" y="159923"/>
                  </a:lnTo>
                  <a:lnTo>
                    <a:pt x="0" y="207502"/>
                  </a:lnTo>
                  <a:lnTo>
                    <a:pt x="5480" y="255080"/>
                  </a:lnTo>
                  <a:lnTo>
                    <a:pt x="21090" y="298756"/>
                  </a:lnTo>
                  <a:lnTo>
                    <a:pt x="45585" y="337284"/>
                  </a:lnTo>
                  <a:lnTo>
                    <a:pt x="77719" y="369418"/>
                  </a:lnTo>
                  <a:lnTo>
                    <a:pt x="116247" y="393913"/>
                  </a:lnTo>
                  <a:lnTo>
                    <a:pt x="159923" y="409524"/>
                  </a:lnTo>
                  <a:lnTo>
                    <a:pt x="207502" y="415004"/>
                  </a:lnTo>
                  <a:lnTo>
                    <a:pt x="255080" y="409524"/>
                  </a:lnTo>
                  <a:lnTo>
                    <a:pt x="298756" y="393913"/>
                  </a:lnTo>
                  <a:lnTo>
                    <a:pt x="337284" y="369418"/>
                  </a:lnTo>
                  <a:lnTo>
                    <a:pt x="369418" y="337284"/>
                  </a:lnTo>
                  <a:lnTo>
                    <a:pt x="393913" y="298756"/>
                  </a:lnTo>
                  <a:lnTo>
                    <a:pt x="409524" y="255080"/>
                  </a:lnTo>
                  <a:lnTo>
                    <a:pt x="415004" y="207502"/>
                  </a:lnTo>
                  <a:close/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190771" y="1490852"/>
            <a:ext cx="374015" cy="98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50" spc="-30" dirty="0">
                <a:solidFill>
                  <a:srgbClr val="22373A"/>
                </a:solidFill>
                <a:latin typeface="Arial Black"/>
                <a:cs typeface="Arial Black"/>
              </a:rPr>
              <a:t>Broadcaster</a:t>
            </a:r>
            <a:endParaRPr sz="450">
              <a:latin typeface="Arial Black"/>
              <a:cs typeface="Arial Black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853391" y="946087"/>
            <a:ext cx="1049020" cy="1193165"/>
            <a:chOff x="3853391" y="946087"/>
            <a:chExt cx="1049020" cy="119316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77043" y="1018433"/>
              <a:ext cx="424742" cy="42474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21056" y="946087"/>
              <a:ext cx="113062" cy="11306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377588" y="1067093"/>
              <a:ext cx="0" cy="266700"/>
            </a:xfrm>
            <a:custGeom>
              <a:avLst/>
              <a:gdLst/>
              <a:ahLst/>
              <a:cxnLst/>
              <a:rect l="l" t="t" r="r" b="b"/>
              <a:pathLst>
                <a:path h="266700">
                  <a:moveTo>
                    <a:pt x="2" y="266508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51272" y="1062158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4" h="24765">
                  <a:moveTo>
                    <a:pt x="0" y="24671"/>
                  </a:moveTo>
                  <a:lnTo>
                    <a:pt x="8043" y="20816"/>
                  </a:lnTo>
                  <a:lnTo>
                    <a:pt x="16242" y="13569"/>
                  </a:lnTo>
                  <a:lnTo>
                    <a:pt x="22898" y="5705"/>
                  </a:lnTo>
                  <a:lnTo>
                    <a:pt x="26315" y="0"/>
                  </a:lnTo>
                  <a:lnTo>
                    <a:pt x="29734" y="5705"/>
                  </a:lnTo>
                  <a:lnTo>
                    <a:pt x="36390" y="13569"/>
                  </a:lnTo>
                  <a:lnTo>
                    <a:pt x="44588" y="20816"/>
                  </a:lnTo>
                  <a:lnTo>
                    <a:pt x="52632" y="24670"/>
                  </a:lnTo>
                </a:path>
              </a:pathLst>
            </a:custGeom>
            <a:ln w="8097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53391" y="1018433"/>
              <a:ext cx="424748" cy="42474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53391" y="1642085"/>
              <a:ext cx="424745" cy="42474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21056" y="2026111"/>
              <a:ext cx="113062" cy="11306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377588" y="1751659"/>
              <a:ext cx="0" cy="266700"/>
            </a:xfrm>
            <a:custGeom>
              <a:avLst/>
              <a:gdLst/>
              <a:ahLst/>
              <a:cxnLst/>
              <a:rect l="l" t="t" r="r" b="b"/>
              <a:pathLst>
                <a:path h="266700">
                  <a:moveTo>
                    <a:pt x="2" y="0"/>
                  </a:moveTo>
                  <a:lnTo>
                    <a:pt x="0" y="266508"/>
                  </a:lnTo>
                </a:path>
              </a:pathLst>
            </a:custGeom>
            <a:ln w="10122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51272" y="1998430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4" h="24764">
                  <a:moveTo>
                    <a:pt x="52632" y="1"/>
                  </a:moveTo>
                  <a:lnTo>
                    <a:pt x="44588" y="3855"/>
                  </a:lnTo>
                  <a:lnTo>
                    <a:pt x="36390" y="11102"/>
                  </a:lnTo>
                  <a:lnTo>
                    <a:pt x="29734" y="18966"/>
                  </a:lnTo>
                  <a:lnTo>
                    <a:pt x="26315" y="24671"/>
                  </a:lnTo>
                  <a:lnTo>
                    <a:pt x="22898" y="18966"/>
                  </a:lnTo>
                  <a:lnTo>
                    <a:pt x="16242" y="11102"/>
                  </a:lnTo>
                  <a:lnTo>
                    <a:pt x="8043" y="3855"/>
                  </a:lnTo>
                  <a:lnTo>
                    <a:pt x="0" y="0"/>
                  </a:lnTo>
                </a:path>
              </a:pathLst>
            </a:custGeom>
            <a:ln w="8097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77043" y="1642082"/>
              <a:ext cx="424742" cy="424745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3869639" y="2213736"/>
            <a:ext cx="1016000" cy="98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50" spc="10" dirty="0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sz="45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450" spc="10" dirty="0">
                <a:solidFill>
                  <a:srgbClr val="22373A"/>
                </a:solidFill>
                <a:latin typeface="Arial"/>
                <a:cs typeface="Arial"/>
              </a:rPr>
              <a:t>speaks,</a:t>
            </a:r>
            <a:r>
              <a:rPr sz="45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450" spc="10" dirty="0">
                <a:solidFill>
                  <a:srgbClr val="22373A"/>
                </a:solidFill>
                <a:latin typeface="Arial"/>
                <a:cs typeface="Arial"/>
              </a:rPr>
              <a:t>millions</a:t>
            </a:r>
            <a:r>
              <a:rPr sz="45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450" spc="10" dirty="0">
                <a:solidFill>
                  <a:srgbClr val="22373A"/>
                </a:solidFill>
                <a:latin typeface="Arial"/>
                <a:cs typeface="Arial"/>
              </a:rPr>
              <a:t>listen</a:t>
            </a:r>
            <a:r>
              <a:rPr sz="45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22373A"/>
                </a:solidFill>
                <a:latin typeface="Arial"/>
                <a:cs typeface="Arial"/>
              </a:rPr>
              <a:t>passively</a:t>
            </a:r>
            <a:endParaRPr sz="45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21" name="object 21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0" y="3234937"/>
              <a:ext cx="4042410" cy="5080"/>
            </a:xfrm>
            <a:custGeom>
              <a:avLst/>
              <a:gdLst/>
              <a:ahLst/>
              <a:cxnLst/>
              <a:rect l="l" t="t" r="r" b="b"/>
              <a:pathLst>
                <a:path w="4042410" h="5080">
                  <a:moveTo>
                    <a:pt x="0" y="5060"/>
                  </a:moveTo>
                  <a:lnTo>
                    <a:pt x="0" y="0"/>
                  </a:lnTo>
                  <a:lnTo>
                    <a:pt x="4042141" y="0"/>
                  </a:lnTo>
                  <a:lnTo>
                    <a:pt x="404214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0" dirty="0"/>
              <a:t>Who </a:t>
            </a:r>
            <a:r>
              <a:rPr spc="-110" dirty="0"/>
              <a:t>Were</a:t>
            </a:r>
            <a:r>
              <a:rPr spc="-90" dirty="0"/>
              <a:t> </a:t>
            </a:r>
            <a:r>
              <a:rPr spc="-105" dirty="0"/>
              <a:t>Orwell</a:t>
            </a:r>
            <a:r>
              <a:rPr spc="-90" dirty="0"/>
              <a:t> </a:t>
            </a:r>
            <a:r>
              <a:rPr spc="-105" dirty="0"/>
              <a:t>and</a:t>
            </a:r>
            <a:r>
              <a:rPr spc="-90" dirty="0"/>
              <a:t> Arendt?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07213" y="510412"/>
          <a:ext cx="2495550" cy="1719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3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George</a:t>
                      </a:r>
                      <a:r>
                        <a:rPr sz="1100" spc="-3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Orwell</a:t>
                      </a:r>
                      <a:r>
                        <a:rPr sz="1100" spc="-3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(1903–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1950)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19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3365">
                <a:tc>
                  <a:txBody>
                    <a:bodyPr/>
                    <a:lstStyle/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380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Born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Eric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Arthur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Blair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India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5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British novelist,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essayist,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journalist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ts val="1255"/>
                        </a:lnSpc>
                        <a:spcBef>
                          <a:spcPts val="170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Fought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Spanish</a:t>
                      </a:r>
                      <a:r>
                        <a:rPr sz="1100" spc="-7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Civil</a:t>
                      </a:r>
                      <a:r>
                        <a:rPr sz="1100" spc="-7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War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6860">
                        <a:lnSpc>
                          <a:spcPts val="1255"/>
                        </a:lnSpc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(1936)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ts val="1255"/>
                        </a:lnSpc>
                        <a:spcBef>
                          <a:spcPts val="170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Witnessed</a:t>
                      </a:r>
                      <a:r>
                        <a:rPr sz="11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Stalinist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purges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6860">
                        <a:lnSpc>
                          <a:spcPts val="1255"/>
                        </a:lnSpc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firsthand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Works: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Animal</a:t>
                      </a:r>
                      <a:r>
                        <a:rPr sz="1100" i="1" spc="-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Farm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sz="1100" spc="-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1984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5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Died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tuberculosis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at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46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033610" y="573100"/>
          <a:ext cx="2495550" cy="1594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14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Hannah</a:t>
                      </a:r>
                      <a:r>
                        <a:rPr sz="1100" spc="-3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Arendt</a:t>
                      </a:r>
                      <a:r>
                        <a:rPr sz="1100" spc="-3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(1906–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1975)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2D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8270">
                <a:tc>
                  <a:txBody>
                    <a:bodyPr/>
                    <a:lstStyle/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380"/>
                        </a:spcBef>
                        <a:buClr>
                          <a:srgbClr val="13B03D"/>
                        </a:buClr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German-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Jewish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philosopher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5"/>
                        </a:spcBef>
                        <a:buClr>
                          <a:srgbClr val="13B03D"/>
                        </a:buClr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Fled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Nazi</a:t>
                      </a:r>
                      <a:r>
                        <a:rPr sz="1100" spc="-7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Germany</a:t>
                      </a:r>
                      <a:r>
                        <a:rPr sz="1100" spc="-7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(1933)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Clr>
                          <a:srgbClr val="13B03D"/>
                        </a:buClr>
                        <a:buChar char="•"/>
                        <a:tabLst>
                          <a:tab pos="27432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Stateless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refugee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18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years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Clr>
                          <a:srgbClr val="13B03D"/>
                        </a:buClr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Covered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2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Eichmann</a:t>
                      </a:r>
                      <a:r>
                        <a:rPr sz="1100" spc="-7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trial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(1961)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marR="83185" indent="-121920">
                        <a:lnSpc>
                          <a:spcPts val="1190"/>
                        </a:lnSpc>
                        <a:spcBef>
                          <a:spcPts val="320"/>
                        </a:spcBef>
                        <a:buClr>
                          <a:srgbClr val="13B03D"/>
                        </a:buClr>
                        <a:buChar char="•"/>
                        <a:tabLst>
                          <a:tab pos="27686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Works: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Origins</a:t>
                      </a:r>
                      <a:r>
                        <a:rPr sz="1100" i="1" spc="-5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100" i="1" spc="-5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Totalitarianism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, 	</a:t>
                      </a:r>
                      <a:r>
                        <a:rPr sz="11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Eichmann</a:t>
                      </a:r>
                      <a:r>
                        <a:rPr sz="11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 </a:t>
                      </a:r>
                      <a:r>
                        <a:rPr sz="11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Jerusalem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55"/>
                        </a:spcBef>
                        <a:buClr>
                          <a:srgbClr val="13B03D"/>
                        </a:buClr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Coined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6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“</a:t>
                      </a:r>
                      <a:r>
                        <a:rPr sz="1100" spc="-6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banality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of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evil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”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solidFill>
                      <a:srgbClr val="F4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59994" y="2350236"/>
            <a:ext cx="5039995" cy="196850"/>
          </a:xfrm>
          <a:prstGeom prst="rect">
            <a:avLst/>
          </a:prstGeom>
          <a:solidFill>
            <a:srgbClr val="BF392B"/>
          </a:solidFill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295"/>
              </a:lnSpc>
            </a:pPr>
            <a:r>
              <a:rPr sz="1100" spc="-85" dirty="0">
                <a:solidFill>
                  <a:srgbClr val="FFFFFF"/>
                </a:solidFill>
                <a:latin typeface="Arial Black"/>
                <a:cs typeface="Arial Black"/>
              </a:rPr>
              <a:t>Why </a:t>
            </a:r>
            <a:r>
              <a:rPr sz="1100" spc="-100" dirty="0">
                <a:solidFill>
                  <a:srgbClr val="FFFFFF"/>
                </a:solidFill>
                <a:latin typeface="Arial Black"/>
                <a:cs typeface="Arial Black"/>
              </a:rPr>
              <a:t>Their</a:t>
            </a:r>
            <a:r>
              <a:rPr sz="1100" spc="-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110" dirty="0">
                <a:solidFill>
                  <a:srgbClr val="FFFFFF"/>
                </a:solidFill>
                <a:latin typeface="Arial Black"/>
                <a:cs typeface="Arial Black"/>
              </a:rPr>
              <a:t>Perspective</a:t>
            </a:r>
            <a:r>
              <a:rPr sz="11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 Black"/>
                <a:cs typeface="Arial Black"/>
              </a:rPr>
              <a:t>Matters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9994" y="2546959"/>
            <a:ext cx="5039995" cy="678815"/>
          </a:xfrm>
          <a:prstGeom prst="rect">
            <a:avLst/>
          </a:prstGeom>
          <a:solidFill>
            <a:srgbClr val="F9EFEE"/>
          </a:solidFill>
        </p:spPr>
        <p:txBody>
          <a:bodyPr vert="horz" wrap="square" lIns="0" tIns="29209" rIns="0" bIns="0" rtlCol="0">
            <a:spAutoFit/>
          </a:bodyPr>
          <a:lstStyle/>
          <a:p>
            <a:pPr marL="45720" marR="203200">
              <a:lnSpc>
                <a:spcPts val="1190"/>
              </a:lnSpc>
              <a:spcBef>
                <a:spcPts val="229"/>
              </a:spcBef>
            </a:pP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Both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Orwell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Arendt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personally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witnessed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rise</a:t>
            </a:r>
            <a:r>
              <a:rPr sz="11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totalitarianism,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saw</a:t>
            </a:r>
            <a:r>
              <a:rPr sz="11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many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11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(highly</a:t>
            </a:r>
            <a:r>
              <a:rPr sz="11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intelligent!)</a:t>
            </a:r>
            <a:r>
              <a:rPr sz="11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contemporaries</a:t>
            </a:r>
            <a:r>
              <a:rPr sz="11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fall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under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its</a:t>
            </a:r>
            <a:r>
              <a:rPr sz="11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sway.</a:t>
            </a:r>
            <a:r>
              <a:rPr sz="11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One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question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both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concerned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why</a:t>
            </a:r>
            <a:r>
              <a:rPr sz="1100" i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how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phenomenon.</a:t>
            </a:r>
            <a:r>
              <a:rPr sz="11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Mass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media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played</a:t>
            </a:r>
            <a:r>
              <a:rPr sz="11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11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central</a:t>
            </a:r>
            <a:r>
              <a:rPr sz="11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role.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08320" y="2964331"/>
            <a:ext cx="1473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41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9" name="object 9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37"/>
              <a:ext cx="4143375" cy="5080"/>
            </a:xfrm>
            <a:custGeom>
              <a:avLst/>
              <a:gdLst/>
              <a:ahLst/>
              <a:cxnLst/>
              <a:rect l="l" t="t" r="r" b="b"/>
              <a:pathLst>
                <a:path w="4143375" h="5080">
                  <a:moveTo>
                    <a:pt x="0" y="5060"/>
                  </a:moveTo>
                  <a:lnTo>
                    <a:pt x="0" y="0"/>
                  </a:lnTo>
                  <a:lnTo>
                    <a:pt x="4143217" y="0"/>
                  </a:lnTo>
                  <a:lnTo>
                    <a:pt x="414321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770" y="74559"/>
            <a:ext cx="1783714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40" dirty="0">
                <a:solidFill>
                  <a:srgbClr val="FFFFFF"/>
                </a:solidFill>
                <a:latin typeface="Arial Black"/>
                <a:cs typeface="Arial Black"/>
              </a:rPr>
              <a:t>George</a:t>
            </a:r>
            <a:r>
              <a:rPr sz="120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110" dirty="0">
                <a:solidFill>
                  <a:srgbClr val="FFFFFF"/>
                </a:solidFill>
                <a:latin typeface="Arial Black"/>
                <a:cs typeface="Arial Black"/>
              </a:rPr>
              <a:t>Orwell’s</a:t>
            </a:r>
            <a:r>
              <a:rPr sz="120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75" dirty="0">
                <a:solidFill>
                  <a:srgbClr val="FFFFFF"/>
                </a:solidFill>
                <a:latin typeface="Arial Black"/>
                <a:cs typeface="Arial Black"/>
              </a:rPr>
              <a:t>Warning</a:t>
            </a:r>
            <a:endParaRPr sz="1200">
              <a:latin typeface="Arial Black"/>
              <a:cs typeface="Arial Black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59994" y="472452"/>
          <a:ext cx="5116195" cy="1217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3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George</a:t>
                      </a:r>
                      <a:r>
                        <a:rPr sz="1100" spc="-3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Orwell</a:t>
                      </a:r>
                      <a:r>
                        <a:rPr sz="1100" spc="-3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(1903–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1950)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19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1080">
                <a:tc>
                  <a:txBody>
                    <a:bodyPr/>
                    <a:lstStyle/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380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b="1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1984</a:t>
                      </a:r>
                      <a:r>
                        <a:rPr sz="1100" b="1" i="1" spc="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(1949):</a:t>
                      </a:r>
                      <a:r>
                        <a:rPr sz="1100" spc="10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Dystopian</a:t>
                      </a:r>
                      <a:r>
                        <a:rPr sz="1100" spc="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novel</a:t>
                      </a:r>
                      <a:r>
                        <a:rPr sz="1100" spc="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about</a:t>
                      </a:r>
                      <a:r>
                        <a:rPr sz="1100" spc="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totalitarian</a:t>
                      </a:r>
                      <a:r>
                        <a:rPr sz="1100" spc="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media</a:t>
                      </a:r>
                      <a:r>
                        <a:rPr sz="1100" spc="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control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5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telescreen</a:t>
                      </a:r>
                      <a:r>
                        <a:rPr sz="1100" spc="-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Watches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you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while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you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watch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it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marR="423545" indent="-121920">
                        <a:lnSpc>
                          <a:spcPts val="1190"/>
                        </a:lnSpc>
                        <a:spcBef>
                          <a:spcPts val="315"/>
                        </a:spcBef>
                        <a:buFont typeface="Arial"/>
                        <a:buChar char="•"/>
                        <a:tabLst>
                          <a:tab pos="276860" algn="l"/>
                        </a:tabLst>
                      </a:pP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Propaganda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slogans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“War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Peace,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Freedom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Slavery,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Ignorance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is 	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Strength”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60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Doublethink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1100" spc="8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Holding</a:t>
                      </a:r>
                      <a:r>
                        <a:rPr sz="1100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two</a:t>
                      </a:r>
                      <a:r>
                        <a:rPr sz="1100" spc="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contradictory</a:t>
                      </a:r>
                      <a:r>
                        <a:rPr sz="1100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beliefs</a:t>
                      </a:r>
                      <a:r>
                        <a:rPr sz="1100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simultaneously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9994" y="1809787"/>
          <a:ext cx="5116195" cy="573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0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Orwell’s</a:t>
                      </a:r>
                      <a:r>
                        <a:rPr sz="1100" spc="-5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Central</a:t>
                      </a:r>
                      <a:r>
                        <a:rPr sz="1100" spc="-4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Concern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BF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45720" marR="180975">
                        <a:lnSpc>
                          <a:spcPts val="1190"/>
                        </a:lnSpc>
                        <a:spcBef>
                          <a:spcPts val="244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state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monopoly</a:t>
                      </a:r>
                      <a:r>
                        <a:rPr sz="1100" spc="-6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2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on</a:t>
                      </a:r>
                      <a:r>
                        <a:rPr sz="1100" spc="-7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information</a:t>
                      </a:r>
                      <a:r>
                        <a:rPr sz="1100" spc="-6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makes 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reality</a:t>
                      </a:r>
                      <a:r>
                        <a:rPr sz="1100" spc="-6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itself</a:t>
                      </a:r>
                      <a:r>
                        <a:rPr sz="1100" spc="-7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malleable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100" spc="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9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If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Party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controls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all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records,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truth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becomes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whatever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Party 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says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it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is.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1114" marB="0">
                    <a:solidFill>
                      <a:srgbClr val="F9E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59994" y="2502916"/>
          <a:ext cx="5116195" cy="573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0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Historical</a:t>
                      </a:r>
                      <a:r>
                        <a:rPr sz="1100" spc="-6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Context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2D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45720" marR="349250">
                        <a:lnSpc>
                          <a:spcPts val="1190"/>
                        </a:lnSpc>
                        <a:spcBef>
                          <a:spcPts val="229"/>
                        </a:spcBef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Orwell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wrote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1984</a:t>
                      </a:r>
                      <a:r>
                        <a:rPr sz="1100" i="1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1948,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having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witnessed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rise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Nazi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Germany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Stalinist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Russia—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both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masters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propaganda.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solidFill>
                      <a:srgbClr val="F4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37"/>
              <a:ext cx="4244340" cy="5080"/>
            </a:xfrm>
            <a:custGeom>
              <a:avLst/>
              <a:gdLst/>
              <a:ahLst/>
              <a:cxnLst/>
              <a:rect l="l" t="t" r="r" b="b"/>
              <a:pathLst>
                <a:path w="4244340" h="5080">
                  <a:moveTo>
                    <a:pt x="0" y="5060"/>
                  </a:moveTo>
                  <a:lnTo>
                    <a:pt x="0" y="0"/>
                  </a:lnTo>
                  <a:lnTo>
                    <a:pt x="4244292" y="0"/>
                  </a:lnTo>
                  <a:lnTo>
                    <a:pt x="424429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508320" y="2952285"/>
            <a:ext cx="147320" cy="16383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42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770" y="74559"/>
            <a:ext cx="2009139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5" dirty="0">
                <a:solidFill>
                  <a:srgbClr val="FFFFFF"/>
                </a:solidFill>
                <a:latin typeface="Arial Black"/>
                <a:cs typeface="Arial Black"/>
              </a:rPr>
              <a:t>Quote:</a:t>
            </a:r>
            <a:r>
              <a:rPr sz="1200" spc="-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140" dirty="0">
                <a:solidFill>
                  <a:srgbClr val="FFFFFF"/>
                </a:solidFill>
                <a:latin typeface="Arial Black"/>
                <a:cs typeface="Arial Black"/>
              </a:rPr>
              <a:t>George</a:t>
            </a:r>
            <a:r>
              <a:rPr sz="1200" spc="-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95" dirty="0">
                <a:solidFill>
                  <a:srgbClr val="FFFFFF"/>
                </a:solidFill>
                <a:latin typeface="Arial Black"/>
                <a:cs typeface="Arial Black"/>
              </a:rPr>
              <a:t>Orwell,</a:t>
            </a:r>
            <a:r>
              <a:rPr sz="1200" spc="-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b="1" i="1" spc="30" dirty="0">
                <a:solidFill>
                  <a:srgbClr val="FFFFFF"/>
                </a:solidFill>
                <a:latin typeface="Arial"/>
                <a:cs typeface="Arial"/>
              </a:rPr>
              <a:t>1984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59994" y="472452"/>
          <a:ext cx="5116195" cy="1725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100" spc="73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,</a:t>
                      </a:r>
                      <a:r>
                        <a:rPr sz="1100" spc="26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1100" spc="-13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George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8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Orwell,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b="1" i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Nineteen</a:t>
                      </a:r>
                      <a:r>
                        <a:rPr sz="1100" b="1" i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i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Eighty-</a:t>
                      </a:r>
                      <a:r>
                        <a:rPr sz="1100" b="1" i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Four</a:t>
                      </a:r>
                      <a:r>
                        <a:rPr sz="1100" spc="-4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,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3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Book</a:t>
                      </a:r>
                      <a:r>
                        <a:rPr sz="1100" spc="-8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5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1,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Chapter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7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(orwell_1984)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3810" marB="0">
                    <a:solidFill>
                      <a:srgbClr val="2D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2730">
                <a:tc>
                  <a:txBody>
                    <a:bodyPr/>
                    <a:lstStyle/>
                    <a:p>
                      <a:pPr marL="45720" marR="71755">
                        <a:lnSpc>
                          <a:spcPts val="1050"/>
                        </a:lnSpc>
                        <a:spcBef>
                          <a:spcPts val="270"/>
                        </a:spcBef>
                      </a:pPr>
                      <a:r>
                        <a:rPr sz="10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Context: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Winston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Smith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works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at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spc="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Ministry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Truth,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rewriting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historical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records.</a:t>
                      </a:r>
                      <a:r>
                        <a:rPr sz="1000" spc="5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Here</a:t>
                      </a:r>
                      <a:r>
                        <a:rPr sz="10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he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reflects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on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Party’s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ultimate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demand—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not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just</a:t>
                      </a:r>
                      <a:r>
                        <a:rPr sz="10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obedience,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but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surrender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one’s</a:t>
                      </a:r>
                      <a:r>
                        <a:rPr sz="10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own</a:t>
                      </a:r>
                      <a:r>
                        <a:rPr sz="10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perceptions.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45720" marR="104139">
                        <a:lnSpc>
                          <a:spcPts val="1050"/>
                        </a:lnSpc>
                        <a:spcBef>
                          <a:spcPts val="1050"/>
                        </a:spcBef>
                      </a:pP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“The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Party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told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you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reject</a:t>
                      </a:r>
                      <a:r>
                        <a:rPr sz="1000" b="1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the </a:t>
                      </a:r>
                      <a:r>
                        <a:rPr sz="1000" b="1" i="1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evidence</a:t>
                      </a:r>
                      <a:r>
                        <a:rPr sz="1000" b="1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000" b="1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000" b="1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eyes</a:t>
                      </a:r>
                      <a:r>
                        <a:rPr sz="1000" b="1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000" b="1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ears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000" i="1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7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It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was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their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final,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most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essential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command.</a:t>
                      </a:r>
                      <a:r>
                        <a:rPr sz="1000" i="1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His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heart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sank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as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he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thought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enormous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power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arrayed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against</a:t>
                      </a:r>
                      <a:r>
                        <a:rPr sz="1000" i="1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him,</a:t>
                      </a:r>
                      <a:r>
                        <a:rPr sz="1000" i="1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i="1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ease</a:t>
                      </a:r>
                      <a:r>
                        <a:rPr sz="1000" i="1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with</a:t>
                      </a:r>
                      <a:r>
                        <a:rPr sz="1000" i="1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which</a:t>
                      </a:r>
                      <a:r>
                        <a:rPr sz="1000" i="1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any</a:t>
                      </a:r>
                      <a:r>
                        <a:rPr sz="1000" i="1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Party</a:t>
                      </a:r>
                      <a:r>
                        <a:rPr sz="1000" i="1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intellectual</a:t>
                      </a:r>
                      <a:r>
                        <a:rPr sz="1000" i="1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would</a:t>
                      </a:r>
                      <a:r>
                        <a:rPr sz="1000" i="1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overthrow</a:t>
                      </a:r>
                      <a:r>
                        <a:rPr sz="1000" i="1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him</a:t>
                      </a:r>
                      <a:r>
                        <a:rPr sz="1000" i="1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000" i="1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debate,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subtle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arguments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which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he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would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not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able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understand,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much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less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answer.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45720" marR="252729">
                        <a:lnSpc>
                          <a:spcPts val="1050"/>
                        </a:lnSpc>
                        <a:spcBef>
                          <a:spcPts val="855"/>
                        </a:spcBef>
                      </a:pP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000" i="1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yet</a:t>
                      </a:r>
                      <a:r>
                        <a:rPr sz="1000" i="1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he</a:t>
                      </a:r>
                      <a:r>
                        <a:rPr sz="1000" i="1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was</a:t>
                      </a:r>
                      <a:r>
                        <a:rPr sz="1000" i="1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000" i="1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i="1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right!</a:t>
                      </a:r>
                      <a:r>
                        <a:rPr sz="1000" i="1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They 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were</a:t>
                      </a:r>
                      <a:r>
                        <a:rPr sz="1000" i="1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wrong</a:t>
                      </a:r>
                      <a:r>
                        <a:rPr sz="1000" i="1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000" i="1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he</a:t>
                      </a:r>
                      <a:r>
                        <a:rPr sz="1000" i="1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was</a:t>
                      </a:r>
                      <a:r>
                        <a:rPr sz="1000" i="1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right.</a:t>
                      </a:r>
                      <a:r>
                        <a:rPr sz="1000" i="1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b="1" i="1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obvious,</a:t>
                      </a:r>
                      <a:r>
                        <a:rPr sz="1000" b="1" i="1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b="1" i="1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silly, </a:t>
                      </a:r>
                      <a:r>
                        <a:rPr sz="1000" b="1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000" b="1" i="1" spc="-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b="1" i="1" spc="-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true</a:t>
                      </a:r>
                      <a:r>
                        <a:rPr sz="1000" b="1" i="1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had</a:t>
                      </a:r>
                      <a:r>
                        <a:rPr sz="1000" b="1" i="1" spc="-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got</a:t>
                      </a:r>
                      <a:r>
                        <a:rPr sz="1000" b="1" i="1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to</a:t>
                      </a:r>
                      <a:r>
                        <a:rPr sz="1000" b="1" i="1" spc="-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 </a:t>
                      </a:r>
                      <a:r>
                        <a:rPr sz="1000" b="1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defended.</a:t>
                      </a:r>
                      <a:r>
                        <a:rPr sz="1000" b="1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Truisms</a:t>
                      </a:r>
                      <a:r>
                        <a:rPr sz="1000" b="1" i="1" spc="-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are</a:t>
                      </a:r>
                      <a:r>
                        <a:rPr sz="1000" b="1" i="1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true,</a:t>
                      </a:r>
                      <a:r>
                        <a:rPr sz="1000" b="1" i="1" spc="-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hold</a:t>
                      </a:r>
                      <a:r>
                        <a:rPr sz="1000" b="1" i="1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6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on</a:t>
                      </a:r>
                      <a:r>
                        <a:rPr sz="1000" b="1" i="1" spc="-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 </a:t>
                      </a:r>
                      <a:r>
                        <a:rPr sz="1000" b="1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that!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”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solidFill>
                      <a:srgbClr val="F4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9994" y="2304364"/>
          <a:ext cx="5116195" cy="5632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209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100" spc="39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!</a:t>
                      </a:r>
                      <a:r>
                        <a:rPr sz="1100" spc="229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1100" spc="-13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The</a:t>
                      </a:r>
                      <a:r>
                        <a:rPr sz="1100" spc="-9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Ultimate</a:t>
                      </a:r>
                      <a:r>
                        <a:rPr sz="1100" spc="-9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Goal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12065" marB="0">
                    <a:solidFill>
                      <a:srgbClr val="19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marL="45720" marR="202565">
                        <a:lnSpc>
                          <a:spcPts val="1190"/>
                        </a:lnSpc>
                        <a:spcBef>
                          <a:spcPts val="244"/>
                        </a:spcBef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Not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just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make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you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believe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lies,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but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destroy</a:t>
                      </a:r>
                      <a:r>
                        <a:rPr sz="1100" spc="-7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your</a:t>
                      </a:r>
                      <a:r>
                        <a:rPr sz="1100" spc="-7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2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capacity</a:t>
                      </a:r>
                      <a:r>
                        <a:rPr sz="1100" spc="-7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to</a:t>
                      </a:r>
                      <a:r>
                        <a:rPr sz="1100" spc="-7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7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distinguish 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truth</a:t>
                      </a:r>
                      <a:r>
                        <a:rPr sz="1100" spc="-7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from</a:t>
                      </a:r>
                      <a:r>
                        <a:rPr sz="1100" spc="-7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falsehood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1114" marB="0"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37"/>
              <a:ext cx="4345305" cy="5080"/>
            </a:xfrm>
            <a:custGeom>
              <a:avLst/>
              <a:gdLst/>
              <a:ahLst/>
              <a:cxnLst/>
              <a:rect l="l" t="t" r="r" b="b"/>
              <a:pathLst>
                <a:path w="4345305" h="5080">
                  <a:moveTo>
                    <a:pt x="0" y="5060"/>
                  </a:moveTo>
                  <a:lnTo>
                    <a:pt x="0" y="0"/>
                  </a:lnTo>
                  <a:lnTo>
                    <a:pt x="4345280" y="0"/>
                  </a:lnTo>
                  <a:lnTo>
                    <a:pt x="434528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770" y="74559"/>
            <a:ext cx="227965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14" dirty="0">
                <a:solidFill>
                  <a:srgbClr val="FFFFFF"/>
                </a:solidFill>
                <a:latin typeface="Arial Black"/>
                <a:cs typeface="Arial Black"/>
              </a:rPr>
              <a:t>Hannah</a:t>
            </a:r>
            <a:r>
              <a:rPr sz="1200" spc="-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100" dirty="0">
                <a:solidFill>
                  <a:srgbClr val="FFFFFF"/>
                </a:solidFill>
                <a:latin typeface="Arial Black"/>
                <a:cs typeface="Arial Black"/>
              </a:rPr>
              <a:t>Arendt</a:t>
            </a:r>
            <a:r>
              <a:rPr sz="1200" spc="-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120" dirty="0">
                <a:solidFill>
                  <a:srgbClr val="FFFFFF"/>
                </a:solidFill>
                <a:latin typeface="Arial Black"/>
                <a:cs typeface="Arial Black"/>
              </a:rPr>
              <a:t>on</a:t>
            </a:r>
            <a:r>
              <a:rPr sz="1200" spc="-9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150" dirty="0">
                <a:solidFill>
                  <a:srgbClr val="FFFFFF"/>
                </a:solidFill>
                <a:latin typeface="Arial Black"/>
                <a:cs typeface="Arial Black"/>
              </a:rPr>
              <a:t>Mass</a:t>
            </a:r>
            <a:r>
              <a:rPr sz="1200" spc="-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100" dirty="0">
                <a:solidFill>
                  <a:srgbClr val="FFFFFF"/>
                </a:solidFill>
                <a:latin typeface="Arial Black"/>
                <a:cs typeface="Arial Black"/>
              </a:rPr>
              <a:t>Society</a:t>
            </a:r>
            <a:endParaRPr sz="1200">
              <a:latin typeface="Arial Black"/>
              <a:cs typeface="Arial Black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59994" y="472693"/>
          <a:ext cx="5116195" cy="8489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14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Hannah</a:t>
                      </a:r>
                      <a:r>
                        <a:rPr sz="1100" spc="-3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Arendt</a:t>
                      </a:r>
                      <a:r>
                        <a:rPr sz="1100" spc="-3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(1906–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1975)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19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2780">
                <a:tc>
                  <a:txBody>
                    <a:bodyPr/>
                    <a:lstStyle/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380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b="1" i="1" spc="-6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b="1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i="1" spc="-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Origins</a:t>
                      </a:r>
                      <a:r>
                        <a:rPr sz="1100" b="1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i="1" spc="-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100" b="1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Totalitarianism</a:t>
                      </a:r>
                      <a:r>
                        <a:rPr sz="1100" b="1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(1951)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5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precondition</a:t>
                      </a:r>
                      <a:r>
                        <a:rPr sz="1100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wasn’t</a:t>
                      </a:r>
                      <a:r>
                        <a:rPr sz="1100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ideology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but</a:t>
                      </a:r>
                      <a:r>
                        <a:rPr sz="1100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loneliness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Breakdown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social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bonds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leaves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individuals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vulnerable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9994" y="1441754"/>
          <a:ext cx="5116195" cy="684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100" spc="73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,</a:t>
                      </a:r>
                      <a:r>
                        <a:rPr sz="1100" spc="24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1100" spc="-114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Hannah</a:t>
                      </a:r>
                      <a:r>
                        <a:rPr sz="1100" spc="-9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Arendt,</a:t>
                      </a:r>
                      <a:r>
                        <a:rPr sz="1100" spc="-8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b="1" i="1" spc="-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b="1" i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i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Origins</a:t>
                      </a:r>
                      <a:r>
                        <a:rPr sz="1100" b="1" i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i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100" b="1" i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i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Totalitarianism</a:t>
                      </a:r>
                      <a:r>
                        <a:rPr sz="1100" spc="-1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,</a:t>
                      </a:r>
                      <a:r>
                        <a:rPr sz="1100" spc="-9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Ch. </a:t>
                      </a:r>
                      <a:r>
                        <a:rPr sz="1100" spc="-9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13</a:t>
                      </a:r>
                      <a:r>
                        <a:rPr sz="1100" spc="-8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(arendt_origins)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3810" marB="0">
                    <a:solidFill>
                      <a:srgbClr val="2D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330">
                <a:tc>
                  <a:txBody>
                    <a:bodyPr/>
                    <a:lstStyle/>
                    <a:p>
                      <a:pPr marL="45720" marR="437515" algn="just">
                        <a:lnSpc>
                          <a:spcPts val="1050"/>
                        </a:lnSpc>
                        <a:spcBef>
                          <a:spcPts val="270"/>
                        </a:spcBef>
                      </a:pP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“What</a:t>
                      </a:r>
                      <a:r>
                        <a:rPr sz="1000" i="1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prepares</a:t>
                      </a:r>
                      <a:r>
                        <a:rPr sz="1000" i="1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men</a:t>
                      </a:r>
                      <a:r>
                        <a:rPr sz="1000" i="1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sz="1000" i="1" spc="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totalitarian</a:t>
                      </a:r>
                      <a:r>
                        <a:rPr sz="1000" i="1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domination</a:t>
                      </a:r>
                      <a:r>
                        <a:rPr sz="1000" i="1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1000" i="1" spc="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i="1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fact</a:t>
                      </a:r>
                      <a:r>
                        <a:rPr sz="1000" i="1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that</a:t>
                      </a:r>
                      <a:r>
                        <a:rPr sz="1000" i="1" spc="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loneliness</a:t>
                      </a:r>
                      <a:r>
                        <a:rPr sz="1000" i="1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sz="1000" i="1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once</a:t>
                      </a:r>
                      <a:r>
                        <a:rPr sz="1000" i="1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5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borderline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experience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suffered in marginal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conditions like old</a:t>
                      </a:r>
                      <a:r>
                        <a:rPr sz="1000" i="1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age,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has 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become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 </a:t>
                      </a:r>
                      <a:r>
                        <a:rPr sz="1000" b="1" i="1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everyday</a:t>
                      </a:r>
                      <a:r>
                        <a:rPr sz="1000" b="1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i="1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experience</a:t>
                      </a:r>
                      <a:r>
                        <a:rPr sz="1000" b="1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ever-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growing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masses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our</a:t>
                      </a:r>
                      <a:r>
                        <a:rPr sz="1000" i="1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century.”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solidFill>
                      <a:srgbClr val="F4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59994" y="2232469"/>
          <a:ext cx="5116195" cy="590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209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100" spc="39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!</a:t>
                      </a:r>
                      <a:r>
                        <a:rPr sz="1100" spc="2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1100" spc="-13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The</a:t>
                      </a:r>
                      <a:r>
                        <a:rPr sz="1100" spc="-10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Insight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12065" marB="0">
                    <a:solidFill>
                      <a:srgbClr val="BF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45720" marR="38100">
                        <a:lnSpc>
                          <a:spcPts val="1190"/>
                        </a:lnSpc>
                        <a:spcBef>
                          <a:spcPts val="244"/>
                        </a:spcBef>
                      </a:pP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Mass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media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doesn’t just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spread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propaganda—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it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creates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atomized 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individuals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who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crave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belonging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enough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join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movements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promising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meaning.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1114" marB="0">
                    <a:solidFill>
                      <a:srgbClr val="F9E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37"/>
              <a:ext cx="4446905" cy="5080"/>
            </a:xfrm>
            <a:custGeom>
              <a:avLst/>
              <a:gdLst/>
              <a:ahLst/>
              <a:cxnLst/>
              <a:rect l="l" t="t" r="r" b="b"/>
              <a:pathLst>
                <a:path w="4446905" h="5080">
                  <a:moveTo>
                    <a:pt x="0" y="5060"/>
                  </a:moveTo>
                  <a:lnTo>
                    <a:pt x="0" y="0"/>
                  </a:lnTo>
                  <a:lnTo>
                    <a:pt x="4446355" y="0"/>
                  </a:lnTo>
                  <a:lnTo>
                    <a:pt x="44463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Arendt’s</a:t>
            </a:r>
            <a:r>
              <a:rPr spc="-70" dirty="0"/>
              <a:t> </a:t>
            </a:r>
            <a:r>
              <a:rPr spc="-114" dirty="0"/>
              <a:t>Analysis</a:t>
            </a:r>
            <a:r>
              <a:rPr spc="-65" dirty="0"/>
              <a:t> </a:t>
            </a:r>
            <a:r>
              <a:rPr spc="-95" dirty="0"/>
              <a:t>of</a:t>
            </a:r>
            <a:r>
              <a:rPr spc="-65" dirty="0"/>
              <a:t> </a:t>
            </a:r>
            <a:r>
              <a:rPr spc="-95" dirty="0"/>
              <a:t>Propaganda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601572"/>
            <a:ext cx="5040630" cy="1477645"/>
            <a:chOff x="359994" y="601572"/>
            <a:chExt cx="5040630" cy="1477645"/>
          </a:xfrm>
        </p:grpSpPr>
        <p:sp>
          <p:nvSpPr>
            <p:cNvPr id="4" name="object 4"/>
            <p:cNvSpPr/>
            <p:nvPr/>
          </p:nvSpPr>
          <p:spPr>
            <a:xfrm>
              <a:off x="359994" y="601572"/>
              <a:ext cx="5040630" cy="1477645"/>
            </a:xfrm>
            <a:custGeom>
              <a:avLst/>
              <a:gdLst/>
              <a:ahLst/>
              <a:cxnLst/>
              <a:rect l="l" t="t" r="r" b="b"/>
              <a:pathLst>
                <a:path w="5040630" h="1477645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1439573"/>
                  </a:lnTo>
                  <a:lnTo>
                    <a:pt x="2982" y="1454348"/>
                  </a:lnTo>
                  <a:lnTo>
                    <a:pt x="11117" y="1466413"/>
                  </a:lnTo>
                  <a:lnTo>
                    <a:pt x="23182" y="1474548"/>
                  </a:lnTo>
                  <a:lnTo>
                    <a:pt x="37958" y="1477531"/>
                  </a:lnTo>
                  <a:lnTo>
                    <a:pt x="5002106" y="1477531"/>
                  </a:lnTo>
                  <a:lnTo>
                    <a:pt x="5016882" y="1474548"/>
                  </a:lnTo>
                  <a:lnTo>
                    <a:pt x="5028947" y="1466413"/>
                  </a:lnTo>
                  <a:lnTo>
                    <a:pt x="5037082" y="1454348"/>
                  </a:lnTo>
                  <a:lnTo>
                    <a:pt x="5040064" y="1439573"/>
                  </a:lnTo>
                  <a:lnTo>
                    <a:pt x="5040064" y="37958"/>
                  </a:lnTo>
                  <a:lnTo>
                    <a:pt x="5037082" y="23182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194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2646" y="834031"/>
              <a:ext cx="5015230" cy="1232535"/>
            </a:xfrm>
            <a:custGeom>
              <a:avLst/>
              <a:gdLst/>
              <a:ahLst/>
              <a:cxnLst/>
              <a:rect l="l" t="t" r="r" b="b"/>
              <a:pathLst>
                <a:path w="5015230" h="1232535">
                  <a:moveTo>
                    <a:pt x="5014759" y="0"/>
                  </a:moveTo>
                  <a:lnTo>
                    <a:pt x="0" y="0"/>
                  </a:lnTo>
                  <a:lnTo>
                    <a:pt x="0" y="1207114"/>
                  </a:lnTo>
                  <a:lnTo>
                    <a:pt x="1988" y="1216964"/>
                  </a:lnTo>
                  <a:lnTo>
                    <a:pt x="7411" y="1225008"/>
                  </a:lnTo>
                  <a:lnTo>
                    <a:pt x="15455" y="1230431"/>
                  </a:lnTo>
                  <a:lnTo>
                    <a:pt x="25305" y="1232420"/>
                  </a:lnTo>
                  <a:lnTo>
                    <a:pt x="4989454" y="1232420"/>
                  </a:lnTo>
                  <a:lnTo>
                    <a:pt x="4999304" y="1230431"/>
                  </a:lnTo>
                  <a:lnTo>
                    <a:pt x="5007347" y="1225008"/>
                  </a:lnTo>
                  <a:lnTo>
                    <a:pt x="5012770" y="1216964"/>
                  </a:lnTo>
                  <a:lnTo>
                    <a:pt x="5014759" y="1207114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3F5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59994" y="2285946"/>
            <a:ext cx="5040630" cy="403860"/>
            <a:chOff x="359994" y="2285946"/>
            <a:chExt cx="5040630" cy="403860"/>
          </a:xfrm>
        </p:grpSpPr>
        <p:sp>
          <p:nvSpPr>
            <p:cNvPr id="7" name="object 7"/>
            <p:cNvSpPr/>
            <p:nvPr/>
          </p:nvSpPr>
          <p:spPr>
            <a:xfrm>
              <a:off x="359994" y="2285946"/>
              <a:ext cx="5040630" cy="403860"/>
            </a:xfrm>
            <a:custGeom>
              <a:avLst/>
              <a:gdLst/>
              <a:ahLst/>
              <a:cxnLst/>
              <a:rect l="l" t="t" r="r" b="b"/>
              <a:pathLst>
                <a:path w="5040630" h="403860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365866"/>
                  </a:lnTo>
                  <a:lnTo>
                    <a:pt x="2982" y="380641"/>
                  </a:lnTo>
                  <a:lnTo>
                    <a:pt x="11117" y="392707"/>
                  </a:lnTo>
                  <a:lnTo>
                    <a:pt x="23182" y="400841"/>
                  </a:lnTo>
                  <a:lnTo>
                    <a:pt x="37958" y="403824"/>
                  </a:lnTo>
                  <a:lnTo>
                    <a:pt x="5002106" y="403824"/>
                  </a:lnTo>
                  <a:lnTo>
                    <a:pt x="5016882" y="400841"/>
                  </a:lnTo>
                  <a:lnTo>
                    <a:pt x="5028947" y="392707"/>
                  </a:lnTo>
                  <a:lnTo>
                    <a:pt x="5037082" y="380641"/>
                  </a:lnTo>
                  <a:lnTo>
                    <a:pt x="5040064" y="365866"/>
                  </a:lnTo>
                  <a:lnTo>
                    <a:pt x="5040064" y="37958"/>
                  </a:lnTo>
                  <a:lnTo>
                    <a:pt x="5037082" y="23183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B777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2646" y="2469236"/>
              <a:ext cx="5015230" cy="208279"/>
            </a:xfrm>
            <a:custGeom>
              <a:avLst/>
              <a:gdLst/>
              <a:ahLst/>
              <a:cxnLst/>
              <a:rect l="l" t="t" r="r" b="b"/>
              <a:pathLst>
                <a:path w="5015230" h="208280">
                  <a:moveTo>
                    <a:pt x="5014759" y="0"/>
                  </a:moveTo>
                  <a:lnTo>
                    <a:pt x="0" y="0"/>
                  </a:lnTo>
                  <a:lnTo>
                    <a:pt x="0" y="182576"/>
                  </a:lnTo>
                  <a:lnTo>
                    <a:pt x="1988" y="192426"/>
                  </a:lnTo>
                  <a:lnTo>
                    <a:pt x="7411" y="200470"/>
                  </a:lnTo>
                  <a:lnTo>
                    <a:pt x="15455" y="205893"/>
                  </a:lnTo>
                  <a:lnTo>
                    <a:pt x="25305" y="207881"/>
                  </a:lnTo>
                  <a:lnTo>
                    <a:pt x="4989454" y="207881"/>
                  </a:lnTo>
                  <a:lnTo>
                    <a:pt x="4999304" y="205893"/>
                  </a:lnTo>
                  <a:lnTo>
                    <a:pt x="5007347" y="200470"/>
                  </a:lnTo>
                  <a:lnTo>
                    <a:pt x="5012770" y="192426"/>
                  </a:lnTo>
                  <a:lnTo>
                    <a:pt x="5014759" y="182576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B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35863" y="604772"/>
            <a:ext cx="4775835" cy="20472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90"/>
              </a:spcBef>
            </a:pPr>
            <a:r>
              <a:rPr sz="1100" spc="-110" dirty="0">
                <a:solidFill>
                  <a:srgbClr val="FFFFFF"/>
                </a:solidFill>
                <a:latin typeface="Arial Black"/>
                <a:cs typeface="Arial Black"/>
              </a:rPr>
              <a:t>Argument</a:t>
            </a:r>
            <a:r>
              <a:rPr sz="110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80" dirty="0">
                <a:solidFill>
                  <a:srgbClr val="FFFFFF"/>
                </a:solidFill>
                <a:latin typeface="Arial Black"/>
                <a:cs typeface="Arial Black"/>
              </a:rPr>
              <a:t>in</a:t>
            </a:r>
            <a:r>
              <a:rPr sz="110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105" dirty="0">
                <a:solidFill>
                  <a:srgbClr val="FFFFFF"/>
                </a:solidFill>
                <a:latin typeface="Arial Black"/>
                <a:cs typeface="Arial Black"/>
              </a:rPr>
              <a:t>Standard</a:t>
            </a:r>
            <a:r>
              <a:rPr sz="110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Arial Black"/>
                <a:cs typeface="Arial Black"/>
              </a:rPr>
              <a:t>Form</a:t>
            </a:r>
            <a:endParaRPr sz="1100">
              <a:latin typeface="Arial Black"/>
              <a:cs typeface="Arial Black"/>
            </a:endParaRPr>
          </a:p>
          <a:p>
            <a:pPr marL="391160" indent="-187960">
              <a:lnSpc>
                <a:spcPct val="100000"/>
              </a:lnSpc>
              <a:spcBef>
                <a:spcPts val="975"/>
              </a:spcBef>
              <a:buAutoNum type="arabicPeriod"/>
              <a:tabLst>
                <a:tab pos="391160" algn="l"/>
              </a:tabLst>
            </a:pPr>
            <a:r>
              <a:rPr sz="1100" spc="-30" dirty="0">
                <a:solidFill>
                  <a:srgbClr val="22373A"/>
                </a:solidFill>
                <a:latin typeface="Arial"/>
                <a:cs typeface="Arial"/>
              </a:rPr>
              <a:t>Mass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society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produces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5" dirty="0">
                <a:solidFill>
                  <a:srgbClr val="22373A"/>
                </a:solidFill>
                <a:latin typeface="Arial Black"/>
                <a:cs typeface="Arial Black"/>
              </a:rPr>
              <a:t>atomized</a:t>
            </a:r>
            <a:r>
              <a:rPr sz="1100" spc="-7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85" dirty="0">
                <a:solidFill>
                  <a:srgbClr val="22373A"/>
                </a:solidFill>
                <a:latin typeface="Arial Black"/>
                <a:cs typeface="Arial Black"/>
              </a:rPr>
              <a:t>individuals</a:t>
            </a:r>
            <a:r>
              <a:rPr sz="1100" spc="-6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who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feel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superfluous.</a:t>
            </a:r>
            <a:endParaRPr sz="1100">
              <a:latin typeface="Arial"/>
              <a:cs typeface="Arial"/>
            </a:endParaRPr>
          </a:p>
          <a:p>
            <a:pPr marL="391160" indent="-18796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391160" algn="l"/>
              </a:tabLst>
            </a:pPr>
            <a:r>
              <a:rPr sz="1100" spc="-35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1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lonely</a:t>
            </a:r>
            <a:r>
              <a:rPr sz="11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30" dirty="0">
                <a:solidFill>
                  <a:srgbClr val="22373A"/>
                </a:solidFill>
                <a:latin typeface="Arial Black"/>
                <a:cs typeface="Arial Black"/>
              </a:rPr>
              <a:t>crave</a:t>
            </a:r>
            <a:r>
              <a:rPr sz="1100" spc="-4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120" dirty="0">
                <a:solidFill>
                  <a:srgbClr val="22373A"/>
                </a:solidFill>
                <a:latin typeface="Arial Black"/>
                <a:cs typeface="Arial Black"/>
              </a:rPr>
              <a:t>coherent</a:t>
            </a:r>
            <a:r>
              <a:rPr sz="1100" spc="-4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110" dirty="0">
                <a:solidFill>
                  <a:srgbClr val="22373A"/>
                </a:solidFill>
                <a:latin typeface="Arial Black"/>
                <a:cs typeface="Arial Black"/>
              </a:rPr>
              <a:t>explanations</a:t>
            </a:r>
            <a:r>
              <a:rPr sz="1100" spc="-4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11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give</a:t>
            </a:r>
            <a:r>
              <a:rPr sz="11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life</a:t>
            </a:r>
            <a:r>
              <a:rPr sz="11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meaning.</a:t>
            </a:r>
            <a:endParaRPr sz="1100">
              <a:latin typeface="Arial"/>
              <a:cs typeface="Arial"/>
            </a:endParaRPr>
          </a:p>
          <a:p>
            <a:pPr marL="391160" indent="-187960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391160" algn="l"/>
              </a:tabLst>
            </a:pPr>
            <a:r>
              <a:rPr sz="1100" spc="-30" dirty="0">
                <a:solidFill>
                  <a:srgbClr val="22373A"/>
                </a:solidFill>
                <a:latin typeface="Arial"/>
                <a:cs typeface="Arial"/>
              </a:rPr>
              <a:t>Mass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media</a:t>
            </a:r>
            <a:r>
              <a:rPr sz="11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delivers</a:t>
            </a:r>
            <a:r>
              <a:rPr sz="11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such</a:t>
            </a:r>
            <a:r>
              <a:rPr sz="11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explanations</a:t>
            </a:r>
            <a:r>
              <a:rPr sz="11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10" dirty="0">
                <a:solidFill>
                  <a:srgbClr val="22373A"/>
                </a:solidFill>
                <a:latin typeface="Arial Black"/>
                <a:cs typeface="Arial Black"/>
              </a:rPr>
              <a:t>to</a:t>
            </a:r>
            <a:r>
              <a:rPr sz="1100" spc="-90" dirty="0">
                <a:solidFill>
                  <a:srgbClr val="22373A"/>
                </a:solidFill>
                <a:latin typeface="Arial Black"/>
                <a:cs typeface="Arial Black"/>
              </a:rPr>
              <a:t> millions </a:t>
            </a:r>
            <a:r>
              <a:rPr sz="1100" spc="-110" dirty="0">
                <a:solidFill>
                  <a:srgbClr val="22373A"/>
                </a:solidFill>
                <a:latin typeface="Arial Black"/>
                <a:cs typeface="Arial Black"/>
              </a:rPr>
              <a:t>at</a:t>
            </a:r>
            <a:r>
              <a:rPr sz="1100" spc="-9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 Black"/>
                <a:cs typeface="Arial Black"/>
              </a:rPr>
              <a:t>once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391160" indent="-187960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391160" algn="l"/>
              </a:tabLst>
            </a:pP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Totalitarian</a:t>
            </a:r>
            <a:r>
              <a:rPr sz="11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movements</a:t>
            </a:r>
            <a:r>
              <a:rPr sz="11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95" dirty="0">
                <a:solidFill>
                  <a:srgbClr val="22373A"/>
                </a:solidFill>
                <a:latin typeface="Arial Black"/>
                <a:cs typeface="Arial Black"/>
              </a:rPr>
              <a:t>exploit</a:t>
            </a:r>
            <a:r>
              <a:rPr sz="1100" spc="-3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90" dirty="0">
                <a:solidFill>
                  <a:srgbClr val="22373A"/>
                </a:solidFill>
                <a:latin typeface="Arial Black"/>
                <a:cs typeface="Arial Black"/>
              </a:rPr>
              <a:t>this</a:t>
            </a:r>
            <a:r>
              <a:rPr sz="1100" spc="-3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11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all-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encompassing</a:t>
            </a:r>
            <a:r>
              <a:rPr sz="11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ideologies.</a:t>
            </a:r>
            <a:endParaRPr sz="1100">
              <a:latin typeface="Arial"/>
              <a:cs typeface="Arial"/>
            </a:endParaRPr>
          </a:p>
          <a:p>
            <a:pPr marL="393700" marR="325755" indent="-161925">
              <a:lnSpc>
                <a:spcPts val="1190"/>
              </a:lnSpc>
              <a:spcBef>
                <a:spcPts val="320"/>
              </a:spcBef>
            </a:pP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∴</a:t>
            </a:r>
            <a:r>
              <a:rPr sz="1100" spc="22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30" dirty="0">
                <a:solidFill>
                  <a:srgbClr val="22373A"/>
                </a:solidFill>
                <a:latin typeface="Arial"/>
                <a:cs typeface="Arial"/>
              </a:rPr>
              <a:t>Mass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media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plus</a:t>
            </a:r>
            <a:r>
              <a:rPr sz="1100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mass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loneliness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creates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conditions</a:t>
            </a:r>
            <a:r>
              <a:rPr sz="1100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0" dirty="0">
                <a:solidFill>
                  <a:srgbClr val="22373A"/>
                </a:solidFill>
                <a:latin typeface="Arial Black"/>
                <a:cs typeface="Arial Black"/>
              </a:rPr>
              <a:t>favorable</a:t>
            </a:r>
            <a:r>
              <a:rPr sz="1100" spc="-9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Arial Black"/>
                <a:cs typeface="Arial Black"/>
              </a:rPr>
              <a:t>to totalitarianism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-10" dirty="0">
                <a:solidFill>
                  <a:srgbClr val="FFFFFF"/>
                </a:solidFill>
                <a:latin typeface="Arial Black"/>
                <a:cs typeface="Arial Black"/>
              </a:rPr>
              <a:t>Discussion</a:t>
            </a:r>
            <a:endParaRPr sz="11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spc="-35" dirty="0">
                <a:latin typeface="Arial"/>
                <a:cs typeface="Arial"/>
              </a:rPr>
              <a:t>Does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social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media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make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14" dirty="0">
                <a:latin typeface="Arial Black"/>
                <a:cs typeface="Arial Black"/>
              </a:rPr>
              <a:t>more</a:t>
            </a:r>
            <a:r>
              <a:rPr sz="1100" spc="-85" dirty="0">
                <a:latin typeface="Arial Black"/>
                <a:cs typeface="Arial Black"/>
              </a:rPr>
              <a:t> </a:t>
            </a:r>
            <a:r>
              <a:rPr sz="1100" spc="-95" dirty="0">
                <a:latin typeface="Arial Black"/>
                <a:cs typeface="Arial Black"/>
              </a:rPr>
              <a:t>or</a:t>
            </a:r>
            <a:r>
              <a:rPr sz="1100" spc="-85" dirty="0">
                <a:latin typeface="Arial Black"/>
                <a:cs typeface="Arial Black"/>
              </a:rPr>
              <a:t> </a:t>
            </a:r>
            <a:r>
              <a:rPr sz="1100" spc="-114" dirty="0">
                <a:latin typeface="Arial Black"/>
                <a:cs typeface="Arial Black"/>
              </a:rPr>
              <a:t>less</a:t>
            </a:r>
            <a:r>
              <a:rPr sz="1100" spc="-85" dirty="0">
                <a:latin typeface="Arial Black"/>
                <a:cs typeface="Arial Black"/>
              </a:rPr>
              <a:t> </a:t>
            </a:r>
            <a:r>
              <a:rPr sz="1100" spc="-95" dirty="0">
                <a:latin typeface="Arial Black"/>
                <a:cs typeface="Arial Black"/>
              </a:rPr>
              <a:t>lonely</a:t>
            </a:r>
            <a:r>
              <a:rPr sz="1100" spc="-85" dirty="0">
                <a:latin typeface="Arial Black"/>
                <a:cs typeface="Arial Black"/>
              </a:rPr>
              <a:t> </a:t>
            </a:r>
            <a:r>
              <a:rPr sz="1100" dirty="0">
                <a:latin typeface="Arial"/>
                <a:cs typeface="Arial"/>
              </a:rPr>
              <a:t>than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broadcast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media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did?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37"/>
              <a:ext cx="4547870" cy="5080"/>
            </a:xfrm>
            <a:custGeom>
              <a:avLst/>
              <a:gdLst/>
              <a:ahLst/>
              <a:cxnLst/>
              <a:rect l="l" t="t" r="r" b="b"/>
              <a:pathLst>
                <a:path w="4547870" h="5080">
                  <a:moveTo>
                    <a:pt x="0" y="5060"/>
                  </a:moveTo>
                  <a:lnTo>
                    <a:pt x="0" y="0"/>
                  </a:lnTo>
                  <a:lnTo>
                    <a:pt x="4547431" y="0"/>
                  </a:lnTo>
                  <a:lnTo>
                    <a:pt x="454743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770" y="74559"/>
            <a:ext cx="257302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14" dirty="0">
                <a:solidFill>
                  <a:srgbClr val="FFFFFF"/>
                </a:solidFill>
                <a:latin typeface="Arial Black"/>
                <a:cs typeface="Arial Black"/>
              </a:rPr>
              <a:t>Social</a:t>
            </a:r>
            <a:r>
              <a:rPr sz="1200" spc="-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130" dirty="0">
                <a:solidFill>
                  <a:srgbClr val="FFFFFF"/>
                </a:solidFill>
                <a:latin typeface="Arial Black"/>
                <a:cs typeface="Arial Black"/>
              </a:rPr>
              <a:t>Consequences</a:t>
            </a:r>
            <a:r>
              <a:rPr sz="1200" spc="-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95" dirty="0">
                <a:solidFill>
                  <a:srgbClr val="FFFFFF"/>
                </a:solidFill>
                <a:latin typeface="Arial Black"/>
                <a:cs typeface="Arial Black"/>
              </a:rPr>
              <a:t>of</a:t>
            </a:r>
            <a:r>
              <a:rPr sz="1200" spc="-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150" dirty="0">
                <a:solidFill>
                  <a:srgbClr val="FFFFFF"/>
                </a:solidFill>
                <a:latin typeface="Arial Black"/>
                <a:cs typeface="Arial Black"/>
              </a:rPr>
              <a:t>Mass</a:t>
            </a:r>
            <a:r>
              <a:rPr sz="1200" spc="-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90" dirty="0">
                <a:solidFill>
                  <a:srgbClr val="FFFFFF"/>
                </a:solidFill>
                <a:latin typeface="Arial Black"/>
                <a:cs typeface="Arial Black"/>
              </a:rPr>
              <a:t>Media</a:t>
            </a:r>
            <a:endParaRPr sz="1200">
              <a:latin typeface="Arial Black"/>
              <a:cs typeface="Arial Black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07213" y="562013"/>
          <a:ext cx="2495550" cy="1462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209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100" spc="73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,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Benefits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12065" marB="0">
                    <a:solidFill>
                      <a:srgbClr val="19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0315">
                <a:tc>
                  <a:txBody>
                    <a:bodyPr/>
                    <a:lstStyle/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395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4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Mass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education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Shared</a:t>
                      </a:r>
                      <a:r>
                        <a:rPr sz="1100" spc="-4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cultural</a:t>
                      </a:r>
                      <a:r>
                        <a:rPr sz="1100" spc="-4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experiences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Exposure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diversity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5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0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Rapid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3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news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dissemination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9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Public</a:t>
                      </a:r>
                      <a:r>
                        <a:rPr sz="1100" spc="-7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health</a:t>
                      </a:r>
                      <a:r>
                        <a:rPr sz="1100" spc="-6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campaigns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Civil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rights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coverage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033610" y="562851"/>
          <a:ext cx="2495550" cy="1460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209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100" spc="68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f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Harms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12065" marB="0">
                    <a:solidFill>
                      <a:srgbClr val="BF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8410">
                <a:tc>
                  <a:txBody>
                    <a:bodyPr/>
                    <a:lstStyle/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395"/>
                        </a:spcBef>
                        <a:buClr>
                          <a:srgbClr val="BF392B"/>
                        </a:buClr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Propaganda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effectiveness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Clr>
                          <a:srgbClr val="BF392B"/>
                        </a:buClr>
                        <a:buChar char="•"/>
                        <a:tabLst>
                          <a:tab pos="27432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“Manufacturing</a:t>
                      </a:r>
                      <a:r>
                        <a:rPr sz="1100" spc="16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consent”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Clr>
                          <a:srgbClr val="BF392B"/>
                        </a:buClr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0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Advertising</a:t>
                      </a:r>
                      <a:r>
                        <a:rPr sz="1100" spc="-4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and</a:t>
                      </a:r>
                      <a:r>
                        <a:rPr sz="1100" spc="-4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consumerism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5"/>
                        </a:spcBef>
                        <a:buClr>
                          <a:srgbClr val="BF392B"/>
                        </a:buClr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9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Political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manipulation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Clr>
                          <a:srgbClr val="BF392B"/>
                        </a:buClr>
                        <a:buChar char="•"/>
                        <a:tabLst>
                          <a:tab pos="27432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Homogenization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culture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Clr>
                          <a:srgbClr val="BF392B"/>
                        </a:buClr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8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Passivity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1100" spc="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“The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Lonely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Crowd”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solidFill>
                      <a:srgbClr val="F9E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59994" y="2196693"/>
          <a:ext cx="5116195" cy="573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3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The</a:t>
                      </a:r>
                      <a:r>
                        <a:rPr sz="1100" spc="-9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Paradox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2D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45720" marR="174625">
                        <a:lnSpc>
                          <a:spcPts val="1190"/>
                        </a:lnSpc>
                        <a:spcBef>
                          <a:spcPts val="229"/>
                        </a:spcBef>
                      </a:pP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same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broadcast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that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showed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Civil Rights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Movement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nation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also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enabled unprecedented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propaganda.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solidFill>
                      <a:srgbClr val="F4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37"/>
              <a:ext cx="4648835" cy="5080"/>
            </a:xfrm>
            <a:custGeom>
              <a:avLst/>
              <a:gdLst/>
              <a:ahLst/>
              <a:cxnLst/>
              <a:rect l="l" t="t" r="r" b="b"/>
              <a:pathLst>
                <a:path w="4648835" h="5080">
                  <a:moveTo>
                    <a:pt x="0" y="5060"/>
                  </a:moveTo>
                  <a:lnTo>
                    <a:pt x="0" y="0"/>
                  </a:lnTo>
                  <a:lnTo>
                    <a:pt x="4648506" y="0"/>
                  </a:lnTo>
                  <a:lnTo>
                    <a:pt x="464850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5" dirty="0"/>
              <a:t>Lecture</a:t>
            </a:r>
            <a:r>
              <a:rPr spc="-60" dirty="0"/>
              <a:t> </a:t>
            </a:r>
            <a:r>
              <a:rPr spc="-85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47914"/>
            <a:ext cx="3044825" cy="23475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Introduction:</a:t>
            </a:r>
            <a:r>
              <a:rPr sz="1100" spc="195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Information</a:t>
            </a:r>
            <a:r>
              <a:rPr sz="1100" spc="125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spc="-2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Technology</a:t>
            </a:r>
            <a:r>
              <a:rPr sz="1100" spc="13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and</a:t>
            </a:r>
            <a:r>
              <a:rPr sz="1100" spc="125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Ethics</a:t>
            </a:r>
            <a:endParaRPr sz="1100">
              <a:latin typeface="Arial"/>
              <a:cs typeface="Arial"/>
            </a:endParaRPr>
          </a:p>
          <a:p>
            <a:pPr marL="12700" marR="1043305">
              <a:lnSpc>
                <a:spcPct val="214299"/>
              </a:lnSpc>
            </a:pP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Revolution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1:</a:t>
            </a:r>
            <a:r>
              <a:rPr sz="1100" spc="10" dirty="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Writing</a:t>
            </a:r>
            <a:r>
              <a:rPr sz="1100" spc="500" dirty="0">
                <a:solidFill>
                  <a:srgbClr val="CED2D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Revolution</a:t>
            </a:r>
            <a:r>
              <a:rPr sz="1100" spc="-3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2:</a:t>
            </a:r>
            <a:r>
              <a:rPr sz="1100" spc="15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The</a:t>
            </a:r>
            <a:r>
              <a:rPr sz="1100" spc="-3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Printing</a:t>
            </a:r>
            <a:r>
              <a:rPr sz="1100" spc="-25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Press</a:t>
            </a:r>
            <a:endParaRPr sz="1100">
              <a:latin typeface="Arial"/>
              <a:cs typeface="Arial"/>
            </a:endParaRPr>
          </a:p>
          <a:p>
            <a:pPr marL="12700" marR="613410">
              <a:lnSpc>
                <a:spcPct val="214299"/>
              </a:lnSpc>
            </a:pP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Revolution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3:</a:t>
            </a:r>
            <a:r>
              <a:rPr sz="1100" spc="1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Distance</a:t>
            </a:r>
            <a:r>
              <a:rPr sz="1100" spc="-3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Communication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Revolution</a:t>
            </a:r>
            <a:r>
              <a:rPr sz="1100" spc="-40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4:</a:t>
            </a:r>
            <a:r>
              <a:rPr sz="1100" spc="5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1100" spc="-30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Mass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Media</a:t>
            </a:r>
            <a:endParaRPr sz="1100">
              <a:latin typeface="Arial"/>
              <a:cs typeface="Arial"/>
            </a:endParaRPr>
          </a:p>
          <a:p>
            <a:pPr marL="12700" marR="875030">
              <a:lnSpc>
                <a:spcPct val="214299"/>
              </a:lnSpc>
            </a:pPr>
            <a:r>
              <a:rPr sz="1100" dirty="0">
                <a:solidFill>
                  <a:srgbClr val="22373A"/>
                </a:solidFill>
                <a:latin typeface="Arial"/>
                <a:cs typeface="Arial"/>
                <a:hlinkClick r:id="rId7" action="ppaction://hlinksldjump"/>
              </a:rPr>
              <a:t>Revolution</a:t>
            </a:r>
            <a:r>
              <a:rPr sz="1100" spc="-40" dirty="0">
                <a:solidFill>
                  <a:srgbClr val="22373A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  <a:hlinkClick r:id="rId7" action="ppaction://hlinksldjump"/>
              </a:rPr>
              <a:t>5: 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  <a:hlinkClick r:id="rId7" action="ppaction://hlinksldjump"/>
              </a:rPr>
              <a:t>The</a:t>
            </a:r>
            <a:r>
              <a:rPr sz="1100" spc="-40" dirty="0">
                <a:solidFill>
                  <a:srgbClr val="22373A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  <a:hlinkClick r:id="rId7" action="ppaction://hlinksldjump"/>
              </a:rPr>
              <a:t>World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  <a:hlinkClick r:id="rId7" action="ppaction://hlinksldjump"/>
              </a:rPr>
              <a:t>Wide</a:t>
            </a:r>
            <a:r>
              <a:rPr sz="1100" spc="-40" dirty="0">
                <a:solidFill>
                  <a:srgbClr val="22373A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  <a:hlinkClick r:id="rId7" action="ppaction://hlinksldjump"/>
              </a:rPr>
              <a:t>Web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Conclusion: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Patterns</a:t>
            </a:r>
            <a:r>
              <a:rPr sz="1100" spc="-7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and</a:t>
            </a:r>
            <a:r>
              <a:rPr sz="1100" spc="-7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8" action="ppaction://hlinksldjump"/>
              </a:rPr>
              <a:t>Lessons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37"/>
              <a:ext cx="4749800" cy="5080"/>
            </a:xfrm>
            <a:custGeom>
              <a:avLst/>
              <a:gdLst/>
              <a:ahLst/>
              <a:cxnLst/>
              <a:rect l="l" t="t" r="r" b="b"/>
              <a:pathLst>
                <a:path w="4749800" h="5080">
                  <a:moveTo>
                    <a:pt x="0" y="5060"/>
                  </a:moveTo>
                  <a:lnTo>
                    <a:pt x="0" y="0"/>
                  </a:lnTo>
                  <a:lnTo>
                    <a:pt x="4749494" y="0"/>
                  </a:lnTo>
                  <a:lnTo>
                    <a:pt x="474949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770" y="74559"/>
            <a:ext cx="36969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14" dirty="0">
                <a:solidFill>
                  <a:srgbClr val="FFFFFF"/>
                </a:solidFill>
                <a:latin typeface="Arial Black"/>
                <a:cs typeface="Arial Black"/>
              </a:rPr>
              <a:t>Revolution</a:t>
            </a:r>
            <a:r>
              <a:rPr sz="12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Arial Black"/>
                <a:cs typeface="Arial Black"/>
              </a:rPr>
              <a:t>5:</a:t>
            </a:r>
            <a:r>
              <a:rPr sz="1200" spc="-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105" dirty="0">
                <a:solidFill>
                  <a:srgbClr val="FFFFFF"/>
                </a:solidFill>
                <a:latin typeface="Arial Black"/>
                <a:cs typeface="Arial Black"/>
              </a:rPr>
              <a:t>Web</a:t>
            </a:r>
            <a:r>
              <a:rPr sz="1200" spc="-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140" dirty="0">
                <a:solidFill>
                  <a:srgbClr val="FFFFFF"/>
                </a:solidFill>
                <a:latin typeface="Arial Black"/>
                <a:cs typeface="Arial Black"/>
              </a:rPr>
              <a:t>1.0—The</a:t>
            </a:r>
            <a:r>
              <a:rPr sz="1200" spc="-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85" dirty="0">
                <a:solidFill>
                  <a:srgbClr val="FFFFFF"/>
                </a:solidFill>
                <a:latin typeface="Arial Black"/>
                <a:cs typeface="Arial Black"/>
              </a:rPr>
              <a:t>Read-</a:t>
            </a:r>
            <a:r>
              <a:rPr sz="1200" spc="-105" dirty="0">
                <a:solidFill>
                  <a:srgbClr val="FFFFFF"/>
                </a:solidFill>
                <a:latin typeface="Arial Black"/>
                <a:cs typeface="Arial Black"/>
              </a:rPr>
              <a:t>Only</a:t>
            </a:r>
            <a:r>
              <a:rPr sz="12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105" dirty="0">
                <a:solidFill>
                  <a:srgbClr val="FFFFFF"/>
                </a:solidFill>
                <a:latin typeface="Arial Black"/>
                <a:cs typeface="Arial Black"/>
              </a:rPr>
              <a:t>Web</a:t>
            </a:r>
            <a:r>
              <a:rPr sz="1200" spc="-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Arial Black"/>
                <a:cs typeface="Arial Black"/>
              </a:rPr>
              <a:t>(1990s)</a:t>
            </a:r>
            <a:endParaRPr sz="1200">
              <a:latin typeface="Arial Black"/>
              <a:cs typeface="Arial Black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59994" y="793610"/>
          <a:ext cx="5116195" cy="1039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4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Key</a:t>
                      </a:r>
                      <a:r>
                        <a:rPr sz="1100" spc="-9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3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Developments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19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3280">
                <a:tc>
                  <a:txBody>
                    <a:bodyPr/>
                    <a:lstStyle/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395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2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Tim</a:t>
                      </a:r>
                      <a:r>
                        <a:rPr sz="1100" spc="-5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Berners-</a:t>
                      </a:r>
                      <a:r>
                        <a:rPr sz="1100" spc="-13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Lee</a:t>
                      </a:r>
                      <a:r>
                        <a:rPr sz="1100" spc="-5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invents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World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Wide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Web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(1989–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1991)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Static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pages</a:t>
                      </a:r>
                      <a:r>
                        <a:rPr sz="1100" spc="-10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sz="1100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hyperlinks,</a:t>
                      </a:r>
                      <a:r>
                        <a:rPr sz="1100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information</a:t>
                      </a:r>
                      <a:r>
                        <a:rPr sz="1100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retrieval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Early</a:t>
                      </a:r>
                      <a:r>
                        <a:rPr sz="1100" spc="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utopian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visions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1100" spc="9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Free</a:t>
                      </a:r>
                      <a:r>
                        <a:rPr sz="1100" spc="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information,</a:t>
                      </a:r>
                      <a:r>
                        <a:rPr sz="1100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democratization,</a:t>
                      </a:r>
                      <a:r>
                        <a:rPr sz="1100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disintermediation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5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6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“</a:t>
                      </a:r>
                      <a:r>
                        <a:rPr sz="1100" spc="-6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Information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2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wants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to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be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free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”—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Stewart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Brand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9994" y="1978634"/>
          <a:ext cx="5116195" cy="5473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3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The</a:t>
                      </a:r>
                      <a:r>
                        <a:rPr sz="1100" spc="-9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Promise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2D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marL="45720" marR="49530">
                        <a:lnSpc>
                          <a:spcPts val="1190"/>
                        </a:lnSpc>
                        <a:spcBef>
                          <a:spcPts val="244"/>
                        </a:spcBef>
                      </a:pP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early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web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was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hailed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as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-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great</a:t>
                      </a:r>
                      <a:r>
                        <a:rPr sz="1100" spc="-7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equalizer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anyone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could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publish,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anyone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could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access.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1114" marB="0">
                    <a:solidFill>
                      <a:srgbClr val="F4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37"/>
              <a:ext cx="4850765" cy="5080"/>
            </a:xfrm>
            <a:custGeom>
              <a:avLst/>
              <a:gdLst/>
              <a:ahLst/>
              <a:cxnLst/>
              <a:rect l="l" t="t" r="r" b="b"/>
              <a:pathLst>
                <a:path w="4850765" h="5080">
                  <a:moveTo>
                    <a:pt x="0" y="5060"/>
                  </a:moveTo>
                  <a:lnTo>
                    <a:pt x="0" y="0"/>
                  </a:lnTo>
                  <a:lnTo>
                    <a:pt x="4850570" y="0"/>
                  </a:lnTo>
                  <a:lnTo>
                    <a:pt x="485057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74559"/>
            <a:ext cx="28949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Web</a:t>
            </a:r>
            <a:r>
              <a:rPr spc="-70" dirty="0"/>
              <a:t> </a:t>
            </a:r>
            <a:r>
              <a:rPr spc="-140" dirty="0"/>
              <a:t>2.0—The</a:t>
            </a:r>
            <a:r>
              <a:rPr spc="-70" dirty="0"/>
              <a:t> </a:t>
            </a:r>
            <a:r>
              <a:rPr spc="-105" dirty="0"/>
              <a:t>Participatory</a:t>
            </a:r>
            <a:r>
              <a:rPr spc="-70" dirty="0"/>
              <a:t> </a:t>
            </a:r>
            <a:r>
              <a:rPr spc="-105" dirty="0"/>
              <a:t>Web</a:t>
            </a:r>
            <a:r>
              <a:rPr spc="-70" dirty="0"/>
              <a:t> </a:t>
            </a:r>
            <a:r>
              <a:rPr spc="-60" dirty="0"/>
              <a:t>(2000s)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59994" y="537832"/>
          <a:ext cx="5116195" cy="1067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4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Key</a:t>
                      </a:r>
                      <a:r>
                        <a:rPr sz="1100" spc="-9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3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Developments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19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1219">
                <a:tc>
                  <a:txBody>
                    <a:bodyPr/>
                    <a:lstStyle/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395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Social</a:t>
                      </a:r>
                      <a:r>
                        <a:rPr sz="1100" spc="-6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media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user-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generated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content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Platforms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1100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Facebook,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YouTube,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Twitter/X,</a:t>
                      </a:r>
                      <a:r>
                        <a:rPr sz="11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Wikipedia,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TikTok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0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Promise</a:t>
                      </a:r>
                      <a:r>
                        <a:rPr sz="1100" spc="-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11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Everyone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becomes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creator,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not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just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consumer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Reality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1100" spc="6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attention</a:t>
                      </a:r>
                      <a:r>
                        <a:rPr sz="11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economy</a:t>
                      </a:r>
                      <a:r>
                        <a:rPr sz="11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algorithmic</a:t>
                      </a:r>
                      <a:r>
                        <a:rPr sz="11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curation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392085" y="1726123"/>
            <a:ext cx="680085" cy="130810"/>
            <a:chOff x="392085" y="1726123"/>
            <a:chExt cx="680085" cy="130810"/>
          </a:xfrm>
        </p:grpSpPr>
        <p:sp>
          <p:nvSpPr>
            <p:cNvPr id="5" name="object 5"/>
            <p:cNvSpPr/>
            <p:nvPr/>
          </p:nvSpPr>
          <p:spPr>
            <a:xfrm>
              <a:off x="394625" y="1728663"/>
              <a:ext cx="675005" cy="125730"/>
            </a:xfrm>
            <a:custGeom>
              <a:avLst/>
              <a:gdLst/>
              <a:ahLst/>
              <a:cxnLst/>
              <a:rect l="l" t="t" r="r" b="b"/>
              <a:pathLst>
                <a:path w="675005" h="125730">
                  <a:moveTo>
                    <a:pt x="62439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74528"/>
                  </a:lnTo>
                  <a:lnTo>
                    <a:pt x="3977" y="94229"/>
                  </a:lnTo>
                  <a:lnTo>
                    <a:pt x="14823" y="110316"/>
                  </a:lnTo>
                  <a:lnTo>
                    <a:pt x="30910" y="121162"/>
                  </a:lnTo>
                  <a:lnTo>
                    <a:pt x="50610" y="125139"/>
                  </a:lnTo>
                  <a:lnTo>
                    <a:pt x="624397" y="125139"/>
                  </a:lnTo>
                  <a:lnTo>
                    <a:pt x="644097" y="121162"/>
                  </a:lnTo>
                  <a:lnTo>
                    <a:pt x="660184" y="110316"/>
                  </a:lnTo>
                  <a:lnTo>
                    <a:pt x="671030" y="94229"/>
                  </a:lnTo>
                  <a:lnTo>
                    <a:pt x="675008" y="74528"/>
                  </a:lnTo>
                  <a:lnTo>
                    <a:pt x="675008" y="50610"/>
                  </a:lnTo>
                  <a:lnTo>
                    <a:pt x="671030" y="30910"/>
                  </a:lnTo>
                  <a:lnTo>
                    <a:pt x="660184" y="14823"/>
                  </a:lnTo>
                  <a:lnTo>
                    <a:pt x="644097" y="3977"/>
                  </a:lnTo>
                  <a:lnTo>
                    <a:pt x="624397" y="0"/>
                  </a:lnTo>
                  <a:close/>
                </a:path>
              </a:pathLst>
            </a:custGeom>
            <a:solidFill>
              <a:srgbClr val="D1DA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4625" y="1728663"/>
              <a:ext cx="675005" cy="125730"/>
            </a:xfrm>
            <a:custGeom>
              <a:avLst/>
              <a:gdLst/>
              <a:ahLst/>
              <a:cxnLst/>
              <a:rect l="l" t="t" r="r" b="b"/>
              <a:pathLst>
                <a:path w="675005" h="125730">
                  <a:moveTo>
                    <a:pt x="62439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74528"/>
                  </a:lnTo>
                  <a:lnTo>
                    <a:pt x="3977" y="94229"/>
                  </a:lnTo>
                  <a:lnTo>
                    <a:pt x="14823" y="110316"/>
                  </a:lnTo>
                  <a:lnTo>
                    <a:pt x="30910" y="121162"/>
                  </a:lnTo>
                  <a:lnTo>
                    <a:pt x="50610" y="125139"/>
                  </a:lnTo>
                  <a:lnTo>
                    <a:pt x="624397" y="125139"/>
                  </a:lnTo>
                  <a:lnTo>
                    <a:pt x="644097" y="121162"/>
                  </a:lnTo>
                  <a:lnTo>
                    <a:pt x="660184" y="110316"/>
                  </a:lnTo>
                  <a:lnTo>
                    <a:pt x="671030" y="94229"/>
                  </a:lnTo>
                  <a:lnTo>
                    <a:pt x="675008" y="74528"/>
                  </a:lnTo>
                  <a:lnTo>
                    <a:pt x="675008" y="50610"/>
                  </a:lnTo>
                  <a:lnTo>
                    <a:pt x="671030" y="30910"/>
                  </a:lnTo>
                  <a:lnTo>
                    <a:pt x="660184" y="14823"/>
                  </a:lnTo>
                  <a:lnTo>
                    <a:pt x="644097" y="3977"/>
                  </a:lnTo>
                  <a:lnTo>
                    <a:pt x="624397" y="0"/>
                  </a:lnTo>
                  <a:close/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72757" y="1729681"/>
            <a:ext cx="3187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5" dirty="0">
                <a:solidFill>
                  <a:srgbClr val="22373A"/>
                </a:solidFill>
                <a:latin typeface="Arial Black"/>
                <a:cs typeface="Arial Black"/>
              </a:rPr>
              <a:t>Web</a:t>
            </a:r>
            <a:r>
              <a:rPr sz="600" spc="-4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600" spc="-25" dirty="0">
                <a:solidFill>
                  <a:srgbClr val="22373A"/>
                </a:solidFill>
                <a:latin typeface="Arial Black"/>
                <a:cs typeface="Arial Black"/>
              </a:rPr>
              <a:t>1.0</a:t>
            </a:r>
            <a:endParaRPr sz="600">
              <a:latin typeface="Arial Black"/>
              <a:cs typeface="Arial Black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42102" y="1726123"/>
            <a:ext cx="680085" cy="130810"/>
            <a:chOff x="1742102" y="1726123"/>
            <a:chExt cx="680085" cy="130810"/>
          </a:xfrm>
        </p:grpSpPr>
        <p:sp>
          <p:nvSpPr>
            <p:cNvPr id="9" name="object 9"/>
            <p:cNvSpPr/>
            <p:nvPr/>
          </p:nvSpPr>
          <p:spPr>
            <a:xfrm>
              <a:off x="1744642" y="1728663"/>
              <a:ext cx="675005" cy="125730"/>
            </a:xfrm>
            <a:custGeom>
              <a:avLst/>
              <a:gdLst/>
              <a:ahLst/>
              <a:cxnLst/>
              <a:rect l="l" t="t" r="r" b="b"/>
              <a:pathLst>
                <a:path w="675005" h="125730">
                  <a:moveTo>
                    <a:pt x="62439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74528"/>
                  </a:lnTo>
                  <a:lnTo>
                    <a:pt x="3977" y="94229"/>
                  </a:lnTo>
                  <a:lnTo>
                    <a:pt x="14823" y="110316"/>
                  </a:lnTo>
                  <a:lnTo>
                    <a:pt x="30910" y="121162"/>
                  </a:lnTo>
                  <a:lnTo>
                    <a:pt x="50610" y="125139"/>
                  </a:lnTo>
                  <a:lnTo>
                    <a:pt x="624397" y="125139"/>
                  </a:lnTo>
                  <a:lnTo>
                    <a:pt x="644097" y="121162"/>
                  </a:lnTo>
                  <a:lnTo>
                    <a:pt x="660184" y="110316"/>
                  </a:lnTo>
                  <a:lnTo>
                    <a:pt x="671031" y="94229"/>
                  </a:lnTo>
                  <a:lnTo>
                    <a:pt x="675008" y="74528"/>
                  </a:lnTo>
                  <a:lnTo>
                    <a:pt x="675008" y="50610"/>
                  </a:lnTo>
                  <a:lnTo>
                    <a:pt x="671031" y="30910"/>
                  </a:lnTo>
                  <a:lnTo>
                    <a:pt x="660184" y="14823"/>
                  </a:lnTo>
                  <a:lnTo>
                    <a:pt x="644097" y="3977"/>
                  </a:lnTo>
                  <a:lnTo>
                    <a:pt x="624397" y="0"/>
                  </a:lnTo>
                  <a:close/>
                </a:path>
              </a:pathLst>
            </a:custGeom>
            <a:solidFill>
              <a:srgbClr val="E9D6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44642" y="1728663"/>
              <a:ext cx="675005" cy="125730"/>
            </a:xfrm>
            <a:custGeom>
              <a:avLst/>
              <a:gdLst/>
              <a:ahLst/>
              <a:cxnLst/>
              <a:rect l="l" t="t" r="r" b="b"/>
              <a:pathLst>
                <a:path w="675005" h="125730">
                  <a:moveTo>
                    <a:pt x="62439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74528"/>
                  </a:lnTo>
                  <a:lnTo>
                    <a:pt x="3977" y="94229"/>
                  </a:lnTo>
                  <a:lnTo>
                    <a:pt x="14823" y="110316"/>
                  </a:lnTo>
                  <a:lnTo>
                    <a:pt x="30910" y="121162"/>
                  </a:lnTo>
                  <a:lnTo>
                    <a:pt x="50610" y="125139"/>
                  </a:lnTo>
                  <a:lnTo>
                    <a:pt x="624397" y="125139"/>
                  </a:lnTo>
                  <a:lnTo>
                    <a:pt x="644097" y="121162"/>
                  </a:lnTo>
                  <a:lnTo>
                    <a:pt x="660184" y="110316"/>
                  </a:lnTo>
                  <a:lnTo>
                    <a:pt x="671031" y="94229"/>
                  </a:lnTo>
                  <a:lnTo>
                    <a:pt x="675008" y="74528"/>
                  </a:lnTo>
                  <a:lnTo>
                    <a:pt x="675008" y="50610"/>
                  </a:lnTo>
                  <a:lnTo>
                    <a:pt x="671031" y="30910"/>
                  </a:lnTo>
                  <a:lnTo>
                    <a:pt x="660184" y="14823"/>
                  </a:lnTo>
                  <a:lnTo>
                    <a:pt x="644097" y="3977"/>
                  </a:lnTo>
                  <a:lnTo>
                    <a:pt x="624397" y="0"/>
                  </a:lnTo>
                  <a:close/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922767" y="1729681"/>
            <a:ext cx="3187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5" dirty="0">
                <a:solidFill>
                  <a:srgbClr val="22373A"/>
                </a:solidFill>
                <a:latin typeface="Arial Black"/>
                <a:cs typeface="Arial Black"/>
              </a:rPr>
              <a:t>Web</a:t>
            </a:r>
            <a:r>
              <a:rPr sz="600" spc="-4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600" spc="-25" dirty="0">
                <a:solidFill>
                  <a:srgbClr val="22373A"/>
                </a:solidFill>
                <a:latin typeface="Arial Black"/>
                <a:cs typeface="Arial Black"/>
              </a:rPr>
              <a:t>2.0</a:t>
            </a:r>
            <a:endParaRPr sz="600">
              <a:latin typeface="Arial Black"/>
              <a:cs typeface="Arial Black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092119" y="1726123"/>
            <a:ext cx="680085" cy="130810"/>
            <a:chOff x="3092119" y="1726123"/>
            <a:chExt cx="680085" cy="130810"/>
          </a:xfrm>
        </p:grpSpPr>
        <p:sp>
          <p:nvSpPr>
            <p:cNvPr id="13" name="object 13"/>
            <p:cNvSpPr/>
            <p:nvPr/>
          </p:nvSpPr>
          <p:spPr>
            <a:xfrm>
              <a:off x="3094659" y="1728663"/>
              <a:ext cx="675005" cy="125730"/>
            </a:xfrm>
            <a:custGeom>
              <a:avLst/>
              <a:gdLst/>
              <a:ahLst/>
              <a:cxnLst/>
              <a:rect l="l" t="t" r="r" b="b"/>
              <a:pathLst>
                <a:path w="675004" h="125730">
                  <a:moveTo>
                    <a:pt x="62439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74528"/>
                  </a:lnTo>
                  <a:lnTo>
                    <a:pt x="3977" y="94229"/>
                  </a:lnTo>
                  <a:lnTo>
                    <a:pt x="14823" y="110316"/>
                  </a:lnTo>
                  <a:lnTo>
                    <a:pt x="30910" y="121162"/>
                  </a:lnTo>
                  <a:lnTo>
                    <a:pt x="50610" y="125139"/>
                  </a:lnTo>
                  <a:lnTo>
                    <a:pt x="624397" y="125139"/>
                  </a:lnTo>
                  <a:lnTo>
                    <a:pt x="644097" y="121162"/>
                  </a:lnTo>
                  <a:lnTo>
                    <a:pt x="660184" y="110316"/>
                  </a:lnTo>
                  <a:lnTo>
                    <a:pt x="671030" y="94229"/>
                  </a:lnTo>
                  <a:lnTo>
                    <a:pt x="675008" y="74528"/>
                  </a:lnTo>
                  <a:lnTo>
                    <a:pt x="675008" y="50610"/>
                  </a:lnTo>
                  <a:lnTo>
                    <a:pt x="671030" y="30910"/>
                  </a:lnTo>
                  <a:lnTo>
                    <a:pt x="660184" y="14823"/>
                  </a:lnTo>
                  <a:lnTo>
                    <a:pt x="644097" y="3977"/>
                  </a:lnTo>
                  <a:lnTo>
                    <a:pt x="624397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94659" y="1728663"/>
              <a:ext cx="675005" cy="125730"/>
            </a:xfrm>
            <a:custGeom>
              <a:avLst/>
              <a:gdLst/>
              <a:ahLst/>
              <a:cxnLst/>
              <a:rect l="l" t="t" r="r" b="b"/>
              <a:pathLst>
                <a:path w="675004" h="125730">
                  <a:moveTo>
                    <a:pt x="62439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74528"/>
                  </a:lnTo>
                  <a:lnTo>
                    <a:pt x="3977" y="94229"/>
                  </a:lnTo>
                  <a:lnTo>
                    <a:pt x="14823" y="110316"/>
                  </a:lnTo>
                  <a:lnTo>
                    <a:pt x="30910" y="121162"/>
                  </a:lnTo>
                  <a:lnTo>
                    <a:pt x="50610" y="125139"/>
                  </a:lnTo>
                  <a:lnTo>
                    <a:pt x="624397" y="125139"/>
                  </a:lnTo>
                  <a:lnTo>
                    <a:pt x="644097" y="121162"/>
                  </a:lnTo>
                  <a:lnTo>
                    <a:pt x="660184" y="110316"/>
                  </a:lnTo>
                  <a:lnTo>
                    <a:pt x="671030" y="94229"/>
                  </a:lnTo>
                  <a:lnTo>
                    <a:pt x="675008" y="74528"/>
                  </a:lnTo>
                  <a:lnTo>
                    <a:pt x="675008" y="50610"/>
                  </a:lnTo>
                  <a:lnTo>
                    <a:pt x="671030" y="30910"/>
                  </a:lnTo>
                  <a:lnTo>
                    <a:pt x="660184" y="14823"/>
                  </a:lnTo>
                  <a:lnTo>
                    <a:pt x="644097" y="3977"/>
                  </a:lnTo>
                  <a:lnTo>
                    <a:pt x="624397" y="0"/>
                  </a:lnTo>
                  <a:close/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194494" y="1729681"/>
            <a:ext cx="4756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22373A"/>
                </a:solidFill>
                <a:latin typeface="Arial Black"/>
                <a:cs typeface="Arial Black"/>
              </a:rPr>
              <a:t>Platform</a:t>
            </a:r>
            <a:r>
              <a:rPr sz="600" spc="-1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600" spc="-40" dirty="0">
                <a:solidFill>
                  <a:srgbClr val="22373A"/>
                </a:solidFill>
                <a:latin typeface="Arial Black"/>
                <a:cs typeface="Arial Black"/>
              </a:rPr>
              <a:t>Era</a:t>
            </a:r>
            <a:endParaRPr sz="600">
              <a:latin typeface="Arial Black"/>
              <a:cs typeface="Arial Black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066461" y="1760788"/>
            <a:ext cx="676910" cy="60960"/>
            <a:chOff x="1066461" y="1760788"/>
            <a:chExt cx="676910" cy="60960"/>
          </a:xfrm>
        </p:grpSpPr>
        <p:sp>
          <p:nvSpPr>
            <p:cNvPr id="17" name="object 17"/>
            <p:cNvSpPr/>
            <p:nvPr/>
          </p:nvSpPr>
          <p:spPr>
            <a:xfrm>
              <a:off x="1071541" y="1791233"/>
              <a:ext cx="662305" cy="0"/>
            </a:xfrm>
            <a:custGeom>
              <a:avLst/>
              <a:gdLst/>
              <a:ahLst/>
              <a:cxnLst/>
              <a:rect l="l" t="t" r="r" b="b"/>
              <a:pathLst>
                <a:path w="662305">
                  <a:moveTo>
                    <a:pt x="0" y="0"/>
                  </a:moveTo>
                  <a:lnTo>
                    <a:pt x="662249" y="0"/>
                  </a:lnTo>
                </a:path>
              </a:pathLst>
            </a:custGeom>
            <a:ln w="1012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14053" y="1764916"/>
              <a:ext cx="24765" cy="52705"/>
            </a:xfrm>
            <a:custGeom>
              <a:avLst/>
              <a:gdLst/>
              <a:ahLst/>
              <a:cxnLst/>
              <a:rect l="l" t="t" r="r" b="b"/>
              <a:pathLst>
                <a:path w="24764" h="52705">
                  <a:moveTo>
                    <a:pt x="0" y="0"/>
                  </a:moveTo>
                  <a:lnTo>
                    <a:pt x="3855" y="8044"/>
                  </a:lnTo>
                  <a:lnTo>
                    <a:pt x="11102" y="16242"/>
                  </a:lnTo>
                  <a:lnTo>
                    <a:pt x="18966" y="22898"/>
                  </a:lnTo>
                  <a:lnTo>
                    <a:pt x="24671" y="26316"/>
                  </a:lnTo>
                  <a:lnTo>
                    <a:pt x="18966" y="29734"/>
                  </a:lnTo>
                  <a:lnTo>
                    <a:pt x="11102" y="36391"/>
                  </a:lnTo>
                  <a:lnTo>
                    <a:pt x="3855" y="44589"/>
                  </a:lnTo>
                  <a:lnTo>
                    <a:pt x="0" y="52633"/>
                  </a:lnTo>
                </a:path>
              </a:pathLst>
            </a:custGeom>
            <a:ln w="8097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230566" y="1682480"/>
            <a:ext cx="353695" cy="93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50" spc="-10" dirty="0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sz="4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22373A"/>
                </a:solidFill>
                <a:latin typeface="Arial"/>
                <a:cs typeface="Arial"/>
              </a:rPr>
              <a:t>content</a:t>
            </a:r>
            <a:endParaRPr sz="45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421599" y="1760867"/>
            <a:ext cx="671830" cy="60960"/>
            <a:chOff x="2421599" y="1760867"/>
            <a:chExt cx="671830" cy="60960"/>
          </a:xfrm>
        </p:grpSpPr>
        <p:sp>
          <p:nvSpPr>
            <p:cNvPr id="21" name="object 21"/>
            <p:cNvSpPr/>
            <p:nvPr/>
          </p:nvSpPr>
          <p:spPr>
            <a:xfrm>
              <a:off x="2421599" y="1791233"/>
              <a:ext cx="662305" cy="0"/>
            </a:xfrm>
            <a:custGeom>
              <a:avLst/>
              <a:gdLst/>
              <a:ahLst/>
              <a:cxnLst/>
              <a:rect l="l" t="t" r="r" b="b"/>
              <a:pathLst>
                <a:path w="662305">
                  <a:moveTo>
                    <a:pt x="0" y="0"/>
                  </a:moveTo>
                  <a:lnTo>
                    <a:pt x="662249" y="0"/>
                  </a:lnTo>
                </a:path>
              </a:pathLst>
            </a:custGeom>
            <a:ln w="1012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64111" y="1764916"/>
              <a:ext cx="24765" cy="52705"/>
            </a:xfrm>
            <a:custGeom>
              <a:avLst/>
              <a:gdLst/>
              <a:ahLst/>
              <a:cxnLst/>
              <a:rect l="l" t="t" r="r" b="b"/>
              <a:pathLst>
                <a:path w="24764" h="52705">
                  <a:moveTo>
                    <a:pt x="0" y="0"/>
                  </a:moveTo>
                  <a:lnTo>
                    <a:pt x="3855" y="8044"/>
                  </a:lnTo>
                  <a:lnTo>
                    <a:pt x="11102" y="16242"/>
                  </a:lnTo>
                  <a:lnTo>
                    <a:pt x="18966" y="22898"/>
                  </a:lnTo>
                  <a:lnTo>
                    <a:pt x="24671" y="26316"/>
                  </a:lnTo>
                  <a:lnTo>
                    <a:pt x="18966" y="29734"/>
                  </a:lnTo>
                  <a:lnTo>
                    <a:pt x="11102" y="36391"/>
                  </a:lnTo>
                  <a:lnTo>
                    <a:pt x="3855" y="44589"/>
                  </a:lnTo>
                  <a:lnTo>
                    <a:pt x="0" y="52633"/>
                  </a:lnTo>
                </a:path>
              </a:pathLst>
            </a:custGeom>
            <a:ln w="8097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566987" y="1682480"/>
            <a:ext cx="381000" cy="93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50" spc="-10" dirty="0">
                <a:solidFill>
                  <a:srgbClr val="22373A"/>
                </a:solidFill>
                <a:latin typeface="Arial"/>
                <a:cs typeface="Arial"/>
              </a:rPr>
              <a:t>Centralization</a:t>
            </a:r>
            <a:endParaRPr sz="4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7966" y="1960725"/>
            <a:ext cx="368935" cy="93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50" spc="-10" dirty="0">
                <a:solidFill>
                  <a:srgbClr val="22373A"/>
                </a:solidFill>
                <a:latin typeface="Arial"/>
                <a:cs typeface="Arial"/>
              </a:rPr>
              <a:t>Few-</a:t>
            </a:r>
            <a:r>
              <a:rPr sz="450" dirty="0">
                <a:solidFill>
                  <a:srgbClr val="22373A"/>
                </a:solidFill>
                <a:latin typeface="Arial"/>
                <a:cs typeface="Arial"/>
              </a:rPr>
              <a:t>to-</a:t>
            </a:r>
            <a:r>
              <a:rPr sz="450" spc="-20" dirty="0">
                <a:solidFill>
                  <a:srgbClr val="22373A"/>
                </a:solidFill>
                <a:latin typeface="Arial"/>
                <a:cs typeface="Arial"/>
              </a:rPr>
              <a:t>many</a:t>
            </a:r>
            <a:endParaRPr sz="4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882222" y="1960725"/>
            <a:ext cx="400050" cy="93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50" dirty="0">
                <a:solidFill>
                  <a:srgbClr val="22373A"/>
                </a:solidFill>
                <a:latin typeface="Arial"/>
                <a:cs typeface="Arial"/>
              </a:rPr>
              <a:t>Many-to-</a:t>
            </a:r>
            <a:r>
              <a:rPr sz="450" spc="-20" dirty="0">
                <a:solidFill>
                  <a:srgbClr val="22373A"/>
                </a:solidFill>
                <a:latin typeface="Arial"/>
                <a:cs typeface="Arial"/>
              </a:rPr>
              <a:t>many</a:t>
            </a:r>
            <a:endParaRPr sz="4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182289" y="1962973"/>
            <a:ext cx="499745" cy="93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50" spc="-10" dirty="0">
                <a:solidFill>
                  <a:srgbClr val="22373A"/>
                </a:solidFill>
                <a:latin typeface="Arial"/>
                <a:cs typeface="Arial"/>
              </a:rPr>
              <a:t>Many-</a:t>
            </a:r>
            <a:r>
              <a:rPr sz="450" dirty="0">
                <a:solidFill>
                  <a:srgbClr val="22373A"/>
                </a:solidFill>
                <a:latin typeface="Arial"/>
                <a:cs typeface="Arial"/>
              </a:rPr>
              <a:t>through-</a:t>
            </a:r>
            <a:r>
              <a:rPr sz="450" spc="-25" dirty="0">
                <a:solidFill>
                  <a:srgbClr val="22373A"/>
                </a:solidFill>
                <a:latin typeface="Arial"/>
                <a:cs typeface="Arial"/>
              </a:rPr>
              <a:t>few</a:t>
            </a:r>
            <a:endParaRPr sz="450">
              <a:latin typeface="Arial"/>
              <a:cs typeface="Arial"/>
            </a:endParaRPr>
          </a:p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359994" y="2209444"/>
          <a:ext cx="5116195" cy="573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3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New</a:t>
                      </a:r>
                      <a:r>
                        <a:rPr sz="1100" spc="-9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Intermediaries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BF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45720" marR="427355">
                        <a:lnSpc>
                          <a:spcPts val="1190"/>
                        </a:lnSpc>
                        <a:spcBef>
                          <a:spcPts val="229"/>
                        </a:spcBef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Platform companies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become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new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2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gatekeepers</a:t>
                      </a:r>
                      <a:r>
                        <a:rPr sz="1100" spc="-1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sz="1100" spc="-6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they’re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driven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by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advertising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revenue.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solidFill>
                      <a:srgbClr val="F9E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8" name="object 28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29" name="object 29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0" y="3234937"/>
              <a:ext cx="4951730" cy="5080"/>
            </a:xfrm>
            <a:custGeom>
              <a:avLst/>
              <a:gdLst/>
              <a:ahLst/>
              <a:cxnLst/>
              <a:rect l="l" t="t" r="r" b="b"/>
              <a:pathLst>
                <a:path w="4951730" h="5080">
                  <a:moveTo>
                    <a:pt x="0" y="5060"/>
                  </a:moveTo>
                  <a:lnTo>
                    <a:pt x="0" y="0"/>
                  </a:lnTo>
                  <a:lnTo>
                    <a:pt x="4951645" y="0"/>
                  </a:lnTo>
                  <a:lnTo>
                    <a:pt x="495164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49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Web</a:t>
            </a:r>
            <a:r>
              <a:rPr spc="-50" dirty="0"/>
              <a:t> </a:t>
            </a:r>
            <a:r>
              <a:rPr spc="-130" dirty="0"/>
              <a:t>3.0?—</a:t>
            </a:r>
            <a:r>
              <a:rPr spc="-125" dirty="0"/>
              <a:t>Contested</a:t>
            </a:r>
            <a:r>
              <a:rPr spc="-50" dirty="0"/>
              <a:t> </a:t>
            </a:r>
            <a:r>
              <a:rPr spc="-90" dirty="0"/>
              <a:t>Futures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59994" y="472452"/>
          <a:ext cx="5116195" cy="1067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14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Competing</a:t>
                      </a:r>
                      <a:r>
                        <a:rPr sz="1100" spc="-5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Visions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19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1219">
                <a:tc>
                  <a:txBody>
                    <a:bodyPr/>
                    <a:lstStyle/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395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2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Semantic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2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web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20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/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4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AI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integration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11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Machines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understand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meaning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2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Blockchain</a:t>
                      </a:r>
                      <a:r>
                        <a:rPr sz="1100" spc="-4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and</a:t>
                      </a:r>
                      <a:r>
                        <a:rPr sz="1100" spc="-4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decentralization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1100" spc="7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Removing</a:t>
                      </a:r>
                      <a:r>
                        <a:rPr sz="1100" spc="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intermediaries</a:t>
                      </a:r>
                      <a:r>
                        <a:rPr sz="1100" spc="1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(?)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Virtual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and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2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augmented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7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reality</a:t>
                      </a:r>
                      <a:r>
                        <a:rPr sz="1100" spc="-7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1100" spc="8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Immersive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digital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worlds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5"/>
                        </a:spcBef>
                        <a:buFont typeface="Arial"/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Artificial</a:t>
                      </a:r>
                      <a:r>
                        <a:rPr sz="1100" spc="-10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intelligence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5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ChatGPT,</a:t>
                      </a:r>
                      <a:r>
                        <a:rPr sz="1100" spc="-4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image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generation,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beyond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07213" y="1698675"/>
          <a:ext cx="2495550" cy="875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Utopian</a:t>
                      </a:r>
                      <a:r>
                        <a:rPr sz="1100" spc="-5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Vision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2D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815">
                <a:tc>
                  <a:txBody>
                    <a:bodyPr/>
                    <a:lstStyle/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380"/>
                        </a:spcBef>
                        <a:buClr>
                          <a:srgbClr val="13B03D"/>
                        </a:buClr>
                        <a:buChar char="•"/>
                        <a:tabLst>
                          <a:tab pos="27432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Digital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liberation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5"/>
                        </a:spcBef>
                        <a:buClr>
                          <a:srgbClr val="13B03D"/>
                        </a:buClr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Democratized</a:t>
                      </a:r>
                      <a:r>
                        <a:rPr sz="1100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AI</a:t>
                      </a:r>
                      <a:r>
                        <a:rPr sz="1100" spc="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tools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Clr>
                          <a:srgbClr val="13B03D"/>
                        </a:buClr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Decentralized</a:t>
                      </a:r>
                      <a:r>
                        <a:rPr sz="1100" spc="4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power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solidFill>
                      <a:srgbClr val="F4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033610" y="1697850"/>
          <a:ext cx="2495550" cy="876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0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Dystopian</a:t>
                      </a:r>
                      <a:r>
                        <a:rPr sz="1100" spc="-4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Vision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BF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085">
                <a:tc>
                  <a:txBody>
                    <a:bodyPr/>
                    <a:lstStyle/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380"/>
                        </a:spcBef>
                        <a:buClr>
                          <a:srgbClr val="BF392B"/>
                        </a:buClr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Surveillance</a:t>
                      </a:r>
                      <a:r>
                        <a:rPr sz="1100" spc="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capitalism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5"/>
                        </a:spcBef>
                        <a:buClr>
                          <a:srgbClr val="BF392B"/>
                        </a:buClr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Deepfakes</a:t>
                      </a:r>
                      <a:r>
                        <a:rPr sz="1100" spc="-6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-6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misinformation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Clr>
                          <a:srgbClr val="BF392B"/>
                        </a:buClr>
                        <a:buChar char="•"/>
                        <a:tabLst>
                          <a:tab pos="274320" algn="l"/>
                        </a:tabLst>
                      </a:pP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Algorithmic</a:t>
                      </a:r>
                      <a:r>
                        <a:rPr sz="1100" spc="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control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solidFill>
                      <a:srgbClr val="F9E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359994" y="2706811"/>
            <a:ext cx="5040630" cy="405765"/>
            <a:chOff x="359994" y="2706811"/>
            <a:chExt cx="5040630" cy="405765"/>
          </a:xfrm>
        </p:grpSpPr>
        <p:sp>
          <p:nvSpPr>
            <p:cNvPr id="7" name="object 7"/>
            <p:cNvSpPr/>
            <p:nvPr/>
          </p:nvSpPr>
          <p:spPr>
            <a:xfrm>
              <a:off x="359994" y="2706811"/>
              <a:ext cx="5040630" cy="405765"/>
            </a:xfrm>
            <a:custGeom>
              <a:avLst/>
              <a:gdLst/>
              <a:ahLst/>
              <a:cxnLst/>
              <a:rect l="l" t="t" r="r" b="b"/>
              <a:pathLst>
                <a:path w="5040630" h="405764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367390"/>
                  </a:lnTo>
                  <a:lnTo>
                    <a:pt x="2982" y="382165"/>
                  </a:lnTo>
                  <a:lnTo>
                    <a:pt x="11117" y="394231"/>
                  </a:lnTo>
                  <a:lnTo>
                    <a:pt x="23182" y="402366"/>
                  </a:lnTo>
                  <a:lnTo>
                    <a:pt x="37958" y="405348"/>
                  </a:lnTo>
                  <a:lnTo>
                    <a:pt x="5002106" y="405348"/>
                  </a:lnTo>
                  <a:lnTo>
                    <a:pt x="5016882" y="402366"/>
                  </a:lnTo>
                  <a:lnTo>
                    <a:pt x="5028947" y="394231"/>
                  </a:lnTo>
                  <a:lnTo>
                    <a:pt x="5037082" y="382165"/>
                  </a:lnTo>
                  <a:lnTo>
                    <a:pt x="5040064" y="367390"/>
                  </a:lnTo>
                  <a:lnTo>
                    <a:pt x="5040064" y="37958"/>
                  </a:lnTo>
                  <a:lnTo>
                    <a:pt x="5037082" y="23183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B777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2646" y="2890101"/>
              <a:ext cx="5015230" cy="209550"/>
            </a:xfrm>
            <a:custGeom>
              <a:avLst/>
              <a:gdLst/>
              <a:ahLst/>
              <a:cxnLst/>
              <a:rect l="l" t="t" r="r" b="b"/>
              <a:pathLst>
                <a:path w="5015230" h="209550">
                  <a:moveTo>
                    <a:pt x="5014759" y="0"/>
                  </a:moveTo>
                  <a:lnTo>
                    <a:pt x="0" y="0"/>
                  </a:lnTo>
                  <a:lnTo>
                    <a:pt x="0" y="184100"/>
                  </a:lnTo>
                  <a:lnTo>
                    <a:pt x="1988" y="193950"/>
                  </a:lnTo>
                  <a:lnTo>
                    <a:pt x="7411" y="201994"/>
                  </a:lnTo>
                  <a:lnTo>
                    <a:pt x="15455" y="207417"/>
                  </a:lnTo>
                  <a:lnTo>
                    <a:pt x="25305" y="209405"/>
                  </a:lnTo>
                  <a:lnTo>
                    <a:pt x="4989454" y="209405"/>
                  </a:lnTo>
                  <a:lnTo>
                    <a:pt x="4999304" y="207417"/>
                  </a:lnTo>
                  <a:lnTo>
                    <a:pt x="5007347" y="201994"/>
                  </a:lnTo>
                  <a:lnTo>
                    <a:pt x="5012770" y="193950"/>
                  </a:lnTo>
                  <a:lnTo>
                    <a:pt x="5014759" y="184100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B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35863" y="2682275"/>
            <a:ext cx="4478655" cy="39243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100" spc="-10" dirty="0">
                <a:solidFill>
                  <a:srgbClr val="FFFFFF"/>
                </a:solidFill>
                <a:latin typeface="Arial Black"/>
                <a:cs typeface="Arial Black"/>
              </a:rPr>
              <a:t>Discussion</a:t>
            </a:r>
            <a:endParaRPr sz="11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10" dirty="0">
                <a:latin typeface="Arial"/>
                <a:cs typeface="Arial"/>
              </a:rPr>
              <a:t>What</a:t>
            </a:r>
            <a:r>
              <a:rPr sz="1100" dirty="0">
                <a:latin typeface="Arial"/>
                <a:cs typeface="Arial"/>
              </a:rPr>
              <a:t> would </a:t>
            </a:r>
            <a:r>
              <a:rPr sz="1100" spc="-40" dirty="0">
                <a:latin typeface="Arial"/>
                <a:cs typeface="Arial"/>
              </a:rPr>
              <a:t>a</a:t>
            </a:r>
            <a:r>
              <a:rPr sz="1100" dirty="0">
                <a:latin typeface="Arial"/>
                <a:cs typeface="Arial"/>
              </a:rPr>
              <a:t> truly </a:t>
            </a:r>
            <a:r>
              <a:rPr sz="1100" spc="-100" dirty="0">
                <a:latin typeface="Arial Black"/>
                <a:cs typeface="Arial Black"/>
              </a:rPr>
              <a:t>decentralized</a:t>
            </a:r>
            <a:r>
              <a:rPr sz="1100" spc="-60" dirty="0">
                <a:latin typeface="Arial Black"/>
                <a:cs typeface="Arial Black"/>
              </a:rPr>
              <a:t> </a:t>
            </a:r>
            <a:r>
              <a:rPr sz="1100" dirty="0">
                <a:latin typeface="Arial"/>
                <a:cs typeface="Arial"/>
              </a:rPr>
              <a:t>internet look like?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Is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it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even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possible?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08320" y="2963111"/>
            <a:ext cx="1473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50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2" name="object 12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3234937"/>
              <a:ext cx="5053330" cy="5080"/>
            </a:xfrm>
            <a:custGeom>
              <a:avLst/>
              <a:gdLst/>
              <a:ahLst/>
              <a:cxnLst/>
              <a:rect l="l" t="t" r="r" b="b"/>
              <a:pathLst>
                <a:path w="5053330" h="5080">
                  <a:moveTo>
                    <a:pt x="0" y="5060"/>
                  </a:moveTo>
                  <a:lnTo>
                    <a:pt x="0" y="0"/>
                  </a:lnTo>
                  <a:lnTo>
                    <a:pt x="5052721" y="0"/>
                  </a:lnTo>
                  <a:lnTo>
                    <a:pt x="505272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Current</a:t>
            </a:r>
            <a:r>
              <a:rPr spc="-60" dirty="0"/>
              <a:t> </a:t>
            </a:r>
            <a:r>
              <a:rPr spc="-110" dirty="0"/>
              <a:t>Debates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946137"/>
            <a:ext cx="5163820" cy="0"/>
          </a:xfrm>
          <a:custGeom>
            <a:avLst/>
            <a:gdLst/>
            <a:ahLst/>
            <a:cxnLst/>
            <a:rect l="l" t="t" r="r" b="b"/>
            <a:pathLst>
              <a:path w="5163820">
                <a:moveTo>
                  <a:pt x="0" y="0"/>
                </a:moveTo>
                <a:lnTo>
                  <a:pt x="5163654" y="0"/>
                </a:lnTo>
              </a:path>
            </a:pathLst>
          </a:custGeom>
          <a:ln w="11087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59994" y="1156487"/>
            <a:ext cx="5163820" cy="0"/>
          </a:xfrm>
          <a:custGeom>
            <a:avLst/>
            <a:gdLst/>
            <a:ahLst/>
            <a:cxnLst/>
            <a:rect l="l" t="t" r="r" b="b"/>
            <a:pathLst>
              <a:path w="5163820">
                <a:moveTo>
                  <a:pt x="0" y="0"/>
                </a:moveTo>
                <a:lnTo>
                  <a:pt x="5163654" y="0"/>
                </a:lnTo>
              </a:path>
            </a:pathLst>
          </a:custGeom>
          <a:ln w="6921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7294" y="894048"/>
            <a:ext cx="1596390" cy="43942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000" spc="-10" dirty="0">
                <a:solidFill>
                  <a:srgbClr val="22373A"/>
                </a:solidFill>
                <a:latin typeface="Arial Black"/>
                <a:cs typeface="Arial Black"/>
              </a:rPr>
              <a:t>Debate</a:t>
            </a:r>
            <a:endParaRPr sz="10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Free</a:t>
            </a: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speech</a:t>
            </a:r>
            <a:r>
              <a:rPr sz="1000" spc="-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vs.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moderation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19150" y="894048"/>
            <a:ext cx="1208405" cy="43942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000" spc="-90" dirty="0">
                <a:solidFill>
                  <a:srgbClr val="22373A"/>
                </a:solidFill>
                <a:latin typeface="Arial Black"/>
                <a:cs typeface="Arial Black"/>
              </a:rPr>
              <a:t>Position</a:t>
            </a:r>
            <a:r>
              <a:rPr sz="1000" spc="-3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Arial Black"/>
                <a:cs typeface="Arial Black"/>
              </a:rPr>
              <a:t>A</a:t>
            </a:r>
            <a:endParaRPr sz="10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Maximize</a:t>
            </a:r>
            <a:r>
              <a:rPr sz="1000" spc="-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expression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91007" y="894048"/>
            <a:ext cx="788670" cy="43942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000" spc="-90" dirty="0">
                <a:solidFill>
                  <a:srgbClr val="22373A"/>
                </a:solidFill>
                <a:latin typeface="Arial Black"/>
                <a:cs typeface="Arial Black"/>
              </a:rPr>
              <a:t>Position</a:t>
            </a:r>
            <a:r>
              <a:rPr sz="1000" spc="-3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Arial Black"/>
                <a:cs typeface="Arial Black"/>
              </a:rPr>
              <a:t>B</a:t>
            </a:r>
            <a:endParaRPr sz="10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Prevent</a:t>
            </a: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harm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91007" y="1291252"/>
            <a:ext cx="91249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Enable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19150" y="1291252"/>
            <a:ext cx="1247140" cy="31305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1070"/>
              </a:lnSpc>
              <a:spcBef>
                <a:spcPts val="240"/>
              </a:spcBef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Protect</a:t>
            </a:r>
            <a:r>
              <a:rPr sz="10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personal</a:t>
            </a:r>
            <a:r>
              <a:rPr sz="10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Yes,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curate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91007" y="1426545"/>
            <a:ext cx="10814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No,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they’re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neutral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91007" y="1561838"/>
            <a:ext cx="11531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Manipulation</a:t>
            </a:r>
            <a:r>
              <a:rPr sz="1000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harms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7294" y="1291252"/>
            <a:ext cx="1447165" cy="58356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1070"/>
              </a:lnSpc>
              <a:spcBef>
                <a:spcPts val="240"/>
              </a:spcBef>
            </a:pP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Privacy</a:t>
            </a:r>
            <a:r>
              <a:rPr sz="1000" spc="-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vs.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convenience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Platforms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publishers?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Algorithmic</a:t>
            </a:r>
            <a:r>
              <a:rPr sz="10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amplification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AI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benefits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vs.</a:t>
            </a:r>
            <a:r>
              <a:rPr sz="10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risks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19150" y="1561838"/>
            <a:ext cx="1239520" cy="31305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1070"/>
              </a:lnSpc>
              <a:spcBef>
                <a:spcPts val="240"/>
              </a:spcBef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Personalization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helps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Productivity</a:t>
            </a:r>
            <a:r>
              <a:rPr sz="10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gains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91007" y="1697131"/>
            <a:ext cx="9626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Job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loss,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misuse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59994" y="1906612"/>
            <a:ext cx="5163820" cy="0"/>
          </a:xfrm>
          <a:custGeom>
            <a:avLst/>
            <a:gdLst/>
            <a:ahLst/>
            <a:cxnLst/>
            <a:rect l="l" t="t" r="r" b="b"/>
            <a:pathLst>
              <a:path w="5163820">
                <a:moveTo>
                  <a:pt x="0" y="0"/>
                </a:moveTo>
                <a:lnTo>
                  <a:pt x="5163654" y="0"/>
                </a:lnTo>
              </a:path>
            </a:pathLst>
          </a:custGeom>
          <a:ln w="11087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359994" y="2156167"/>
          <a:ext cx="5116195" cy="3943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3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The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Recurring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Question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BF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Who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decides?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on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what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basis?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solidFill>
                      <a:srgbClr val="F9E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7" name="object 17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8" name="object 18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0" y="3234937"/>
              <a:ext cx="5154295" cy="5080"/>
            </a:xfrm>
            <a:custGeom>
              <a:avLst/>
              <a:gdLst/>
              <a:ahLst/>
              <a:cxnLst/>
              <a:rect l="l" t="t" r="r" b="b"/>
              <a:pathLst>
                <a:path w="5154295" h="5080">
                  <a:moveTo>
                    <a:pt x="0" y="5060"/>
                  </a:moveTo>
                  <a:lnTo>
                    <a:pt x="0" y="0"/>
                  </a:lnTo>
                  <a:lnTo>
                    <a:pt x="5153708" y="0"/>
                  </a:lnTo>
                  <a:lnTo>
                    <a:pt x="515370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51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5" dirty="0"/>
              <a:t>Lecture</a:t>
            </a:r>
            <a:r>
              <a:rPr spc="-60" dirty="0"/>
              <a:t> </a:t>
            </a:r>
            <a:r>
              <a:rPr spc="-85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47914"/>
            <a:ext cx="3044825" cy="23475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Introduction:</a:t>
            </a:r>
            <a:r>
              <a:rPr sz="1100" spc="195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Information</a:t>
            </a:r>
            <a:r>
              <a:rPr sz="1100" spc="125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spc="-2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Technology</a:t>
            </a:r>
            <a:r>
              <a:rPr sz="1100" spc="13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and</a:t>
            </a:r>
            <a:r>
              <a:rPr sz="1100" spc="125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2" action="ppaction://hlinksldjump"/>
              </a:rPr>
              <a:t>Ethics</a:t>
            </a:r>
            <a:endParaRPr sz="1100">
              <a:latin typeface="Arial"/>
              <a:cs typeface="Arial"/>
            </a:endParaRPr>
          </a:p>
          <a:p>
            <a:pPr marL="12700" marR="1043305">
              <a:lnSpc>
                <a:spcPct val="214299"/>
              </a:lnSpc>
            </a:pP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Revolution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1:</a:t>
            </a:r>
            <a:r>
              <a:rPr sz="1100" spc="10" dirty="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3" action="ppaction://hlinksldjump"/>
              </a:rPr>
              <a:t>Writing</a:t>
            </a:r>
            <a:r>
              <a:rPr sz="1100" spc="500" dirty="0">
                <a:solidFill>
                  <a:srgbClr val="CED2D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Revolution</a:t>
            </a:r>
            <a:r>
              <a:rPr sz="1100" spc="-3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2:</a:t>
            </a:r>
            <a:r>
              <a:rPr sz="1100" spc="15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The</a:t>
            </a:r>
            <a:r>
              <a:rPr sz="1100" spc="-3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Printing</a:t>
            </a:r>
            <a:r>
              <a:rPr sz="1100" spc="-25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4" action="ppaction://hlinksldjump"/>
              </a:rPr>
              <a:t>Press</a:t>
            </a:r>
            <a:endParaRPr sz="1100">
              <a:latin typeface="Arial"/>
              <a:cs typeface="Arial"/>
            </a:endParaRPr>
          </a:p>
          <a:p>
            <a:pPr marL="12700" marR="613410">
              <a:lnSpc>
                <a:spcPct val="214299"/>
              </a:lnSpc>
            </a:pP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Revolution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3:</a:t>
            </a:r>
            <a:r>
              <a:rPr sz="1100" spc="1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Distance</a:t>
            </a:r>
            <a:r>
              <a:rPr sz="1100" spc="-3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5" action="ppaction://hlinksldjump"/>
              </a:rPr>
              <a:t>Communication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Revolution</a:t>
            </a:r>
            <a:r>
              <a:rPr sz="1100" spc="-40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4:</a:t>
            </a:r>
            <a:r>
              <a:rPr sz="1100" spc="5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1100" spc="-30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Mass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6" action="ppaction://hlinksldjump"/>
              </a:rPr>
              <a:t>Media</a:t>
            </a:r>
            <a:endParaRPr sz="1100">
              <a:latin typeface="Arial"/>
              <a:cs typeface="Arial"/>
            </a:endParaRPr>
          </a:p>
          <a:p>
            <a:pPr marL="12700" marR="875030">
              <a:lnSpc>
                <a:spcPct val="214299"/>
              </a:lnSpc>
            </a:pP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Revolution</a:t>
            </a:r>
            <a:r>
              <a:rPr sz="1100" spc="-4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5: 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The</a:t>
            </a:r>
            <a:r>
              <a:rPr sz="1100" spc="-4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110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World</a:t>
            </a:r>
            <a:r>
              <a:rPr sz="1100" spc="-35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1100" spc="-1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Wide</a:t>
            </a:r>
            <a:r>
              <a:rPr sz="1100" spc="-40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1100" spc="-25" dirty="0">
                <a:solidFill>
                  <a:srgbClr val="CED2D3"/>
                </a:solidFill>
                <a:latin typeface="Arial"/>
                <a:cs typeface="Arial"/>
                <a:hlinkClick r:id="rId7" action="ppaction://hlinksldjump"/>
              </a:rPr>
              <a:t>Web</a:t>
            </a:r>
            <a:r>
              <a:rPr sz="1100" spc="-25" dirty="0">
                <a:solidFill>
                  <a:srgbClr val="CED2D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  <a:hlinkClick r:id="rId8" action="ppaction://hlinksldjump"/>
              </a:rPr>
              <a:t>Conclusion:</a:t>
            </a:r>
            <a:r>
              <a:rPr sz="1100" spc="-35" dirty="0">
                <a:solidFill>
                  <a:srgbClr val="22373A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  <a:hlinkClick r:id="rId8" action="ppaction://hlinksldjump"/>
              </a:rPr>
              <a:t>Patterns</a:t>
            </a:r>
            <a:r>
              <a:rPr sz="1100" spc="-70" dirty="0">
                <a:solidFill>
                  <a:srgbClr val="22373A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  <a:hlinkClick r:id="rId8" action="ppaction://hlinksldjump"/>
              </a:rPr>
              <a:t>and</a:t>
            </a:r>
            <a:r>
              <a:rPr sz="1100" spc="-70" dirty="0">
                <a:solidFill>
                  <a:srgbClr val="22373A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  <a:hlinkClick r:id="rId8" action="ppaction://hlinksldjump"/>
              </a:rPr>
              <a:t>Lessons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37"/>
              <a:ext cx="5255260" cy="5080"/>
            </a:xfrm>
            <a:custGeom>
              <a:avLst/>
              <a:gdLst/>
              <a:ahLst/>
              <a:cxnLst/>
              <a:rect l="l" t="t" r="r" b="b"/>
              <a:pathLst>
                <a:path w="5255260" h="5080">
                  <a:moveTo>
                    <a:pt x="0" y="5060"/>
                  </a:moveTo>
                  <a:lnTo>
                    <a:pt x="0" y="0"/>
                  </a:lnTo>
                  <a:lnTo>
                    <a:pt x="5254784" y="0"/>
                  </a:lnTo>
                  <a:lnTo>
                    <a:pt x="525478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52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14" dirty="0"/>
              <a:t>Patterns</a:t>
            </a:r>
            <a:r>
              <a:rPr spc="-75" dirty="0"/>
              <a:t> </a:t>
            </a:r>
            <a:r>
              <a:rPr spc="-140" dirty="0"/>
              <a:t>Across</a:t>
            </a:r>
            <a:r>
              <a:rPr spc="-70" dirty="0"/>
              <a:t> </a:t>
            </a:r>
            <a:r>
              <a:rPr spc="-105" dirty="0"/>
              <a:t>the</a:t>
            </a:r>
            <a:r>
              <a:rPr spc="-70" dirty="0"/>
              <a:t> </a:t>
            </a:r>
            <a:r>
              <a:rPr spc="-100" dirty="0"/>
              <a:t>Revolutions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21499" y="477989"/>
          <a:ext cx="4403090" cy="326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7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6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02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8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18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2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Revolution</a:t>
                      </a:r>
                      <a:endParaRPr sz="800">
                        <a:latin typeface="Arial Black"/>
                        <a:cs typeface="Arial Black"/>
                      </a:endParaRPr>
                    </a:p>
                  </a:txBody>
                  <a:tcPr marL="0" marR="0" marT="20955" marB="0">
                    <a:lnT w="12700">
                      <a:solidFill>
                        <a:srgbClr val="22373A"/>
                      </a:solidFill>
                      <a:prstDash val="solid"/>
                    </a:lnT>
                    <a:lnB w="9525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Technology</a:t>
                      </a:r>
                      <a:endParaRPr sz="800">
                        <a:latin typeface="Arial Black"/>
                        <a:cs typeface="Arial Black"/>
                      </a:endParaRPr>
                    </a:p>
                  </a:txBody>
                  <a:tcPr marL="0" marR="0" marT="20955" marB="0">
                    <a:lnT w="12700">
                      <a:solidFill>
                        <a:srgbClr val="22373A"/>
                      </a:solidFill>
                      <a:prstDash val="solid"/>
                    </a:lnT>
                    <a:lnB w="9525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Optimist</a:t>
                      </a:r>
                      <a:endParaRPr sz="800">
                        <a:latin typeface="Arial Black"/>
                        <a:cs typeface="Arial Black"/>
                      </a:endParaRPr>
                    </a:p>
                  </a:txBody>
                  <a:tcPr marL="0" marR="0" marT="20955" marB="0">
                    <a:lnT w="12700">
                      <a:solidFill>
                        <a:srgbClr val="22373A"/>
                      </a:solidFill>
                      <a:prstDash val="solid"/>
                    </a:lnT>
                    <a:lnB w="9525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Pessimist</a:t>
                      </a:r>
                      <a:endParaRPr sz="800">
                        <a:latin typeface="Arial Black"/>
                        <a:cs typeface="Arial Black"/>
                      </a:endParaRPr>
                    </a:p>
                  </a:txBody>
                  <a:tcPr marL="0" marR="0" marT="20955" marB="0">
                    <a:lnT w="12700">
                      <a:solidFill>
                        <a:srgbClr val="22373A"/>
                      </a:solidFill>
                      <a:prstDash val="solid"/>
                    </a:lnT>
                    <a:lnB w="9525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174625" marR="317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Core</a:t>
                      </a:r>
                      <a:r>
                        <a:rPr sz="800" spc="-4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8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Tension</a:t>
                      </a:r>
                      <a:endParaRPr sz="800">
                        <a:latin typeface="Arial Black"/>
                        <a:cs typeface="Arial Black"/>
                      </a:endParaRPr>
                    </a:p>
                  </a:txBody>
                  <a:tcPr marL="0" marR="0" marT="20955" marB="0">
                    <a:lnT w="12700">
                      <a:solidFill>
                        <a:srgbClr val="22373A"/>
                      </a:solidFill>
                      <a:prstDash val="solid"/>
                    </a:lnT>
                    <a:lnB w="9525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>
                        <a:lnSpc>
                          <a:spcPts val="894"/>
                        </a:lnSpc>
                        <a:spcBef>
                          <a:spcPts val="140"/>
                        </a:spcBef>
                      </a:pPr>
                      <a:r>
                        <a:rPr sz="8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Writing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7780" marB="0">
                    <a:lnT w="9525">
                      <a:solidFill>
                        <a:srgbClr val="22373A"/>
                      </a:solidFill>
                      <a:prstDash val="solid"/>
                    </a:lnT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894"/>
                        </a:lnSpc>
                        <a:spcBef>
                          <a:spcPts val="140"/>
                        </a:spcBef>
                      </a:pPr>
                      <a:r>
                        <a:rPr sz="8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Alphabet,</a:t>
                      </a:r>
                      <a:r>
                        <a:rPr sz="800" spc="-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scrolls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7780" marB="0">
                    <a:lnT w="9525">
                      <a:solidFill>
                        <a:srgbClr val="22373A"/>
                      </a:solidFill>
                      <a:prstDash val="solid"/>
                    </a:lnT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ts val="894"/>
                        </a:lnSpc>
                        <a:spcBef>
                          <a:spcPts val="140"/>
                        </a:spcBef>
                      </a:pPr>
                      <a:r>
                        <a:rPr sz="8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Theuth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7780" marB="0">
                    <a:lnT w="9525">
                      <a:solidFill>
                        <a:srgbClr val="22373A"/>
                      </a:solidFill>
                      <a:prstDash val="solid"/>
                    </a:lnT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35560" algn="ctr">
                        <a:lnSpc>
                          <a:spcPts val="894"/>
                        </a:lnSpc>
                        <a:spcBef>
                          <a:spcPts val="140"/>
                        </a:spcBef>
                      </a:pPr>
                      <a:r>
                        <a:rPr sz="8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Socrates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7780" marB="0">
                    <a:lnT w="9525">
                      <a:solidFill>
                        <a:srgbClr val="22373A"/>
                      </a:solidFill>
                      <a:prstDash val="solid"/>
                    </a:lnT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ts val="894"/>
                        </a:lnSpc>
                        <a:spcBef>
                          <a:spcPts val="140"/>
                        </a:spcBef>
                      </a:pPr>
                      <a:r>
                        <a:rPr sz="8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Memory</a:t>
                      </a:r>
                      <a:r>
                        <a:rPr sz="800" spc="9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vs.</a:t>
                      </a:r>
                      <a:r>
                        <a:rPr sz="800" spc="4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Remind-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7780" marB="0">
                    <a:lnT w="9525">
                      <a:solidFill>
                        <a:srgbClr val="22373A"/>
                      </a:solidFill>
                      <a:prstDash val="solid"/>
                    </a:lnT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423619" y="880083"/>
            <a:ext cx="293370" cy="2552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>
              <a:lnSpc>
                <a:spcPts val="850"/>
              </a:lnSpc>
              <a:spcBef>
                <a:spcPts val="215"/>
              </a:spcBef>
            </a:pP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Luther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Mill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23619" y="1201659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spc="-225" dirty="0">
                <a:solidFill>
                  <a:srgbClr val="22373A"/>
                </a:solidFill>
                <a:latin typeface="Arial"/>
                <a:cs typeface="Arial"/>
              </a:rPr>
              <a:t>—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8799" y="880083"/>
            <a:ext cx="559435" cy="68262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144145">
              <a:lnSpc>
                <a:spcPts val="850"/>
              </a:lnSpc>
              <a:spcBef>
                <a:spcPts val="215"/>
              </a:spcBef>
            </a:pP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Printing Distance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ts val="1680"/>
              </a:lnSpc>
              <a:spcBef>
                <a:spcPts val="95"/>
              </a:spcBef>
            </a:pP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Mass</a:t>
            </a:r>
            <a:r>
              <a:rPr sz="8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Media The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Web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94567" y="880083"/>
            <a:ext cx="890269" cy="68262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81280">
              <a:lnSpc>
                <a:spcPts val="850"/>
              </a:lnSpc>
              <a:spcBef>
                <a:spcPts val="215"/>
              </a:spcBef>
            </a:pP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Movable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type Telegraph,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phone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Radio,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5" dirty="0">
                <a:solidFill>
                  <a:srgbClr val="22373A"/>
                </a:solidFill>
                <a:latin typeface="Arial"/>
                <a:cs typeface="Arial"/>
              </a:rPr>
              <a:t>TV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Internet,</a:t>
            </a:r>
            <a:r>
              <a:rPr sz="800" spc="1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platforms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23619" y="1415337"/>
            <a:ext cx="6457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Early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utopians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08029" y="880083"/>
            <a:ext cx="683895" cy="68262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268605">
              <a:lnSpc>
                <a:spcPts val="850"/>
              </a:lnSpc>
              <a:spcBef>
                <a:spcPts val="215"/>
              </a:spcBef>
            </a:pP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Erasmus Marx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ts val="1680"/>
              </a:lnSpc>
              <a:spcBef>
                <a:spcPts val="95"/>
              </a:spcBef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Orwell,</a:t>
            </a:r>
            <a:r>
              <a:rPr sz="8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Arendt (Us?)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17791" y="772184"/>
            <a:ext cx="1033780" cy="895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905"/>
              </a:lnSpc>
              <a:spcBef>
                <a:spcPts val="95"/>
              </a:spcBef>
            </a:pP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ing</a:t>
            </a:r>
            <a:endParaRPr sz="800">
              <a:latin typeface="Arial"/>
              <a:cs typeface="Arial"/>
            </a:endParaRPr>
          </a:p>
          <a:p>
            <a:pPr marL="12700" marR="5080" algn="just">
              <a:lnSpc>
                <a:spcPct val="87600"/>
              </a:lnSpc>
              <a:spcBef>
                <a:spcPts val="65"/>
              </a:spcBef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Revolution</a:t>
            </a:r>
            <a:r>
              <a:rPr sz="800" spc="-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vs.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Reform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Free</a:t>
            </a:r>
            <a:r>
              <a:rPr sz="8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market</a:t>
            </a:r>
            <a:r>
              <a:rPr sz="8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vs.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Own-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ership</a:t>
            </a:r>
            <a:endParaRPr sz="800">
              <a:latin typeface="Arial"/>
              <a:cs typeface="Arial"/>
            </a:endParaRPr>
          </a:p>
          <a:p>
            <a:pPr marL="12700" marR="5080" algn="just">
              <a:lnSpc>
                <a:spcPts val="830"/>
              </a:lnSpc>
              <a:spcBef>
                <a:spcPts val="25"/>
              </a:spcBef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Information vs.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Con-trol</a:t>
            </a:r>
            <a:endParaRPr sz="800">
              <a:latin typeface="Arial"/>
              <a:cs typeface="Arial"/>
            </a:endParaRPr>
          </a:p>
          <a:p>
            <a:pPr marL="12700" marR="5080" algn="just">
              <a:lnSpc>
                <a:spcPts val="830"/>
              </a:lnSpc>
              <a:spcBef>
                <a:spcPts val="20"/>
              </a:spcBef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Liberation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vs.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Surveil-lance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21499" y="1696935"/>
            <a:ext cx="4317365" cy="0"/>
          </a:xfrm>
          <a:custGeom>
            <a:avLst/>
            <a:gdLst/>
            <a:ahLst/>
            <a:cxnLst/>
            <a:rect l="l" t="t" r="r" b="b"/>
            <a:pathLst>
              <a:path w="4317365">
                <a:moveTo>
                  <a:pt x="0" y="0"/>
                </a:moveTo>
                <a:lnTo>
                  <a:pt x="4316996" y="0"/>
                </a:lnTo>
              </a:path>
            </a:pathLst>
          </a:custGeom>
          <a:ln w="11087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359994" y="1857921"/>
          <a:ext cx="5116195" cy="1067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sz="1100" spc="-10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Recurring</a:t>
                      </a:r>
                      <a:r>
                        <a:rPr sz="1100" spc="-6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Themes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19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1219">
                <a:tc>
                  <a:txBody>
                    <a:bodyPr/>
                    <a:lstStyle/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395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Each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revolution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promised</a:t>
                      </a:r>
                      <a:r>
                        <a:rPr sz="1100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liberation</a:t>
                      </a:r>
                      <a:r>
                        <a:rPr sz="1100" spc="-5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and</a:t>
                      </a:r>
                      <a:r>
                        <a:rPr sz="1100" spc="-5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3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democratization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Each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enabled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2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new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forms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9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of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control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and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manipulation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0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optimists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and pessimists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were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both</a:t>
                      </a:r>
                      <a:r>
                        <a:rPr sz="1100" spc="-6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8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partially</a:t>
                      </a:r>
                      <a:r>
                        <a:rPr sz="1100" spc="-5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right</a:t>
                      </a:r>
                      <a:endParaRPr sz="1100">
                        <a:latin typeface="Arial Black"/>
                        <a:cs typeface="Arial Black"/>
                      </a:endParaRPr>
                    </a:p>
                    <a:p>
                      <a:pPr marL="274320" indent="-121920">
                        <a:lnSpc>
                          <a:spcPct val="100000"/>
                        </a:lnSpc>
                        <a:spcBef>
                          <a:spcPts val="175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sz="1100" spc="-3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question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1100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always:</a:t>
                      </a:r>
                      <a:r>
                        <a:rPr sz="1100" spc="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9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Who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controls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the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14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technology,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5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and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for </a:t>
                      </a:r>
                      <a:r>
                        <a:rPr sz="1100" spc="-1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what</a:t>
                      </a:r>
                      <a:r>
                        <a:rPr sz="1100" spc="-8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22373A"/>
                          </a:solidFill>
                          <a:latin typeface="Arial Black"/>
                          <a:cs typeface="Arial Black"/>
                        </a:rPr>
                        <a:t>ends?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50165" marB="0"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3" name="object 13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4" name="object 14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3234937"/>
              <a:ext cx="5356225" cy="5080"/>
            </a:xfrm>
            <a:custGeom>
              <a:avLst/>
              <a:gdLst/>
              <a:ahLst/>
              <a:cxnLst/>
              <a:rect l="l" t="t" r="r" b="b"/>
              <a:pathLst>
                <a:path w="5356225" h="5080">
                  <a:moveTo>
                    <a:pt x="0" y="5060"/>
                  </a:moveTo>
                  <a:lnTo>
                    <a:pt x="0" y="0"/>
                  </a:lnTo>
                  <a:lnTo>
                    <a:pt x="5355859" y="0"/>
                  </a:lnTo>
                  <a:lnTo>
                    <a:pt x="535585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74559"/>
            <a:ext cx="24130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65" dirty="0"/>
              <a:t>You</a:t>
            </a:r>
            <a:r>
              <a:rPr spc="-95" dirty="0"/>
              <a:t> </a:t>
            </a:r>
            <a:r>
              <a:rPr spc="-145" dirty="0"/>
              <a:t>Be</a:t>
            </a:r>
            <a:r>
              <a:rPr spc="-95" dirty="0"/>
              <a:t> </a:t>
            </a:r>
            <a:r>
              <a:rPr spc="-105" dirty="0"/>
              <a:t>the</a:t>
            </a:r>
            <a:r>
              <a:rPr spc="-95" dirty="0"/>
              <a:t> </a:t>
            </a:r>
            <a:r>
              <a:rPr spc="-105" dirty="0"/>
              <a:t>Judge:</a:t>
            </a:r>
            <a:r>
              <a:rPr spc="-45" dirty="0"/>
              <a:t> </a:t>
            </a:r>
            <a:r>
              <a:rPr spc="-140" dirty="0"/>
              <a:t>The</a:t>
            </a:r>
            <a:r>
              <a:rPr spc="-95" dirty="0"/>
              <a:t> </a:t>
            </a:r>
            <a:r>
              <a:rPr spc="-114" dirty="0"/>
              <a:t>Phone</a:t>
            </a:r>
            <a:r>
              <a:rPr spc="-95" dirty="0"/>
              <a:t> </a:t>
            </a:r>
            <a:r>
              <a:rPr spc="-70" dirty="0"/>
              <a:t>Ban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530321"/>
            <a:ext cx="5040630" cy="815975"/>
            <a:chOff x="359994" y="530321"/>
            <a:chExt cx="5040630" cy="815975"/>
          </a:xfrm>
        </p:grpSpPr>
        <p:sp>
          <p:nvSpPr>
            <p:cNvPr id="4" name="object 4"/>
            <p:cNvSpPr/>
            <p:nvPr/>
          </p:nvSpPr>
          <p:spPr>
            <a:xfrm>
              <a:off x="359994" y="530321"/>
              <a:ext cx="5040630" cy="815975"/>
            </a:xfrm>
            <a:custGeom>
              <a:avLst/>
              <a:gdLst/>
              <a:ahLst/>
              <a:cxnLst/>
              <a:rect l="l" t="t" r="r" b="b"/>
              <a:pathLst>
                <a:path w="5040630" h="815975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777716"/>
                  </a:lnTo>
                  <a:lnTo>
                    <a:pt x="2982" y="792491"/>
                  </a:lnTo>
                  <a:lnTo>
                    <a:pt x="11117" y="804557"/>
                  </a:lnTo>
                  <a:lnTo>
                    <a:pt x="23182" y="812691"/>
                  </a:lnTo>
                  <a:lnTo>
                    <a:pt x="37958" y="815674"/>
                  </a:lnTo>
                  <a:lnTo>
                    <a:pt x="5002106" y="815674"/>
                  </a:lnTo>
                  <a:lnTo>
                    <a:pt x="5016882" y="812691"/>
                  </a:lnTo>
                  <a:lnTo>
                    <a:pt x="5028947" y="804557"/>
                  </a:lnTo>
                  <a:lnTo>
                    <a:pt x="5037082" y="792491"/>
                  </a:lnTo>
                  <a:lnTo>
                    <a:pt x="5040064" y="777716"/>
                  </a:lnTo>
                  <a:lnTo>
                    <a:pt x="5040064" y="37958"/>
                  </a:lnTo>
                  <a:lnTo>
                    <a:pt x="5037082" y="23183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B777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2646" y="729598"/>
              <a:ext cx="5015230" cy="603885"/>
            </a:xfrm>
            <a:custGeom>
              <a:avLst/>
              <a:gdLst/>
              <a:ahLst/>
              <a:cxnLst/>
              <a:rect l="l" t="t" r="r" b="b"/>
              <a:pathLst>
                <a:path w="5015230" h="603885">
                  <a:moveTo>
                    <a:pt x="5014759" y="0"/>
                  </a:moveTo>
                  <a:lnTo>
                    <a:pt x="0" y="0"/>
                  </a:lnTo>
                  <a:lnTo>
                    <a:pt x="0" y="578440"/>
                  </a:lnTo>
                  <a:lnTo>
                    <a:pt x="1988" y="588290"/>
                  </a:lnTo>
                  <a:lnTo>
                    <a:pt x="7411" y="596334"/>
                  </a:lnTo>
                  <a:lnTo>
                    <a:pt x="15455" y="601757"/>
                  </a:lnTo>
                  <a:lnTo>
                    <a:pt x="25305" y="603745"/>
                  </a:lnTo>
                  <a:lnTo>
                    <a:pt x="4989454" y="603745"/>
                  </a:lnTo>
                  <a:lnTo>
                    <a:pt x="4999304" y="601757"/>
                  </a:lnTo>
                  <a:lnTo>
                    <a:pt x="5007347" y="596334"/>
                  </a:lnTo>
                  <a:lnTo>
                    <a:pt x="5012770" y="588290"/>
                  </a:lnTo>
                  <a:lnTo>
                    <a:pt x="5014759" y="578440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7F1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59994" y="2563727"/>
            <a:ext cx="5040630" cy="556895"/>
            <a:chOff x="359994" y="2563727"/>
            <a:chExt cx="5040630" cy="556895"/>
          </a:xfrm>
        </p:grpSpPr>
        <p:sp>
          <p:nvSpPr>
            <p:cNvPr id="7" name="object 7"/>
            <p:cNvSpPr/>
            <p:nvPr/>
          </p:nvSpPr>
          <p:spPr>
            <a:xfrm>
              <a:off x="359994" y="2563727"/>
              <a:ext cx="5040630" cy="556895"/>
            </a:xfrm>
            <a:custGeom>
              <a:avLst/>
              <a:gdLst/>
              <a:ahLst/>
              <a:cxnLst/>
              <a:rect l="l" t="t" r="r" b="b"/>
              <a:pathLst>
                <a:path w="5040630" h="556894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518819"/>
                  </a:lnTo>
                  <a:lnTo>
                    <a:pt x="2982" y="533594"/>
                  </a:lnTo>
                  <a:lnTo>
                    <a:pt x="11117" y="545659"/>
                  </a:lnTo>
                  <a:lnTo>
                    <a:pt x="23182" y="553794"/>
                  </a:lnTo>
                  <a:lnTo>
                    <a:pt x="37958" y="556777"/>
                  </a:lnTo>
                  <a:lnTo>
                    <a:pt x="5002106" y="556777"/>
                  </a:lnTo>
                  <a:lnTo>
                    <a:pt x="5016882" y="553794"/>
                  </a:lnTo>
                  <a:lnTo>
                    <a:pt x="5028947" y="545659"/>
                  </a:lnTo>
                  <a:lnTo>
                    <a:pt x="5037082" y="533594"/>
                  </a:lnTo>
                  <a:lnTo>
                    <a:pt x="5040064" y="518819"/>
                  </a:lnTo>
                  <a:lnTo>
                    <a:pt x="5040064" y="37958"/>
                  </a:lnTo>
                  <a:lnTo>
                    <a:pt x="5037082" y="23182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B777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2646" y="2747016"/>
              <a:ext cx="5015230" cy="361315"/>
            </a:xfrm>
            <a:custGeom>
              <a:avLst/>
              <a:gdLst/>
              <a:ahLst/>
              <a:cxnLst/>
              <a:rect l="l" t="t" r="r" b="b"/>
              <a:pathLst>
                <a:path w="5015230" h="361314">
                  <a:moveTo>
                    <a:pt x="5014759" y="0"/>
                  </a:moveTo>
                  <a:lnTo>
                    <a:pt x="0" y="0"/>
                  </a:lnTo>
                  <a:lnTo>
                    <a:pt x="0" y="335529"/>
                  </a:lnTo>
                  <a:lnTo>
                    <a:pt x="1988" y="345379"/>
                  </a:lnTo>
                  <a:lnTo>
                    <a:pt x="7411" y="353422"/>
                  </a:lnTo>
                  <a:lnTo>
                    <a:pt x="15455" y="358845"/>
                  </a:lnTo>
                  <a:lnTo>
                    <a:pt x="25305" y="360834"/>
                  </a:lnTo>
                  <a:lnTo>
                    <a:pt x="4989454" y="360834"/>
                  </a:lnTo>
                  <a:lnTo>
                    <a:pt x="4999304" y="358845"/>
                  </a:lnTo>
                  <a:lnTo>
                    <a:pt x="5007347" y="353422"/>
                  </a:lnTo>
                  <a:lnTo>
                    <a:pt x="5012770" y="345379"/>
                  </a:lnTo>
                  <a:lnTo>
                    <a:pt x="5014759" y="335529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B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7294" y="528115"/>
            <a:ext cx="4977130" cy="2554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4003040" algn="ctr">
              <a:lnSpc>
                <a:spcPct val="100000"/>
              </a:lnSpc>
              <a:spcBef>
                <a:spcPts val="90"/>
              </a:spcBef>
            </a:pPr>
            <a:r>
              <a:rPr sz="1100" spc="-135" dirty="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sz="1100" spc="-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Arial Black"/>
                <a:cs typeface="Arial Black"/>
              </a:rPr>
              <a:t>vote</a:t>
            </a:r>
            <a:endParaRPr sz="1100">
              <a:latin typeface="Arial Black"/>
              <a:cs typeface="Arial Black"/>
            </a:endParaRPr>
          </a:p>
          <a:p>
            <a:pPr marL="205104" marR="108585" algn="just">
              <a:lnSpc>
                <a:spcPts val="1050"/>
              </a:lnSpc>
              <a:spcBef>
                <a:spcPts val="935"/>
              </a:spcBef>
            </a:pPr>
            <a:r>
              <a:rPr sz="1000" spc="-20" dirty="0">
                <a:latin typeface="Arial"/>
                <a:cs typeface="Arial"/>
              </a:rPr>
              <a:t>Your</a:t>
            </a:r>
            <a:r>
              <a:rPr sz="1000" spc="-85" dirty="0">
                <a:latin typeface="Arial"/>
                <a:cs typeface="Arial"/>
              </a:rPr>
              <a:t> </a:t>
            </a:r>
            <a:r>
              <a:rPr sz="1000" spc="5" dirty="0">
                <a:latin typeface="Arial"/>
                <a:cs typeface="Arial"/>
              </a:rPr>
              <a:t>school</a:t>
            </a:r>
            <a:r>
              <a:rPr sz="1000" spc="-85" dirty="0">
                <a:latin typeface="Arial"/>
                <a:cs typeface="Arial"/>
              </a:rPr>
              <a:t> </a:t>
            </a:r>
            <a:r>
              <a:rPr sz="1000" spc="10" dirty="0">
                <a:latin typeface="Arial"/>
                <a:cs typeface="Arial"/>
              </a:rPr>
              <a:t>board</a:t>
            </a:r>
            <a:r>
              <a:rPr sz="1000" spc="-8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85" dirty="0">
                <a:latin typeface="Arial"/>
                <a:cs typeface="Arial"/>
              </a:rPr>
              <a:t> </a:t>
            </a:r>
            <a:r>
              <a:rPr sz="1000" spc="10" dirty="0">
                <a:latin typeface="Arial"/>
                <a:cs typeface="Arial"/>
              </a:rPr>
              <a:t>voting</a:t>
            </a:r>
            <a:r>
              <a:rPr sz="1000" spc="-85" dirty="0">
                <a:latin typeface="Arial"/>
                <a:cs typeface="Arial"/>
              </a:rPr>
              <a:t> </a:t>
            </a:r>
            <a:r>
              <a:rPr sz="1000" spc="25" dirty="0">
                <a:latin typeface="Arial"/>
                <a:cs typeface="Arial"/>
              </a:rPr>
              <a:t>tonight</a:t>
            </a:r>
            <a:r>
              <a:rPr sz="1000" spc="-85" dirty="0">
                <a:latin typeface="Arial"/>
                <a:cs typeface="Arial"/>
              </a:rPr>
              <a:t> </a:t>
            </a:r>
            <a:r>
              <a:rPr sz="1000" spc="10" dirty="0">
                <a:latin typeface="Arial"/>
                <a:cs typeface="Arial"/>
              </a:rPr>
              <a:t>on</a:t>
            </a:r>
            <a:r>
              <a:rPr sz="1000" spc="-8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a</a:t>
            </a:r>
            <a:r>
              <a:rPr sz="1000" spc="-85" dirty="0">
                <a:latin typeface="Arial"/>
                <a:cs typeface="Arial"/>
              </a:rPr>
              <a:t> </a:t>
            </a:r>
            <a:r>
              <a:rPr sz="1000" spc="-80" dirty="0">
                <a:latin typeface="Arial Black"/>
                <a:cs typeface="Arial Black"/>
              </a:rPr>
              <a:t>total</a:t>
            </a:r>
            <a:r>
              <a:rPr sz="1000" spc="-140" dirty="0">
                <a:latin typeface="Arial Black"/>
                <a:cs typeface="Arial Black"/>
              </a:rPr>
              <a:t> </a:t>
            </a:r>
            <a:r>
              <a:rPr sz="1000" spc="-80" dirty="0">
                <a:latin typeface="Arial Black"/>
                <a:cs typeface="Arial Black"/>
              </a:rPr>
              <a:t>ban</a:t>
            </a:r>
            <a:r>
              <a:rPr sz="1000" spc="-140" dirty="0">
                <a:latin typeface="Arial Black"/>
                <a:cs typeface="Arial Black"/>
              </a:rPr>
              <a:t> </a:t>
            </a:r>
            <a:r>
              <a:rPr sz="1000" spc="-90" dirty="0">
                <a:latin typeface="Arial Black"/>
                <a:cs typeface="Arial Black"/>
              </a:rPr>
              <a:t>on</a:t>
            </a:r>
            <a:r>
              <a:rPr sz="1000" spc="-140" dirty="0">
                <a:latin typeface="Arial Black"/>
                <a:cs typeface="Arial Black"/>
              </a:rPr>
              <a:t> </a:t>
            </a:r>
            <a:r>
              <a:rPr sz="1000" spc="-75" dirty="0">
                <a:latin typeface="Arial Black"/>
                <a:cs typeface="Arial Black"/>
              </a:rPr>
              <a:t>phones</a:t>
            </a:r>
            <a:r>
              <a:rPr sz="1000" spc="-75" dirty="0">
                <a:latin typeface="Arial"/>
                <a:cs typeface="Arial"/>
              </a:rPr>
              <a:t>, </a:t>
            </a:r>
            <a:r>
              <a:rPr sz="1000" spc="25" dirty="0">
                <a:latin typeface="Arial"/>
                <a:cs typeface="Arial"/>
              </a:rPr>
              <a:t>bell</a:t>
            </a:r>
            <a:r>
              <a:rPr sz="1000" spc="-85" dirty="0">
                <a:latin typeface="Arial"/>
                <a:cs typeface="Arial"/>
              </a:rPr>
              <a:t> </a:t>
            </a:r>
            <a:r>
              <a:rPr sz="1000" spc="35" dirty="0">
                <a:latin typeface="Arial"/>
                <a:cs typeface="Arial"/>
              </a:rPr>
              <a:t>to</a:t>
            </a:r>
            <a:r>
              <a:rPr sz="1000" spc="-85" dirty="0">
                <a:latin typeface="Arial"/>
                <a:cs typeface="Arial"/>
              </a:rPr>
              <a:t> </a:t>
            </a:r>
            <a:r>
              <a:rPr sz="1000" spc="20" dirty="0">
                <a:latin typeface="Arial"/>
                <a:cs typeface="Arial"/>
              </a:rPr>
              <a:t>bell,</a:t>
            </a:r>
            <a:r>
              <a:rPr sz="1000" spc="-75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K–</a:t>
            </a:r>
            <a:r>
              <a:rPr sz="1000" spc="25" dirty="0">
                <a:latin typeface="Arial"/>
                <a:cs typeface="Arial"/>
              </a:rPr>
              <a:t>12.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35" dirty="0">
                <a:latin typeface="Arial"/>
                <a:cs typeface="Arial"/>
              </a:rPr>
              <a:t>You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are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25" dirty="0">
                <a:latin typeface="Arial"/>
                <a:cs typeface="Arial"/>
              </a:rPr>
              <a:t>the</a:t>
            </a:r>
            <a:r>
              <a:rPr sz="1000" spc="5" dirty="0">
                <a:latin typeface="Arial"/>
                <a:cs typeface="Arial"/>
              </a:rPr>
              <a:t> deciding vote.</a:t>
            </a:r>
            <a:r>
              <a:rPr sz="1000" spc="14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Four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10" dirty="0">
                <a:latin typeface="Arial"/>
                <a:cs typeface="Arial"/>
              </a:rPr>
              <a:t>consultants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have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25" dirty="0">
                <a:latin typeface="Arial"/>
                <a:cs typeface="Arial"/>
              </a:rPr>
              <a:t>filed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15" dirty="0">
                <a:latin typeface="Arial"/>
                <a:cs typeface="Arial"/>
              </a:rPr>
              <a:t>briefs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229" dirty="0">
                <a:latin typeface="Arial"/>
                <a:cs typeface="Arial"/>
              </a:rPr>
              <a:t>—</a:t>
            </a:r>
            <a:r>
              <a:rPr sz="1000" spc="5" dirty="0">
                <a:latin typeface="Arial"/>
                <a:cs typeface="Arial"/>
              </a:rPr>
              <a:t> and </a:t>
            </a:r>
            <a:r>
              <a:rPr sz="1000" spc="-5" dirty="0">
                <a:latin typeface="Arial"/>
                <a:cs typeface="Arial"/>
              </a:rPr>
              <a:t>every</a:t>
            </a:r>
            <a:r>
              <a:rPr sz="1000" spc="5" dirty="0">
                <a:latin typeface="Arial"/>
                <a:cs typeface="Arial"/>
              </a:rPr>
              <a:t> one </a:t>
            </a:r>
            <a:r>
              <a:rPr sz="1000" spc="20" dirty="0">
                <a:latin typeface="Arial"/>
                <a:cs typeface="Arial"/>
              </a:rPr>
              <a:t>of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25" dirty="0">
                <a:latin typeface="Arial"/>
                <a:cs typeface="Arial"/>
              </a:rPr>
              <a:t>them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has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5" dirty="0">
                <a:latin typeface="Arial"/>
                <a:cs typeface="Arial"/>
              </a:rPr>
              <a:t>been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5" dirty="0">
                <a:latin typeface="Arial"/>
                <a:cs typeface="Arial"/>
              </a:rPr>
              <a:t>dead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25" dirty="0">
                <a:latin typeface="Arial"/>
                <a:cs typeface="Arial"/>
              </a:rPr>
              <a:t>for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20" dirty="0">
                <a:latin typeface="Arial"/>
                <a:cs typeface="Arial"/>
              </a:rPr>
              <a:t>at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10" dirty="0">
                <a:latin typeface="Arial"/>
                <a:cs typeface="Arial"/>
              </a:rPr>
              <a:t>least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30" dirty="0">
                <a:latin typeface="Arial"/>
                <a:cs typeface="Arial"/>
              </a:rPr>
              <a:t>fifty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years.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000">
              <a:latin typeface="Arial"/>
              <a:cs typeface="Arial"/>
            </a:endParaRPr>
          </a:p>
          <a:p>
            <a:pPr marL="12700" marR="34290">
              <a:lnSpc>
                <a:spcPts val="1190"/>
              </a:lnSpc>
            </a:pPr>
            <a:r>
              <a:rPr sz="1100" spc="-80" dirty="0">
                <a:solidFill>
                  <a:srgbClr val="22373A"/>
                </a:solidFill>
                <a:latin typeface="Arial Black"/>
                <a:cs typeface="Arial Black"/>
              </a:rPr>
              <a:t>Split</a:t>
            </a:r>
            <a:r>
              <a:rPr sz="1100" spc="-6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95" dirty="0">
                <a:solidFill>
                  <a:srgbClr val="22373A"/>
                </a:solidFill>
                <a:latin typeface="Arial Black"/>
                <a:cs typeface="Arial Black"/>
              </a:rPr>
              <a:t>into</a:t>
            </a:r>
            <a:r>
              <a:rPr sz="1100" spc="-5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85" dirty="0">
                <a:solidFill>
                  <a:srgbClr val="22373A"/>
                </a:solidFill>
                <a:latin typeface="Arial Black"/>
                <a:cs typeface="Arial Black"/>
              </a:rPr>
              <a:t>four</a:t>
            </a:r>
            <a:r>
              <a:rPr sz="1100" spc="-6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100" dirty="0">
                <a:solidFill>
                  <a:srgbClr val="22373A"/>
                </a:solidFill>
                <a:latin typeface="Arial Black"/>
                <a:cs typeface="Arial Black"/>
              </a:rPr>
              <a:t>groups.</a:t>
            </a:r>
            <a:r>
              <a:rPr sz="1100" spc="-1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Arial"/>
                <a:cs typeface="Arial"/>
              </a:rPr>
              <a:t>Argue</a:t>
            </a:r>
            <a:r>
              <a:rPr sz="11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the ban</a:t>
            </a:r>
            <a:r>
              <a:rPr sz="11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from your</a:t>
            </a:r>
            <a:r>
              <a:rPr sz="11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thinker’s actual</a:t>
            </a:r>
            <a:r>
              <a:rPr sz="11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position, in</a:t>
            </a:r>
            <a:r>
              <a:rPr sz="11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two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minutes:</a:t>
            </a:r>
            <a:endParaRPr sz="1100">
              <a:latin typeface="Arial"/>
              <a:cs typeface="Arial"/>
            </a:endParaRPr>
          </a:p>
          <a:p>
            <a:pPr marL="287020" indent="-121920">
              <a:lnSpc>
                <a:spcPts val="1165"/>
              </a:lnSpc>
              <a:buFont typeface="Arial"/>
              <a:buChar char="•"/>
              <a:tabLst>
                <a:tab pos="287020" algn="l"/>
              </a:tabLst>
            </a:pPr>
            <a:r>
              <a:rPr sz="1100" spc="-105" dirty="0">
                <a:solidFill>
                  <a:srgbClr val="22373A"/>
                </a:solidFill>
                <a:latin typeface="Arial Black"/>
                <a:cs typeface="Arial Black"/>
              </a:rPr>
              <a:t>Socrates</a:t>
            </a:r>
            <a:r>
              <a:rPr sz="1100" spc="-10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1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1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tool</a:t>
            </a:r>
            <a:r>
              <a:rPr sz="11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counterfeits</a:t>
            </a:r>
            <a:r>
              <a:rPr sz="11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1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capacity</a:t>
            </a:r>
            <a:r>
              <a:rPr sz="11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11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claims</a:t>
            </a:r>
            <a:r>
              <a:rPr sz="11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11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extend</a:t>
            </a:r>
            <a:endParaRPr sz="1100">
              <a:latin typeface="Arial"/>
              <a:cs typeface="Arial"/>
            </a:endParaRPr>
          </a:p>
          <a:p>
            <a:pPr marL="287020" marR="201295" indent="-121920">
              <a:lnSpc>
                <a:spcPts val="1190"/>
              </a:lnSpc>
              <a:spcBef>
                <a:spcPts val="85"/>
              </a:spcBef>
              <a:buFont typeface="Arial"/>
              <a:buChar char="•"/>
              <a:tabLst>
                <a:tab pos="289560" algn="l"/>
              </a:tabLst>
            </a:pPr>
            <a:r>
              <a:rPr sz="1100" spc="-100" dirty="0">
                <a:solidFill>
                  <a:srgbClr val="22373A"/>
                </a:solidFill>
                <a:latin typeface="Arial Black"/>
                <a:cs typeface="Arial Black"/>
              </a:rPr>
              <a:t>Erasmus</a:t>
            </a:r>
            <a:r>
              <a:rPr sz="1100" spc="-1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1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problem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press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flood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bad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print</a:t>
            </a:r>
            <a:r>
              <a:rPr sz="11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254" dirty="0">
                <a:solidFill>
                  <a:srgbClr val="22373A"/>
                </a:solidFill>
                <a:latin typeface="Arial"/>
                <a:cs typeface="Arial"/>
              </a:rPr>
              <a:t>—</a:t>
            </a:r>
            <a:r>
              <a:rPr sz="11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teach 	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judgment,</a:t>
            </a:r>
            <a:r>
              <a:rPr sz="11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don’t</a:t>
            </a:r>
            <a:r>
              <a:rPr sz="11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ban</a:t>
            </a:r>
            <a:endParaRPr sz="1100">
              <a:latin typeface="Arial"/>
              <a:cs typeface="Arial"/>
            </a:endParaRPr>
          </a:p>
          <a:p>
            <a:pPr marL="287020" indent="-121920">
              <a:lnSpc>
                <a:spcPts val="1115"/>
              </a:lnSpc>
              <a:buFont typeface="Arial"/>
              <a:buChar char="•"/>
              <a:tabLst>
                <a:tab pos="287020" algn="l"/>
              </a:tabLst>
            </a:pPr>
            <a:r>
              <a:rPr sz="1100" spc="-95" dirty="0">
                <a:solidFill>
                  <a:srgbClr val="22373A"/>
                </a:solidFill>
                <a:latin typeface="Arial Black"/>
                <a:cs typeface="Arial Black"/>
              </a:rPr>
              <a:t>Marx</a:t>
            </a:r>
            <a:r>
              <a:rPr sz="1100" spc="-9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1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ask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who owns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device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and who profits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from the</a:t>
            </a:r>
            <a:r>
              <a:rPr sz="11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attention</a:t>
            </a:r>
            <a:endParaRPr sz="1100">
              <a:latin typeface="Arial"/>
              <a:cs typeface="Arial"/>
            </a:endParaRPr>
          </a:p>
          <a:p>
            <a:pPr marL="287020" indent="-121920">
              <a:lnSpc>
                <a:spcPts val="1255"/>
              </a:lnSpc>
              <a:buFont typeface="Arial"/>
              <a:buChar char="•"/>
              <a:tabLst>
                <a:tab pos="287020" algn="l"/>
              </a:tabLst>
            </a:pPr>
            <a:r>
              <a:rPr sz="1100" spc="-85" dirty="0">
                <a:solidFill>
                  <a:srgbClr val="22373A"/>
                </a:solidFill>
                <a:latin typeface="Arial Black"/>
                <a:cs typeface="Arial Black"/>
              </a:rPr>
              <a:t>Arendt</a:t>
            </a:r>
            <a:r>
              <a:rPr sz="1100" spc="-8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1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ask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 what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happens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1100" spc="-4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 public that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shares</a:t>
            </a: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 no common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world</a:t>
            </a:r>
            <a:endParaRPr sz="1100">
              <a:latin typeface="Arial"/>
              <a:cs typeface="Arial"/>
            </a:endParaRPr>
          </a:p>
          <a:p>
            <a:pPr marR="3974465" algn="ctr">
              <a:lnSpc>
                <a:spcPct val="100000"/>
              </a:lnSpc>
              <a:spcBef>
                <a:spcPts val="765"/>
              </a:spcBef>
            </a:pPr>
            <a:r>
              <a:rPr sz="1100" spc="-130" dirty="0">
                <a:solidFill>
                  <a:srgbClr val="FFFFFF"/>
                </a:solidFill>
                <a:latin typeface="Arial Black"/>
                <a:cs typeface="Arial Black"/>
              </a:rPr>
              <a:t>Then</a:t>
            </a:r>
            <a:r>
              <a:rPr sz="1100" spc="-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 Black"/>
                <a:cs typeface="Arial Black"/>
              </a:rPr>
              <a:t>decide</a:t>
            </a:r>
            <a:endParaRPr sz="1100">
              <a:latin typeface="Arial Black"/>
              <a:cs typeface="Arial Black"/>
            </a:endParaRPr>
          </a:p>
          <a:p>
            <a:pPr marL="100965" marR="5080">
              <a:lnSpc>
                <a:spcPts val="1190"/>
              </a:lnSpc>
              <a:spcBef>
                <a:spcPts val="275"/>
              </a:spcBef>
            </a:pPr>
            <a:r>
              <a:rPr sz="1100" dirty="0">
                <a:latin typeface="Arial"/>
                <a:cs typeface="Arial"/>
              </a:rPr>
              <a:t>Which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brief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would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130" dirty="0">
                <a:latin typeface="Arial Black"/>
                <a:cs typeface="Arial Black"/>
              </a:rPr>
              <a:t>change</a:t>
            </a:r>
            <a:r>
              <a:rPr sz="1100" spc="-30" dirty="0">
                <a:latin typeface="Arial Black"/>
                <a:cs typeface="Arial Black"/>
              </a:rPr>
              <a:t> </a:t>
            </a:r>
            <a:r>
              <a:rPr sz="1100" spc="-95" dirty="0">
                <a:latin typeface="Arial Black"/>
                <a:cs typeface="Arial Black"/>
              </a:rPr>
              <a:t>its</a:t>
            </a:r>
            <a:r>
              <a:rPr sz="1100" spc="-35" dirty="0">
                <a:latin typeface="Arial Black"/>
                <a:cs typeface="Arial Black"/>
              </a:rPr>
              <a:t> </a:t>
            </a:r>
            <a:r>
              <a:rPr sz="1100" spc="-120" dirty="0">
                <a:latin typeface="Arial Black"/>
                <a:cs typeface="Arial Black"/>
              </a:rPr>
              <a:t>own</a:t>
            </a:r>
            <a:r>
              <a:rPr sz="1100" spc="-30" dirty="0">
                <a:latin typeface="Arial Black"/>
                <a:cs typeface="Arial Black"/>
              </a:rPr>
              <a:t> </a:t>
            </a:r>
            <a:r>
              <a:rPr sz="1100" spc="-95" dirty="0">
                <a:latin typeface="Arial Black"/>
                <a:cs typeface="Arial Black"/>
              </a:rPr>
              <a:t>author’s</a:t>
            </a:r>
            <a:r>
              <a:rPr sz="1100" spc="-35" dirty="0">
                <a:latin typeface="Arial Black"/>
                <a:cs typeface="Arial Black"/>
              </a:rPr>
              <a:t> </a:t>
            </a:r>
            <a:r>
              <a:rPr sz="1100" spc="-90" dirty="0">
                <a:latin typeface="Arial Black"/>
                <a:cs typeface="Arial Black"/>
              </a:rPr>
              <a:t>mind</a:t>
            </a:r>
            <a:r>
              <a:rPr sz="1100" spc="-30" dirty="0">
                <a:latin typeface="Arial Black"/>
                <a:cs typeface="Arial Black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you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showed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them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last </a:t>
            </a:r>
            <a:r>
              <a:rPr sz="1100" dirty="0">
                <a:latin typeface="Arial"/>
                <a:cs typeface="Arial"/>
              </a:rPr>
              <a:t>twenty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years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evidence?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08320" y="2963111"/>
            <a:ext cx="1473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54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12" name="object 12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3234937"/>
              <a:ext cx="5457190" cy="5080"/>
            </a:xfrm>
            <a:custGeom>
              <a:avLst/>
              <a:gdLst/>
              <a:ahLst/>
              <a:cxnLst/>
              <a:rect l="l" t="t" r="r" b="b"/>
              <a:pathLst>
                <a:path w="5457190" h="5080">
                  <a:moveTo>
                    <a:pt x="0" y="5060"/>
                  </a:moveTo>
                  <a:lnTo>
                    <a:pt x="0" y="0"/>
                  </a:lnTo>
                  <a:lnTo>
                    <a:pt x="5456935" y="0"/>
                  </a:lnTo>
                  <a:lnTo>
                    <a:pt x="545693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5" dirty="0"/>
              <a:t>Key</a:t>
            </a:r>
            <a:r>
              <a:rPr spc="-120" dirty="0"/>
              <a:t> </a:t>
            </a:r>
            <a:r>
              <a:rPr spc="-110" dirty="0"/>
              <a:t>Concepts</a:t>
            </a:r>
            <a:r>
              <a:rPr spc="40" dirty="0"/>
              <a:t> </a:t>
            </a:r>
            <a:r>
              <a:rPr spc="-50" dirty="0"/>
              <a:t>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58528"/>
            <a:ext cx="5048250" cy="21399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801370" marR="365760" indent="-789305">
              <a:lnSpc>
                <a:spcPts val="960"/>
              </a:lnSpc>
              <a:spcBef>
                <a:spcPts val="225"/>
              </a:spcBef>
            </a:pPr>
            <a:r>
              <a:rPr sz="900" spc="-70" dirty="0">
                <a:solidFill>
                  <a:srgbClr val="22373A"/>
                </a:solidFill>
                <a:latin typeface="Arial Black"/>
                <a:cs typeface="Arial Black"/>
              </a:rPr>
              <a:t>Information</a:t>
            </a:r>
            <a:r>
              <a:rPr sz="900" spc="-5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 Black"/>
                <a:cs typeface="Arial Black"/>
              </a:rPr>
              <a:t>technology</a:t>
            </a:r>
            <a:r>
              <a:rPr sz="900" spc="35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technology for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creating, storing, transmitting, or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processing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information—it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ancient,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uniquely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modern.</a:t>
            </a:r>
            <a:endParaRPr sz="900">
              <a:latin typeface="Arial"/>
              <a:cs typeface="Arial"/>
            </a:endParaRPr>
          </a:p>
          <a:p>
            <a:pPr marL="801370" marR="67945" indent="-447040">
              <a:lnSpc>
                <a:spcPts val="960"/>
              </a:lnSpc>
              <a:spcBef>
                <a:spcPts val="425"/>
              </a:spcBef>
            </a:pPr>
            <a:r>
              <a:rPr sz="900" spc="-55" dirty="0">
                <a:solidFill>
                  <a:srgbClr val="22373A"/>
                </a:solidFill>
                <a:latin typeface="Arial Black"/>
                <a:cs typeface="Arial Black"/>
              </a:rPr>
              <a:t>Theuth</a:t>
            </a:r>
            <a:r>
              <a:rPr sz="900" spc="32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(Plato’s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Phaedrus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)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Egyptian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god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who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invented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writing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promised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would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aid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memory;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0" dirty="0">
                <a:solidFill>
                  <a:srgbClr val="22373A"/>
                </a:solidFill>
                <a:latin typeface="Arial Black"/>
                <a:cs typeface="Arial Black"/>
              </a:rPr>
              <a:t>Socrates</a:t>
            </a:r>
            <a:r>
              <a:rPr sz="900" spc="-4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argued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would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weaken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genuine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understanding—the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first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recorded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technology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debate.</a:t>
            </a:r>
            <a:endParaRPr sz="900">
              <a:latin typeface="Arial"/>
              <a:cs typeface="Arial"/>
            </a:endParaRPr>
          </a:p>
          <a:p>
            <a:pPr marL="801370" marR="474980" indent="-418465">
              <a:lnSpc>
                <a:spcPts val="960"/>
              </a:lnSpc>
              <a:spcBef>
                <a:spcPts val="425"/>
              </a:spcBef>
            </a:pPr>
            <a:r>
              <a:rPr sz="900" spc="-55" dirty="0">
                <a:solidFill>
                  <a:srgbClr val="22373A"/>
                </a:solidFill>
                <a:latin typeface="Arial Black"/>
                <a:cs typeface="Arial Black"/>
              </a:rPr>
              <a:t>Luther</a:t>
            </a:r>
            <a:r>
              <a:rPr sz="900" spc="33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embraced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printing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press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tool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mass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reform;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0" dirty="0">
                <a:solidFill>
                  <a:srgbClr val="22373A"/>
                </a:solidFill>
                <a:latin typeface="Arial Black"/>
                <a:cs typeface="Arial Black"/>
              </a:rPr>
              <a:t>Erasmus</a:t>
            </a:r>
            <a:r>
              <a:rPr sz="900" spc="-5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feared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unfiltered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flood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bad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ideas.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Both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turned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right.</a:t>
            </a:r>
            <a:endParaRPr sz="900">
              <a:latin typeface="Arial"/>
              <a:cs typeface="Arial"/>
            </a:endParaRPr>
          </a:p>
          <a:p>
            <a:pPr marL="801370" marR="5080" indent="-263525">
              <a:lnSpc>
                <a:spcPts val="960"/>
              </a:lnSpc>
              <a:spcBef>
                <a:spcPts val="425"/>
              </a:spcBef>
            </a:pPr>
            <a:r>
              <a:rPr sz="900" spc="-10" dirty="0">
                <a:solidFill>
                  <a:srgbClr val="22373A"/>
                </a:solidFill>
                <a:latin typeface="Arial Black"/>
                <a:cs typeface="Arial Black"/>
              </a:rPr>
              <a:t>Mill</a:t>
            </a:r>
            <a:r>
              <a:rPr sz="900" spc="31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saw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telegraph-era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communication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aligned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free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markets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progress;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 Black"/>
                <a:cs typeface="Arial Black"/>
              </a:rPr>
              <a:t>Marx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analyzed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communication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infrastructure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reflects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reinforces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ownership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class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power.</a:t>
            </a:r>
            <a:endParaRPr sz="900">
              <a:latin typeface="Arial"/>
              <a:cs typeface="Arial"/>
            </a:endParaRPr>
          </a:p>
          <a:p>
            <a:pPr marL="801370" marR="181610" indent="-424180">
              <a:lnSpc>
                <a:spcPts val="960"/>
              </a:lnSpc>
              <a:spcBef>
                <a:spcPts val="425"/>
              </a:spcBef>
            </a:pPr>
            <a:r>
              <a:rPr sz="900" spc="-45" dirty="0">
                <a:solidFill>
                  <a:srgbClr val="22373A"/>
                </a:solidFill>
                <a:latin typeface="Arial Black"/>
                <a:cs typeface="Arial Black"/>
              </a:rPr>
              <a:t>Orwell</a:t>
            </a:r>
            <a:r>
              <a:rPr sz="900" spc="29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(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Nineteen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Eighty-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Four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)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80" dirty="0">
                <a:solidFill>
                  <a:srgbClr val="22373A"/>
                </a:solidFill>
                <a:latin typeface="Arial Black"/>
                <a:cs typeface="Arial Black"/>
              </a:rPr>
              <a:t>Arendt</a:t>
            </a:r>
            <a:r>
              <a:rPr sz="900" spc="-7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(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Origins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Totalitarianism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)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warned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mass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media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could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become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instruments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propaganda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totalitarian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control.</a:t>
            </a:r>
            <a:endParaRPr sz="900">
              <a:latin typeface="Arial"/>
              <a:cs typeface="Arial"/>
            </a:endParaRPr>
          </a:p>
          <a:p>
            <a:pPr marL="801370" marR="358140" indent="-789305">
              <a:lnSpc>
                <a:spcPts val="960"/>
              </a:lnSpc>
              <a:spcBef>
                <a:spcPts val="425"/>
              </a:spcBef>
            </a:pPr>
            <a:r>
              <a:rPr sz="900" spc="-65" dirty="0">
                <a:solidFill>
                  <a:srgbClr val="22373A"/>
                </a:solidFill>
                <a:latin typeface="Arial Black"/>
                <a:cs typeface="Arial Black"/>
              </a:rPr>
              <a:t>Disintermediation</a:t>
            </a:r>
            <a:r>
              <a:rPr sz="900" spc="28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removal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gatekeepers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promised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every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revolution; </a:t>
            </a:r>
            <a:r>
              <a:rPr sz="900" spc="-75" dirty="0">
                <a:solidFill>
                  <a:srgbClr val="22373A"/>
                </a:solidFill>
                <a:latin typeface="Arial Black"/>
                <a:cs typeface="Arial Black"/>
              </a:rPr>
              <a:t>reintermediation</a:t>
            </a:r>
            <a:r>
              <a:rPr sz="900" spc="-3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gatekeepers—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platforms,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telecoms,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states—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that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reliably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replace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them.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37"/>
              <a:ext cx="5558155" cy="5080"/>
            </a:xfrm>
            <a:custGeom>
              <a:avLst/>
              <a:gdLst/>
              <a:ahLst/>
              <a:cxnLst/>
              <a:rect l="l" t="t" r="r" b="b"/>
              <a:pathLst>
                <a:path w="5558155" h="5080">
                  <a:moveTo>
                    <a:pt x="0" y="5060"/>
                  </a:moveTo>
                  <a:lnTo>
                    <a:pt x="0" y="0"/>
                  </a:lnTo>
                  <a:lnTo>
                    <a:pt x="5557922" y="0"/>
                  </a:lnTo>
                  <a:lnTo>
                    <a:pt x="555792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55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5" dirty="0"/>
              <a:t>Key</a:t>
            </a:r>
            <a:r>
              <a:rPr spc="-120" dirty="0"/>
              <a:t> </a:t>
            </a:r>
            <a:r>
              <a:rPr spc="-110" dirty="0"/>
              <a:t>Concepts</a:t>
            </a:r>
            <a:r>
              <a:rPr spc="40" dirty="0"/>
              <a:t> </a:t>
            </a:r>
            <a:r>
              <a:rPr spc="-25" dirty="0"/>
              <a:t>ii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1436863"/>
            <a:ext cx="5040630" cy="361315"/>
            <a:chOff x="359994" y="1436863"/>
            <a:chExt cx="5040630" cy="361315"/>
          </a:xfrm>
        </p:grpSpPr>
        <p:sp>
          <p:nvSpPr>
            <p:cNvPr id="4" name="object 4"/>
            <p:cNvSpPr/>
            <p:nvPr/>
          </p:nvSpPr>
          <p:spPr>
            <a:xfrm>
              <a:off x="359994" y="1436863"/>
              <a:ext cx="5040630" cy="361315"/>
            </a:xfrm>
            <a:custGeom>
              <a:avLst/>
              <a:gdLst/>
              <a:ahLst/>
              <a:cxnLst/>
              <a:rect l="l" t="t" r="r" b="b"/>
              <a:pathLst>
                <a:path w="5040630" h="361314">
                  <a:moveTo>
                    <a:pt x="500210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323244"/>
                  </a:lnTo>
                  <a:lnTo>
                    <a:pt x="2982" y="338019"/>
                  </a:lnTo>
                  <a:lnTo>
                    <a:pt x="11117" y="350085"/>
                  </a:lnTo>
                  <a:lnTo>
                    <a:pt x="23182" y="358219"/>
                  </a:lnTo>
                  <a:lnTo>
                    <a:pt x="37958" y="361202"/>
                  </a:lnTo>
                  <a:lnTo>
                    <a:pt x="5002106" y="361202"/>
                  </a:lnTo>
                  <a:lnTo>
                    <a:pt x="5016882" y="358219"/>
                  </a:lnTo>
                  <a:lnTo>
                    <a:pt x="5028947" y="350085"/>
                  </a:lnTo>
                  <a:lnTo>
                    <a:pt x="5037082" y="338019"/>
                  </a:lnTo>
                  <a:lnTo>
                    <a:pt x="5040064" y="323244"/>
                  </a:lnTo>
                  <a:lnTo>
                    <a:pt x="5040064" y="37958"/>
                  </a:lnTo>
                  <a:lnTo>
                    <a:pt x="5037082" y="23182"/>
                  </a:lnTo>
                  <a:lnTo>
                    <a:pt x="5028947" y="11117"/>
                  </a:lnTo>
                  <a:lnTo>
                    <a:pt x="5016882" y="2982"/>
                  </a:lnTo>
                  <a:lnTo>
                    <a:pt x="5002106" y="0"/>
                  </a:lnTo>
                  <a:close/>
                </a:path>
              </a:pathLst>
            </a:custGeom>
            <a:solidFill>
              <a:srgbClr val="B777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2646" y="1601031"/>
              <a:ext cx="5015230" cy="184785"/>
            </a:xfrm>
            <a:custGeom>
              <a:avLst/>
              <a:gdLst/>
              <a:ahLst/>
              <a:cxnLst/>
              <a:rect l="l" t="t" r="r" b="b"/>
              <a:pathLst>
                <a:path w="5015230" h="184785">
                  <a:moveTo>
                    <a:pt x="5014759" y="0"/>
                  </a:moveTo>
                  <a:lnTo>
                    <a:pt x="0" y="0"/>
                  </a:lnTo>
                  <a:lnTo>
                    <a:pt x="0" y="159076"/>
                  </a:lnTo>
                  <a:lnTo>
                    <a:pt x="1988" y="168926"/>
                  </a:lnTo>
                  <a:lnTo>
                    <a:pt x="7411" y="176969"/>
                  </a:lnTo>
                  <a:lnTo>
                    <a:pt x="15455" y="182392"/>
                  </a:lnTo>
                  <a:lnTo>
                    <a:pt x="25305" y="184381"/>
                  </a:lnTo>
                  <a:lnTo>
                    <a:pt x="4989454" y="184381"/>
                  </a:lnTo>
                  <a:lnTo>
                    <a:pt x="4999304" y="182392"/>
                  </a:lnTo>
                  <a:lnTo>
                    <a:pt x="5007347" y="176969"/>
                  </a:lnTo>
                  <a:lnTo>
                    <a:pt x="5012770" y="168926"/>
                  </a:lnTo>
                  <a:lnTo>
                    <a:pt x="5014759" y="159076"/>
                  </a:lnTo>
                  <a:lnTo>
                    <a:pt x="5014759" y="0"/>
                  </a:lnTo>
                  <a:close/>
                </a:path>
              </a:pathLst>
            </a:custGeom>
            <a:solidFill>
              <a:srgbClr val="FB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7294" y="1077272"/>
            <a:ext cx="4801870" cy="68326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801370" marR="36195" indent="-789305">
              <a:lnSpc>
                <a:spcPts val="960"/>
              </a:lnSpc>
              <a:spcBef>
                <a:spcPts val="225"/>
              </a:spcBef>
            </a:pPr>
            <a:r>
              <a:rPr sz="900" spc="-70" dirty="0">
                <a:solidFill>
                  <a:srgbClr val="22373A"/>
                </a:solidFill>
                <a:latin typeface="Arial Black"/>
                <a:cs typeface="Arial Black"/>
              </a:rPr>
              <a:t>Artificial</a:t>
            </a:r>
            <a:r>
              <a:rPr sz="900" spc="-65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900" spc="-70" dirty="0">
                <a:solidFill>
                  <a:srgbClr val="22373A"/>
                </a:solidFill>
                <a:latin typeface="Arial Black"/>
                <a:cs typeface="Arial Black"/>
              </a:rPr>
              <a:t>scarcity</a:t>
            </a:r>
            <a:r>
              <a:rPr sz="900" spc="310" dirty="0">
                <a:solidFill>
                  <a:srgbClr val="22373A"/>
                </a:solidFill>
                <a:latin typeface="Arial Black"/>
                <a:cs typeface="Arial Black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scarcity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created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legal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technical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means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(copyright,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DRM)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underlying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resource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naturally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non-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rivalrous.</a:t>
            </a:r>
            <a:endParaRPr sz="90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770"/>
              </a:spcBef>
            </a:pPr>
            <a:r>
              <a:rPr sz="900" spc="-10" dirty="0">
                <a:solidFill>
                  <a:srgbClr val="FFFFFF"/>
                </a:solidFill>
                <a:latin typeface="Arial Black"/>
                <a:cs typeface="Arial Black"/>
              </a:rPr>
              <a:t>Discussion</a:t>
            </a:r>
            <a:endParaRPr sz="900">
              <a:latin typeface="Arial Black"/>
              <a:cs typeface="Arial Black"/>
            </a:endParaRPr>
          </a:p>
          <a:p>
            <a:pPr marL="100965">
              <a:lnSpc>
                <a:spcPct val="100000"/>
              </a:lnSpc>
              <a:spcBef>
                <a:spcPts val="200"/>
              </a:spcBef>
            </a:pPr>
            <a:r>
              <a:rPr sz="900" spc="-10" dirty="0">
                <a:latin typeface="Arial"/>
                <a:cs typeface="Arial"/>
              </a:rPr>
              <a:t>Which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these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thinkers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concepts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matter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most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as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move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into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AI,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privacy,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labor?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37"/>
              <a:ext cx="5659120" cy="5080"/>
            </a:xfrm>
            <a:custGeom>
              <a:avLst/>
              <a:gdLst/>
              <a:ahLst/>
              <a:cxnLst/>
              <a:rect l="l" t="t" r="r" b="b"/>
              <a:pathLst>
                <a:path w="5659120" h="5080">
                  <a:moveTo>
                    <a:pt x="0" y="5060"/>
                  </a:moveTo>
                  <a:lnTo>
                    <a:pt x="0" y="0"/>
                  </a:lnTo>
                  <a:lnTo>
                    <a:pt x="5658998" y="0"/>
                  </a:lnTo>
                  <a:lnTo>
                    <a:pt x="565899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56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770" y="74559"/>
            <a:ext cx="94170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10" dirty="0">
                <a:solidFill>
                  <a:srgbClr val="FFFFFF"/>
                </a:solidFill>
                <a:latin typeface="Arial Black"/>
                <a:cs typeface="Arial Black"/>
              </a:rPr>
              <a:t>References</a:t>
            </a:r>
            <a:r>
              <a:rPr sz="1200" spc="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 Black"/>
                <a:cs typeface="Arial Black"/>
              </a:rPr>
              <a:t>i</a:t>
            </a:r>
            <a:endParaRPr sz="12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234937"/>
            <a:ext cx="5760085" cy="5080"/>
            <a:chOff x="0" y="3234937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237471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F4E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4E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37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487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57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5123</Words>
  <Application>Microsoft Office PowerPoint</Application>
  <PresentationFormat>Custom</PresentationFormat>
  <Paragraphs>675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4" baseType="lpstr">
      <vt:lpstr>Arial</vt:lpstr>
      <vt:lpstr>Arial Black</vt:lpstr>
      <vt:lpstr>Calibri</vt:lpstr>
      <vt:lpstr>Lucida Sans</vt:lpstr>
      <vt:lpstr>Lucida Sans Unicode</vt:lpstr>
      <vt:lpstr>Times New Roman</vt:lpstr>
      <vt:lpstr>Office Theme</vt:lpstr>
      <vt:lpstr>The History of Information Technology and Ethics</vt:lpstr>
      <vt:lpstr>Before We Begin: Who Is Complaining, and About What?</vt:lpstr>
      <vt:lpstr>The Answer: Socrates, About Writing, c. 370 BCE</vt:lpstr>
      <vt:lpstr>Central Questions</vt:lpstr>
      <vt:lpstr>Lecture Outline</vt:lpstr>
      <vt:lpstr>Why Start with History?</vt:lpstr>
      <vt:lpstr>What is Information Technology?</vt:lpstr>
      <vt:lpstr>What is Normative Ethics?</vt:lpstr>
      <vt:lpstr>The Five IT Revolutions</vt:lpstr>
      <vt:lpstr>Lecture Outline</vt:lpstr>
      <vt:lpstr>Revolution 1: A Brief History of Writing</vt:lpstr>
      <vt:lpstr>Cuneiform: The World’s First Writing System</vt:lpstr>
      <vt:lpstr>Who Were Socrates and Plato?</vt:lpstr>
      <vt:lpstr>Socrates and Plato’s Worries About Writing</vt:lpstr>
      <vt:lpstr>PowerPoint Presentation</vt:lpstr>
      <vt:lpstr>Socrates’s Argument Against Writing</vt:lpstr>
      <vt:lpstr>PowerPoint Presentation</vt:lpstr>
      <vt:lpstr>The Pattern Emerges</vt:lpstr>
      <vt:lpstr>Lecture Outline</vt:lpstr>
      <vt:lpstr>PowerPoint Presentation</vt:lpstr>
      <vt:lpstr>PowerPoint Presentation</vt:lpstr>
      <vt:lpstr>The Gutenberg Bible (1455)</vt:lpstr>
      <vt:lpstr>PowerPoint Presentation</vt:lpstr>
      <vt:lpstr>Quote: Martin Luther on Printing</vt:lpstr>
      <vt:lpstr>The Erasmian Counterargument</vt:lpstr>
      <vt:lpstr>PowerPoint Presentation</vt:lpstr>
      <vt:lpstr>Social Consequences of Printing: The Bad</vt:lpstr>
      <vt:lpstr>The Pattern Repeats</vt:lpstr>
      <vt:lpstr>Lecture Outline</vt:lpstr>
      <vt:lpstr>Revolution 3: The Technologies of the Long 19th Century</vt:lpstr>
      <vt:lpstr>The Telegraph: “The Victorian Internet”</vt:lpstr>
      <vt:lpstr>Samuel F.B. Morse: Artist Turned Inventor</vt:lpstr>
      <vt:lpstr>Who Were Mill and Marx?</vt:lpstr>
      <vt:lpstr>Karl Marx: Technology, Power, and Ownership</vt:lpstr>
      <vt:lpstr>Mill vs. Marx: Liberal vs. Radical Visions</vt:lpstr>
      <vt:lpstr>PowerPoint Presentation</vt:lpstr>
      <vt:lpstr>Marx’s Counterargument</vt:lpstr>
      <vt:lpstr>PowerPoint Presentation</vt:lpstr>
      <vt:lpstr>Lecture Outline</vt:lpstr>
      <vt:lpstr>Revolution 4: The Rise of Radio and Television</vt:lpstr>
      <vt:lpstr>Who Were Orwell and Arendt?</vt:lpstr>
      <vt:lpstr>PowerPoint Presentation</vt:lpstr>
      <vt:lpstr>PowerPoint Presentation</vt:lpstr>
      <vt:lpstr>PowerPoint Presentation</vt:lpstr>
      <vt:lpstr>Arendt’s Analysis of Propaganda</vt:lpstr>
      <vt:lpstr>PowerPoint Presentation</vt:lpstr>
      <vt:lpstr>Lecture Outline</vt:lpstr>
      <vt:lpstr>PowerPoint Presentation</vt:lpstr>
      <vt:lpstr>Web 2.0—The Participatory Web (2000s)</vt:lpstr>
      <vt:lpstr>Web 3.0?—Contested Futures</vt:lpstr>
      <vt:lpstr>Current Debates</vt:lpstr>
      <vt:lpstr>Lecture Outline</vt:lpstr>
      <vt:lpstr>Patterns Across the Revolutions</vt:lpstr>
      <vt:lpstr>You Be the Judge: The Phone Ban</vt:lpstr>
      <vt:lpstr>Key Concepts i</vt:lpstr>
      <vt:lpstr>Key Concepts ii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History of Information Technology and Ethics - Five Revolutions from Writing to the Web</dc:title>
  <dc:creator>Brendan Shea, PhD</dc:creator>
  <cp:lastModifiedBy>Zonghua Gu</cp:lastModifiedBy>
  <cp:revision>1</cp:revision>
  <dcterms:created xsi:type="dcterms:W3CDTF">2026-08-28T03:03:13Z</dcterms:created>
  <dcterms:modified xsi:type="dcterms:W3CDTF">2026-08-28T03:04:08Z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2026-08-03T00:00:00Z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2026-08-28T00:00:00Z</vt:filetime>
  </property>
  <property fmtid="{D5CDD505-2E9C-101B-9397-08002B2CF9AE}" pid="5" name="PTEX.Fullbanner">
    <vt:lpwstr>This is pdfTeX, Version 3.141592653-2.6-1.40.25 (TeX Live 2023/Debian) kpathsea version 6.3.5</vt:lpwstr>
  </property>
  <property fmtid="{D5CDD505-2E9C-101B-9397-08002B2CF9AE}" pid="6" name="Producer">
    <vt:lpwstr>pdfTeX-1.40.25</vt:lpwstr>
  </property>
</Properties>
</file>